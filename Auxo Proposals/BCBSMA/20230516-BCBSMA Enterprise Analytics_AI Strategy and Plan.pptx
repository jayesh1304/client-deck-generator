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4.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740" r:id="rId5"/>
  </p:sldMasterIdLst>
  <p:notesMasterIdLst>
    <p:notesMasterId r:id="rId49"/>
  </p:notesMasterIdLst>
  <p:sldIdLst>
    <p:sldId id="256" r:id="rId6"/>
    <p:sldId id="2147472381" r:id="rId7"/>
    <p:sldId id="2146846738" r:id="rId8"/>
    <p:sldId id="2147472382" r:id="rId9"/>
    <p:sldId id="2147472383" r:id="rId10"/>
    <p:sldId id="2147472386" r:id="rId11"/>
    <p:sldId id="2147472378" r:id="rId12"/>
    <p:sldId id="2147472352" r:id="rId13"/>
    <p:sldId id="2147472368" r:id="rId14"/>
    <p:sldId id="2147472365" r:id="rId15"/>
    <p:sldId id="2147472360" r:id="rId16"/>
    <p:sldId id="2147472369" r:id="rId17"/>
    <p:sldId id="2147472346" r:id="rId18"/>
    <p:sldId id="2147472341" r:id="rId19"/>
    <p:sldId id="2147472344" r:id="rId20"/>
    <p:sldId id="2147472361" r:id="rId21"/>
    <p:sldId id="2147472370" r:id="rId22"/>
    <p:sldId id="2147472387" r:id="rId23"/>
    <p:sldId id="2147472314" r:id="rId24"/>
    <p:sldId id="2147472313" r:id="rId25"/>
    <p:sldId id="2147472316" r:id="rId26"/>
    <p:sldId id="2147472317" r:id="rId27"/>
    <p:sldId id="2147472318" r:id="rId28"/>
    <p:sldId id="2147472319" r:id="rId29"/>
    <p:sldId id="2147472311" r:id="rId30"/>
    <p:sldId id="311" r:id="rId31"/>
    <p:sldId id="2147472336" r:id="rId32"/>
    <p:sldId id="2147472328" r:id="rId33"/>
    <p:sldId id="2147472329" r:id="rId34"/>
    <p:sldId id="2147472320" r:id="rId35"/>
    <p:sldId id="2147472321" r:id="rId36"/>
    <p:sldId id="2147472322" r:id="rId37"/>
    <p:sldId id="2147472323" r:id="rId38"/>
    <p:sldId id="2147472324" r:id="rId39"/>
    <p:sldId id="2147472325" r:id="rId40"/>
    <p:sldId id="2147472330" r:id="rId41"/>
    <p:sldId id="2147472337" r:id="rId42"/>
    <p:sldId id="2147472338" r:id="rId43"/>
    <p:sldId id="2147472331" r:id="rId44"/>
    <p:sldId id="2147472332" r:id="rId45"/>
    <p:sldId id="2147472333" r:id="rId46"/>
    <p:sldId id="2147472339" r:id="rId47"/>
    <p:sldId id="2147472340" r:id="rId48"/>
  </p:sldIdLst>
  <p:sldSz cx="12192000" cy="6858000"/>
  <p:notesSz cx="7315200" cy="9601200"/>
  <p:embeddedFontLst>
    <p:embeddedFont>
      <p:font typeface="Arial Black" panose="020B0A04020102020204" pitchFamily="34" charset="0"/>
      <p:bold r:id="rId50"/>
    </p:embeddedFont>
    <p:embeddedFont>
      <p:font typeface="Arial Narrow" panose="020B0606020202030204" pitchFamily="34" charset="0"/>
      <p:regular r:id="rId51"/>
      <p:bold r:id="rId52"/>
      <p:italic r:id="rId53"/>
      <p:boldItalic r:id="rId54"/>
    </p:embeddedFont>
    <p:embeddedFont>
      <p:font typeface="Bebas Neue" panose="020B0606020202050201" pitchFamily="34" charset="0"/>
      <p:regular r:id="rId55"/>
    </p:embeddedFont>
    <p:embeddedFont>
      <p:font typeface="Calibri" panose="020F0502020204030204" pitchFamily="34" charset="0"/>
      <p:regular r:id="rId56"/>
      <p:bold r:id="rId57"/>
      <p:italic r:id="rId58"/>
      <p:boldItalic r:id="rId59"/>
    </p:embeddedFont>
    <p:embeddedFont>
      <p:font typeface="DM Sans" pitchFamily="2" charset="0"/>
      <p:regular r:id="rId60"/>
      <p:bold r:id="rId61"/>
      <p:italic r:id="rId62"/>
      <p:boldItalic r:id="rId63"/>
    </p:embeddedFont>
    <p:embeddedFont>
      <p:font typeface="DM Sans Medium" pitchFamily="2" charset="0"/>
      <p:regular r:id="rId64"/>
      <p:bold r:id="rId65"/>
      <p:italic r:id="rId66"/>
      <p:boldItalic r:id="rId67"/>
    </p:embeddedFont>
    <p:embeddedFont>
      <p:font typeface="Georgia" panose="02040502050405020303" pitchFamily="18" charset="0"/>
      <p:regular r:id="rId68"/>
      <p:bold r:id="rId69"/>
      <p:italic r:id="rId70"/>
      <p:boldItalic r:id="rId71"/>
    </p:embeddedFont>
    <p:embeddedFont>
      <p:font typeface="Roboto" panose="02000000000000000000" pitchFamily="2" charset="0"/>
      <p:regular r:id="rId72"/>
      <p:bold r:id="rId73"/>
      <p:italic r:id="rId74"/>
      <p:boldItalic r:id="rId75"/>
    </p:embeddedFont>
  </p:embeddedFontLst>
  <p:custDataLst>
    <p:tags r:id="rId7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08">
          <p15:clr>
            <a:srgbClr val="A4A3A4"/>
          </p15:clr>
        </p15:guide>
        <p15:guide id="2" pos="282">
          <p15:clr>
            <a:srgbClr val="A4A3A4"/>
          </p15:clr>
        </p15:guide>
        <p15:guide id="3" orient="horz" pos="2544">
          <p15:clr>
            <a:srgbClr val="A4A3A4"/>
          </p15:clr>
        </p15:guide>
        <p15:guide id="4" pos="7344">
          <p15:clr>
            <a:srgbClr val="9AA0A6"/>
          </p15:clr>
        </p15:guide>
        <p15:guide id="5" orient="horz" pos="4104">
          <p15:clr>
            <a:srgbClr val="9AA0A6"/>
          </p15:clr>
        </p15:guide>
        <p15:guide id="6" orient="horz" pos="624">
          <p15:clr>
            <a:srgbClr val="9AA0A6"/>
          </p15:clr>
        </p15:guide>
        <p15:guide id="7" orient="horz" pos="902">
          <p15:clr>
            <a:srgbClr val="9AA0A6"/>
          </p15:clr>
        </p15:guide>
        <p15:guide id="8" pos="6312" userDrawn="1">
          <p15:clr>
            <a:srgbClr val="9AA0A6"/>
          </p15:clr>
        </p15:guide>
        <p15:guide id="9" pos="465">
          <p15:clr>
            <a:srgbClr val="9AA0A6"/>
          </p15:clr>
        </p15:guide>
        <p15:guide id="10" orient="horz" pos="432">
          <p15:clr>
            <a:srgbClr val="9AA0A6"/>
          </p15:clr>
        </p15:guide>
        <p15:guide id="11" pos="6712">
          <p15:clr>
            <a:srgbClr val="9AA0A6"/>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92" roundtripDataSignature="AMtx7mgBxPklObOACryBemnUaQqvBqu2h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5C8992-01D4-23E0-B127-433C5E8DA814}" name="Aditya Dev" initials="AD" userId="S::Aditya.Dev@auxoai.com::123d2500-9213-4961-ae77-f48a38511bd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5D3B"/>
    <a:srgbClr val="414141"/>
    <a:srgbClr val="FF6600"/>
    <a:srgbClr val="EDEDED"/>
    <a:srgbClr val="CCF3FF"/>
    <a:srgbClr val="FEBEB1"/>
    <a:srgbClr val="FF9900"/>
    <a:srgbClr val="FFCC66"/>
    <a:srgbClr val="86C8BC"/>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BFA5A-EB25-4392-AA3C-5E9D948EC582}" v="341" dt="2023-05-16T16:01:42.856"/>
    <p1510:client id="{1D4C1E90-9BE9-46EF-A29C-0E2ED6E8D8CB}" v="7" dt="2023-05-16T15:47:22.885"/>
    <p1510:client id="{3894E2B0-86AB-90B9-F027-B8CDBA940607}" v="6" dt="2023-05-16T15:49:08.876"/>
    <p1510:client id="{E62489D3-AB4A-48B5-AA9C-DE6BA8BFEDF7}" v="292" dt="2023-05-16T13:03:55.780"/>
    <p1510:client id="{FC4D6C84-566C-5CD7-26CA-D74A65F91F0E}" v="5" dt="2023-05-16T12:36:12.630"/>
  </p1510:revLst>
</p1510:revInfo>
</file>

<file path=ppt/tableStyles.xml><?xml version="1.0" encoding="utf-8"?>
<a:tblStyleLst xmlns:a="http://schemas.openxmlformats.org/drawingml/2006/main" def="{DA9C0B7B-4BF3-4A31-9099-A2245D6C73B7}">
  <a:tblStyle styleId="{DA9C0B7B-4BF3-4A31-9099-A2245D6C73B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CFCEF89-A36C-4653-BAA2-19591CFBE364}"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3ACF42D-4C02-4D95-A088-8F3FDBF59C8B}"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8EB"/>
          </a:solidFill>
        </a:fill>
      </a:tcStyle>
    </a:wholeTbl>
    <a:band1H>
      <a:tcTxStyle b="off" i="off"/>
      <a:tcStyle>
        <a:tcBdr/>
        <a:fill>
          <a:solidFill>
            <a:srgbClr val="CACED5"/>
          </a:solidFill>
        </a:fill>
      </a:tcStyle>
    </a:band1H>
    <a:band2H>
      <a:tcTxStyle b="off" i="off"/>
      <a:tcStyle>
        <a:tcBdr/>
      </a:tcStyle>
    </a:band2H>
    <a:band1V>
      <a:tcTxStyle b="off" i="off"/>
      <a:tcStyle>
        <a:tcBdr/>
        <a:fill>
          <a:solidFill>
            <a:srgbClr val="CACED5"/>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ECC0C203-187E-4F9F-9CA2-096B9F05220D}" styleName="Table_3">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EE771C1-D052-4EC5-9610-BF2CA7374DD1}" styleName="Table_4">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dk1">
              <a:alpha val="20000"/>
            </a:schemeClr>
          </a:solidFill>
        </a:fill>
      </a:tcStyle>
    </a:band1H>
    <a:band2H>
      <a:tcTxStyle b="off" i="off"/>
      <a:tcStyle>
        <a:tcBdr/>
      </a:tcStyle>
    </a:band2H>
    <a:band1V>
      <a:tcTxStyle b="off" i="off"/>
      <a:tcStyle>
        <a:tcBdr/>
        <a:fill>
          <a:solidFill>
            <a:schemeClr val="dk1">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chemeClr val="dk1"/>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chemeClr val="dk1"/>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92B17BF1-E9A8-4995-B3D8-4F282B45B468}" styleName="Table_5">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guide orient="horz" pos="2208"/>
        <p:guide pos="282"/>
        <p:guide orient="horz" pos="2544"/>
        <p:guide pos="7344"/>
        <p:guide orient="horz" pos="4104"/>
        <p:guide orient="horz" pos="624"/>
        <p:guide orient="horz" pos="902"/>
        <p:guide pos="6312"/>
        <p:guide pos="465"/>
        <p:guide orient="horz" pos="432"/>
        <p:guide pos="6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14.fntdata"/><Relationship Id="rId68" Type="http://schemas.openxmlformats.org/officeDocument/2006/relationships/font" Target="fonts/font19.fntdata"/><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font" Target="fonts/font4.fntdata"/><Relationship Id="rId58" Type="http://schemas.openxmlformats.org/officeDocument/2006/relationships/font" Target="fonts/font9.fntdata"/><Relationship Id="rId74" Type="http://schemas.openxmlformats.org/officeDocument/2006/relationships/font" Target="fonts/font25.fntdata"/><Relationship Id="rId5" Type="http://schemas.openxmlformats.org/officeDocument/2006/relationships/slideMaster" Target="slideMasters/slideMaster2.xml"/><Relationship Id="rId61" Type="http://schemas.openxmlformats.org/officeDocument/2006/relationships/font" Target="fonts/font12.fntdata"/><Relationship Id="rId95"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8" Type="http://schemas.openxmlformats.org/officeDocument/2006/relationships/slide" Target="slides/slide3.xml"/><Relationship Id="rId51" Type="http://schemas.openxmlformats.org/officeDocument/2006/relationships/font" Target="fonts/font2.fntdata"/><Relationship Id="rId72" Type="http://schemas.openxmlformats.org/officeDocument/2006/relationships/font" Target="fonts/font23.fntdata"/><Relationship Id="rId93" Type="http://schemas.openxmlformats.org/officeDocument/2006/relationships/presProps" Target="presProps.xml"/><Relationship Id="rId98"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font" Target="fonts/font21.fntdata"/><Relationship Id="rId75" Type="http://schemas.openxmlformats.org/officeDocument/2006/relationships/font" Target="fonts/font26.fntdata"/><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font" Target="fonts/font24.fntdata"/><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font" Target="fonts/font1.fntdata"/><Relationship Id="rId55" Type="http://schemas.openxmlformats.org/officeDocument/2006/relationships/font" Target="fonts/font6.fntdata"/><Relationship Id="rId76" Type="http://schemas.openxmlformats.org/officeDocument/2006/relationships/tags" Target="tags/tag1.xml"/><Relationship Id="rId97" Type="http://schemas.microsoft.com/office/2015/10/relationships/revisionInfo" Target="revisionInfo.xml"/><Relationship Id="rId7" Type="http://schemas.openxmlformats.org/officeDocument/2006/relationships/slide" Target="slides/slide2.xml"/><Relationship Id="rId71" Type="http://schemas.openxmlformats.org/officeDocument/2006/relationships/font" Target="fonts/font22.fntdata"/><Relationship Id="rId92" Type="http://customschemas.google.com/relationships/presentationmetadata" Target="meta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font" Target="fonts/font17.fntdata"/></Relationships>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D36B66-E4EF-4781-957D-9DACE1230FED}" type="doc">
      <dgm:prSet loTypeId="urn:microsoft.com/office/officeart/2005/8/layout/matrix1" loCatId="matrix" qsTypeId="urn:microsoft.com/office/officeart/2005/8/quickstyle/simple2" qsCatId="simple" csTypeId="urn:microsoft.com/office/officeart/2005/8/colors/accent3_5" csCatId="accent3" phldr="1"/>
      <dgm:spPr/>
      <dgm:t>
        <a:bodyPr/>
        <a:lstStyle/>
        <a:p>
          <a:endParaRPr lang="en-IN"/>
        </a:p>
      </dgm:t>
    </dgm:pt>
    <dgm:pt modelId="{C406DE49-3DCF-4279-8367-9487FD57834C}">
      <dgm:prSet phldrT="[Text]" custT="1"/>
      <dgm:spPr>
        <a:solidFill>
          <a:schemeClr val="tx1">
            <a:lumMod val="50000"/>
            <a:alpha val="90000"/>
          </a:schemeClr>
        </a:solidFill>
      </dgm:spPr>
      <dgm:t>
        <a:bodyPr anchor="b"/>
        <a:lstStyle/>
        <a:p>
          <a:r>
            <a:rPr lang="en-US" sz="1500" b="0" i="0" dirty="0"/>
            <a:t>AI-powered tool reduced emergency department visits and hospital admissions by 31% and 25% respectively, resulting in $4.4 million in cost savings</a:t>
          </a:r>
          <a:endParaRPr lang="en-IN" sz="1500" dirty="0"/>
        </a:p>
      </dgm:t>
    </dgm:pt>
    <dgm:pt modelId="{741C5788-7687-481A-A4DC-DC07FE490D99}" type="parTrans" cxnId="{4B52FE38-DAFC-4EFF-B89E-B8AFB1D44DC5}">
      <dgm:prSet/>
      <dgm:spPr/>
      <dgm:t>
        <a:bodyPr/>
        <a:lstStyle/>
        <a:p>
          <a:endParaRPr lang="en-IN"/>
        </a:p>
      </dgm:t>
    </dgm:pt>
    <dgm:pt modelId="{9D749B72-CA30-42C3-B68E-3BD8A075552D}" type="sibTrans" cxnId="{4B52FE38-DAFC-4EFF-B89E-B8AFB1D44DC5}">
      <dgm:prSet/>
      <dgm:spPr/>
      <dgm:t>
        <a:bodyPr/>
        <a:lstStyle/>
        <a:p>
          <a:endParaRPr lang="en-IN"/>
        </a:p>
      </dgm:t>
    </dgm:pt>
    <dgm:pt modelId="{84316DB3-F1BE-4319-AD95-B386045E0B86}">
      <dgm:prSet phldrT="[Text]" custT="1"/>
      <dgm:spPr>
        <a:solidFill>
          <a:schemeClr val="tx1">
            <a:alpha val="76667"/>
          </a:schemeClr>
        </a:solidFill>
      </dgm:spPr>
      <dgm:t>
        <a:bodyPr anchor="b"/>
        <a:lstStyle/>
        <a:p>
          <a:r>
            <a:rPr lang="en-US" sz="1500" b="0" i="0" dirty="0"/>
            <a:t>AI-powered fraud detection system reduced false positives by 40% and identified 67% more fraudulent claims, leading to $100 million in cost savings</a:t>
          </a:r>
          <a:endParaRPr lang="en-IN" sz="1500" dirty="0"/>
        </a:p>
      </dgm:t>
    </dgm:pt>
    <dgm:pt modelId="{CC851EEC-451B-4EBB-8B01-34544072C0F1}" type="parTrans" cxnId="{C69DB3CD-7B05-407A-9721-40BFBB6BB571}">
      <dgm:prSet/>
      <dgm:spPr/>
      <dgm:t>
        <a:bodyPr/>
        <a:lstStyle/>
        <a:p>
          <a:endParaRPr lang="en-IN"/>
        </a:p>
      </dgm:t>
    </dgm:pt>
    <dgm:pt modelId="{FECEEDFC-3633-4656-A7F3-49A79AD8C93B}" type="sibTrans" cxnId="{C69DB3CD-7B05-407A-9721-40BFBB6BB571}">
      <dgm:prSet/>
      <dgm:spPr/>
      <dgm:t>
        <a:bodyPr/>
        <a:lstStyle/>
        <a:p>
          <a:endParaRPr lang="en-IN"/>
        </a:p>
      </dgm:t>
    </dgm:pt>
    <dgm:pt modelId="{5F405456-794A-4121-B97B-FDE3BB651E94}">
      <dgm:prSet phldrT="[Text]" custT="1"/>
      <dgm:spPr>
        <a:solidFill>
          <a:schemeClr val="tx1">
            <a:lumMod val="50000"/>
            <a:alpha val="63333"/>
          </a:schemeClr>
        </a:solidFill>
        <a:ln w="19050" cap="flat" cmpd="sng" algn="ctr">
          <a:solidFill>
            <a:srgbClr val="FEFFFF">
              <a:hueOff val="0"/>
              <a:satOff val="0"/>
              <a:lumOff val="0"/>
              <a:alphaOff val="0"/>
            </a:srgbClr>
          </a:solidFill>
          <a:prstDash val="solid"/>
          <a:miter lim="800000"/>
        </a:ln>
        <a:effectLst/>
      </dgm:spPr>
      <dgm:t>
        <a:bodyPr spcFirstLastPara="0" vert="horz" wrap="square" lIns="113792" tIns="113792" rIns="113792" bIns="113792" numCol="1" spcCol="1270" anchor="ctr" anchorCtr="0"/>
        <a:lstStyle/>
        <a:p>
          <a:pPr marL="0" lvl="0" indent="0" algn="ctr" defTabSz="711200">
            <a:lnSpc>
              <a:spcPct val="90000"/>
            </a:lnSpc>
            <a:spcBef>
              <a:spcPct val="0"/>
            </a:spcBef>
            <a:spcAft>
              <a:spcPct val="35000"/>
            </a:spcAft>
            <a:buNone/>
          </a:pPr>
          <a:r>
            <a:rPr lang="en-US" sz="1500" kern="1200" dirty="0">
              <a:solidFill>
                <a:srgbClr val="FEFFFF"/>
              </a:solidFill>
              <a:latin typeface="Calibri" panose="020F0502020204030204"/>
              <a:ea typeface="+mn-ea"/>
              <a:cs typeface="+mn-cs"/>
            </a:rPr>
            <a:t>AI-powered chatbot reduced customer service call volume by 50% &amp; increased customer satisfaction by 20%, resulting in cost savings of $1.5 million in just 6 months</a:t>
          </a:r>
          <a:endParaRPr lang="en-IN" sz="1500" kern="1200" dirty="0">
            <a:solidFill>
              <a:srgbClr val="FEFFFF"/>
            </a:solidFill>
            <a:latin typeface="Calibri" panose="020F0502020204030204"/>
            <a:ea typeface="+mn-ea"/>
            <a:cs typeface="+mn-cs"/>
          </a:endParaRPr>
        </a:p>
      </dgm:t>
    </dgm:pt>
    <dgm:pt modelId="{E36ACA57-61A9-4191-B0B5-0A1319AED1DB}" type="parTrans" cxnId="{0CD1DF7E-48E2-4F44-8854-B09FE2423C4F}">
      <dgm:prSet/>
      <dgm:spPr/>
      <dgm:t>
        <a:bodyPr/>
        <a:lstStyle/>
        <a:p>
          <a:endParaRPr lang="en-IN"/>
        </a:p>
      </dgm:t>
    </dgm:pt>
    <dgm:pt modelId="{ED2537CA-2A9B-47CC-82AF-4062E92BD812}" type="sibTrans" cxnId="{0CD1DF7E-48E2-4F44-8854-B09FE2423C4F}">
      <dgm:prSet/>
      <dgm:spPr/>
      <dgm:t>
        <a:bodyPr/>
        <a:lstStyle/>
        <a:p>
          <a:endParaRPr lang="en-IN"/>
        </a:p>
      </dgm:t>
    </dgm:pt>
    <dgm:pt modelId="{61BB9467-3804-4CC0-BE1F-FD48449D8A4F}">
      <dgm:prSet phldrT="[Text]" phldr="1"/>
      <dgm:spPr/>
      <dgm:t>
        <a:bodyPr/>
        <a:lstStyle/>
        <a:p>
          <a:endParaRPr lang="en-IN"/>
        </a:p>
      </dgm:t>
    </dgm:pt>
    <dgm:pt modelId="{EA116B36-3ACD-4B2E-A4FA-FC53A70141A6}" type="parTrans" cxnId="{81E32423-2FE5-449F-B464-3A7F3B866ED0}">
      <dgm:prSet/>
      <dgm:spPr/>
      <dgm:t>
        <a:bodyPr/>
        <a:lstStyle/>
        <a:p>
          <a:endParaRPr lang="en-IN"/>
        </a:p>
      </dgm:t>
    </dgm:pt>
    <dgm:pt modelId="{25764D76-7D0C-40E7-9865-F490D001F012}" type="sibTrans" cxnId="{81E32423-2FE5-449F-B464-3A7F3B866ED0}">
      <dgm:prSet/>
      <dgm:spPr/>
      <dgm:t>
        <a:bodyPr/>
        <a:lstStyle/>
        <a:p>
          <a:endParaRPr lang="en-IN"/>
        </a:p>
      </dgm:t>
    </dgm:pt>
    <dgm:pt modelId="{25AE2C7D-5C9F-4AA6-A1CA-940DF8C8281E}">
      <dgm:prSet custT="1"/>
      <dgm:spPr>
        <a:solidFill>
          <a:schemeClr val="tx1">
            <a:alpha val="63333"/>
          </a:schemeClr>
        </a:solidFill>
      </dgm:spPr>
      <dgm:t>
        <a:bodyPr anchor="ctr"/>
        <a:lstStyle/>
        <a:p>
          <a:r>
            <a:rPr lang="en-US" sz="1500" dirty="0"/>
            <a:t>AI tool led to a 14% reduction in hospital admissions and a 6% reduction in healthcare costs, saving $2 billion over three years</a:t>
          </a:r>
          <a:endParaRPr lang="en-IN" sz="1500" dirty="0"/>
        </a:p>
      </dgm:t>
    </dgm:pt>
    <dgm:pt modelId="{A992CEF0-C8EF-409C-8C73-AE48DD06195D}" type="parTrans" cxnId="{2CB7A5D2-8D66-41FF-A70E-FD2F3539A567}">
      <dgm:prSet/>
      <dgm:spPr/>
      <dgm:t>
        <a:bodyPr/>
        <a:lstStyle/>
        <a:p>
          <a:endParaRPr lang="en-IN"/>
        </a:p>
      </dgm:t>
    </dgm:pt>
    <dgm:pt modelId="{3B8124E4-FAE8-4063-A416-E081172AB96A}" type="sibTrans" cxnId="{2CB7A5D2-8D66-41FF-A70E-FD2F3539A567}">
      <dgm:prSet/>
      <dgm:spPr/>
      <dgm:t>
        <a:bodyPr/>
        <a:lstStyle/>
        <a:p>
          <a:endParaRPr lang="en-IN"/>
        </a:p>
      </dgm:t>
    </dgm:pt>
    <dgm:pt modelId="{1731471D-A512-4CCB-8405-E3B24A523ADC}">
      <dgm:prSet phldrT="[Text]" custT="1"/>
      <dgm:spPr/>
      <dgm:t>
        <a:bodyPr/>
        <a:lstStyle/>
        <a:p>
          <a:r>
            <a:rPr lang="en-IN" sz="1800" b="1" dirty="0">
              <a:solidFill>
                <a:srgbClr val="242424"/>
              </a:solidFill>
            </a:rPr>
            <a:t>Applying AI  for Business</a:t>
          </a:r>
        </a:p>
      </dgm:t>
    </dgm:pt>
    <dgm:pt modelId="{0A86D583-70E8-4658-A943-97F0716F1DCC}" type="sibTrans" cxnId="{3AE69F84-95DE-4EE4-8C28-85E632EA5DE4}">
      <dgm:prSet/>
      <dgm:spPr/>
      <dgm:t>
        <a:bodyPr/>
        <a:lstStyle/>
        <a:p>
          <a:endParaRPr lang="en-IN"/>
        </a:p>
      </dgm:t>
    </dgm:pt>
    <dgm:pt modelId="{495EECC6-1C7D-459C-94FB-FA599EA51A3B}" type="parTrans" cxnId="{3AE69F84-95DE-4EE4-8C28-85E632EA5DE4}">
      <dgm:prSet/>
      <dgm:spPr/>
      <dgm:t>
        <a:bodyPr/>
        <a:lstStyle/>
        <a:p>
          <a:endParaRPr lang="en-IN"/>
        </a:p>
      </dgm:t>
    </dgm:pt>
    <dgm:pt modelId="{CC597DA8-6C8A-46A9-A7EB-1382474F1CF1}" type="pres">
      <dgm:prSet presAssocID="{97D36B66-E4EF-4781-957D-9DACE1230FED}" presName="diagram" presStyleCnt="0">
        <dgm:presLayoutVars>
          <dgm:chMax val="1"/>
          <dgm:dir/>
          <dgm:animLvl val="ctr"/>
          <dgm:resizeHandles val="exact"/>
        </dgm:presLayoutVars>
      </dgm:prSet>
      <dgm:spPr/>
    </dgm:pt>
    <dgm:pt modelId="{3F7870D0-B258-4715-A0B8-2999F86FE84F}" type="pres">
      <dgm:prSet presAssocID="{97D36B66-E4EF-4781-957D-9DACE1230FED}" presName="matrix" presStyleCnt="0"/>
      <dgm:spPr/>
    </dgm:pt>
    <dgm:pt modelId="{46A516E4-9749-4876-A997-6BA9D474CB6C}" type="pres">
      <dgm:prSet presAssocID="{97D36B66-E4EF-4781-957D-9DACE1230FED}" presName="tile1" presStyleLbl="node1" presStyleIdx="0" presStyleCnt="4"/>
      <dgm:spPr/>
    </dgm:pt>
    <dgm:pt modelId="{26ABFEF1-68E6-40D8-A922-1485AD8661FD}" type="pres">
      <dgm:prSet presAssocID="{97D36B66-E4EF-4781-957D-9DACE1230FED}" presName="tile1text" presStyleLbl="node1" presStyleIdx="0" presStyleCnt="4">
        <dgm:presLayoutVars>
          <dgm:chMax val="0"/>
          <dgm:chPref val="0"/>
          <dgm:bulletEnabled val="1"/>
        </dgm:presLayoutVars>
      </dgm:prSet>
      <dgm:spPr/>
    </dgm:pt>
    <dgm:pt modelId="{B23D27E4-E850-452F-AE12-2D1C86E0BE1B}" type="pres">
      <dgm:prSet presAssocID="{97D36B66-E4EF-4781-957D-9DACE1230FED}" presName="tile2" presStyleLbl="node1" presStyleIdx="1" presStyleCnt="4"/>
      <dgm:spPr/>
    </dgm:pt>
    <dgm:pt modelId="{18D55FD1-7012-478A-82DE-7DAE710CB909}" type="pres">
      <dgm:prSet presAssocID="{97D36B66-E4EF-4781-957D-9DACE1230FED}" presName="tile2text" presStyleLbl="node1" presStyleIdx="1" presStyleCnt="4">
        <dgm:presLayoutVars>
          <dgm:chMax val="0"/>
          <dgm:chPref val="0"/>
          <dgm:bulletEnabled val="1"/>
        </dgm:presLayoutVars>
      </dgm:prSet>
      <dgm:spPr/>
    </dgm:pt>
    <dgm:pt modelId="{1602BE12-4D8E-4D13-8B06-0870C02C0A85}" type="pres">
      <dgm:prSet presAssocID="{97D36B66-E4EF-4781-957D-9DACE1230FED}" presName="tile3" presStyleLbl="node1" presStyleIdx="2" presStyleCnt="4" custLinFactNeighborX="-399" custLinFactNeighborY="1124"/>
      <dgm:spPr/>
    </dgm:pt>
    <dgm:pt modelId="{B9AFD870-36ED-449A-898C-EBF44F1B75F9}" type="pres">
      <dgm:prSet presAssocID="{97D36B66-E4EF-4781-957D-9DACE1230FED}" presName="tile3text" presStyleLbl="node1" presStyleIdx="2" presStyleCnt="4">
        <dgm:presLayoutVars>
          <dgm:chMax val="0"/>
          <dgm:chPref val="0"/>
          <dgm:bulletEnabled val="1"/>
        </dgm:presLayoutVars>
      </dgm:prSet>
      <dgm:spPr/>
    </dgm:pt>
    <dgm:pt modelId="{22E35E3F-CC43-474D-9EBD-147ED5FF780E}" type="pres">
      <dgm:prSet presAssocID="{97D36B66-E4EF-4781-957D-9DACE1230FED}" presName="tile4" presStyleLbl="node1" presStyleIdx="3" presStyleCnt="4" custLinFactNeighborY="-281"/>
      <dgm:spPr>
        <a:xfrm rot="5400000">
          <a:off x="4380182" y="1768670"/>
          <a:ext cx="2447337" cy="3735900"/>
        </a:xfrm>
        <a:prstGeom prst="round1Rect">
          <a:avLst/>
        </a:prstGeom>
      </dgm:spPr>
    </dgm:pt>
    <dgm:pt modelId="{6A91D838-1708-47D0-98CA-3374B561DDFD}" type="pres">
      <dgm:prSet presAssocID="{97D36B66-E4EF-4781-957D-9DACE1230FED}" presName="tile4text" presStyleLbl="node1" presStyleIdx="3" presStyleCnt="4">
        <dgm:presLayoutVars>
          <dgm:chMax val="0"/>
          <dgm:chPref val="0"/>
          <dgm:bulletEnabled val="1"/>
        </dgm:presLayoutVars>
      </dgm:prSet>
      <dgm:spPr/>
    </dgm:pt>
    <dgm:pt modelId="{64803C50-6DF0-49E6-90C9-E7EFFEB6F166}" type="pres">
      <dgm:prSet presAssocID="{97D36B66-E4EF-4781-957D-9DACE1230FED}" presName="centerTile" presStyleLbl="fgShp" presStyleIdx="0" presStyleCnt="1" custScaleX="78572" custScaleY="91607" custLinFactNeighborX="0" custLinFactNeighborY="0">
        <dgm:presLayoutVars>
          <dgm:chMax val="0"/>
          <dgm:chPref val="0"/>
        </dgm:presLayoutVars>
      </dgm:prSet>
      <dgm:spPr/>
    </dgm:pt>
  </dgm:ptLst>
  <dgm:cxnLst>
    <dgm:cxn modelId="{E045AE16-A753-407C-A29D-6062FED2AFAE}" type="presOf" srcId="{25AE2C7D-5C9F-4AA6-A1CA-940DF8C8281E}" destId="{B9AFD870-36ED-449A-898C-EBF44F1B75F9}" srcOrd="1" destOrd="0" presId="urn:microsoft.com/office/officeart/2005/8/layout/matrix1"/>
    <dgm:cxn modelId="{81E32423-2FE5-449F-B464-3A7F3B866ED0}" srcId="{1731471D-A512-4CCB-8405-E3B24A523ADC}" destId="{61BB9467-3804-4CC0-BE1F-FD48449D8A4F}" srcOrd="4" destOrd="0" parTransId="{EA116B36-3ACD-4B2E-A4FA-FC53A70141A6}" sibTransId="{25764D76-7D0C-40E7-9865-F490D001F012}"/>
    <dgm:cxn modelId="{4B52FE38-DAFC-4EFF-B89E-B8AFB1D44DC5}" srcId="{1731471D-A512-4CCB-8405-E3B24A523ADC}" destId="{C406DE49-3DCF-4279-8367-9487FD57834C}" srcOrd="0" destOrd="0" parTransId="{741C5788-7687-481A-A4DC-DC07FE490D99}" sibTransId="{9D749B72-CA30-42C3-B68E-3BD8A075552D}"/>
    <dgm:cxn modelId="{1EABD45D-174D-4F97-93D8-04CBDE3490A2}" type="presOf" srcId="{84316DB3-F1BE-4319-AD95-B386045E0B86}" destId="{18D55FD1-7012-478A-82DE-7DAE710CB909}" srcOrd="1" destOrd="0" presId="urn:microsoft.com/office/officeart/2005/8/layout/matrix1"/>
    <dgm:cxn modelId="{54A4BA47-1F6C-46A4-B874-E1754852FCBC}" type="presOf" srcId="{5F405456-794A-4121-B97B-FDE3BB651E94}" destId="{6A91D838-1708-47D0-98CA-3374B561DDFD}" srcOrd="1" destOrd="0" presId="urn:microsoft.com/office/officeart/2005/8/layout/matrix1"/>
    <dgm:cxn modelId="{0CD1DF7E-48E2-4F44-8854-B09FE2423C4F}" srcId="{1731471D-A512-4CCB-8405-E3B24A523ADC}" destId="{5F405456-794A-4121-B97B-FDE3BB651E94}" srcOrd="3" destOrd="0" parTransId="{E36ACA57-61A9-4191-B0B5-0A1319AED1DB}" sibTransId="{ED2537CA-2A9B-47CC-82AF-4062E92BD812}"/>
    <dgm:cxn modelId="{3AE69F84-95DE-4EE4-8C28-85E632EA5DE4}" srcId="{97D36B66-E4EF-4781-957D-9DACE1230FED}" destId="{1731471D-A512-4CCB-8405-E3B24A523ADC}" srcOrd="0" destOrd="0" parTransId="{495EECC6-1C7D-459C-94FB-FA599EA51A3B}" sibTransId="{0A86D583-70E8-4658-A943-97F0716F1DCC}"/>
    <dgm:cxn modelId="{294A26A1-C61E-40B0-9344-6D59FD4A52DC}" type="presOf" srcId="{1731471D-A512-4CCB-8405-E3B24A523ADC}" destId="{64803C50-6DF0-49E6-90C9-E7EFFEB6F166}" srcOrd="0" destOrd="0" presId="urn:microsoft.com/office/officeart/2005/8/layout/matrix1"/>
    <dgm:cxn modelId="{5F1C95A9-E4A5-43A7-AC56-0DDDF3CC50E5}" type="presOf" srcId="{5F405456-794A-4121-B97B-FDE3BB651E94}" destId="{22E35E3F-CC43-474D-9EBD-147ED5FF780E}" srcOrd="0" destOrd="0" presId="urn:microsoft.com/office/officeart/2005/8/layout/matrix1"/>
    <dgm:cxn modelId="{89BDFBAB-1860-44F9-8190-39326C733E2F}" type="presOf" srcId="{97D36B66-E4EF-4781-957D-9DACE1230FED}" destId="{CC597DA8-6C8A-46A9-A7EB-1382474F1CF1}" srcOrd="0" destOrd="0" presId="urn:microsoft.com/office/officeart/2005/8/layout/matrix1"/>
    <dgm:cxn modelId="{E81178B1-61A3-4ABB-A10E-10DB891EDC12}" type="presOf" srcId="{84316DB3-F1BE-4319-AD95-B386045E0B86}" destId="{B23D27E4-E850-452F-AE12-2D1C86E0BE1B}" srcOrd="0" destOrd="0" presId="urn:microsoft.com/office/officeart/2005/8/layout/matrix1"/>
    <dgm:cxn modelId="{817439CD-030D-4535-8624-EEEDC332F3A8}" type="presOf" srcId="{25AE2C7D-5C9F-4AA6-A1CA-940DF8C8281E}" destId="{1602BE12-4D8E-4D13-8B06-0870C02C0A85}" srcOrd="0" destOrd="0" presId="urn:microsoft.com/office/officeart/2005/8/layout/matrix1"/>
    <dgm:cxn modelId="{C69DB3CD-7B05-407A-9721-40BFBB6BB571}" srcId="{1731471D-A512-4CCB-8405-E3B24A523ADC}" destId="{84316DB3-F1BE-4319-AD95-B386045E0B86}" srcOrd="1" destOrd="0" parTransId="{CC851EEC-451B-4EBB-8B01-34544072C0F1}" sibTransId="{FECEEDFC-3633-4656-A7F3-49A79AD8C93B}"/>
    <dgm:cxn modelId="{2CB7A5D2-8D66-41FF-A70E-FD2F3539A567}" srcId="{1731471D-A512-4CCB-8405-E3B24A523ADC}" destId="{25AE2C7D-5C9F-4AA6-A1CA-940DF8C8281E}" srcOrd="2" destOrd="0" parTransId="{A992CEF0-C8EF-409C-8C73-AE48DD06195D}" sibTransId="{3B8124E4-FAE8-4063-A416-E081172AB96A}"/>
    <dgm:cxn modelId="{640548F0-D59E-459C-AE71-2A210A166BEC}" type="presOf" srcId="{C406DE49-3DCF-4279-8367-9487FD57834C}" destId="{26ABFEF1-68E6-40D8-A922-1485AD8661FD}" srcOrd="1" destOrd="0" presId="urn:microsoft.com/office/officeart/2005/8/layout/matrix1"/>
    <dgm:cxn modelId="{7B08A7F8-B3CA-421D-A9E0-545A1216EDE1}" type="presOf" srcId="{C406DE49-3DCF-4279-8367-9487FD57834C}" destId="{46A516E4-9749-4876-A997-6BA9D474CB6C}" srcOrd="0" destOrd="0" presId="urn:microsoft.com/office/officeart/2005/8/layout/matrix1"/>
    <dgm:cxn modelId="{4A75D4F8-54E7-4848-AA13-BE031DFB8FEA}" type="presParOf" srcId="{CC597DA8-6C8A-46A9-A7EB-1382474F1CF1}" destId="{3F7870D0-B258-4715-A0B8-2999F86FE84F}" srcOrd="0" destOrd="0" presId="urn:microsoft.com/office/officeart/2005/8/layout/matrix1"/>
    <dgm:cxn modelId="{57670272-C411-4DA2-A31C-E76D3E4A72CC}" type="presParOf" srcId="{3F7870D0-B258-4715-A0B8-2999F86FE84F}" destId="{46A516E4-9749-4876-A997-6BA9D474CB6C}" srcOrd="0" destOrd="0" presId="urn:microsoft.com/office/officeart/2005/8/layout/matrix1"/>
    <dgm:cxn modelId="{88017BD6-998A-459A-99EC-A8843F385ACA}" type="presParOf" srcId="{3F7870D0-B258-4715-A0B8-2999F86FE84F}" destId="{26ABFEF1-68E6-40D8-A922-1485AD8661FD}" srcOrd="1" destOrd="0" presId="urn:microsoft.com/office/officeart/2005/8/layout/matrix1"/>
    <dgm:cxn modelId="{425FAA33-65AE-43DD-8A82-626863343E61}" type="presParOf" srcId="{3F7870D0-B258-4715-A0B8-2999F86FE84F}" destId="{B23D27E4-E850-452F-AE12-2D1C86E0BE1B}" srcOrd="2" destOrd="0" presId="urn:microsoft.com/office/officeart/2005/8/layout/matrix1"/>
    <dgm:cxn modelId="{F3F9959F-19F0-48D0-97F9-C7683074AE4E}" type="presParOf" srcId="{3F7870D0-B258-4715-A0B8-2999F86FE84F}" destId="{18D55FD1-7012-478A-82DE-7DAE710CB909}" srcOrd="3" destOrd="0" presId="urn:microsoft.com/office/officeart/2005/8/layout/matrix1"/>
    <dgm:cxn modelId="{64103091-30A2-4B71-BF04-2186B67B86DE}" type="presParOf" srcId="{3F7870D0-B258-4715-A0B8-2999F86FE84F}" destId="{1602BE12-4D8E-4D13-8B06-0870C02C0A85}" srcOrd="4" destOrd="0" presId="urn:microsoft.com/office/officeart/2005/8/layout/matrix1"/>
    <dgm:cxn modelId="{FCC5C036-B5CB-4567-A9CC-EB961964400D}" type="presParOf" srcId="{3F7870D0-B258-4715-A0B8-2999F86FE84F}" destId="{B9AFD870-36ED-449A-898C-EBF44F1B75F9}" srcOrd="5" destOrd="0" presId="urn:microsoft.com/office/officeart/2005/8/layout/matrix1"/>
    <dgm:cxn modelId="{DC036754-A2E9-4A27-BD56-A590057041D9}" type="presParOf" srcId="{3F7870D0-B258-4715-A0B8-2999F86FE84F}" destId="{22E35E3F-CC43-474D-9EBD-147ED5FF780E}" srcOrd="6" destOrd="0" presId="urn:microsoft.com/office/officeart/2005/8/layout/matrix1"/>
    <dgm:cxn modelId="{96CAE4A0-E763-4707-A847-926FD65E366C}" type="presParOf" srcId="{3F7870D0-B258-4715-A0B8-2999F86FE84F}" destId="{6A91D838-1708-47D0-98CA-3374B561DDFD}" srcOrd="7" destOrd="0" presId="urn:microsoft.com/office/officeart/2005/8/layout/matrix1"/>
    <dgm:cxn modelId="{BBE174C5-815B-4E76-B4D0-FD8ACD7E53E4}" type="presParOf" srcId="{CC597DA8-6C8A-46A9-A7EB-1382474F1CF1}" destId="{64803C50-6DF0-49E6-90C9-E7EFFEB6F166}"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A95583-0BC6-43CE-BBE2-5340FCEBB291}" type="doc">
      <dgm:prSet loTypeId="urn:microsoft.com/office/officeart/2005/8/layout/hProcess7" loCatId="process" qsTypeId="urn:microsoft.com/office/officeart/2005/8/quickstyle/simple1" qsCatId="simple" csTypeId="urn:microsoft.com/office/officeart/2005/8/colors/accent1_2" csCatId="accent1" phldr="1"/>
      <dgm:spPr/>
      <dgm:t>
        <a:bodyPr/>
        <a:lstStyle/>
        <a:p>
          <a:endParaRPr lang="en-IN"/>
        </a:p>
      </dgm:t>
    </dgm:pt>
    <dgm:pt modelId="{23A0F898-A5B2-4A4E-82B1-517432786AE2}">
      <dgm:prSet phldrT="[Text]"/>
      <dgm:spPr/>
      <dgm:t>
        <a:bodyPr/>
        <a:lstStyle/>
        <a:p>
          <a:r>
            <a:rPr lang="en-IN" dirty="0"/>
            <a:t>Today</a:t>
          </a:r>
        </a:p>
      </dgm:t>
    </dgm:pt>
    <dgm:pt modelId="{1BC6F987-0E60-45E1-AD2A-0111402A296F}" type="parTrans" cxnId="{BF87CFBF-727B-4A81-9220-CB0D4134E558}">
      <dgm:prSet/>
      <dgm:spPr/>
      <dgm:t>
        <a:bodyPr/>
        <a:lstStyle/>
        <a:p>
          <a:endParaRPr lang="en-IN"/>
        </a:p>
      </dgm:t>
    </dgm:pt>
    <dgm:pt modelId="{F2AB6894-2423-4C29-9608-AC5AFDC7E2A2}" type="sibTrans" cxnId="{BF87CFBF-727B-4A81-9220-CB0D4134E558}">
      <dgm:prSet/>
      <dgm:spPr/>
      <dgm:t>
        <a:bodyPr/>
        <a:lstStyle/>
        <a:p>
          <a:endParaRPr lang="en-IN"/>
        </a:p>
      </dgm:t>
    </dgm:pt>
    <dgm:pt modelId="{24C48EEB-1CFA-4A52-A7FF-FCA5D3B791D0}">
      <dgm:prSet phldrT="[Text]"/>
      <dgm:spPr/>
      <dgm:t>
        <a:bodyPr/>
        <a:lstStyle/>
        <a:p>
          <a:r>
            <a:rPr lang="en-IN" dirty="0"/>
            <a:t>Tomorrow</a:t>
          </a:r>
        </a:p>
      </dgm:t>
    </dgm:pt>
    <dgm:pt modelId="{74F23AE2-7AB9-4A20-B34A-62EE2EC7E043}" type="parTrans" cxnId="{9D69C618-ECA8-4080-A37F-446F8734932F}">
      <dgm:prSet/>
      <dgm:spPr/>
      <dgm:t>
        <a:bodyPr/>
        <a:lstStyle/>
        <a:p>
          <a:endParaRPr lang="en-IN"/>
        </a:p>
      </dgm:t>
    </dgm:pt>
    <dgm:pt modelId="{EF708105-5741-4F66-9DDE-264D176415A8}" type="sibTrans" cxnId="{9D69C618-ECA8-4080-A37F-446F8734932F}">
      <dgm:prSet/>
      <dgm:spPr/>
      <dgm:t>
        <a:bodyPr/>
        <a:lstStyle/>
        <a:p>
          <a:endParaRPr lang="en-IN"/>
        </a:p>
      </dgm:t>
    </dgm:pt>
    <dgm:pt modelId="{36F5487B-FBD8-43B2-ABEB-63CB7438B9F0}" type="pres">
      <dgm:prSet presAssocID="{48A95583-0BC6-43CE-BBE2-5340FCEBB291}" presName="Name0" presStyleCnt="0">
        <dgm:presLayoutVars>
          <dgm:dir/>
          <dgm:animLvl val="lvl"/>
          <dgm:resizeHandles val="exact"/>
        </dgm:presLayoutVars>
      </dgm:prSet>
      <dgm:spPr/>
    </dgm:pt>
    <dgm:pt modelId="{116C16BA-48E9-4962-9885-10897ECD55D8}" type="pres">
      <dgm:prSet presAssocID="{23A0F898-A5B2-4A4E-82B1-517432786AE2}" presName="compositeNode" presStyleCnt="0">
        <dgm:presLayoutVars>
          <dgm:bulletEnabled val="1"/>
        </dgm:presLayoutVars>
      </dgm:prSet>
      <dgm:spPr/>
    </dgm:pt>
    <dgm:pt modelId="{1CA1030E-AE07-48BC-AA10-9F8630373F7C}" type="pres">
      <dgm:prSet presAssocID="{23A0F898-A5B2-4A4E-82B1-517432786AE2}" presName="bgRect" presStyleLbl="node1" presStyleIdx="0" presStyleCnt="2" custLinFactNeighborY="0"/>
      <dgm:spPr/>
    </dgm:pt>
    <dgm:pt modelId="{4C75C600-47D8-46CC-AC0E-D839B18889B7}" type="pres">
      <dgm:prSet presAssocID="{23A0F898-A5B2-4A4E-82B1-517432786AE2}" presName="parentNode" presStyleLbl="node1" presStyleIdx="0" presStyleCnt="2">
        <dgm:presLayoutVars>
          <dgm:chMax val="0"/>
          <dgm:bulletEnabled val="1"/>
        </dgm:presLayoutVars>
      </dgm:prSet>
      <dgm:spPr/>
    </dgm:pt>
    <dgm:pt modelId="{BE4EFC40-8401-419D-9653-E106AF379617}" type="pres">
      <dgm:prSet presAssocID="{F2AB6894-2423-4C29-9608-AC5AFDC7E2A2}" presName="hSp" presStyleCnt="0"/>
      <dgm:spPr/>
    </dgm:pt>
    <dgm:pt modelId="{B5BB9A15-AAE9-417D-9C80-4D2DACAF88A1}" type="pres">
      <dgm:prSet presAssocID="{F2AB6894-2423-4C29-9608-AC5AFDC7E2A2}" presName="vProcSp" presStyleCnt="0"/>
      <dgm:spPr/>
    </dgm:pt>
    <dgm:pt modelId="{D8942B21-26E1-42A8-A838-489D3216D4FF}" type="pres">
      <dgm:prSet presAssocID="{F2AB6894-2423-4C29-9608-AC5AFDC7E2A2}" presName="vSp1" presStyleCnt="0"/>
      <dgm:spPr/>
    </dgm:pt>
    <dgm:pt modelId="{6F90DB8E-6778-4AFE-933B-084AB0626745}" type="pres">
      <dgm:prSet presAssocID="{F2AB6894-2423-4C29-9608-AC5AFDC7E2A2}" presName="simulatedConn" presStyleLbl="solidFgAcc1" presStyleIdx="0" presStyleCnt="1"/>
      <dgm:spPr/>
    </dgm:pt>
    <dgm:pt modelId="{BFF21F1A-4C5B-41B3-B164-5DDBBE08B5FA}" type="pres">
      <dgm:prSet presAssocID="{F2AB6894-2423-4C29-9608-AC5AFDC7E2A2}" presName="vSp2" presStyleCnt="0"/>
      <dgm:spPr/>
    </dgm:pt>
    <dgm:pt modelId="{090344A1-4724-4DFD-9998-C44AC4702D49}" type="pres">
      <dgm:prSet presAssocID="{F2AB6894-2423-4C29-9608-AC5AFDC7E2A2}" presName="sibTrans" presStyleCnt="0"/>
      <dgm:spPr/>
    </dgm:pt>
    <dgm:pt modelId="{8229D696-E6A4-4693-A33C-15C64D7AA303}" type="pres">
      <dgm:prSet presAssocID="{24C48EEB-1CFA-4A52-A7FF-FCA5D3B791D0}" presName="compositeNode" presStyleCnt="0">
        <dgm:presLayoutVars>
          <dgm:bulletEnabled val="1"/>
        </dgm:presLayoutVars>
      </dgm:prSet>
      <dgm:spPr/>
    </dgm:pt>
    <dgm:pt modelId="{D787D4FB-2FBF-4765-A054-A40D30D049B6}" type="pres">
      <dgm:prSet presAssocID="{24C48EEB-1CFA-4A52-A7FF-FCA5D3B791D0}" presName="bgRect" presStyleLbl="node1" presStyleIdx="1" presStyleCnt="2"/>
      <dgm:spPr/>
    </dgm:pt>
    <dgm:pt modelId="{DF386767-6197-4A53-A75E-8130C17BFA78}" type="pres">
      <dgm:prSet presAssocID="{24C48EEB-1CFA-4A52-A7FF-FCA5D3B791D0}" presName="parentNode" presStyleLbl="node1" presStyleIdx="1" presStyleCnt="2">
        <dgm:presLayoutVars>
          <dgm:chMax val="0"/>
          <dgm:bulletEnabled val="1"/>
        </dgm:presLayoutVars>
      </dgm:prSet>
      <dgm:spPr/>
    </dgm:pt>
  </dgm:ptLst>
  <dgm:cxnLst>
    <dgm:cxn modelId="{2817FD02-9862-48E4-80E5-860F72F412EC}" type="presOf" srcId="{24C48EEB-1CFA-4A52-A7FF-FCA5D3B791D0}" destId="{DF386767-6197-4A53-A75E-8130C17BFA78}" srcOrd="1" destOrd="0" presId="urn:microsoft.com/office/officeart/2005/8/layout/hProcess7"/>
    <dgm:cxn modelId="{9D69C618-ECA8-4080-A37F-446F8734932F}" srcId="{48A95583-0BC6-43CE-BBE2-5340FCEBB291}" destId="{24C48EEB-1CFA-4A52-A7FF-FCA5D3B791D0}" srcOrd="1" destOrd="0" parTransId="{74F23AE2-7AB9-4A20-B34A-62EE2EC7E043}" sibTransId="{EF708105-5741-4F66-9DDE-264D176415A8}"/>
    <dgm:cxn modelId="{509D9D57-A6C5-4F59-88C0-F4F25989F8B3}" type="presOf" srcId="{24C48EEB-1CFA-4A52-A7FF-FCA5D3B791D0}" destId="{D787D4FB-2FBF-4765-A054-A40D30D049B6}" srcOrd="0" destOrd="0" presId="urn:microsoft.com/office/officeart/2005/8/layout/hProcess7"/>
    <dgm:cxn modelId="{E8718B58-6FA4-436D-BD53-294EC16F822E}" type="presOf" srcId="{23A0F898-A5B2-4A4E-82B1-517432786AE2}" destId="{4C75C600-47D8-46CC-AC0E-D839B18889B7}" srcOrd="1" destOrd="0" presId="urn:microsoft.com/office/officeart/2005/8/layout/hProcess7"/>
    <dgm:cxn modelId="{831BAD9A-4932-4C82-AA19-1F1875D07C3A}" type="presOf" srcId="{23A0F898-A5B2-4A4E-82B1-517432786AE2}" destId="{1CA1030E-AE07-48BC-AA10-9F8630373F7C}" srcOrd="0" destOrd="0" presId="urn:microsoft.com/office/officeart/2005/8/layout/hProcess7"/>
    <dgm:cxn modelId="{BF87CFBF-727B-4A81-9220-CB0D4134E558}" srcId="{48A95583-0BC6-43CE-BBE2-5340FCEBB291}" destId="{23A0F898-A5B2-4A4E-82B1-517432786AE2}" srcOrd="0" destOrd="0" parTransId="{1BC6F987-0E60-45E1-AD2A-0111402A296F}" sibTransId="{F2AB6894-2423-4C29-9608-AC5AFDC7E2A2}"/>
    <dgm:cxn modelId="{C38241D4-2004-4513-8CCA-01E36AA47264}" type="presOf" srcId="{48A95583-0BC6-43CE-BBE2-5340FCEBB291}" destId="{36F5487B-FBD8-43B2-ABEB-63CB7438B9F0}" srcOrd="0" destOrd="0" presId="urn:microsoft.com/office/officeart/2005/8/layout/hProcess7"/>
    <dgm:cxn modelId="{A17A610F-C0B5-429C-9AF0-169C62749354}" type="presParOf" srcId="{36F5487B-FBD8-43B2-ABEB-63CB7438B9F0}" destId="{116C16BA-48E9-4962-9885-10897ECD55D8}" srcOrd="0" destOrd="0" presId="urn:microsoft.com/office/officeart/2005/8/layout/hProcess7"/>
    <dgm:cxn modelId="{5EDEDBAF-B0B9-418F-8F8D-DC73C7BB2BA4}" type="presParOf" srcId="{116C16BA-48E9-4962-9885-10897ECD55D8}" destId="{1CA1030E-AE07-48BC-AA10-9F8630373F7C}" srcOrd="0" destOrd="0" presId="urn:microsoft.com/office/officeart/2005/8/layout/hProcess7"/>
    <dgm:cxn modelId="{C37AF6CB-80FE-4E83-8DEC-0EE4BF90948C}" type="presParOf" srcId="{116C16BA-48E9-4962-9885-10897ECD55D8}" destId="{4C75C600-47D8-46CC-AC0E-D839B18889B7}" srcOrd="1" destOrd="0" presId="urn:microsoft.com/office/officeart/2005/8/layout/hProcess7"/>
    <dgm:cxn modelId="{9E40A2CD-8564-4FBE-876A-624389DC4713}" type="presParOf" srcId="{36F5487B-FBD8-43B2-ABEB-63CB7438B9F0}" destId="{BE4EFC40-8401-419D-9653-E106AF379617}" srcOrd="1" destOrd="0" presId="urn:microsoft.com/office/officeart/2005/8/layout/hProcess7"/>
    <dgm:cxn modelId="{33DFA033-16DD-4B1C-B046-5B3A79BB7BBC}" type="presParOf" srcId="{36F5487B-FBD8-43B2-ABEB-63CB7438B9F0}" destId="{B5BB9A15-AAE9-417D-9C80-4D2DACAF88A1}" srcOrd="2" destOrd="0" presId="urn:microsoft.com/office/officeart/2005/8/layout/hProcess7"/>
    <dgm:cxn modelId="{647D6ADC-DABA-4D7C-9F5B-B86C36515795}" type="presParOf" srcId="{B5BB9A15-AAE9-417D-9C80-4D2DACAF88A1}" destId="{D8942B21-26E1-42A8-A838-489D3216D4FF}" srcOrd="0" destOrd="0" presId="urn:microsoft.com/office/officeart/2005/8/layout/hProcess7"/>
    <dgm:cxn modelId="{2D313F64-8D78-4B35-8583-BE3C84CE807A}" type="presParOf" srcId="{B5BB9A15-AAE9-417D-9C80-4D2DACAF88A1}" destId="{6F90DB8E-6778-4AFE-933B-084AB0626745}" srcOrd="1" destOrd="0" presId="urn:microsoft.com/office/officeart/2005/8/layout/hProcess7"/>
    <dgm:cxn modelId="{D1307ECD-22FC-4C97-88DB-05DECEE43C6B}" type="presParOf" srcId="{B5BB9A15-AAE9-417D-9C80-4D2DACAF88A1}" destId="{BFF21F1A-4C5B-41B3-B164-5DDBBE08B5FA}" srcOrd="2" destOrd="0" presId="urn:microsoft.com/office/officeart/2005/8/layout/hProcess7"/>
    <dgm:cxn modelId="{DD2BAB4E-B2F8-4A9A-891D-BFB43BC150B4}" type="presParOf" srcId="{36F5487B-FBD8-43B2-ABEB-63CB7438B9F0}" destId="{090344A1-4724-4DFD-9998-C44AC4702D49}" srcOrd="3" destOrd="0" presId="urn:microsoft.com/office/officeart/2005/8/layout/hProcess7"/>
    <dgm:cxn modelId="{82128433-C7E3-49E8-85D9-089EB7058F6B}" type="presParOf" srcId="{36F5487B-FBD8-43B2-ABEB-63CB7438B9F0}" destId="{8229D696-E6A4-4693-A33C-15C64D7AA303}" srcOrd="4" destOrd="0" presId="urn:microsoft.com/office/officeart/2005/8/layout/hProcess7"/>
    <dgm:cxn modelId="{3AED5C66-B002-42FC-A754-E775AFBDC9EC}" type="presParOf" srcId="{8229D696-E6A4-4693-A33C-15C64D7AA303}" destId="{D787D4FB-2FBF-4765-A054-A40D30D049B6}" srcOrd="0" destOrd="0" presId="urn:microsoft.com/office/officeart/2005/8/layout/hProcess7"/>
    <dgm:cxn modelId="{5D0697C7-F755-414F-A580-68C1627F5FA6}" type="presParOf" srcId="{8229D696-E6A4-4693-A33C-15C64D7AA303}" destId="{DF386767-6197-4A53-A75E-8130C17BFA78}" srcOrd="1"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D36B66-E4EF-4781-957D-9DACE1230FED}" type="doc">
      <dgm:prSet loTypeId="urn:microsoft.com/office/officeart/2005/8/layout/matrix1" loCatId="matrix" qsTypeId="urn:microsoft.com/office/officeart/2005/8/quickstyle/simple2" qsCatId="simple" csTypeId="urn:microsoft.com/office/officeart/2005/8/colors/accent3_5" csCatId="accent3" phldr="1"/>
      <dgm:spPr/>
      <dgm:t>
        <a:bodyPr/>
        <a:lstStyle/>
        <a:p>
          <a:endParaRPr lang="en-IN"/>
        </a:p>
      </dgm:t>
    </dgm:pt>
    <dgm:pt modelId="{1731471D-A512-4CCB-8405-E3B24A523ADC}">
      <dgm:prSet phldrT="[Text]"/>
      <dgm:spPr/>
      <dgm:t>
        <a:bodyPr/>
        <a:lstStyle/>
        <a:p>
          <a:r>
            <a:rPr lang="en-IN" dirty="0"/>
            <a:t>AI</a:t>
          </a:r>
        </a:p>
      </dgm:t>
    </dgm:pt>
    <dgm:pt modelId="{495EECC6-1C7D-459C-94FB-FA599EA51A3B}" type="parTrans" cxnId="{3AE69F84-95DE-4EE4-8C28-85E632EA5DE4}">
      <dgm:prSet/>
      <dgm:spPr/>
      <dgm:t>
        <a:bodyPr/>
        <a:lstStyle/>
        <a:p>
          <a:endParaRPr lang="en-IN"/>
        </a:p>
      </dgm:t>
    </dgm:pt>
    <dgm:pt modelId="{0A86D583-70E8-4658-A943-97F0716F1DCC}" type="sibTrans" cxnId="{3AE69F84-95DE-4EE4-8C28-85E632EA5DE4}">
      <dgm:prSet/>
      <dgm:spPr/>
      <dgm:t>
        <a:bodyPr/>
        <a:lstStyle/>
        <a:p>
          <a:endParaRPr lang="en-IN"/>
        </a:p>
      </dgm:t>
    </dgm:pt>
    <dgm:pt modelId="{C406DE49-3DCF-4279-8367-9487FD57834C}">
      <dgm:prSet phldrT="[Text]" custT="1"/>
      <dgm:spPr/>
      <dgm:t>
        <a:bodyPr/>
        <a:lstStyle/>
        <a:p>
          <a:r>
            <a:rPr lang="en-US" sz="1600" b="0" i="0" dirty="0"/>
            <a:t>AI-powered tool reduced emergency department visits and hospital admissions by 31% and 25% respectively, resulting in $4.4 million in cost savings</a:t>
          </a:r>
          <a:endParaRPr lang="en-IN" sz="1600" dirty="0"/>
        </a:p>
      </dgm:t>
    </dgm:pt>
    <dgm:pt modelId="{741C5788-7687-481A-A4DC-DC07FE490D99}" type="parTrans" cxnId="{4B52FE38-DAFC-4EFF-B89E-B8AFB1D44DC5}">
      <dgm:prSet/>
      <dgm:spPr/>
      <dgm:t>
        <a:bodyPr/>
        <a:lstStyle/>
        <a:p>
          <a:endParaRPr lang="en-IN"/>
        </a:p>
      </dgm:t>
    </dgm:pt>
    <dgm:pt modelId="{9D749B72-CA30-42C3-B68E-3BD8A075552D}" type="sibTrans" cxnId="{4B52FE38-DAFC-4EFF-B89E-B8AFB1D44DC5}">
      <dgm:prSet/>
      <dgm:spPr/>
      <dgm:t>
        <a:bodyPr/>
        <a:lstStyle/>
        <a:p>
          <a:endParaRPr lang="en-IN"/>
        </a:p>
      </dgm:t>
    </dgm:pt>
    <dgm:pt modelId="{84316DB3-F1BE-4319-AD95-B386045E0B86}">
      <dgm:prSet phldrT="[Text]" custT="1"/>
      <dgm:spPr/>
      <dgm:t>
        <a:bodyPr/>
        <a:lstStyle/>
        <a:p>
          <a:r>
            <a:rPr lang="en-US" sz="1600" b="0" i="0" dirty="0"/>
            <a:t>AI-powered fraud detection system reduced false positives by 40% and identified 67% more fraudulent claims, leading to $100 million in cost savings</a:t>
          </a:r>
          <a:endParaRPr lang="en-IN" sz="1600" dirty="0"/>
        </a:p>
      </dgm:t>
    </dgm:pt>
    <dgm:pt modelId="{CC851EEC-451B-4EBB-8B01-34544072C0F1}" type="parTrans" cxnId="{C69DB3CD-7B05-407A-9721-40BFBB6BB571}">
      <dgm:prSet/>
      <dgm:spPr/>
      <dgm:t>
        <a:bodyPr/>
        <a:lstStyle/>
        <a:p>
          <a:endParaRPr lang="en-IN"/>
        </a:p>
      </dgm:t>
    </dgm:pt>
    <dgm:pt modelId="{FECEEDFC-3633-4656-A7F3-49A79AD8C93B}" type="sibTrans" cxnId="{C69DB3CD-7B05-407A-9721-40BFBB6BB571}">
      <dgm:prSet/>
      <dgm:spPr/>
      <dgm:t>
        <a:bodyPr/>
        <a:lstStyle/>
        <a:p>
          <a:endParaRPr lang="en-IN"/>
        </a:p>
      </dgm:t>
    </dgm:pt>
    <dgm:pt modelId="{5F405456-794A-4121-B97B-FDE3BB651E94}">
      <dgm:prSet phldrT="[Text]" custT="1"/>
      <dgm:spPr/>
      <dgm:t>
        <a:bodyPr/>
        <a:lstStyle/>
        <a:p>
          <a:r>
            <a:rPr lang="en-US" sz="1600" b="0" i="0" dirty="0"/>
            <a:t>AI-powered chatbot reduced customer service call volume by 50% and increased customer satisfaction by 20%, resulting in cost savings of $1.5 million in just six months</a:t>
          </a:r>
          <a:endParaRPr lang="en-IN" sz="1600" dirty="0"/>
        </a:p>
      </dgm:t>
    </dgm:pt>
    <dgm:pt modelId="{E36ACA57-61A9-4191-B0B5-0A1319AED1DB}" type="parTrans" cxnId="{0CD1DF7E-48E2-4F44-8854-B09FE2423C4F}">
      <dgm:prSet/>
      <dgm:spPr/>
      <dgm:t>
        <a:bodyPr/>
        <a:lstStyle/>
        <a:p>
          <a:endParaRPr lang="en-IN"/>
        </a:p>
      </dgm:t>
    </dgm:pt>
    <dgm:pt modelId="{ED2537CA-2A9B-47CC-82AF-4062E92BD812}" type="sibTrans" cxnId="{0CD1DF7E-48E2-4F44-8854-B09FE2423C4F}">
      <dgm:prSet/>
      <dgm:spPr/>
      <dgm:t>
        <a:bodyPr/>
        <a:lstStyle/>
        <a:p>
          <a:endParaRPr lang="en-IN"/>
        </a:p>
      </dgm:t>
    </dgm:pt>
    <dgm:pt modelId="{61BB9467-3804-4CC0-BE1F-FD48449D8A4F}">
      <dgm:prSet phldrT="[Text]" phldr="1"/>
      <dgm:spPr/>
      <dgm:t>
        <a:bodyPr/>
        <a:lstStyle/>
        <a:p>
          <a:endParaRPr lang="en-IN"/>
        </a:p>
      </dgm:t>
    </dgm:pt>
    <dgm:pt modelId="{EA116B36-3ACD-4B2E-A4FA-FC53A70141A6}" type="parTrans" cxnId="{81E32423-2FE5-449F-B464-3A7F3B866ED0}">
      <dgm:prSet/>
      <dgm:spPr/>
      <dgm:t>
        <a:bodyPr/>
        <a:lstStyle/>
        <a:p>
          <a:endParaRPr lang="en-IN"/>
        </a:p>
      </dgm:t>
    </dgm:pt>
    <dgm:pt modelId="{25764D76-7D0C-40E7-9865-F490D001F012}" type="sibTrans" cxnId="{81E32423-2FE5-449F-B464-3A7F3B866ED0}">
      <dgm:prSet/>
      <dgm:spPr/>
      <dgm:t>
        <a:bodyPr/>
        <a:lstStyle/>
        <a:p>
          <a:endParaRPr lang="en-IN"/>
        </a:p>
      </dgm:t>
    </dgm:pt>
    <dgm:pt modelId="{25AE2C7D-5C9F-4AA6-A1CA-940DF8C8281E}">
      <dgm:prSet custT="1"/>
      <dgm:spPr/>
      <dgm:t>
        <a:bodyPr/>
        <a:lstStyle/>
        <a:p>
          <a:r>
            <a:rPr lang="en-US" sz="1600" dirty="0"/>
            <a:t>AI tool led to a 14% reduction in hospital admissions and a 6% reduction in healthcare costs, saving $2 billion over three years</a:t>
          </a:r>
          <a:endParaRPr lang="en-IN" sz="1600" dirty="0"/>
        </a:p>
      </dgm:t>
    </dgm:pt>
    <dgm:pt modelId="{A992CEF0-C8EF-409C-8C73-AE48DD06195D}" type="parTrans" cxnId="{2CB7A5D2-8D66-41FF-A70E-FD2F3539A567}">
      <dgm:prSet/>
      <dgm:spPr/>
      <dgm:t>
        <a:bodyPr/>
        <a:lstStyle/>
        <a:p>
          <a:endParaRPr lang="en-IN"/>
        </a:p>
      </dgm:t>
    </dgm:pt>
    <dgm:pt modelId="{3B8124E4-FAE8-4063-A416-E081172AB96A}" type="sibTrans" cxnId="{2CB7A5D2-8D66-41FF-A70E-FD2F3539A567}">
      <dgm:prSet/>
      <dgm:spPr/>
      <dgm:t>
        <a:bodyPr/>
        <a:lstStyle/>
        <a:p>
          <a:endParaRPr lang="en-IN"/>
        </a:p>
      </dgm:t>
    </dgm:pt>
    <dgm:pt modelId="{CC597DA8-6C8A-46A9-A7EB-1382474F1CF1}" type="pres">
      <dgm:prSet presAssocID="{97D36B66-E4EF-4781-957D-9DACE1230FED}" presName="diagram" presStyleCnt="0">
        <dgm:presLayoutVars>
          <dgm:chMax val="1"/>
          <dgm:dir/>
          <dgm:animLvl val="ctr"/>
          <dgm:resizeHandles val="exact"/>
        </dgm:presLayoutVars>
      </dgm:prSet>
      <dgm:spPr/>
    </dgm:pt>
    <dgm:pt modelId="{3F7870D0-B258-4715-A0B8-2999F86FE84F}" type="pres">
      <dgm:prSet presAssocID="{97D36B66-E4EF-4781-957D-9DACE1230FED}" presName="matrix" presStyleCnt="0"/>
      <dgm:spPr/>
    </dgm:pt>
    <dgm:pt modelId="{46A516E4-9749-4876-A997-6BA9D474CB6C}" type="pres">
      <dgm:prSet presAssocID="{97D36B66-E4EF-4781-957D-9DACE1230FED}" presName="tile1" presStyleLbl="node1" presStyleIdx="0" presStyleCnt="4"/>
      <dgm:spPr/>
    </dgm:pt>
    <dgm:pt modelId="{26ABFEF1-68E6-40D8-A922-1485AD8661FD}" type="pres">
      <dgm:prSet presAssocID="{97D36B66-E4EF-4781-957D-9DACE1230FED}" presName="tile1text" presStyleLbl="node1" presStyleIdx="0" presStyleCnt="4">
        <dgm:presLayoutVars>
          <dgm:chMax val="0"/>
          <dgm:chPref val="0"/>
          <dgm:bulletEnabled val="1"/>
        </dgm:presLayoutVars>
      </dgm:prSet>
      <dgm:spPr/>
    </dgm:pt>
    <dgm:pt modelId="{B23D27E4-E850-452F-AE12-2D1C86E0BE1B}" type="pres">
      <dgm:prSet presAssocID="{97D36B66-E4EF-4781-957D-9DACE1230FED}" presName="tile2" presStyleLbl="node1" presStyleIdx="1" presStyleCnt="4"/>
      <dgm:spPr/>
    </dgm:pt>
    <dgm:pt modelId="{18D55FD1-7012-478A-82DE-7DAE710CB909}" type="pres">
      <dgm:prSet presAssocID="{97D36B66-E4EF-4781-957D-9DACE1230FED}" presName="tile2text" presStyleLbl="node1" presStyleIdx="1" presStyleCnt="4">
        <dgm:presLayoutVars>
          <dgm:chMax val="0"/>
          <dgm:chPref val="0"/>
          <dgm:bulletEnabled val="1"/>
        </dgm:presLayoutVars>
      </dgm:prSet>
      <dgm:spPr/>
    </dgm:pt>
    <dgm:pt modelId="{1602BE12-4D8E-4D13-8B06-0870C02C0A85}" type="pres">
      <dgm:prSet presAssocID="{97D36B66-E4EF-4781-957D-9DACE1230FED}" presName="tile3" presStyleLbl="node1" presStyleIdx="2" presStyleCnt="4"/>
      <dgm:spPr/>
    </dgm:pt>
    <dgm:pt modelId="{B9AFD870-36ED-449A-898C-EBF44F1B75F9}" type="pres">
      <dgm:prSet presAssocID="{97D36B66-E4EF-4781-957D-9DACE1230FED}" presName="tile3text" presStyleLbl="node1" presStyleIdx="2" presStyleCnt="4">
        <dgm:presLayoutVars>
          <dgm:chMax val="0"/>
          <dgm:chPref val="0"/>
          <dgm:bulletEnabled val="1"/>
        </dgm:presLayoutVars>
      </dgm:prSet>
      <dgm:spPr/>
    </dgm:pt>
    <dgm:pt modelId="{22E35E3F-CC43-474D-9EBD-147ED5FF780E}" type="pres">
      <dgm:prSet presAssocID="{97D36B66-E4EF-4781-957D-9DACE1230FED}" presName="tile4" presStyleLbl="node1" presStyleIdx="3" presStyleCnt="4"/>
      <dgm:spPr/>
    </dgm:pt>
    <dgm:pt modelId="{6A91D838-1708-47D0-98CA-3374B561DDFD}" type="pres">
      <dgm:prSet presAssocID="{97D36B66-E4EF-4781-957D-9DACE1230FED}" presName="tile4text" presStyleLbl="node1" presStyleIdx="3" presStyleCnt="4">
        <dgm:presLayoutVars>
          <dgm:chMax val="0"/>
          <dgm:chPref val="0"/>
          <dgm:bulletEnabled val="1"/>
        </dgm:presLayoutVars>
      </dgm:prSet>
      <dgm:spPr/>
    </dgm:pt>
    <dgm:pt modelId="{64803C50-6DF0-49E6-90C9-E7EFFEB6F166}" type="pres">
      <dgm:prSet presAssocID="{97D36B66-E4EF-4781-957D-9DACE1230FED}" presName="centerTile" presStyleLbl="fgShp" presStyleIdx="0" presStyleCnt="1" custScaleX="78572" custScaleY="91607" custLinFactNeighborX="0" custLinFactNeighborY="0">
        <dgm:presLayoutVars>
          <dgm:chMax val="0"/>
          <dgm:chPref val="0"/>
        </dgm:presLayoutVars>
      </dgm:prSet>
      <dgm:spPr/>
    </dgm:pt>
  </dgm:ptLst>
  <dgm:cxnLst>
    <dgm:cxn modelId="{E045AE16-A753-407C-A29D-6062FED2AFAE}" type="presOf" srcId="{25AE2C7D-5C9F-4AA6-A1CA-940DF8C8281E}" destId="{B9AFD870-36ED-449A-898C-EBF44F1B75F9}" srcOrd="1" destOrd="0" presId="urn:microsoft.com/office/officeart/2005/8/layout/matrix1"/>
    <dgm:cxn modelId="{81E32423-2FE5-449F-B464-3A7F3B866ED0}" srcId="{1731471D-A512-4CCB-8405-E3B24A523ADC}" destId="{61BB9467-3804-4CC0-BE1F-FD48449D8A4F}" srcOrd="4" destOrd="0" parTransId="{EA116B36-3ACD-4B2E-A4FA-FC53A70141A6}" sibTransId="{25764D76-7D0C-40E7-9865-F490D001F012}"/>
    <dgm:cxn modelId="{4B52FE38-DAFC-4EFF-B89E-B8AFB1D44DC5}" srcId="{1731471D-A512-4CCB-8405-E3B24A523ADC}" destId="{C406DE49-3DCF-4279-8367-9487FD57834C}" srcOrd="0" destOrd="0" parTransId="{741C5788-7687-481A-A4DC-DC07FE490D99}" sibTransId="{9D749B72-CA30-42C3-B68E-3BD8A075552D}"/>
    <dgm:cxn modelId="{1EABD45D-174D-4F97-93D8-04CBDE3490A2}" type="presOf" srcId="{84316DB3-F1BE-4319-AD95-B386045E0B86}" destId="{18D55FD1-7012-478A-82DE-7DAE710CB909}" srcOrd="1" destOrd="0" presId="urn:microsoft.com/office/officeart/2005/8/layout/matrix1"/>
    <dgm:cxn modelId="{54A4BA47-1F6C-46A4-B874-E1754852FCBC}" type="presOf" srcId="{5F405456-794A-4121-B97B-FDE3BB651E94}" destId="{6A91D838-1708-47D0-98CA-3374B561DDFD}" srcOrd="1" destOrd="0" presId="urn:microsoft.com/office/officeart/2005/8/layout/matrix1"/>
    <dgm:cxn modelId="{0CD1DF7E-48E2-4F44-8854-B09FE2423C4F}" srcId="{1731471D-A512-4CCB-8405-E3B24A523ADC}" destId="{5F405456-794A-4121-B97B-FDE3BB651E94}" srcOrd="3" destOrd="0" parTransId="{E36ACA57-61A9-4191-B0B5-0A1319AED1DB}" sibTransId="{ED2537CA-2A9B-47CC-82AF-4062E92BD812}"/>
    <dgm:cxn modelId="{3AE69F84-95DE-4EE4-8C28-85E632EA5DE4}" srcId="{97D36B66-E4EF-4781-957D-9DACE1230FED}" destId="{1731471D-A512-4CCB-8405-E3B24A523ADC}" srcOrd="0" destOrd="0" parTransId="{495EECC6-1C7D-459C-94FB-FA599EA51A3B}" sibTransId="{0A86D583-70E8-4658-A943-97F0716F1DCC}"/>
    <dgm:cxn modelId="{294A26A1-C61E-40B0-9344-6D59FD4A52DC}" type="presOf" srcId="{1731471D-A512-4CCB-8405-E3B24A523ADC}" destId="{64803C50-6DF0-49E6-90C9-E7EFFEB6F166}" srcOrd="0" destOrd="0" presId="urn:microsoft.com/office/officeart/2005/8/layout/matrix1"/>
    <dgm:cxn modelId="{5F1C95A9-E4A5-43A7-AC56-0DDDF3CC50E5}" type="presOf" srcId="{5F405456-794A-4121-B97B-FDE3BB651E94}" destId="{22E35E3F-CC43-474D-9EBD-147ED5FF780E}" srcOrd="0" destOrd="0" presId="urn:microsoft.com/office/officeart/2005/8/layout/matrix1"/>
    <dgm:cxn modelId="{89BDFBAB-1860-44F9-8190-39326C733E2F}" type="presOf" srcId="{97D36B66-E4EF-4781-957D-9DACE1230FED}" destId="{CC597DA8-6C8A-46A9-A7EB-1382474F1CF1}" srcOrd="0" destOrd="0" presId="urn:microsoft.com/office/officeart/2005/8/layout/matrix1"/>
    <dgm:cxn modelId="{E81178B1-61A3-4ABB-A10E-10DB891EDC12}" type="presOf" srcId="{84316DB3-F1BE-4319-AD95-B386045E0B86}" destId="{B23D27E4-E850-452F-AE12-2D1C86E0BE1B}" srcOrd="0" destOrd="0" presId="urn:microsoft.com/office/officeart/2005/8/layout/matrix1"/>
    <dgm:cxn modelId="{817439CD-030D-4535-8624-EEEDC332F3A8}" type="presOf" srcId="{25AE2C7D-5C9F-4AA6-A1CA-940DF8C8281E}" destId="{1602BE12-4D8E-4D13-8B06-0870C02C0A85}" srcOrd="0" destOrd="0" presId="urn:microsoft.com/office/officeart/2005/8/layout/matrix1"/>
    <dgm:cxn modelId="{C69DB3CD-7B05-407A-9721-40BFBB6BB571}" srcId="{1731471D-A512-4CCB-8405-E3B24A523ADC}" destId="{84316DB3-F1BE-4319-AD95-B386045E0B86}" srcOrd="1" destOrd="0" parTransId="{CC851EEC-451B-4EBB-8B01-34544072C0F1}" sibTransId="{FECEEDFC-3633-4656-A7F3-49A79AD8C93B}"/>
    <dgm:cxn modelId="{2CB7A5D2-8D66-41FF-A70E-FD2F3539A567}" srcId="{1731471D-A512-4CCB-8405-E3B24A523ADC}" destId="{25AE2C7D-5C9F-4AA6-A1CA-940DF8C8281E}" srcOrd="2" destOrd="0" parTransId="{A992CEF0-C8EF-409C-8C73-AE48DD06195D}" sibTransId="{3B8124E4-FAE8-4063-A416-E081172AB96A}"/>
    <dgm:cxn modelId="{640548F0-D59E-459C-AE71-2A210A166BEC}" type="presOf" srcId="{C406DE49-3DCF-4279-8367-9487FD57834C}" destId="{26ABFEF1-68E6-40D8-A922-1485AD8661FD}" srcOrd="1" destOrd="0" presId="urn:microsoft.com/office/officeart/2005/8/layout/matrix1"/>
    <dgm:cxn modelId="{7B08A7F8-B3CA-421D-A9E0-545A1216EDE1}" type="presOf" srcId="{C406DE49-3DCF-4279-8367-9487FD57834C}" destId="{46A516E4-9749-4876-A997-6BA9D474CB6C}" srcOrd="0" destOrd="0" presId="urn:microsoft.com/office/officeart/2005/8/layout/matrix1"/>
    <dgm:cxn modelId="{4A75D4F8-54E7-4848-AA13-BE031DFB8FEA}" type="presParOf" srcId="{CC597DA8-6C8A-46A9-A7EB-1382474F1CF1}" destId="{3F7870D0-B258-4715-A0B8-2999F86FE84F}" srcOrd="0" destOrd="0" presId="urn:microsoft.com/office/officeart/2005/8/layout/matrix1"/>
    <dgm:cxn modelId="{57670272-C411-4DA2-A31C-E76D3E4A72CC}" type="presParOf" srcId="{3F7870D0-B258-4715-A0B8-2999F86FE84F}" destId="{46A516E4-9749-4876-A997-6BA9D474CB6C}" srcOrd="0" destOrd="0" presId="urn:microsoft.com/office/officeart/2005/8/layout/matrix1"/>
    <dgm:cxn modelId="{88017BD6-998A-459A-99EC-A8843F385ACA}" type="presParOf" srcId="{3F7870D0-B258-4715-A0B8-2999F86FE84F}" destId="{26ABFEF1-68E6-40D8-A922-1485AD8661FD}" srcOrd="1" destOrd="0" presId="urn:microsoft.com/office/officeart/2005/8/layout/matrix1"/>
    <dgm:cxn modelId="{425FAA33-65AE-43DD-8A82-626863343E61}" type="presParOf" srcId="{3F7870D0-B258-4715-A0B8-2999F86FE84F}" destId="{B23D27E4-E850-452F-AE12-2D1C86E0BE1B}" srcOrd="2" destOrd="0" presId="urn:microsoft.com/office/officeart/2005/8/layout/matrix1"/>
    <dgm:cxn modelId="{F3F9959F-19F0-48D0-97F9-C7683074AE4E}" type="presParOf" srcId="{3F7870D0-B258-4715-A0B8-2999F86FE84F}" destId="{18D55FD1-7012-478A-82DE-7DAE710CB909}" srcOrd="3" destOrd="0" presId="urn:microsoft.com/office/officeart/2005/8/layout/matrix1"/>
    <dgm:cxn modelId="{64103091-30A2-4B71-BF04-2186B67B86DE}" type="presParOf" srcId="{3F7870D0-B258-4715-A0B8-2999F86FE84F}" destId="{1602BE12-4D8E-4D13-8B06-0870C02C0A85}" srcOrd="4" destOrd="0" presId="urn:microsoft.com/office/officeart/2005/8/layout/matrix1"/>
    <dgm:cxn modelId="{FCC5C036-B5CB-4567-A9CC-EB961964400D}" type="presParOf" srcId="{3F7870D0-B258-4715-A0B8-2999F86FE84F}" destId="{B9AFD870-36ED-449A-898C-EBF44F1B75F9}" srcOrd="5" destOrd="0" presId="urn:microsoft.com/office/officeart/2005/8/layout/matrix1"/>
    <dgm:cxn modelId="{DC036754-A2E9-4A27-BD56-A590057041D9}" type="presParOf" srcId="{3F7870D0-B258-4715-A0B8-2999F86FE84F}" destId="{22E35E3F-CC43-474D-9EBD-147ED5FF780E}" srcOrd="6" destOrd="0" presId="urn:microsoft.com/office/officeart/2005/8/layout/matrix1"/>
    <dgm:cxn modelId="{96CAE4A0-E763-4707-A847-926FD65E366C}" type="presParOf" srcId="{3F7870D0-B258-4715-A0B8-2999F86FE84F}" destId="{6A91D838-1708-47D0-98CA-3374B561DDFD}" srcOrd="7" destOrd="0" presId="urn:microsoft.com/office/officeart/2005/8/layout/matrix1"/>
    <dgm:cxn modelId="{BBE174C5-815B-4E76-B4D0-FD8ACD7E53E4}" type="presParOf" srcId="{CC597DA8-6C8A-46A9-A7EB-1382474F1CF1}" destId="{64803C50-6DF0-49E6-90C9-E7EFFEB6F166}"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CC22AC-D3EB-495F-AF4F-8D059FA3322F}" type="doc">
      <dgm:prSet loTypeId="urn:microsoft.com/office/officeart/2005/8/layout/venn1" loCatId="relationship" qsTypeId="urn:microsoft.com/office/officeart/2005/8/quickstyle/simple1" qsCatId="simple" csTypeId="urn:microsoft.com/office/officeart/2005/8/colors/accent1_5" csCatId="accent1" phldr="1"/>
      <dgm:spPr/>
    </dgm:pt>
    <dgm:pt modelId="{F174D7C8-17E7-48BC-A652-7E6D3CB7719F}">
      <dgm:prSet phldrT="[Text]"/>
      <dgm:spPr/>
      <dgm:t>
        <a:bodyPr/>
        <a:lstStyle/>
        <a:p>
          <a:endParaRPr lang="en-IN" dirty="0"/>
        </a:p>
      </dgm:t>
    </dgm:pt>
    <dgm:pt modelId="{FF77803F-5861-4398-A5E3-B73C2FDE3EEA}" type="parTrans" cxnId="{3CF8B5DB-ED5F-499E-9207-131857DD0CC2}">
      <dgm:prSet/>
      <dgm:spPr/>
      <dgm:t>
        <a:bodyPr/>
        <a:lstStyle/>
        <a:p>
          <a:endParaRPr lang="en-IN"/>
        </a:p>
      </dgm:t>
    </dgm:pt>
    <dgm:pt modelId="{2402DC05-A818-420A-957E-A9D9FB66C46C}" type="sibTrans" cxnId="{3CF8B5DB-ED5F-499E-9207-131857DD0CC2}">
      <dgm:prSet/>
      <dgm:spPr/>
      <dgm:t>
        <a:bodyPr/>
        <a:lstStyle/>
        <a:p>
          <a:endParaRPr lang="en-IN"/>
        </a:p>
      </dgm:t>
    </dgm:pt>
    <dgm:pt modelId="{C3A5F9BB-32AD-4106-9E6D-D63F34B66802}">
      <dgm:prSet phldrT="[Text]"/>
      <dgm:spPr/>
      <dgm:t>
        <a:bodyPr/>
        <a:lstStyle/>
        <a:p>
          <a:endParaRPr lang="en-IN" dirty="0"/>
        </a:p>
      </dgm:t>
    </dgm:pt>
    <dgm:pt modelId="{34A6FE05-9BBD-4603-98DE-3D4AF17B7ECE}" type="sibTrans" cxnId="{879E73FF-179B-479D-BE1A-93A86477E21F}">
      <dgm:prSet/>
      <dgm:spPr/>
      <dgm:t>
        <a:bodyPr/>
        <a:lstStyle/>
        <a:p>
          <a:endParaRPr lang="en-IN"/>
        </a:p>
      </dgm:t>
    </dgm:pt>
    <dgm:pt modelId="{98645D09-F010-4792-BF06-94F336165EC0}" type="parTrans" cxnId="{879E73FF-179B-479D-BE1A-93A86477E21F}">
      <dgm:prSet/>
      <dgm:spPr/>
      <dgm:t>
        <a:bodyPr/>
        <a:lstStyle/>
        <a:p>
          <a:endParaRPr lang="en-IN"/>
        </a:p>
      </dgm:t>
    </dgm:pt>
    <dgm:pt modelId="{C40ABA1A-301D-4DBE-90E6-BF31F8453D28}" type="pres">
      <dgm:prSet presAssocID="{58CC22AC-D3EB-495F-AF4F-8D059FA3322F}" presName="compositeShape" presStyleCnt="0">
        <dgm:presLayoutVars>
          <dgm:chMax val="7"/>
          <dgm:dir/>
          <dgm:resizeHandles val="exact"/>
        </dgm:presLayoutVars>
      </dgm:prSet>
      <dgm:spPr/>
    </dgm:pt>
    <dgm:pt modelId="{0D17D7EE-BDF9-4698-84DC-E556613A57C9}" type="pres">
      <dgm:prSet presAssocID="{F174D7C8-17E7-48BC-A652-7E6D3CB7719F}" presName="circ1" presStyleLbl="vennNode1" presStyleIdx="0" presStyleCnt="2"/>
      <dgm:spPr/>
    </dgm:pt>
    <dgm:pt modelId="{1D95CA5D-48F8-470B-A13E-B08D1000AC96}" type="pres">
      <dgm:prSet presAssocID="{F174D7C8-17E7-48BC-A652-7E6D3CB7719F}" presName="circ1Tx" presStyleLbl="revTx" presStyleIdx="0" presStyleCnt="0">
        <dgm:presLayoutVars>
          <dgm:chMax val="0"/>
          <dgm:chPref val="0"/>
          <dgm:bulletEnabled val="1"/>
        </dgm:presLayoutVars>
      </dgm:prSet>
      <dgm:spPr/>
    </dgm:pt>
    <dgm:pt modelId="{0B134520-5A76-4948-9A78-A7E0CD0BD87B}" type="pres">
      <dgm:prSet presAssocID="{C3A5F9BB-32AD-4106-9E6D-D63F34B66802}" presName="circ2" presStyleLbl="vennNode1" presStyleIdx="1" presStyleCnt="2" custLinFactNeighborX="-3133"/>
      <dgm:spPr/>
    </dgm:pt>
    <dgm:pt modelId="{4ADD270C-ECF2-491A-B1C8-0D29292097A0}" type="pres">
      <dgm:prSet presAssocID="{C3A5F9BB-32AD-4106-9E6D-D63F34B66802}" presName="circ2Tx" presStyleLbl="revTx" presStyleIdx="0" presStyleCnt="0">
        <dgm:presLayoutVars>
          <dgm:chMax val="0"/>
          <dgm:chPref val="0"/>
          <dgm:bulletEnabled val="1"/>
        </dgm:presLayoutVars>
      </dgm:prSet>
      <dgm:spPr/>
    </dgm:pt>
  </dgm:ptLst>
  <dgm:cxnLst>
    <dgm:cxn modelId="{EA51CC0B-DE2E-4872-9268-FC93E54A6180}" type="presOf" srcId="{58CC22AC-D3EB-495F-AF4F-8D059FA3322F}" destId="{C40ABA1A-301D-4DBE-90E6-BF31F8453D28}" srcOrd="0" destOrd="0" presId="urn:microsoft.com/office/officeart/2005/8/layout/venn1"/>
    <dgm:cxn modelId="{D36CB894-D507-4FDF-BDB0-6DDEB8F41FD9}" type="presOf" srcId="{F174D7C8-17E7-48BC-A652-7E6D3CB7719F}" destId="{1D95CA5D-48F8-470B-A13E-B08D1000AC96}" srcOrd="1" destOrd="0" presId="urn:microsoft.com/office/officeart/2005/8/layout/venn1"/>
    <dgm:cxn modelId="{68AF16C9-61E3-42EB-80DA-E1D491827650}" type="presOf" srcId="{C3A5F9BB-32AD-4106-9E6D-D63F34B66802}" destId="{0B134520-5A76-4948-9A78-A7E0CD0BD87B}" srcOrd="0" destOrd="0" presId="urn:microsoft.com/office/officeart/2005/8/layout/venn1"/>
    <dgm:cxn modelId="{3CF8B5DB-ED5F-499E-9207-131857DD0CC2}" srcId="{58CC22AC-D3EB-495F-AF4F-8D059FA3322F}" destId="{F174D7C8-17E7-48BC-A652-7E6D3CB7719F}" srcOrd="0" destOrd="0" parTransId="{FF77803F-5861-4398-A5E3-B73C2FDE3EEA}" sibTransId="{2402DC05-A818-420A-957E-A9D9FB66C46C}"/>
    <dgm:cxn modelId="{D0B288E5-1EAD-4739-B495-BD49F0A72D46}" type="presOf" srcId="{F174D7C8-17E7-48BC-A652-7E6D3CB7719F}" destId="{0D17D7EE-BDF9-4698-84DC-E556613A57C9}" srcOrd="0" destOrd="0" presId="urn:microsoft.com/office/officeart/2005/8/layout/venn1"/>
    <dgm:cxn modelId="{47017CF5-CE55-4BAE-8719-6467954694EF}" type="presOf" srcId="{C3A5F9BB-32AD-4106-9E6D-D63F34B66802}" destId="{4ADD270C-ECF2-491A-B1C8-0D29292097A0}" srcOrd="1" destOrd="0" presId="urn:microsoft.com/office/officeart/2005/8/layout/venn1"/>
    <dgm:cxn modelId="{879E73FF-179B-479D-BE1A-93A86477E21F}" srcId="{58CC22AC-D3EB-495F-AF4F-8D059FA3322F}" destId="{C3A5F9BB-32AD-4106-9E6D-D63F34B66802}" srcOrd="1" destOrd="0" parTransId="{98645D09-F010-4792-BF06-94F336165EC0}" sibTransId="{34A6FE05-9BBD-4603-98DE-3D4AF17B7ECE}"/>
    <dgm:cxn modelId="{E6D67485-7B59-482E-B09D-925EAD9B0E07}" type="presParOf" srcId="{C40ABA1A-301D-4DBE-90E6-BF31F8453D28}" destId="{0D17D7EE-BDF9-4698-84DC-E556613A57C9}" srcOrd="0" destOrd="0" presId="urn:microsoft.com/office/officeart/2005/8/layout/venn1"/>
    <dgm:cxn modelId="{7F019837-A822-4DDE-BEFB-AA21D95641D3}" type="presParOf" srcId="{C40ABA1A-301D-4DBE-90E6-BF31F8453D28}" destId="{1D95CA5D-48F8-470B-A13E-B08D1000AC96}" srcOrd="1" destOrd="0" presId="urn:microsoft.com/office/officeart/2005/8/layout/venn1"/>
    <dgm:cxn modelId="{0555E9B0-3579-4D92-BC96-01B228E51BA2}" type="presParOf" srcId="{C40ABA1A-301D-4DBE-90E6-BF31F8453D28}" destId="{0B134520-5A76-4948-9A78-A7E0CD0BD87B}" srcOrd="2" destOrd="0" presId="urn:microsoft.com/office/officeart/2005/8/layout/venn1"/>
    <dgm:cxn modelId="{686E3EDC-76E8-4AAE-A33F-2FD35ADFEB43}" type="presParOf" srcId="{C40ABA1A-301D-4DBE-90E6-BF31F8453D28}" destId="{4ADD270C-ECF2-491A-B1C8-0D29292097A0}" srcOrd="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215BB5-9FEA-4882-B3E3-28DF99C6C802}" type="doc">
      <dgm:prSet loTypeId="urn:microsoft.com/office/officeart/2009/layout/CircleArrowProcess" loCatId="cycle" qsTypeId="urn:microsoft.com/office/officeart/2005/8/quickstyle/simple4" qsCatId="simple" csTypeId="urn:microsoft.com/office/officeart/2005/8/colors/accent1_2" csCatId="accent1" phldr="1"/>
      <dgm:spPr/>
      <dgm:t>
        <a:bodyPr/>
        <a:lstStyle/>
        <a:p>
          <a:endParaRPr lang="en-US"/>
        </a:p>
      </dgm:t>
    </dgm:pt>
    <dgm:pt modelId="{69015FB0-C701-4691-BE75-AD7BEDFCD581}">
      <dgm:prSet phldrT="[Text]" custT="1"/>
      <dgm:spPr/>
      <dgm:t>
        <a:bodyPr/>
        <a:lstStyle/>
        <a:p>
          <a:r>
            <a:rPr lang="en-US" sz="1800" b="1" dirty="0"/>
            <a:t>Going with Business</a:t>
          </a:r>
        </a:p>
      </dgm:t>
    </dgm:pt>
    <dgm:pt modelId="{F2AFF855-7105-4222-AE33-E0E407EAA6DA}" type="parTrans" cxnId="{AD62129D-3A40-4675-97A6-3816EB269172}">
      <dgm:prSet/>
      <dgm:spPr/>
      <dgm:t>
        <a:bodyPr/>
        <a:lstStyle/>
        <a:p>
          <a:endParaRPr lang="en-US"/>
        </a:p>
      </dgm:t>
    </dgm:pt>
    <dgm:pt modelId="{A2490071-962A-484A-841C-1BD07509A0BF}" type="sibTrans" cxnId="{AD62129D-3A40-4675-97A6-3816EB269172}">
      <dgm:prSet/>
      <dgm:spPr/>
      <dgm:t>
        <a:bodyPr/>
        <a:lstStyle/>
        <a:p>
          <a:endParaRPr lang="en-US"/>
        </a:p>
      </dgm:t>
    </dgm:pt>
    <dgm:pt modelId="{62D6E30F-EECB-4846-B77C-BA094C73BAE1}">
      <dgm:prSet phldrT="[Text]" custT="1"/>
      <dgm:spPr/>
      <dgm:t>
        <a:bodyPr/>
        <a:lstStyle/>
        <a:p>
          <a:r>
            <a:rPr lang="en-US" sz="1800" b="1" dirty="0"/>
            <a:t>Integrating with Business</a:t>
          </a:r>
        </a:p>
      </dgm:t>
    </dgm:pt>
    <dgm:pt modelId="{B1369E84-CA34-4176-96B4-ED2F61421ABF}" type="parTrans" cxnId="{AC16982E-F4E8-4B0C-800F-6E6A630F6D88}">
      <dgm:prSet/>
      <dgm:spPr/>
      <dgm:t>
        <a:bodyPr/>
        <a:lstStyle/>
        <a:p>
          <a:endParaRPr lang="en-US"/>
        </a:p>
      </dgm:t>
    </dgm:pt>
    <dgm:pt modelId="{8FD151D5-0AC6-4BAA-8013-D77EF695B54B}" type="sibTrans" cxnId="{AC16982E-F4E8-4B0C-800F-6E6A630F6D88}">
      <dgm:prSet/>
      <dgm:spPr/>
      <dgm:t>
        <a:bodyPr/>
        <a:lstStyle/>
        <a:p>
          <a:endParaRPr lang="en-US"/>
        </a:p>
      </dgm:t>
    </dgm:pt>
    <dgm:pt modelId="{E51C7D5A-24A2-4130-A676-065CD41E6C63}">
      <dgm:prSet phldrT="[Text]" custT="1"/>
      <dgm:spPr/>
      <dgm:t>
        <a:bodyPr/>
        <a:lstStyle/>
        <a:p>
          <a:r>
            <a:rPr lang="en-US" sz="1800" b="1" dirty="0"/>
            <a:t>Driving Business</a:t>
          </a:r>
        </a:p>
      </dgm:t>
    </dgm:pt>
    <dgm:pt modelId="{55C1DE79-FBDC-4520-B87B-D48A34900B2A}" type="parTrans" cxnId="{5285B216-4535-43A7-9A97-8AF2F0EAEF6B}">
      <dgm:prSet/>
      <dgm:spPr/>
      <dgm:t>
        <a:bodyPr/>
        <a:lstStyle/>
        <a:p>
          <a:endParaRPr lang="en-US"/>
        </a:p>
      </dgm:t>
    </dgm:pt>
    <dgm:pt modelId="{5A2D0088-057A-4DAE-BD32-DFC52DDBD02C}" type="sibTrans" cxnId="{5285B216-4535-43A7-9A97-8AF2F0EAEF6B}">
      <dgm:prSet/>
      <dgm:spPr/>
      <dgm:t>
        <a:bodyPr/>
        <a:lstStyle/>
        <a:p>
          <a:endParaRPr lang="en-US"/>
        </a:p>
      </dgm:t>
    </dgm:pt>
    <dgm:pt modelId="{28038283-79E7-49D2-950F-54279CBB5765}" type="pres">
      <dgm:prSet presAssocID="{BA215BB5-9FEA-4882-B3E3-28DF99C6C802}" presName="Name0" presStyleCnt="0">
        <dgm:presLayoutVars>
          <dgm:chMax val="7"/>
          <dgm:chPref val="7"/>
          <dgm:dir/>
          <dgm:animLvl val="lvl"/>
        </dgm:presLayoutVars>
      </dgm:prSet>
      <dgm:spPr/>
    </dgm:pt>
    <dgm:pt modelId="{65CF259F-9645-4A02-BA27-6F977D21D4FE}" type="pres">
      <dgm:prSet presAssocID="{69015FB0-C701-4691-BE75-AD7BEDFCD581}" presName="Accent1" presStyleCnt="0"/>
      <dgm:spPr/>
    </dgm:pt>
    <dgm:pt modelId="{4C8FAD8C-F41C-4C42-BD43-8AA1FD56318E}" type="pres">
      <dgm:prSet presAssocID="{69015FB0-C701-4691-BE75-AD7BEDFCD581}" presName="Accent" presStyleLbl="node1" presStyleIdx="0" presStyleCnt="3"/>
      <dgm:spPr>
        <a:solidFill>
          <a:schemeClr val="accent4">
            <a:lumMod val="75000"/>
          </a:schemeClr>
        </a:solidFill>
      </dgm:spPr>
    </dgm:pt>
    <dgm:pt modelId="{8A4CD39E-CEBC-46C3-86FA-45830B018EE4}" type="pres">
      <dgm:prSet presAssocID="{69015FB0-C701-4691-BE75-AD7BEDFCD581}" presName="Parent1" presStyleLbl="revTx" presStyleIdx="0" presStyleCnt="3" custScaleX="128863" custLinFactNeighborX="-1080" custLinFactNeighborY="-9080">
        <dgm:presLayoutVars>
          <dgm:chMax val="1"/>
          <dgm:chPref val="1"/>
          <dgm:bulletEnabled val="1"/>
        </dgm:presLayoutVars>
      </dgm:prSet>
      <dgm:spPr/>
    </dgm:pt>
    <dgm:pt modelId="{9EF9A4EA-CBD8-4C4E-B9D4-A42F3880B0FB}" type="pres">
      <dgm:prSet presAssocID="{62D6E30F-EECB-4846-B77C-BA094C73BAE1}" presName="Accent2" presStyleCnt="0"/>
      <dgm:spPr/>
    </dgm:pt>
    <dgm:pt modelId="{2516AD2B-1AFA-4A0E-BD2A-9E8C8A51605D}" type="pres">
      <dgm:prSet presAssocID="{62D6E30F-EECB-4846-B77C-BA094C73BAE1}" presName="Accent" presStyleLbl="node1" presStyleIdx="1" presStyleCnt="3" custLinFactNeighborY="2059"/>
      <dgm:spPr>
        <a:solidFill>
          <a:schemeClr val="accent4">
            <a:lumMod val="75000"/>
          </a:schemeClr>
        </a:solidFill>
      </dgm:spPr>
    </dgm:pt>
    <dgm:pt modelId="{BB169632-2CCE-4B7A-92D5-91217A1005DA}" type="pres">
      <dgm:prSet presAssocID="{62D6E30F-EECB-4846-B77C-BA094C73BAE1}" presName="Parent2" presStyleLbl="revTx" presStyleIdx="1" presStyleCnt="3" custScaleX="127013" custLinFactNeighborX="3627" custLinFactNeighborY="-2526">
        <dgm:presLayoutVars>
          <dgm:chMax val="1"/>
          <dgm:chPref val="1"/>
          <dgm:bulletEnabled val="1"/>
        </dgm:presLayoutVars>
      </dgm:prSet>
      <dgm:spPr/>
    </dgm:pt>
    <dgm:pt modelId="{0017335D-A03B-48A4-BC09-AA328FD4B6AF}" type="pres">
      <dgm:prSet presAssocID="{E51C7D5A-24A2-4130-A676-065CD41E6C63}" presName="Accent3" presStyleCnt="0"/>
      <dgm:spPr/>
    </dgm:pt>
    <dgm:pt modelId="{A3A87337-2B48-4DE5-AA51-955B8336C7FC}" type="pres">
      <dgm:prSet presAssocID="{E51C7D5A-24A2-4130-A676-065CD41E6C63}" presName="Accent" presStyleLbl="node1" presStyleIdx="2" presStyleCnt="3" custLinFactNeighborY="4792"/>
      <dgm:spPr>
        <a:solidFill>
          <a:schemeClr val="accent4">
            <a:lumMod val="75000"/>
          </a:schemeClr>
        </a:solidFill>
      </dgm:spPr>
    </dgm:pt>
    <dgm:pt modelId="{1453A4B6-ECBB-4F9C-B490-4E3E52AE4499}" type="pres">
      <dgm:prSet presAssocID="{E51C7D5A-24A2-4130-A676-065CD41E6C63}" presName="Parent3" presStyleLbl="revTx" presStyleIdx="2" presStyleCnt="3" custLinFactNeighborX="3600">
        <dgm:presLayoutVars>
          <dgm:chMax val="1"/>
          <dgm:chPref val="1"/>
          <dgm:bulletEnabled val="1"/>
        </dgm:presLayoutVars>
      </dgm:prSet>
      <dgm:spPr/>
    </dgm:pt>
  </dgm:ptLst>
  <dgm:cxnLst>
    <dgm:cxn modelId="{5285B216-4535-43A7-9A97-8AF2F0EAEF6B}" srcId="{BA215BB5-9FEA-4882-B3E3-28DF99C6C802}" destId="{E51C7D5A-24A2-4130-A676-065CD41E6C63}" srcOrd="2" destOrd="0" parTransId="{55C1DE79-FBDC-4520-B87B-D48A34900B2A}" sibTransId="{5A2D0088-057A-4DAE-BD32-DFC52DDBD02C}"/>
    <dgm:cxn modelId="{AC16982E-F4E8-4B0C-800F-6E6A630F6D88}" srcId="{BA215BB5-9FEA-4882-B3E3-28DF99C6C802}" destId="{62D6E30F-EECB-4846-B77C-BA094C73BAE1}" srcOrd="1" destOrd="0" parTransId="{B1369E84-CA34-4176-96B4-ED2F61421ABF}" sibTransId="{8FD151D5-0AC6-4BAA-8013-D77EF695B54B}"/>
    <dgm:cxn modelId="{9D19083C-D05F-4E00-B2AA-C174EBAC4BD3}" type="presOf" srcId="{BA215BB5-9FEA-4882-B3E3-28DF99C6C802}" destId="{28038283-79E7-49D2-950F-54279CBB5765}" srcOrd="0" destOrd="0" presId="urn:microsoft.com/office/officeart/2009/layout/CircleArrowProcess"/>
    <dgm:cxn modelId="{33D4FD67-5B49-4A09-920A-CC52055EDC79}" type="presOf" srcId="{E51C7D5A-24A2-4130-A676-065CD41E6C63}" destId="{1453A4B6-ECBB-4F9C-B490-4E3E52AE4499}" srcOrd="0" destOrd="0" presId="urn:microsoft.com/office/officeart/2009/layout/CircleArrowProcess"/>
    <dgm:cxn modelId="{BCAD7584-7D50-463A-85E3-8CB5ABAA075A}" type="presOf" srcId="{69015FB0-C701-4691-BE75-AD7BEDFCD581}" destId="{8A4CD39E-CEBC-46C3-86FA-45830B018EE4}" srcOrd="0" destOrd="0" presId="urn:microsoft.com/office/officeart/2009/layout/CircleArrowProcess"/>
    <dgm:cxn modelId="{AD62129D-3A40-4675-97A6-3816EB269172}" srcId="{BA215BB5-9FEA-4882-B3E3-28DF99C6C802}" destId="{69015FB0-C701-4691-BE75-AD7BEDFCD581}" srcOrd="0" destOrd="0" parTransId="{F2AFF855-7105-4222-AE33-E0E407EAA6DA}" sibTransId="{A2490071-962A-484A-841C-1BD07509A0BF}"/>
    <dgm:cxn modelId="{557F08EF-4659-4E15-99B8-A6500E82D4DF}" type="presOf" srcId="{62D6E30F-EECB-4846-B77C-BA094C73BAE1}" destId="{BB169632-2CCE-4B7A-92D5-91217A1005DA}" srcOrd="0" destOrd="0" presId="urn:microsoft.com/office/officeart/2009/layout/CircleArrowProcess"/>
    <dgm:cxn modelId="{F3D52B86-ED7F-4B21-A094-6E3823133C0D}" type="presParOf" srcId="{28038283-79E7-49D2-950F-54279CBB5765}" destId="{65CF259F-9645-4A02-BA27-6F977D21D4FE}" srcOrd="0" destOrd="0" presId="urn:microsoft.com/office/officeart/2009/layout/CircleArrowProcess"/>
    <dgm:cxn modelId="{C253B939-CCC3-4329-8049-59F7F1804324}" type="presParOf" srcId="{65CF259F-9645-4A02-BA27-6F977D21D4FE}" destId="{4C8FAD8C-F41C-4C42-BD43-8AA1FD56318E}" srcOrd="0" destOrd="0" presId="urn:microsoft.com/office/officeart/2009/layout/CircleArrowProcess"/>
    <dgm:cxn modelId="{FB85B0FB-17D9-46D1-B434-30268880A508}" type="presParOf" srcId="{28038283-79E7-49D2-950F-54279CBB5765}" destId="{8A4CD39E-CEBC-46C3-86FA-45830B018EE4}" srcOrd="1" destOrd="0" presId="urn:microsoft.com/office/officeart/2009/layout/CircleArrowProcess"/>
    <dgm:cxn modelId="{886EFCDF-3D1F-4995-8C77-BA29B9131844}" type="presParOf" srcId="{28038283-79E7-49D2-950F-54279CBB5765}" destId="{9EF9A4EA-CBD8-4C4E-B9D4-A42F3880B0FB}" srcOrd="2" destOrd="0" presId="urn:microsoft.com/office/officeart/2009/layout/CircleArrowProcess"/>
    <dgm:cxn modelId="{BB895EE3-1B00-4E7D-B434-1AEB3CB3D4D1}" type="presParOf" srcId="{9EF9A4EA-CBD8-4C4E-B9D4-A42F3880B0FB}" destId="{2516AD2B-1AFA-4A0E-BD2A-9E8C8A51605D}" srcOrd="0" destOrd="0" presId="urn:microsoft.com/office/officeart/2009/layout/CircleArrowProcess"/>
    <dgm:cxn modelId="{C16EEAA8-4BD5-4B36-A0F9-BD0840A737CE}" type="presParOf" srcId="{28038283-79E7-49D2-950F-54279CBB5765}" destId="{BB169632-2CCE-4B7A-92D5-91217A1005DA}" srcOrd="3" destOrd="0" presId="urn:microsoft.com/office/officeart/2009/layout/CircleArrowProcess"/>
    <dgm:cxn modelId="{D25055F2-2D81-4DF3-B17B-3340B6848091}" type="presParOf" srcId="{28038283-79E7-49D2-950F-54279CBB5765}" destId="{0017335D-A03B-48A4-BC09-AA328FD4B6AF}" srcOrd="4" destOrd="0" presId="urn:microsoft.com/office/officeart/2009/layout/CircleArrowProcess"/>
    <dgm:cxn modelId="{348A20EC-44D4-42A7-963B-C24F597211B9}" type="presParOf" srcId="{0017335D-A03B-48A4-BC09-AA328FD4B6AF}" destId="{A3A87337-2B48-4DE5-AA51-955B8336C7FC}" srcOrd="0" destOrd="0" presId="urn:microsoft.com/office/officeart/2009/layout/CircleArrowProcess"/>
    <dgm:cxn modelId="{A878E2F9-6650-4DB5-8FC6-6F83CA90EFC8}" type="presParOf" srcId="{28038283-79E7-49D2-950F-54279CBB5765}" destId="{1453A4B6-ECBB-4F9C-B490-4E3E52AE4499}" srcOrd="5"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940055A-22FD-491F-B0DB-83D0735B0B93}" type="doc">
      <dgm:prSet loTypeId="urn:microsoft.com/office/officeart/2005/8/layout/architecture" loCatId="relationship" qsTypeId="urn:microsoft.com/office/officeart/2005/8/quickstyle/simple1" qsCatId="simple" csTypeId="urn:microsoft.com/office/officeart/2005/8/colors/accent3_4" csCatId="accent3" phldr="1"/>
      <dgm:spPr/>
      <dgm:t>
        <a:bodyPr/>
        <a:lstStyle/>
        <a:p>
          <a:endParaRPr lang="en-IN"/>
        </a:p>
      </dgm:t>
    </dgm:pt>
    <dgm:pt modelId="{493A9976-B732-4AB0-8928-67586B8DE69C}">
      <dgm:prSet phldrT="[Text]" custT="1"/>
      <dgm:spPr/>
      <dgm:t>
        <a:bodyPr/>
        <a:lstStyle/>
        <a:p>
          <a:endParaRPr lang="en-IN" sz="2000" dirty="0"/>
        </a:p>
      </dgm:t>
    </dgm:pt>
    <dgm:pt modelId="{13D7FA76-F5C6-4588-AB06-484509423AF3}" type="parTrans" cxnId="{BFCD1206-8028-446C-9E28-9ED2BC86CD80}">
      <dgm:prSet/>
      <dgm:spPr/>
      <dgm:t>
        <a:bodyPr/>
        <a:lstStyle/>
        <a:p>
          <a:endParaRPr lang="en-IN"/>
        </a:p>
      </dgm:t>
    </dgm:pt>
    <dgm:pt modelId="{FC51CF0D-B3CD-432B-B361-D83DAC4FA8B3}" type="sibTrans" cxnId="{BFCD1206-8028-446C-9E28-9ED2BC86CD80}">
      <dgm:prSet/>
      <dgm:spPr/>
      <dgm:t>
        <a:bodyPr/>
        <a:lstStyle/>
        <a:p>
          <a:endParaRPr lang="en-IN"/>
        </a:p>
      </dgm:t>
    </dgm:pt>
    <dgm:pt modelId="{137BB548-1A2C-4FB3-B50D-DF071B2C775B}">
      <dgm:prSet phldrT="[Text]" custT="1"/>
      <dgm:spPr/>
      <dgm:t>
        <a:bodyPr/>
        <a:lstStyle/>
        <a:p>
          <a:endParaRPr lang="en-IN" sz="1100" dirty="0"/>
        </a:p>
        <a:p>
          <a:endParaRPr lang="en-IN" sz="1100" dirty="0"/>
        </a:p>
        <a:p>
          <a:r>
            <a:rPr lang="en-IN" sz="1100" dirty="0"/>
            <a:t>Personalized recommendations</a:t>
          </a:r>
        </a:p>
      </dgm:t>
    </dgm:pt>
    <dgm:pt modelId="{4C7781C2-E1EF-4ED9-A1FB-92B068B429B8}" type="parTrans" cxnId="{1ECFCB27-FF78-43B0-8DA4-CC4F91136B4D}">
      <dgm:prSet/>
      <dgm:spPr/>
      <dgm:t>
        <a:bodyPr/>
        <a:lstStyle/>
        <a:p>
          <a:endParaRPr lang="en-IN"/>
        </a:p>
      </dgm:t>
    </dgm:pt>
    <dgm:pt modelId="{7B07D9D8-4EAB-4E79-BB1A-66D3AE2D047A}" type="sibTrans" cxnId="{1ECFCB27-FF78-43B0-8DA4-CC4F91136B4D}">
      <dgm:prSet/>
      <dgm:spPr/>
      <dgm:t>
        <a:bodyPr/>
        <a:lstStyle/>
        <a:p>
          <a:endParaRPr lang="en-IN"/>
        </a:p>
      </dgm:t>
    </dgm:pt>
    <dgm:pt modelId="{D63F5135-00F4-44FC-BF41-D7CBB209085A}">
      <dgm:prSet phldrT="[Text]" custT="1"/>
      <dgm:spPr/>
      <dgm:t>
        <a:bodyPr/>
        <a:lstStyle/>
        <a:p>
          <a:endParaRPr lang="en-IN" sz="1100" dirty="0"/>
        </a:p>
        <a:p>
          <a:endParaRPr lang="en-IN" sz="1100" dirty="0"/>
        </a:p>
        <a:p>
          <a:r>
            <a:rPr lang="en-IN" sz="1100" dirty="0"/>
            <a:t>Predictive Analytics</a:t>
          </a:r>
        </a:p>
      </dgm:t>
    </dgm:pt>
    <dgm:pt modelId="{F6809A1D-E012-4723-9FE5-90B90E951E95}" type="parTrans" cxnId="{83949CD2-B44D-45F4-876C-13D1D3103D1C}">
      <dgm:prSet/>
      <dgm:spPr/>
      <dgm:t>
        <a:bodyPr/>
        <a:lstStyle/>
        <a:p>
          <a:endParaRPr lang="en-IN"/>
        </a:p>
      </dgm:t>
    </dgm:pt>
    <dgm:pt modelId="{D2DBB1B1-8795-462C-8701-1E5FE8FDA8F1}" type="sibTrans" cxnId="{83949CD2-B44D-45F4-876C-13D1D3103D1C}">
      <dgm:prSet/>
      <dgm:spPr/>
      <dgm:t>
        <a:bodyPr/>
        <a:lstStyle/>
        <a:p>
          <a:endParaRPr lang="en-IN"/>
        </a:p>
      </dgm:t>
    </dgm:pt>
    <dgm:pt modelId="{8EF7D839-D870-4B9D-A8A7-7980F3311BE2}">
      <dgm:prSet phldrT="[Text]" custT="1"/>
      <dgm:spPr/>
      <dgm:t>
        <a:bodyPr/>
        <a:lstStyle/>
        <a:p>
          <a:endParaRPr lang="en-IN" sz="1100" dirty="0"/>
        </a:p>
        <a:p>
          <a:endParaRPr lang="en-IN" sz="1100" dirty="0"/>
        </a:p>
        <a:p>
          <a:r>
            <a:rPr lang="en-IN" sz="1100" dirty="0"/>
            <a:t>Remote Patient Monitoring</a:t>
          </a:r>
        </a:p>
      </dgm:t>
    </dgm:pt>
    <dgm:pt modelId="{76C94940-EC92-4EB6-AB7E-86F3A9C4659F}" type="parTrans" cxnId="{44C72C0C-F023-4966-BD9A-DAD1FA5F2D64}">
      <dgm:prSet/>
      <dgm:spPr/>
      <dgm:t>
        <a:bodyPr/>
        <a:lstStyle/>
        <a:p>
          <a:endParaRPr lang="en-IN"/>
        </a:p>
      </dgm:t>
    </dgm:pt>
    <dgm:pt modelId="{7025E897-9025-45EA-860A-35F9EFAE533D}" type="sibTrans" cxnId="{44C72C0C-F023-4966-BD9A-DAD1FA5F2D64}">
      <dgm:prSet/>
      <dgm:spPr/>
      <dgm:t>
        <a:bodyPr/>
        <a:lstStyle/>
        <a:p>
          <a:endParaRPr lang="en-IN"/>
        </a:p>
      </dgm:t>
    </dgm:pt>
    <dgm:pt modelId="{A94BA8E9-2EBA-45F4-A152-BAC02A80A394}">
      <dgm:prSet phldrT="[Text]" custT="1"/>
      <dgm:spPr/>
      <dgm:t>
        <a:bodyPr/>
        <a:lstStyle/>
        <a:p>
          <a:endParaRPr lang="en-IN" sz="1100" dirty="0"/>
        </a:p>
        <a:p>
          <a:endParaRPr lang="en-IN" sz="1100" dirty="0"/>
        </a:p>
        <a:p>
          <a:r>
            <a:rPr lang="en-IN" sz="1100" dirty="0"/>
            <a:t>Chatbots and virtual assistants</a:t>
          </a:r>
        </a:p>
      </dgm:t>
    </dgm:pt>
    <dgm:pt modelId="{D5C3F99F-8059-4740-A005-B977996E2F85}" type="parTrans" cxnId="{CC62262D-A3CC-4FEC-8042-8B4B6E4051AF}">
      <dgm:prSet/>
      <dgm:spPr/>
      <dgm:t>
        <a:bodyPr/>
        <a:lstStyle/>
        <a:p>
          <a:endParaRPr lang="en-IN"/>
        </a:p>
      </dgm:t>
    </dgm:pt>
    <dgm:pt modelId="{549CAF4D-84EC-4F90-A4DB-62B44E84580D}" type="sibTrans" cxnId="{CC62262D-A3CC-4FEC-8042-8B4B6E4051AF}">
      <dgm:prSet/>
      <dgm:spPr/>
      <dgm:t>
        <a:bodyPr/>
        <a:lstStyle/>
        <a:p>
          <a:endParaRPr lang="en-IN"/>
        </a:p>
      </dgm:t>
    </dgm:pt>
    <dgm:pt modelId="{330BD15A-290E-4920-9F78-13C9D5BC9933}">
      <dgm:prSet phldrT="[Text]" custT="1"/>
      <dgm:spPr/>
      <dgm:t>
        <a:bodyPr/>
        <a:lstStyle/>
        <a:p>
          <a:endParaRPr lang="en-IN" sz="1100" dirty="0"/>
        </a:p>
        <a:p>
          <a:endParaRPr lang="en-IN" sz="1100" dirty="0"/>
        </a:p>
        <a:p>
          <a:r>
            <a:rPr lang="en-IN" sz="1100" dirty="0"/>
            <a:t>Electronic Health Records (EHRs)</a:t>
          </a:r>
        </a:p>
      </dgm:t>
    </dgm:pt>
    <dgm:pt modelId="{CF9E53FA-4F1E-464D-9F53-6CE23F160970}" type="parTrans" cxnId="{04E2FAD3-74BB-4DF3-BF6E-845F66032C41}">
      <dgm:prSet/>
      <dgm:spPr/>
      <dgm:t>
        <a:bodyPr/>
        <a:lstStyle/>
        <a:p>
          <a:endParaRPr lang="en-IN"/>
        </a:p>
      </dgm:t>
    </dgm:pt>
    <dgm:pt modelId="{CE0E07BA-0294-4785-AAD8-AAB883EABD9E}" type="sibTrans" cxnId="{04E2FAD3-74BB-4DF3-BF6E-845F66032C41}">
      <dgm:prSet/>
      <dgm:spPr/>
      <dgm:t>
        <a:bodyPr/>
        <a:lstStyle/>
        <a:p>
          <a:endParaRPr lang="en-IN"/>
        </a:p>
      </dgm:t>
    </dgm:pt>
    <dgm:pt modelId="{2F7ABD25-0501-4AF7-BD44-4D62F1C52969}">
      <dgm:prSet phldrT="[Text]" custT="1"/>
      <dgm:spPr/>
      <dgm:t>
        <a:bodyPr/>
        <a:lstStyle/>
        <a:p>
          <a:endParaRPr lang="en-IN" sz="1100" dirty="0"/>
        </a:p>
        <a:p>
          <a:endParaRPr lang="en-IN" sz="1100" dirty="0"/>
        </a:p>
        <a:p>
          <a:r>
            <a:rPr lang="en-IN" sz="1100" dirty="0"/>
            <a:t>Medication Management</a:t>
          </a:r>
        </a:p>
      </dgm:t>
    </dgm:pt>
    <dgm:pt modelId="{C740FDA2-D442-4C46-9BDD-034F75AD486E}" type="parTrans" cxnId="{F7980013-6CEA-4708-9876-E9E0D4132255}">
      <dgm:prSet/>
      <dgm:spPr/>
      <dgm:t>
        <a:bodyPr/>
        <a:lstStyle/>
        <a:p>
          <a:endParaRPr lang="en-IN"/>
        </a:p>
      </dgm:t>
    </dgm:pt>
    <dgm:pt modelId="{35D8D775-B36C-4C79-9FB4-51903761B7DB}" type="sibTrans" cxnId="{F7980013-6CEA-4708-9876-E9E0D4132255}">
      <dgm:prSet/>
      <dgm:spPr/>
      <dgm:t>
        <a:bodyPr/>
        <a:lstStyle/>
        <a:p>
          <a:endParaRPr lang="en-IN"/>
        </a:p>
      </dgm:t>
    </dgm:pt>
    <dgm:pt modelId="{4310DD30-696A-48E8-BD85-B056D10D2FF8}">
      <dgm:prSet phldrT="[Text]" custT="1"/>
      <dgm:spPr/>
      <dgm:t>
        <a:bodyPr/>
        <a:lstStyle/>
        <a:p>
          <a:endParaRPr lang="en-IN" sz="1100" dirty="0"/>
        </a:p>
        <a:p>
          <a:endParaRPr lang="en-IN" sz="1100" dirty="0"/>
        </a:p>
        <a:p>
          <a:r>
            <a:rPr lang="en-IN" sz="1100" dirty="0"/>
            <a:t>Behavioural Health</a:t>
          </a:r>
        </a:p>
      </dgm:t>
    </dgm:pt>
    <dgm:pt modelId="{FFE01DC2-7612-4E9A-A6F3-686458F0AA01}" type="parTrans" cxnId="{DD1FCC80-2A63-4884-9E08-231E5E59C22C}">
      <dgm:prSet/>
      <dgm:spPr/>
      <dgm:t>
        <a:bodyPr/>
        <a:lstStyle/>
        <a:p>
          <a:endParaRPr lang="en-IN"/>
        </a:p>
      </dgm:t>
    </dgm:pt>
    <dgm:pt modelId="{65271C25-659D-4A8E-8EA1-D7E99D51B900}" type="sibTrans" cxnId="{DD1FCC80-2A63-4884-9E08-231E5E59C22C}">
      <dgm:prSet/>
      <dgm:spPr/>
      <dgm:t>
        <a:bodyPr/>
        <a:lstStyle/>
        <a:p>
          <a:endParaRPr lang="en-IN"/>
        </a:p>
      </dgm:t>
    </dgm:pt>
    <dgm:pt modelId="{428142E7-2351-415E-8B37-CC864D864B58}" type="pres">
      <dgm:prSet presAssocID="{D940055A-22FD-491F-B0DB-83D0735B0B93}" presName="Name0" presStyleCnt="0">
        <dgm:presLayoutVars>
          <dgm:chPref val="1"/>
          <dgm:dir/>
          <dgm:animOne val="branch"/>
          <dgm:animLvl val="lvl"/>
          <dgm:resizeHandles/>
        </dgm:presLayoutVars>
      </dgm:prSet>
      <dgm:spPr/>
    </dgm:pt>
    <dgm:pt modelId="{D45426B4-372B-4773-9D01-ED8808C871CC}" type="pres">
      <dgm:prSet presAssocID="{493A9976-B732-4AB0-8928-67586B8DE69C}" presName="vertOne" presStyleCnt="0"/>
      <dgm:spPr/>
    </dgm:pt>
    <dgm:pt modelId="{D7AB2558-3033-42AA-B153-DF2D47D3F13F}" type="pres">
      <dgm:prSet presAssocID="{493A9976-B732-4AB0-8928-67586B8DE69C}" presName="txOne" presStyleLbl="node0" presStyleIdx="0" presStyleCnt="1" custScaleY="33560" custLinFactY="15251" custLinFactNeighborX="0" custLinFactNeighborY="100000">
        <dgm:presLayoutVars>
          <dgm:chPref val="3"/>
        </dgm:presLayoutVars>
      </dgm:prSet>
      <dgm:spPr/>
    </dgm:pt>
    <dgm:pt modelId="{37636924-7920-4E7C-8AD4-EA76EDBF1339}" type="pres">
      <dgm:prSet presAssocID="{493A9976-B732-4AB0-8928-67586B8DE69C}" presName="parTransOne" presStyleCnt="0"/>
      <dgm:spPr/>
    </dgm:pt>
    <dgm:pt modelId="{B688AE38-F9B5-4DD7-9967-D6D8DCAE765D}" type="pres">
      <dgm:prSet presAssocID="{493A9976-B732-4AB0-8928-67586B8DE69C}" presName="horzOne" presStyleCnt="0"/>
      <dgm:spPr/>
    </dgm:pt>
    <dgm:pt modelId="{5CEEAB4C-D318-4B44-9A5C-881518B5CFB0}" type="pres">
      <dgm:prSet presAssocID="{137BB548-1A2C-4FB3-B50D-DF071B2C775B}" presName="vertTwo" presStyleCnt="0"/>
      <dgm:spPr/>
    </dgm:pt>
    <dgm:pt modelId="{2931D21B-02D3-4BCE-92E0-D3A8A9578BAE}" type="pres">
      <dgm:prSet presAssocID="{137BB548-1A2C-4FB3-B50D-DF071B2C775B}" presName="txTwo" presStyleLbl="node2" presStyleIdx="0" presStyleCnt="7" custScaleY="27881" custLinFactNeighborX="-617" custLinFactNeighborY="-45686">
        <dgm:presLayoutVars>
          <dgm:chPref val="3"/>
        </dgm:presLayoutVars>
      </dgm:prSet>
      <dgm:spPr/>
    </dgm:pt>
    <dgm:pt modelId="{4312F90E-E3B1-431B-A169-D89559E1796F}" type="pres">
      <dgm:prSet presAssocID="{137BB548-1A2C-4FB3-B50D-DF071B2C775B}" presName="horzTwo" presStyleCnt="0"/>
      <dgm:spPr/>
    </dgm:pt>
    <dgm:pt modelId="{D092C1C3-D30D-425E-B5DA-F36511BD69B0}" type="pres">
      <dgm:prSet presAssocID="{7B07D9D8-4EAB-4E79-BB1A-66D3AE2D047A}" presName="sibSpaceTwo" presStyleCnt="0"/>
      <dgm:spPr/>
    </dgm:pt>
    <dgm:pt modelId="{2B3D8426-E4B0-4B20-B3DB-DB255B5B6C18}" type="pres">
      <dgm:prSet presAssocID="{8EF7D839-D870-4B9D-A8A7-7980F3311BE2}" presName="vertTwo" presStyleCnt="0"/>
      <dgm:spPr/>
    </dgm:pt>
    <dgm:pt modelId="{D0EADA67-D1BF-4E88-A817-11A29F965E1F}" type="pres">
      <dgm:prSet presAssocID="{8EF7D839-D870-4B9D-A8A7-7980F3311BE2}" presName="txTwo" presStyleLbl="node2" presStyleIdx="1" presStyleCnt="7" custScaleY="27881" custLinFactNeighborX="-617" custLinFactNeighborY="-45686">
        <dgm:presLayoutVars>
          <dgm:chPref val="3"/>
        </dgm:presLayoutVars>
      </dgm:prSet>
      <dgm:spPr/>
    </dgm:pt>
    <dgm:pt modelId="{1EFD57F7-05DF-4DCC-9BA3-F307705207F1}" type="pres">
      <dgm:prSet presAssocID="{8EF7D839-D870-4B9D-A8A7-7980F3311BE2}" presName="horzTwo" presStyleCnt="0"/>
      <dgm:spPr/>
    </dgm:pt>
    <dgm:pt modelId="{858653C5-D2A5-49F8-AAC4-B579CD820C2D}" type="pres">
      <dgm:prSet presAssocID="{7025E897-9025-45EA-860A-35F9EFAE533D}" presName="sibSpaceTwo" presStyleCnt="0"/>
      <dgm:spPr/>
    </dgm:pt>
    <dgm:pt modelId="{B55FAAF1-AC53-4944-9D2A-FDA5043901EF}" type="pres">
      <dgm:prSet presAssocID="{A94BA8E9-2EBA-45F4-A152-BAC02A80A394}" presName="vertTwo" presStyleCnt="0"/>
      <dgm:spPr/>
    </dgm:pt>
    <dgm:pt modelId="{E57FA25F-9A93-4B07-B3A7-6E159675658B}" type="pres">
      <dgm:prSet presAssocID="{A94BA8E9-2EBA-45F4-A152-BAC02A80A394}" presName="txTwo" presStyleLbl="node2" presStyleIdx="2" presStyleCnt="7" custScaleY="27881" custLinFactNeighborX="-617" custLinFactNeighborY="-45686">
        <dgm:presLayoutVars>
          <dgm:chPref val="3"/>
        </dgm:presLayoutVars>
      </dgm:prSet>
      <dgm:spPr/>
    </dgm:pt>
    <dgm:pt modelId="{7B1C846B-1DF6-4947-9681-761CA0011ACB}" type="pres">
      <dgm:prSet presAssocID="{A94BA8E9-2EBA-45F4-A152-BAC02A80A394}" presName="horzTwo" presStyleCnt="0"/>
      <dgm:spPr/>
    </dgm:pt>
    <dgm:pt modelId="{A6C88CAC-317A-4DDF-9859-F6E668FD19EE}" type="pres">
      <dgm:prSet presAssocID="{549CAF4D-84EC-4F90-A4DB-62B44E84580D}" presName="sibSpaceTwo" presStyleCnt="0"/>
      <dgm:spPr/>
    </dgm:pt>
    <dgm:pt modelId="{5F186DF3-03EC-4819-8CF4-BEEDF4443BB6}" type="pres">
      <dgm:prSet presAssocID="{D63F5135-00F4-44FC-BF41-D7CBB209085A}" presName="vertTwo" presStyleCnt="0"/>
      <dgm:spPr/>
    </dgm:pt>
    <dgm:pt modelId="{53088CB6-65D2-4608-8CFC-5AA9A093F486}" type="pres">
      <dgm:prSet presAssocID="{D63F5135-00F4-44FC-BF41-D7CBB209085A}" presName="txTwo" presStyleLbl="node2" presStyleIdx="3" presStyleCnt="7" custScaleY="28179" custLinFactNeighborX="580" custLinFactNeighborY="-10871">
        <dgm:presLayoutVars>
          <dgm:chPref val="3"/>
        </dgm:presLayoutVars>
      </dgm:prSet>
      <dgm:spPr/>
    </dgm:pt>
    <dgm:pt modelId="{96217389-D5C0-4563-B064-B6737AA9E1DD}" type="pres">
      <dgm:prSet presAssocID="{D63F5135-00F4-44FC-BF41-D7CBB209085A}" presName="horzTwo" presStyleCnt="0"/>
      <dgm:spPr/>
    </dgm:pt>
    <dgm:pt modelId="{58C6E8FE-30B5-4F2D-BC40-14CEB341B2CD}" type="pres">
      <dgm:prSet presAssocID="{D2DBB1B1-8795-462C-8701-1E5FE8FDA8F1}" presName="sibSpaceTwo" presStyleCnt="0"/>
      <dgm:spPr/>
    </dgm:pt>
    <dgm:pt modelId="{6153BAD0-567C-45B5-88A7-3C212FD40937}" type="pres">
      <dgm:prSet presAssocID="{330BD15A-290E-4920-9F78-13C9D5BC9933}" presName="vertTwo" presStyleCnt="0"/>
      <dgm:spPr/>
    </dgm:pt>
    <dgm:pt modelId="{F912383D-5394-4B7B-BE40-F90ECE416932}" type="pres">
      <dgm:prSet presAssocID="{330BD15A-290E-4920-9F78-13C9D5BC9933}" presName="txTwo" presStyleLbl="node2" presStyleIdx="4" presStyleCnt="7" custScaleY="28179" custLinFactNeighborX="580" custLinFactNeighborY="-10871">
        <dgm:presLayoutVars>
          <dgm:chPref val="3"/>
        </dgm:presLayoutVars>
      </dgm:prSet>
      <dgm:spPr/>
    </dgm:pt>
    <dgm:pt modelId="{A25C4BFF-4395-4078-B20C-4CA459C4B839}" type="pres">
      <dgm:prSet presAssocID="{330BD15A-290E-4920-9F78-13C9D5BC9933}" presName="horzTwo" presStyleCnt="0"/>
      <dgm:spPr/>
    </dgm:pt>
    <dgm:pt modelId="{7007E803-ACF1-4642-94FC-11361AE06370}" type="pres">
      <dgm:prSet presAssocID="{CE0E07BA-0294-4785-AAD8-AAB883EABD9E}" presName="sibSpaceTwo" presStyleCnt="0"/>
      <dgm:spPr/>
    </dgm:pt>
    <dgm:pt modelId="{E47285C7-5EE8-4CED-879A-EAA5BB3BCAD4}" type="pres">
      <dgm:prSet presAssocID="{2F7ABD25-0501-4AF7-BD44-4D62F1C52969}" presName="vertTwo" presStyleCnt="0"/>
      <dgm:spPr/>
    </dgm:pt>
    <dgm:pt modelId="{8AF436C2-7E46-4D83-8603-3E77D1CC02B7}" type="pres">
      <dgm:prSet presAssocID="{2F7ABD25-0501-4AF7-BD44-4D62F1C52969}" presName="txTwo" presStyleLbl="node2" presStyleIdx="5" presStyleCnt="7" custScaleY="28179" custLinFactNeighborX="580" custLinFactNeighborY="-10871">
        <dgm:presLayoutVars>
          <dgm:chPref val="3"/>
        </dgm:presLayoutVars>
      </dgm:prSet>
      <dgm:spPr/>
    </dgm:pt>
    <dgm:pt modelId="{0BAAB4AD-8269-4642-B3B9-0D9B9F9EC732}" type="pres">
      <dgm:prSet presAssocID="{2F7ABD25-0501-4AF7-BD44-4D62F1C52969}" presName="horzTwo" presStyleCnt="0"/>
      <dgm:spPr/>
    </dgm:pt>
    <dgm:pt modelId="{484EE759-AA0D-497C-BD8B-8CF5F5ACD337}" type="pres">
      <dgm:prSet presAssocID="{35D8D775-B36C-4C79-9FB4-51903761B7DB}" presName="sibSpaceTwo" presStyleCnt="0"/>
      <dgm:spPr/>
    </dgm:pt>
    <dgm:pt modelId="{E5FF144A-5A0D-45BA-A9B3-04ABF8F9E7C7}" type="pres">
      <dgm:prSet presAssocID="{4310DD30-696A-48E8-BD85-B056D10D2FF8}" presName="vertTwo" presStyleCnt="0"/>
      <dgm:spPr/>
    </dgm:pt>
    <dgm:pt modelId="{73238D31-E10E-421E-9EA0-BCBC2CF6CD15}" type="pres">
      <dgm:prSet presAssocID="{4310DD30-696A-48E8-BD85-B056D10D2FF8}" presName="txTwo" presStyleLbl="node2" presStyleIdx="6" presStyleCnt="7" custScaleY="28179" custLinFactNeighborX="580" custLinFactNeighborY="-10871">
        <dgm:presLayoutVars>
          <dgm:chPref val="3"/>
        </dgm:presLayoutVars>
      </dgm:prSet>
      <dgm:spPr/>
    </dgm:pt>
    <dgm:pt modelId="{B403FC69-8B86-4094-843E-25257645214E}" type="pres">
      <dgm:prSet presAssocID="{4310DD30-696A-48E8-BD85-B056D10D2FF8}" presName="horzTwo" presStyleCnt="0"/>
      <dgm:spPr/>
    </dgm:pt>
  </dgm:ptLst>
  <dgm:cxnLst>
    <dgm:cxn modelId="{BFCD1206-8028-446C-9E28-9ED2BC86CD80}" srcId="{D940055A-22FD-491F-B0DB-83D0735B0B93}" destId="{493A9976-B732-4AB0-8928-67586B8DE69C}" srcOrd="0" destOrd="0" parTransId="{13D7FA76-F5C6-4588-AB06-484509423AF3}" sibTransId="{FC51CF0D-B3CD-432B-B361-D83DAC4FA8B3}"/>
    <dgm:cxn modelId="{44C72C0C-F023-4966-BD9A-DAD1FA5F2D64}" srcId="{493A9976-B732-4AB0-8928-67586B8DE69C}" destId="{8EF7D839-D870-4B9D-A8A7-7980F3311BE2}" srcOrd="1" destOrd="0" parTransId="{76C94940-EC92-4EB6-AB7E-86F3A9C4659F}" sibTransId="{7025E897-9025-45EA-860A-35F9EFAE533D}"/>
    <dgm:cxn modelId="{F7980013-6CEA-4708-9876-E9E0D4132255}" srcId="{493A9976-B732-4AB0-8928-67586B8DE69C}" destId="{2F7ABD25-0501-4AF7-BD44-4D62F1C52969}" srcOrd="5" destOrd="0" parTransId="{C740FDA2-D442-4C46-9BDD-034F75AD486E}" sibTransId="{35D8D775-B36C-4C79-9FB4-51903761B7DB}"/>
    <dgm:cxn modelId="{1ECFCB27-FF78-43B0-8DA4-CC4F91136B4D}" srcId="{493A9976-B732-4AB0-8928-67586B8DE69C}" destId="{137BB548-1A2C-4FB3-B50D-DF071B2C775B}" srcOrd="0" destOrd="0" parTransId="{4C7781C2-E1EF-4ED9-A1FB-92B068B429B8}" sibTransId="{7B07D9D8-4EAB-4E79-BB1A-66D3AE2D047A}"/>
    <dgm:cxn modelId="{CC62262D-A3CC-4FEC-8042-8B4B6E4051AF}" srcId="{493A9976-B732-4AB0-8928-67586B8DE69C}" destId="{A94BA8E9-2EBA-45F4-A152-BAC02A80A394}" srcOrd="2" destOrd="0" parTransId="{D5C3F99F-8059-4740-A005-B977996E2F85}" sibTransId="{549CAF4D-84EC-4F90-A4DB-62B44E84580D}"/>
    <dgm:cxn modelId="{432BA930-9C1E-4451-B23C-7F06A0F20131}" type="presOf" srcId="{8EF7D839-D870-4B9D-A8A7-7980F3311BE2}" destId="{D0EADA67-D1BF-4E88-A817-11A29F965E1F}" srcOrd="0" destOrd="0" presId="urn:microsoft.com/office/officeart/2005/8/layout/architecture"/>
    <dgm:cxn modelId="{DD1FCC80-2A63-4884-9E08-231E5E59C22C}" srcId="{493A9976-B732-4AB0-8928-67586B8DE69C}" destId="{4310DD30-696A-48E8-BD85-B056D10D2FF8}" srcOrd="6" destOrd="0" parTransId="{FFE01DC2-7612-4E9A-A6F3-686458F0AA01}" sibTransId="{65271C25-659D-4A8E-8EA1-D7E99D51B900}"/>
    <dgm:cxn modelId="{088EA6A0-BAEA-4AFA-AE25-B693463685BD}" type="presOf" srcId="{4310DD30-696A-48E8-BD85-B056D10D2FF8}" destId="{73238D31-E10E-421E-9EA0-BCBC2CF6CD15}" srcOrd="0" destOrd="0" presId="urn:microsoft.com/office/officeart/2005/8/layout/architecture"/>
    <dgm:cxn modelId="{4E3DEEAB-995C-4209-A271-2653830E9643}" type="presOf" srcId="{D940055A-22FD-491F-B0DB-83D0735B0B93}" destId="{428142E7-2351-415E-8B37-CC864D864B58}" srcOrd="0" destOrd="0" presId="urn:microsoft.com/office/officeart/2005/8/layout/architecture"/>
    <dgm:cxn modelId="{94F90DB2-53CB-4830-BC32-B91D3F024C2B}" type="presOf" srcId="{493A9976-B732-4AB0-8928-67586B8DE69C}" destId="{D7AB2558-3033-42AA-B153-DF2D47D3F13F}" srcOrd="0" destOrd="0" presId="urn:microsoft.com/office/officeart/2005/8/layout/architecture"/>
    <dgm:cxn modelId="{9FEBC2B3-72AC-4A8F-BD6E-52DADD8652B9}" type="presOf" srcId="{A94BA8E9-2EBA-45F4-A152-BAC02A80A394}" destId="{E57FA25F-9A93-4B07-B3A7-6E159675658B}" srcOrd="0" destOrd="0" presId="urn:microsoft.com/office/officeart/2005/8/layout/architecture"/>
    <dgm:cxn modelId="{CAE512BE-B889-4D2A-80BB-15B74DDCF591}" type="presOf" srcId="{2F7ABD25-0501-4AF7-BD44-4D62F1C52969}" destId="{8AF436C2-7E46-4D83-8603-3E77D1CC02B7}" srcOrd="0" destOrd="0" presId="urn:microsoft.com/office/officeart/2005/8/layout/architecture"/>
    <dgm:cxn modelId="{D22500C6-4686-4BDE-ADF2-6126636D0E78}" type="presOf" srcId="{D63F5135-00F4-44FC-BF41-D7CBB209085A}" destId="{53088CB6-65D2-4608-8CFC-5AA9A093F486}" srcOrd="0" destOrd="0" presId="urn:microsoft.com/office/officeart/2005/8/layout/architecture"/>
    <dgm:cxn modelId="{83949CD2-B44D-45F4-876C-13D1D3103D1C}" srcId="{493A9976-B732-4AB0-8928-67586B8DE69C}" destId="{D63F5135-00F4-44FC-BF41-D7CBB209085A}" srcOrd="3" destOrd="0" parTransId="{F6809A1D-E012-4723-9FE5-90B90E951E95}" sibTransId="{D2DBB1B1-8795-462C-8701-1E5FE8FDA8F1}"/>
    <dgm:cxn modelId="{04E2FAD3-74BB-4DF3-BF6E-845F66032C41}" srcId="{493A9976-B732-4AB0-8928-67586B8DE69C}" destId="{330BD15A-290E-4920-9F78-13C9D5BC9933}" srcOrd="4" destOrd="0" parTransId="{CF9E53FA-4F1E-464D-9F53-6CE23F160970}" sibTransId="{CE0E07BA-0294-4785-AAD8-AAB883EABD9E}"/>
    <dgm:cxn modelId="{442744EA-916A-4E05-B7AD-4C85409C3DAD}" type="presOf" srcId="{330BD15A-290E-4920-9F78-13C9D5BC9933}" destId="{F912383D-5394-4B7B-BE40-F90ECE416932}" srcOrd="0" destOrd="0" presId="urn:microsoft.com/office/officeart/2005/8/layout/architecture"/>
    <dgm:cxn modelId="{D66510F3-35C5-4ACE-B037-AD2F1E760866}" type="presOf" srcId="{137BB548-1A2C-4FB3-B50D-DF071B2C775B}" destId="{2931D21B-02D3-4BCE-92E0-D3A8A9578BAE}" srcOrd="0" destOrd="0" presId="urn:microsoft.com/office/officeart/2005/8/layout/architecture"/>
    <dgm:cxn modelId="{CE14D216-58CF-41FE-8D95-A8CBE4BCFA42}" type="presParOf" srcId="{428142E7-2351-415E-8B37-CC864D864B58}" destId="{D45426B4-372B-4773-9D01-ED8808C871CC}" srcOrd="0" destOrd="0" presId="urn:microsoft.com/office/officeart/2005/8/layout/architecture"/>
    <dgm:cxn modelId="{71D0C08D-FBA1-4524-A45F-12E36B911EC1}" type="presParOf" srcId="{D45426B4-372B-4773-9D01-ED8808C871CC}" destId="{D7AB2558-3033-42AA-B153-DF2D47D3F13F}" srcOrd="0" destOrd="0" presId="urn:microsoft.com/office/officeart/2005/8/layout/architecture"/>
    <dgm:cxn modelId="{024197FC-CF4F-4F59-AFFE-3782A80CF6D5}" type="presParOf" srcId="{D45426B4-372B-4773-9D01-ED8808C871CC}" destId="{37636924-7920-4E7C-8AD4-EA76EDBF1339}" srcOrd="1" destOrd="0" presId="urn:microsoft.com/office/officeart/2005/8/layout/architecture"/>
    <dgm:cxn modelId="{155AE2D5-1861-4703-AFD5-198FF40E8E74}" type="presParOf" srcId="{D45426B4-372B-4773-9D01-ED8808C871CC}" destId="{B688AE38-F9B5-4DD7-9967-D6D8DCAE765D}" srcOrd="2" destOrd="0" presId="urn:microsoft.com/office/officeart/2005/8/layout/architecture"/>
    <dgm:cxn modelId="{5CEB9588-A114-40B4-8BFA-5962547F35F2}" type="presParOf" srcId="{B688AE38-F9B5-4DD7-9967-D6D8DCAE765D}" destId="{5CEEAB4C-D318-4B44-9A5C-881518B5CFB0}" srcOrd="0" destOrd="0" presId="urn:microsoft.com/office/officeart/2005/8/layout/architecture"/>
    <dgm:cxn modelId="{DA115983-803D-44D0-B136-1CE9D165082E}" type="presParOf" srcId="{5CEEAB4C-D318-4B44-9A5C-881518B5CFB0}" destId="{2931D21B-02D3-4BCE-92E0-D3A8A9578BAE}" srcOrd="0" destOrd="0" presId="urn:microsoft.com/office/officeart/2005/8/layout/architecture"/>
    <dgm:cxn modelId="{64123388-E7A5-452D-8B0E-39AC5C78F974}" type="presParOf" srcId="{5CEEAB4C-D318-4B44-9A5C-881518B5CFB0}" destId="{4312F90E-E3B1-431B-A169-D89559E1796F}" srcOrd="1" destOrd="0" presId="urn:microsoft.com/office/officeart/2005/8/layout/architecture"/>
    <dgm:cxn modelId="{42401C72-2BD2-426E-BFB1-32CD3A43FFF1}" type="presParOf" srcId="{B688AE38-F9B5-4DD7-9967-D6D8DCAE765D}" destId="{D092C1C3-D30D-425E-B5DA-F36511BD69B0}" srcOrd="1" destOrd="0" presId="urn:microsoft.com/office/officeart/2005/8/layout/architecture"/>
    <dgm:cxn modelId="{8D494118-64FF-4234-8124-78174CCE1F6C}" type="presParOf" srcId="{B688AE38-F9B5-4DD7-9967-D6D8DCAE765D}" destId="{2B3D8426-E4B0-4B20-B3DB-DB255B5B6C18}" srcOrd="2" destOrd="0" presId="urn:microsoft.com/office/officeart/2005/8/layout/architecture"/>
    <dgm:cxn modelId="{860AACEE-493F-47A6-B076-C8D467704736}" type="presParOf" srcId="{2B3D8426-E4B0-4B20-B3DB-DB255B5B6C18}" destId="{D0EADA67-D1BF-4E88-A817-11A29F965E1F}" srcOrd="0" destOrd="0" presId="urn:microsoft.com/office/officeart/2005/8/layout/architecture"/>
    <dgm:cxn modelId="{87A92113-EA92-4E4A-8F10-CC3D240EF6AF}" type="presParOf" srcId="{2B3D8426-E4B0-4B20-B3DB-DB255B5B6C18}" destId="{1EFD57F7-05DF-4DCC-9BA3-F307705207F1}" srcOrd="1" destOrd="0" presId="urn:microsoft.com/office/officeart/2005/8/layout/architecture"/>
    <dgm:cxn modelId="{98CE360F-305E-41F9-8179-4F8CEDB6D841}" type="presParOf" srcId="{B688AE38-F9B5-4DD7-9967-D6D8DCAE765D}" destId="{858653C5-D2A5-49F8-AAC4-B579CD820C2D}" srcOrd="3" destOrd="0" presId="urn:microsoft.com/office/officeart/2005/8/layout/architecture"/>
    <dgm:cxn modelId="{3267AB58-50DC-44E2-9722-01E9F58E9C50}" type="presParOf" srcId="{B688AE38-F9B5-4DD7-9967-D6D8DCAE765D}" destId="{B55FAAF1-AC53-4944-9D2A-FDA5043901EF}" srcOrd="4" destOrd="0" presId="urn:microsoft.com/office/officeart/2005/8/layout/architecture"/>
    <dgm:cxn modelId="{F4135655-0EE9-42D0-95B3-6E6CADA6BF76}" type="presParOf" srcId="{B55FAAF1-AC53-4944-9D2A-FDA5043901EF}" destId="{E57FA25F-9A93-4B07-B3A7-6E159675658B}" srcOrd="0" destOrd="0" presId="urn:microsoft.com/office/officeart/2005/8/layout/architecture"/>
    <dgm:cxn modelId="{C2F0F3EC-5010-4975-AA51-362C287BCA15}" type="presParOf" srcId="{B55FAAF1-AC53-4944-9D2A-FDA5043901EF}" destId="{7B1C846B-1DF6-4947-9681-761CA0011ACB}" srcOrd="1" destOrd="0" presId="urn:microsoft.com/office/officeart/2005/8/layout/architecture"/>
    <dgm:cxn modelId="{5C5D81F4-ED39-4E2C-9847-62642F7FA78E}" type="presParOf" srcId="{B688AE38-F9B5-4DD7-9967-D6D8DCAE765D}" destId="{A6C88CAC-317A-4DDF-9859-F6E668FD19EE}" srcOrd="5" destOrd="0" presId="urn:microsoft.com/office/officeart/2005/8/layout/architecture"/>
    <dgm:cxn modelId="{F9228A4E-4989-49A4-A9D0-70BC6B8A4BD7}" type="presParOf" srcId="{B688AE38-F9B5-4DD7-9967-D6D8DCAE765D}" destId="{5F186DF3-03EC-4819-8CF4-BEEDF4443BB6}" srcOrd="6" destOrd="0" presId="urn:microsoft.com/office/officeart/2005/8/layout/architecture"/>
    <dgm:cxn modelId="{E128B370-32FF-45BB-B943-D770074CA829}" type="presParOf" srcId="{5F186DF3-03EC-4819-8CF4-BEEDF4443BB6}" destId="{53088CB6-65D2-4608-8CFC-5AA9A093F486}" srcOrd="0" destOrd="0" presId="urn:microsoft.com/office/officeart/2005/8/layout/architecture"/>
    <dgm:cxn modelId="{6B815B92-A3BF-4125-89DC-7250E6DAF7B2}" type="presParOf" srcId="{5F186DF3-03EC-4819-8CF4-BEEDF4443BB6}" destId="{96217389-D5C0-4563-B064-B6737AA9E1DD}" srcOrd="1" destOrd="0" presId="urn:microsoft.com/office/officeart/2005/8/layout/architecture"/>
    <dgm:cxn modelId="{C9810C97-3CFB-4B99-94F7-278AED0F9818}" type="presParOf" srcId="{B688AE38-F9B5-4DD7-9967-D6D8DCAE765D}" destId="{58C6E8FE-30B5-4F2D-BC40-14CEB341B2CD}" srcOrd="7" destOrd="0" presId="urn:microsoft.com/office/officeart/2005/8/layout/architecture"/>
    <dgm:cxn modelId="{C06B7785-6E2B-44FA-A4DE-5B2C4BD5F8A4}" type="presParOf" srcId="{B688AE38-F9B5-4DD7-9967-D6D8DCAE765D}" destId="{6153BAD0-567C-45B5-88A7-3C212FD40937}" srcOrd="8" destOrd="0" presId="urn:microsoft.com/office/officeart/2005/8/layout/architecture"/>
    <dgm:cxn modelId="{DB495642-855F-4A2A-BBAD-67018202762D}" type="presParOf" srcId="{6153BAD0-567C-45B5-88A7-3C212FD40937}" destId="{F912383D-5394-4B7B-BE40-F90ECE416932}" srcOrd="0" destOrd="0" presId="urn:microsoft.com/office/officeart/2005/8/layout/architecture"/>
    <dgm:cxn modelId="{F7F959FB-1DA9-49AA-B9BF-8021F57E6FA5}" type="presParOf" srcId="{6153BAD0-567C-45B5-88A7-3C212FD40937}" destId="{A25C4BFF-4395-4078-B20C-4CA459C4B839}" srcOrd="1" destOrd="0" presId="urn:microsoft.com/office/officeart/2005/8/layout/architecture"/>
    <dgm:cxn modelId="{E5A00DCC-7B32-4267-B2E6-7F3655603C99}" type="presParOf" srcId="{B688AE38-F9B5-4DD7-9967-D6D8DCAE765D}" destId="{7007E803-ACF1-4642-94FC-11361AE06370}" srcOrd="9" destOrd="0" presId="urn:microsoft.com/office/officeart/2005/8/layout/architecture"/>
    <dgm:cxn modelId="{615E89B2-0057-403F-9E42-30D6A5A946A0}" type="presParOf" srcId="{B688AE38-F9B5-4DD7-9967-D6D8DCAE765D}" destId="{E47285C7-5EE8-4CED-879A-EAA5BB3BCAD4}" srcOrd="10" destOrd="0" presId="urn:microsoft.com/office/officeart/2005/8/layout/architecture"/>
    <dgm:cxn modelId="{9EB9C55E-2E65-4ACE-B86D-FE5E0EBA4566}" type="presParOf" srcId="{E47285C7-5EE8-4CED-879A-EAA5BB3BCAD4}" destId="{8AF436C2-7E46-4D83-8603-3E77D1CC02B7}" srcOrd="0" destOrd="0" presId="urn:microsoft.com/office/officeart/2005/8/layout/architecture"/>
    <dgm:cxn modelId="{369D955C-7001-4D2C-8B77-887A623444C8}" type="presParOf" srcId="{E47285C7-5EE8-4CED-879A-EAA5BB3BCAD4}" destId="{0BAAB4AD-8269-4642-B3B9-0D9B9F9EC732}" srcOrd="1" destOrd="0" presId="urn:microsoft.com/office/officeart/2005/8/layout/architecture"/>
    <dgm:cxn modelId="{4A17758A-A43A-46E4-B2B4-63665C3719BA}" type="presParOf" srcId="{B688AE38-F9B5-4DD7-9967-D6D8DCAE765D}" destId="{484EE759-AA0D-497C-BD8B-8CF5F5ACD337}" srcOrd="11" destOrd="0" presId="urn:microsoft.com/office/officeart/2005/8/layout/architecture"/>
    <dgm:cxn modelId="{AFB2987C-9FC0-40A2-A958-E2ADFF71A692}" type="presParOf" srcId="{B688AE38-F9B5-4DD7-9967-D6D8DCAE765D}" destId="{E5FF144A-5A0D-45BA-A9B3-04ABF8F9E7C7}" srcOrd="12" destOrd="0" presId="urn:microsoft.com/office/officeart/2005/8/layout/architecture"/>
    <dgm:cxn modelId="{862FE084-8232-4FFF-8CF7-04BBD7D8242C}" type="presParOf" srcId="{E5FF144A-5A0D-45BA-A9B3-04ABF8F9E7C7}" destId="{73238D31-E10E-421E-9EA0-BCBC2CF6CD15}" srcOrd="0" destOrd="0" presId="urn:microsoft.com/office/officeart/2005/8/layout/architecture"/>
    <dgm:cxn modelId="{E1D848AF-9E86-497F-866D-39E03ADF9E3A}" type="presParOf" srcId="{E5FF144A-5A0D-45BA-A9B3-04ABF8F9E7C7}" destId="{B403FC69-8B86-4094-843E-25257645214E}" srcOrd="1" destOrd="0" presId="urn:microsoft.com/office/officeart/2005/8/layout/archite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516E4-9749-4876-A997-6BA9D474CB6C}">
      <dsp:nvSpPr>
        <dsp:cNvPr id="0" name=""/>
        <dsp:cNvSpPr/>
      </dsp:nvSpPr>
      <dsp:spPr>
        <a:xfrm rot="16200000">
          <a:off x="1041242" y="-1041242"/>
          <a:ext cx="2245446" cy="4327931"/>
        </a:xfrm>
        <a:prstGeom prst="round1Rect">
          <a:avLst/>
        </a:prstGeom>
        <a:solidFill>
          <a:schemeClr val="tx1">
            <a:lumMod val="50000"/>
            <a:alpha val="9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dirty="0"/>
            <a:t>AI-powered tool reduced emergency department visits and hospital admissions by 31% and 25% respectively, resulting in $4.4 million in cost savings</a:t>
          </a:r>
          <a:endParaRPr lang="en-IN" sz="1500" kern="1200" dirty="0"/>
        </a:p>
      </dsp:txBody>
      <dsp:txXfrm rot="5400000">
        <a:off x="0" y="0"/>
        <a:ext cx="4327931" cy="1684084"/>
      </dsp:txXfrm>
    </dsp:sp>
    <dsp:sp modelId="{B23D27E4-E850-452F-AE12-2D1C86E0BE1B}">
      <dsp:nvSpPr>
        <dsp:cNvPr id="0" name=""/>
        <dsp:cNvSpPr/>
      </dsp:nvSpPr>
      <dsp:spPr>
        <a:xfrm>
          <a:off x="4327931" y="0"/>
          <a:ext cx="4327931" cy="2245446"/>
        </a:xfrm>
        <a:prstGeom prst="round1Rect">
          <a:avLst/>
        </a:prstGeom>
        <a:solidFill>
          <a:schemeClr val="tx1">
            <a:alpha val="76667"/>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dirty="0"/>
            <a:t>AI-powered fraud detection system reduced false positives by 40% and identified 67% more fraudulent claims, leading to $100 million in cost savings</a:t>
          </a:r>
          <a:endParaRPr lang="en-IN" sz="1500" kern="1200" dirty="0"/>
        </a:p>
      </dsp:txBody>
      <dsp:txXfrm>
        <a:off x="4327931" y="0"/>
        <a:ext cx="4327931" cy="1684084"/>
      </dsp:txXfrm>
    </dsp:sp>
    <dsp:sp modelId="{1602BE12-4D8E-4D13-8B06-0870C02C0A85}">
      <dsp:nvSpPr>
        <dsp:cNvPr id="0" name=""/>
        <dsp:cNvSpPr/>
      </dsp:nvSpPr>
      <dsp:spPr>
        <a:xfrm rot="10800000">
          <a:off x="0" y="2245446"/>
          <a:ext cx="4327931" cy="2245446"/>
        </a:xfrm>
        <a:prstGeom prst="round1Rect">
          <a:avLst/>
        </a:prstGeom>
        <a:solidFill>
          <a:schemeClr val="tx1">
            <a:alpha val="63333"/>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AI tool led to a 14% reduction in hospital admissions and a 6% reduction in healthcare costs, saving $2 billion over three years</a:t>
          </a:r>
          <a:endParaRPr lang="en-IN" sz="1500" kern="1200" dirty="0"/>
        </a:p>
      </dsp:txBody>
      <dsp:txXfrm rot="10800000">
        <a:off x="0" y="2806808"/>
        <a:ext cx="4327931" cy="1684084"/>
      </dsp:txXfrm>
    </dsp:sp>
    <dsp:sp modelId="{22E35E3F-CC43-474D-9EBD-147ED5FF780E}">
      <dsp:nvSpPr>
        <dsp:cNvPr id="0" name=""/>
        <dsp:cNvSpPr/>
      </dsp:nvSpPr>
      <dsp:spPr>
        <a:xfrm rot="5400000">
          <a:off x="5369173" y="1197894"/>
          <a:ext cx="2245446" cy="4327931"/>
        </a:xfrm>
        <a:prstGeom prst="round1Rect">
          <a:avLst/>
        </a:prstGeom>
        <a:solidFill>
          <a:schemeClr val="tx1">
            <a:lumMod val="50000"/>
            <a:alpha val="63333"/>
          </a:schemeClr>
        </a:solidFill>
        <a:ln w="19050" cap="flat" cmpd="sng" algn="ctr">
          <a:solidFill>
            <a:srgbClr val="FEFFFF">
              <a:hueOff val="0"/>
              <a:satOff val="0"/>
              <a:lumOff val="0"/>
              <a:alphaOff val="0"/>
            </a:srgb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500" kern="1200" dirty="0">
              <a:solidFill>
                <a:srgbClr val="FEFFFF"/>
              </a:solidFill>
              <a:latin typeface="Calibri" panose="020F0502020204030204"/>
              <a:ea typeface="+mn-ea"/>
              <a:cs typeface="+mn-cs"/>
            </a:rPr>
            <a:t>AI-powered chatbot reduced customer service call volume by 50% &amp; increased customer satisfaction by 20%, resulting in cost savings of $1.5 million in just 6 months</a:t>
          </a:r>
          <a:endParaRPr lang="en-IN" sz="1500" kern="1200" dirty="0">
            <a:solidFill>
              <a:srgbClr val="FEFFFF"/>
            </a:solidFill>
            <a:latin typeface="Calibri" panose="020F0502020204030204"/>
            <a:ea typeface="+mn-ea"/>
            <a:cs typeface="+mn-cs"/>
          </a:endParaRPr>
        </a:p>
      </dsp:txBody>
      <dsp:txXfrm rot="-5400000">
        <a:off x="4327931" y="2800498"/>
        <a:ext cx="4327931" cy="1684084"/>
      </dsp:txXfrm>
    </dsp:sp>
    <dsp:sp modelId="{64803C50-6DF0-49E6-90C9-E7EFFEB6F166}">
      <dsp:nvSpPr>
        <dsp:cNvPr id="0" name=""/>
        <dsp:cNvSpPr/>
      </dsp:nvSpPr>
      <dsp:spPr>
        <a:xfrm>
          <a:off x="3307768" y="1731199"/>
          <a:ext cx="2040325" cy="1028493"/>
        </a:xfrm>
        <a:prstGeom prst="roundRect">
          <a:avLst/>
        </a:prstGeom>
        <a:solidFill>
          <a:schemeClr val="accent3">
            <a:tint val="4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rgbClr val="242424"/>
              </a:solidFill>
            </a:rPr>
            <a:t>Applying AI  for Business</a:t>
          </a:r>
        </a:p>
      </dsp:txBody>
      <dsp:txXfrm>
        <a:off x="3357975" y="1781406"/>
        <a:ext cx="1939911" cy="9280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1030E-AE07-48BC-AA10-9F8630373F7C}">
      <dsp:nvSpPr>
        <dsp:cNvPr id="0" name=""/>
        <dsp:cNvSpPr/>
      </dsp:nvSpPr>
      <dsp:spPr>
        <a:xfrm>
          <a:off x="1567" y="313796"/>
          <a:ext cx="3992562" cy="4791074"/>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64592" rIns="213360" bIns="0" numCol="1" spcCol="1270" anchor="t" anchorCtr="0">
          <a:noAutofit/>
        </a:bodyPr>
        <a:lstStyle/>
        <a:p>
          <a:pPr marL="0" lvl="0" indent="0" algn="r" defTabSz="2133600">
            <a:lnSpc>
              <a:spcPct val="90000"/>
            </a:lnSpc>
            <a:spcBef>
              <a:spcPct val="0"/>
            </a:spcBef>
            <a:spcAft>
              <a:spcPct val="35000"/>
            </a:spcAft>
            <a:buNone/>
          </a:pPr>
          <a:r>
            <a:rPr lang="en-IN" sz="4800" kern="1200" dirty="0"/>
            <a:t>Today</a:t>
          </a:r>
        </a:p>
      </dsp:txBody>
      <dsp:txXfrm rot="16200000">
        <a:off x="-1563516" y="1878880"/>
        <a:ext cx="3928681" cy="798512"/>
      </dsp:txXfrm>
    </dsp:sp>
    <dsp:sp modelId="{D787D4FB-2FBF-4765-A054-A40D30D049B6}">
      <dsp:nvSpPr>
        <dsp:cNvPr id="0" name=""/>
        <dsp:cNvSpPr/>
      </dsp:nvSpPr>
      <dsp:spPr>
        <a:xfrm>
          <a:off x="4133869" y="313796"/>
          <a:ext cx="3992562" cy="4791074"/>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64592" rIns="213360" bIns="0" numCol="1" spcCol="1270" anchor="t" anchorCtr="0">
          <a:noAutofit/>
        </a:bodyPr>
        <a:lstStyle/>
        <a:p>
          <a:pPr marL="0" lvl="0" indent="0" algn="r" defTabSz="2133600">
            <a:lnSpc>
              <a:spcPct val="90000"/>
            </a:lnSpc>
            <a:spcBef>
              <a:spcPct val="0"/>
            </a:spcBef>
            <a:spcAft>
              <a:spcPct val="35000"/>
            </a:spcAft>
            <a:buNone/>
          </a:pPr>
          <a:r>
            <a:rPr lang="en-IN" sz="4800" kern="1200" dirty="0"/>
            <a:t>Tomorrow</a:t>
          </a:r>
        </a:p>
      </dsp:txBody>
      <dsp:txXfrm rot="16200000">
        <a:off x="2568785" y="1878880"/>
        <a:ext cx="3928681" cy="798512"/>
      </dsp:txXfrm>
    </dsp:sp>
    <dsp:sp modelId="{6F90DB8E-6778-4AFE-933B-084AB0626745}">
      <dsp:nvSpPr>
        <dsp:cNvPr id="0" name=""/>
        <dsp:cNvSpPr/>
      </dsp:nvSpPr>
      <dsp:spPr>
        <a:xfrm rot="5400000">
          <a:off x="3801851" y="4120803"/>
          <a:ext cx="703962" cy="598884"/>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516E4-9749-4876-A997-6BA9D474CB6C}">
      <dsp:nvSpPr>
        <dsp:cNvPr id="0" name=""/>
        <dsp:cNvSpPr/>
      </dsp:nvSpPr>
      <dsp:spPr>
        <a:xfrm rot="16200000">
          <a:off x="677333" y="-677333"/>
          <a:ext cx="2709333" cy="4064000"/>
        </a:xfrm>
        <a:prstGeom prst="round1Rect">
          <a:avLst/>
        </a:prstGeom>
        <a:solidFill>
          <a:schemeClr val="accent3">
            <a:alpha val="9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AI-powered tool reduced emergency department visits and hospital admissions by 31% and 25% respectively, resulting in $4.4 million in cost savings</a:t>
          </a:r>
          <a:endParaRPr lang="en-IN" sz="1600" kern="1200" dirty="0"/>
        </a:p>
      </dsp:txBody>
      <dsp:txXfrm rot="5400000">
        <a:off x="-1" y="1"/>
        <a:ext cx="4064000" cy="2032000"/>
      </dsp:txXfrm>
    </dsp:sp>
    <dsp:sp modelId="{B23D27E4-E850-452F-AE12-2D1C86E0BE1B}">
      <dsp:nvSpPr>
        <dsp:cNvPr id="0" name=""/>
        <dsp:cNvSpPr/>
      </dsp:nvSpPr>
      <dsp:spPr>
        <a:xfrm>
          <a:off x="4064000" y="0"/>
          <a:ext cx="4064000" cy="2709333"/>
        </a:xfrm>
        <a:prstGeom prst="round1Rect">
          <a:avLst/>
        </a:prstGeom>
        <a:solidFill>
          <a:schemeClr val="accent3">
            <a:alpha val="90000"/>
            <a:hueOff val="0"/>
            <a:satOff val="0"/>
            <a:lumOff val="0"/>
            <a:alphaOff val="-13333"/>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AI-powered fraud detection system reduced false positives by 40% and identified 67% more fraudulent claims, leading to $100 million in cost savings</a:t>
          </a:r>
          <a:endParaRPr lang="en-IN" sz="1600" kern="1200" dirty="0"/>
        </a:p>
      </dsp:txBody>
      <dsp:txXfrm>
        <a:off x="4064000" y="0"/>
        <a:ext cx="4064000" cy="2032000"/>
      </dsp:txXfrm>
    </dsp:sp>
    <dsp:sp modelId="{1602BE12-4D8E-4D13-8B06-0870C02C0A85}">
      <dsp:nvSpPr>
        <dsp:cNvPr id="0" name=""/>
        <dsp:cNvSpPr/>
      </dsp:nvSpPr>
      <dsp:spPr>
        <a:xfrm rot="10800000">
          <a:off x="0" y="2709333"/>
          <a:ext cx="4064000" cy="2709333"/>
        </a:xfrm>
        <a:prstGeom prst="round1Rect">
          <a:avLst/>
        </a:prstGeom>
        <a:solidFill>
          <a:schemeClr val="accent3">
            <a:alpha val="90000"/>
            <a:hueOff val="0"/>
            <a:satOff val="0"/>
            <a:lumOff val="0"/>
            <a:alphaOff val="-26667"/>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AI tool led to a 14% reduction in hospital admissions and a 6% reduction in healthcare costs, saving $2 billion over three years</a:t>
          </a:r>
          <a:endParaRPr lang="en-IN" sz="1600" kern="1200" dirty="0"/>
        </a:p>
      </dsp:txBody>
      <dsp:txXfrm rot="10800000">
        <a:off x="0" y="3386666"/>
        <a:ext cx="4064000" cy="2032000"/>
      </dsp:txXfrm>
    </dsp:sp>
    <dsp:sp modelId="{22E35E3F-CC43-474D-9EBD-147ED5FF780E}">
      <dsp:nvSpPr>
        <dsp:cNvPr id="0" name=""/>
        <dsp:cNvSpPr/>
      </dsp:nvSpPr>
      <dsp:spPr>
        <a:xfrm rot="5400000">
          <a:off x="4741333" y="2032000"/>
          <a:ext cx="2709333" cy="4064000"/>
        </a:xfrm>
        <a:prstGeom prst="round1Rect">
          <a:avLst/>
        </a:prstGeom>
        <a:solidFill>
          <a:schemeClr val="accent3">
            <a:alpha val="90000"/>
            <a:hueOff val="0"/>
            <a:satOff val="0"/>
            <a:lumOff val="0"/>
            <a:alpha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dirty="0"/>
            <a:t>AI-powered chatbot reduced customer service call volume by 50% and increased customer satisfaction by 20%, resulting in cost savings of $1.5 million in just six months</a:t>
          </a:r>
          <a:endParaRPr lang="en-IN" sz="1600" kern="1200" dirty="0"/>
        </a:p>
      </dsp:txBody>
      <dsp:txXfrm rot="-5400000">
        <a:off x="4063999" y="3386666"/>
        <a:ext cx="4064000" cy="2032000"/>
      </dsp:txXfrm>
    </dsp:sp>
    <dsp:sp modelId="{64803C50-6DF0-49E6-90C9-E7EFFEB6F166}">
      <dsp:nvSpPr>
        <dsp:cNvPr id="0" name=""/>
        <dsp:cNvSpPr/>
      </dsp:nvSpPr>
      <dsp:spPr>
        <a:xfrm>
          <a:off x="3106050" y="2088848"/>
          <a:ext cx="1915899" cy="1240969"/>
        </a:xfrm>
        <a:prstGeom prst="roundRect">
          <a:avLst/>
        </a:prstGeom>
        <a:solidFill>
          <a:schemeClr val="accent3">
            <a:tint val="4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IN" sz="5300" kern="1200" dirty="0"/>
            <a:t>AI</a:t>
          </a:r>
        </a:p>
      </dsp:txBody>
      <dsp:txXfrm>
        <a:off x="3166629" y="2149427"/>
        <a:ext cx="1794741" cy="11198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17D7EE-BDF9-4698-84DC-E556613A57C9}">
      <dsp:nvSpPr>
        <dsp:cNvPr id="0" name=""/>
        <dsp:cNvSpPr/>
      </dsp:nvSpPr>
      <dsp:spPr>
        <a:xfrm>
          <a:off x="182879" y="453813"/>
          <a:ext cx="4511040" cy="4511039"/>
        </a:xfrm>
        <a:prstGeom prst="ellipse">
          <a:avLst/>
        </a:prstGeom>
        <a:solidFill>
          <a:schemeClr val="accent1">
            <a:shade val="80000"/>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IN" sz="6500" kern="1200"/>
        </a:p>
      </dsp:txBody>
      <dsp:txXfrm>
        <a:off x="812799" y="985762"/>
        <a:ext cx="2600960" cy="3447142"/>
      </dsp:txXfrm>
    </dsp:sp>
    <dsp:sp modelId="{0B134520-5A76-4948-9A78-A7E0CD0BD87B}">
      <dsp:nvSpPr>
        <dsp:cNvPr id="0" name=""/>
        <dsp:cNvSpPr/>
      </dsp:nvSpPr>
      <dsp:spPr>
        <a:xfrm>
          <a:off x="3292749" y="453813"/>
          <a:ext cx="4511040" cy="4511039"/>
        </a:xfrm>
        <a:prstGeom prst="ellipse">
          <a:avLst/>
        </a:prstGeom>
        <a:solidFill>
          <a:schemeClr val="accent1">
            <a:shade val="80000"/>
            <a:alpha val="50000"/>
            <a:hueOff val="-239"/>
            <a:satOff val="-1679"/>
            <a:lumOff val="2783"/>
            <a:alphaOff val="3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IN" sz="6500" kern="1200"/>
        </a:p>
      </dsp:txBody>
      <dsp:txXfrm>
        <a:off x="4572909" y="985762"/>
        <a:ext cx="2600960" cy="34471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8FAD8C-F41C-4C42-BD43-8AA1FD56318E}">
      <dsp:nvSpPr>
        <dsp:cNvPr id="0" name=""/>
        <dsp:cNvSpPr/>
      </dsp:nvSpPr>
      <dsp:spPr>
        <a:xfrm>
          <a:off x="2474700" y="0"/>
          <a:ext cx="2115046" cy="2115367"/>
        </a:xfrm>
        <a:prstGeom prst="circularArrow">
          <a:avLst>
            <a:gd name="adj1" fmla="val 10980"/>
            <a:gd name="adj2" fmla="val 1142322"/>
            <a:gd name="adj3" fmla="val 4500000"/>
            <a:gd name="adj4" fmla="val 10800000"/>
            <a:gd name="adj5" fmla="val 125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A4CD39E-CEBC-46C3-86FA-45830B018EE4}">
      <dsp:nvSpPr>
        <dsp:cNvPr id="0" name=""/>
        <dsp:cNvSpPr/>
      </dsp:nvSpPr>
      <dsp:spPr>
        <a:xfrm>
          <a:off x="2759889" y="710366"/>
          <a:ext cx="1514514" cy="587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Going with Business</a:t>
          </a:r>
        </a:p>
      </dsp:txBody>
      <dsp:txXfrm>
        <a:off x="2759889" y="710366"/>
        <a:ext cx="1514514" cy="587504"/>
      </dsp:txXfrm>
    </dsp:sp>
    <dsp:sp modelId="{2516AD2B-1AFA-4A0E-BD2A-9E8C8A51605D}">
      <dsp:nvSpPr>
        <dsp:cNvPr id="0" name=""/>
        <dsp:cNvSpPr/>
      </dsp:nvSpPr>
      <dsp:spPr>
        <a:xfrm>
          <a:off x="1887253" y="1258991"/>
          <a:ext cx="2115046" cy="2115367"/>
        </a:xfrm>
        <a:prstGeom prst="leftCircularArrow">
          <a:avLst>
            <a:gd name="adj1" fmla="val 10980"/>
            <a:gd name="adj2" fmla="val 1142322"/>
            <a:gd name="adj3" fmla="val 6300000"/>
            <a:gd name="adj4" fmla="val 18900000"/>
            <a:gd name="adj5" fmla="val 125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B169632-2CCE-4B7A-92D5-91217A1005DA}">
      <dsp:nvSpPr>
        <dsp:cNvPr id="0" name=""/>
        <dsp:cNvSpPr/>
      </dsp:nvSpPr>
      <dsp:spPr>
        <a:xfrm>
          <a:off x="2241018" y="1971338"/>
          <a:ext cx="1492771" cy="587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Integrating with Business</a:t>
          </a:r>
        </a:p>
      </dsp:txBody>
      <dsp:txXfrm>
        <a:off x="2241018" y="1971338"/>
        <a:ext cx="1492771" cy="587504"/>
      </dsp:txXfrm>
    </dsp:sp>
    <dsp:sp modelId="{A3A87337-2B48-4DE5-AA51-955B8336C7FC}">
      <dsp:nvSpPr>
        <dsp:cNvPr id="0" name=""/>
        <dsp:cNvSpPr/>
      </dsp:nvSpPr>
      <dsp:spPr>
        <a:xfrm>
          <a:off x="2625235" y="2663432"/>
          <a:ext cx="1817152" cy="1817880"/>
        </a:xfrm>
        <a:prstGeom prst="blockArc">
          <a:avLst>
            <a:gd name="adj1" fmla="val 13500000"/>
            <a:gd name="adj2" fmla="val 10800000"/>
            <a:gd name="adj3" fmla="val 1274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453A4B6-ECBB-4F9C-B490-4E3E52AE4499}">
      <dsp:nvSpPr>
        <dsp:cNvPr id="0" name=""/>
        <dsp:cNvSpPr/>
      </dsp:nvSpPr>
      <dsp:spPr>
        <a:xfrm>
          <a:off x="2987285" y="3210402"/>
          <a:ext cx="1175290" cy="587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Driving Business</a:t>
          </a:r>
        </a:p>
      </dsp:txBody>
      <dsp:txXfrm>
        <a:off x="2987285" y="3210402"/>
        <a:ext cx="1175290" cy="5875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AB2558-3033-42AA-B153-DF2D47D3F13F}">
      <dsp:nvSpPr>
        <dsp:cNvPr id="0" name=""/>
        <dsp:cNvSpPr/>
      </dsp:nvSpPr>
      <dsp:spPr>
        <a:xfrm>
          <a:off x="7389" y="2157380"/>
          <a:ext cx="9563694" cy="1089730"/>
        </a:xfrm>
        <a:prstGeom prst="roundRect">
          <a:avLst>
            <a:gd name="adj" fmla="val 10000"/>
          </a:avLst>
        </a:prstGeom>
        <a:solidFill>
          <a:schemeClr val="accent3">
            <a:shade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endParaRPr lang="en-IN" sz="2000" kern="1200" dirty="0"/>
        </a:p>
      </dsp:txBody>
      <dsp:txXfrm>
        <a:off x="39306" y="2189297"/>
        <a:ext cx="9499860" cy="1025896"/>
      </dsp:txXfrm>
    </dsp:sp>
    <dsp:sp modelId="{2931D21B-02D3-4BCE-92E0-D3A8A9578BAE}">
      <dsp:nvSpPr>
        <dsp:cNvPr id="0" name=""/>
        <dsp:cNvSpPr/>
      </dsp:nvSpPr>
      <dsp:spPr>
        <a:xfrm>
          <a:off x="0" y="0"/>
          <a:ext cx="1274479" cy="905327"/>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r>
            <a:rPr lang="en-IN" sz="1100" kern="1200" dirty="0"/>
            <a:t>Personalized recommendations</a:t>
          </a:r>
        </a:p>
      </dsp:txBody>
      <dsp:txXfrm>
        <a:off x="26516" y="26516"/>
        <a:ext cx="1221447" cy="852295"/>
      </dsp:txXfrm>
    </dsp:sp>
    <dsp:sp modelId="{D0EADA67-D1BF-4E88-A817-11A29F965E1F}">
      <dsp:nvSpPr>
        <dsp:cNvPr id="0" name=""/>
        <dsp:cNvSpPr/>
      </dsp:nvSpPr>
      <dsp:spPr>
        <a:xfrm>
          <a:off x="1381061" y="0"/>
          <a:ext cx="1274479" cy="905327"/>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r>
            <a:rPr lang="en-IN" sz="1100" kern="1200" dirty="0"/>
            <a:t>Remote Patient Monitoring</a:t>
          </a:r>
        </a:p>
      </dsp:txBody>
      <dsp:txXfrm>
        <a:off x="1407577" y="26516"/>
        <a:ext cx="1221447" cy="852295"/>
      </dsp:txXfrm>
    </dsp:sp>
    <dsp:sp modelId="{E57FA25F-9A93-4B07-B3A7-6E159675658B}">
      <dsp:nvSpPr>
        <dsp:cNvPr id="0" name=""/>
        <dsp:cNvSpPr/>
      </dsp:nvSpPr>
      <dsp:spPr>
        <a:xfrm>
          <a:off x="2762597" y="0"/>
          <a:ext cx="1274479" cy="905327"/>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r>
            <a:rPr lang="en-IN" sz="1100" kern="1200" dirty="0"/>
            <a:t>Chatbots and virtual assistants</a:t>
          </a:r>
        </a:p>
      </dsp:txBody>
      <dsp:txXfrm>
        <a:off x="2789113" y="26516"/>
        <a:ext cx="1221447" cy="852295"/>
      </dsp:txXfrm>
    </dsp:sp>
    <dsp:sp modelId="{53088CB6-65D2-4608-8CFC-5AA9A093F486}">
      <dsp:nvSpPr>
        <dsp:cNvPr id="0" name=""/>
        <dsp:cNvSpPr/>
      </dsp:nvSpPr>
      <dsp:spPr>
        <a:xfrm>
          <a:off x="4159389" y="0"/>
          <a:ext cx="1274479" cy="915003"/>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r>
            <a:rPr lang="en-IN" sz="1100" kern="1200" dirty="0"/>
            <a:t>Predictive Analytics</a:t>
          </a:r>
        </a:p>
      </dsp:txBody>
      <dsp:txXfrm>
        <a:off x="4186189" y="26800"/>
        <a:ext cx="1220879" cy="861403"/>
      </dsp:txXfrm>
    </dsp:sp>
    <dsp:sp modelId="{F912383D-5394-4B7B-BE40-F90ECE416932}">
      <dsp:nvSpPr>
        <dsp:cNvPr id="0" name=""/>
        <dsp:cNvSpPr/>
      </dsp:nvSpPr>
      <dsp:spPr>
        <a:xfrm>
          <a:off x="5540925" y="0"/>
          <a:ext cx="1274479" cy="915003"/>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r>
            <a:rPr lang="en-IN" sz="1100" kern="1200" dirty="0"/>
            <a:t>Electronic Health Records (EHRs)</a:t>
          </a:r>
        </a:p>
      </dsp:txBody>
      <dsp:txXfrm>
        <a:off x="5567725" y="26800"/>
        <a:ext cx="1220879" cy="861403"/>
      </dsp:txXfrm>
    </dsp:sp>
    <dsp:sp modelId="{8AF436C2-7E46-4D83-8603-3E77D1CC02B7}">
      <dsp:nvSpPr>
        <dsp:cNvPr id="0" name=""/>
        <dsp:cNvSpPr/>
      </dsp:nvSpPr>
      <dsp:spPr>
        <a:xfrm>
          <a:off x="6922460" y="0"/>
          <a:ext cx="1274479" cy="915003"/>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r>
            <a:rPr lang="en-IN" sz="1100" kern="1200" dirty="0"/>
            <a:t>Medication Management</a:t>
          </a:r>
        </a:p>
      </dsp:txBody>
      <dsp:txXfrm>
        <a:off x="6949260" y="26800"/>
        <a:ext cx="1220879" cy="861403"/>
      </dsp:txXfrm>
    </dsp:sp>
    <dsp:sp modelId="{73238D31-E10E-421E-9EA0-BCBC2CF6CD15}">
      <dsp:nvSpPr>
        <dsp:cNvPr id="0" name=""/>
        <dsp:cNvSpPr/>
      </dsp:nvSpPr>
      <dsp:spPr>
        <a:xfrm>
          <a:off x="8303994" y="0"/>
          <a:ext cx="1274479" cy="915003"/>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endParaRPr lang="en-IN" sz="1100" kern="1200" dirty="0"/>
        </a:p>
        <a:p>
          <a:pPr marL="0" lvl="0" indent="0" algn="ctr" defTabSz="488950">
            <a:lnSpc>
              <a:spcPct val="90000"/>
            </a:lnSpc>
            <a:spcBef>
              <a:spcPct val="0"/>
            </a:spcBef>
            <a:spcAft>
              <a:spcPct val="35000"/>
            </a:spcAft>
            <a:buNone/>
          </a:pPr>
          <a:r>
            <a:rPr lang="en-IN" sz="1100" kern="1200" dirty="0"/>
            <a:t>Behavioural Health</a:t>
          </a:r>
        </a:p>
      </dsp:txBody>
      <dsp:txXfrm>
        <a:off x="8330794" y="26800"/>
        <a:ext cx="1220879" cy="861403"/>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170583" cy="482389"/>
          </a:xfrm>
          <a:prstGeom prst="rect">
            <a:avLst/>
          </a:prstGeom>
          <a:noFill/>
          <a:ln>
            <a:noFill/>
          </a:ln>
        </p:spPr>
        <p:txBody>
          <a:bodyPr spcFirstLastPara="1" wrap="square" lIns="94850" tIns="47425" rIns="94850" bIns="474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4142963" y="0"/>
            <a:ext cx="3170583" cy="482389"/>
          </a:xfrm>
          <a:prstGeom prst="rect">
            <a:avLst/>
          </a:prstGeom>
          <a:noFill/>
          <a:ln>
            <a:noFill/>
          </a:ln>
        </p:spPr>
        <p:txBody>
          <a:bodyPr spcFirstLastPara="1" wrap="square" lIns="94850" tIns="47425" rIns="94850" bIns="47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2183" y="4620952"/>
            <a:ext cx="5850835" cy="3780931"/>
          </a:xfrm>
          <a:prstGeom prst="rect">
            <a:avLst/>
          </a:prstGeom>
          <a:noFill/>
          <a:ln>
            <a:noFill/>
          </a:ln>
        </p:spPr>
        <p:txBody>
          <a:bodyPr spcFirstLastPara="1" wrap="square" lIns="94850" tIns="47425" rIns="94850" bIns="47425"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118813"/>
            <a:ext cx="3170583" cy="482389"/>
          </a:xfrm>
          <a:prstGeom prst="rect">
            <a:avLst/>
          </a:prstGeom>
          <a:noFill/>
          <a:ln>
            <a:noFill/>
          </a:ln>
        </p:spPr>
        <p:txBody>
          <a:bodyPr spcFirstLastPara="1" wrap="square" lIns="94850" tIns="47425" rIns="94850" bIns="474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4142963" y="9118813"/>
            <a:ext cx="3170583" cy="482389"/>
          </a:xfrm>
          <a:prstGeom prst="rect">
            <a:avLst/>
          </a:prstGeom>
          <a:noFill/>
          <a:ln>
            <a:noFill/>
          </a:ln>
        </p:spPr>
        <p:txBody>
          <a:bodyPr spcFirstLastPara="1" wrap="square" lIns="94850" tIns="47425" rIns="94850" bIns="4742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1:notes"/>
          <p:cNvSpPr txBox="1">
            <a:spLocks noGrp="1"/>
          </p:cNvSpPr>
          <p:nvPr>
            <p:ph type="body" idx="1"/>
          </p:nvPr>
        </p:nvSpPr>
        <p:spPr>
          <a:xfrm>
            <a:off x="732183" y="4620952"/>
            <a:ext cx="5850835" cy="3780931"/>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dirty="0"/>
          </a:p>
        </p:txBody>
      </p:sp>
      <p:sp>
        <p:nvSpPr>
          <p:cNvPr id="842" name="Google Shape;842;p1: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86802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5007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73772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5987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8260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2917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9</a:t>
            </a:fld>
            <a:endParaRPr sz="1400" dirty="0"/>
          </a:p>
        </p:txBody>
      </p:sp>
    </p:spTree>
    <p:extLst>
      <p:ext uri="{BB962C8B-B14F-4D97-AF65-F5344CB8AC3E}">
        <p14:creationId xmlns:p14="http://schemas.microsoft.com/office/powerpoint/2010/main" val="4215262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10</a:t>
            </a:fld>
            <a:endParaRPr sz="1400" dirty="0"/>
          </a:p>
        </p:txBody>
      </p:sp>
    </p:spTree>
    <p:extLst>
      <p:ext uri="{BB962C8B-B14F-4D97-AF65-F5344CB8AC3E}">
        <p14:creationId xmlns:p14="http://schemas.microsoft.com/office/powerpoint/2010/main" val="1447571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11</a:t>
            </a:fld>
            <a:endParaRPr sz="1400" dirty="0"/>
          </a:p>
        </p:txBody>
      </p:sp>
    </p:spTree>
    <p:extLst>
      <p:ext uri="{BB962C8B-B14F-4D97-AF65-F5344CB8AC3E}">
        <p14:creationId xmlns:p14="http://schemas.microsoft.com/office/powerpoint/2010/main" val="3769377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12</a:t>
            </a:fld>
            <a:endParaRPr sz="1400" dirty="0"/>
          </a:p>
        </p:txBody>
      </p:sp>
    </p:spTree>
    <p:extLst>
      <p:ext uri="{BB962C8B-B14F-4D97-AF65-F5344CB8AC3E}">
        <p14:creationId xmlns:p14="http://schemas.microsoft.com/office/powerpoint/2010/main" val="1042253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13</a:t>
            </a:fld>
            <a:endParaRPr sz="1400" dirty="0"/>
          </a:p>
        </p:txBody>
      </p:sp>
    </p:spTree>
    <p:extLst>
      <p:ext uri="{BB962C8B-B14F-4D97-AF65-F5344CB8AC3E}">
        <p14:creationId xmlns:p14="http://schemas.microsoft.com/office/powerpoint/2010/main" val="2431354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pPr marL="228600" indent="0" algn="l">
              <a:buFont typeface="Arial" panose="020B0604020202020204" pitchFamily="34" charset="0"/>
              <a:buNone/>
            </a:pPr>
            <a:r>
              <a:rPr lang="en-US" b="0" i="0" dirty="0">
                <a:solidFill>
                  <a:srgbClr val="111111"/>
                </a:solidFill>
                <a:effectLst/>
                <a:latin typeface="-apple-system"/>
              </a:rPr>
              <a:t>Talking points - </a:t>
            </a:r>
          </a:p>
          <a:p>
            <a:pPr algn="l">
              <a:buFont typeface="Arial" panose="020B0604020202020204" pitchFamily="34" charset="0"/>
              <a:buChar char="•"/>
            </a:pPr>
            <a:r>
              <a:rPr lang="en-US" b="0" i="0" dirty="0">
                <a:solidFill>
                  <a:srgbClr val="111111"/>
                </a:solidFill>
                <a:effectLst/>
                <a:latin typeface="-apple-system"/>
              </a:rPr>
              <a:t>Implement a chatbot or virtual assistant to provide 24/7 customer service and support</a:t>
            </a:r>
          </a:p>
          <a:p>
            <a:pPr algn="l">
              <a:buFont typeface="Arial" panose="020B0604020202020204" pitchFamily="34" charset="0"/>
              <a:buChar char="•"/>
            </a:pPr>
            <a:r>
              <a:rPr lang="en-US" b="0" i="0" dirty="0">
                <a:solidFill>
                  <a:srgbClr val="111111"/>
                </a:solidFill>
                <a:effectLst/>
                <a:latin typeface="-apple-system"/>
              </a:rPr>
              <a:t>Deploy a computer vision system to analyze images and videos for damage assessment and claim estimation</a:t>
            </a:r>
          </a:p>
          <a:p>
            <a:pPr algn="l">
              <a:buFont typeface="Arial" panose="020B0604020202020204" pitchFamily="34" charset="0"/>
              <a:buChar char="•"/>
            </a:pPr>
            <a:r>
              <a:rPr lang="en-US" b="0" i="0" dirty="0">
                <a:solidFill>
                  <a:srgbClr val="111111"/>
                </a:solidFill>
                <a:effectLst/>
                <a:latin typeface="-apple-system"/>
              </a:rPr>
              <a:t>Use natural language processing to extract information from documents and contracts for policy generation and verification</a:t>
            </a:r>
          </a:p>
          <a:p>
            <a:pPr algn="l">
              <a:buFont typeface="Arial" panose="020B0604020202020204" pitchFamily="34" charset="0"/>
              <a:buChar char="•"/>
            </a:pPr>
            <a:r>
              <a:rPr lang="en-US" b="0" i="0" dirty="0">
                <a:solidFill>
                  <a:srgbClr val="111111"/>
                </a:solidFill>
                <a:effectLst/>
                <a:latin typeface="-apple-system"/>
              </a:rPr>
              <a:t>Apply machine learning to segment customers based on their behavior, preferences, needs, etc. for personalized marketing and sales</a:t>
            </a:r>
          </a:p>
          <a:p>
            <a:pPr algn="l">
              <a:buFont typeface="Arial" panose="020B0604020202020204" pitchFamily="34" charset="0"/>
              <a:buChar char="•"/>
            </a:pPr>
            <a:r>
              <a:rPr lang="en-US" b="0" i="0" dirty="0">
                <a:solidFill>
                  <a:srgbClr val="111111"/>
                </a:solidFill>
                <a:effectLst/>
                <a:latin typeface="-apple-system"/>
              </a:rPr>
              <a:t>Leverage deep learning to predict customer churn, retention, lifetime value, etc. for customer loyalty management</a:t>
            </a:r>
          </a:p>
          <a:p>
            <a:pPr algn="l">
              <a:buFont typeface="Arial" panose="020B0604020202020204" pitchFamily="34" charset="0"/>
              <a:buChar char="•"/>
            </a:pPr>
            <a:r>
              <a:rPr lang="en-US" b="0" i="0" dirty="0">
                <a:solidFill>
                  <a:srgbClr val="111111"/>
                </a:solidFill>
                <a:effectLst/>
                <a:latin typeface="-apple-system"/>
              </a:rPr>
              <a:t>Employ reinforcement learning to optimize pricing and discounts based on customer demand, risk profile, market conditions, etc. for revenue maximization</a:t>
            </a:r>
          </a:p>
          <a:p>
            <a:pPr marL="0" lvl="0" indent="0" algn="l" rtl="0">
              <a:lnSpc>
                <a:spcPct val="100000"/>
              </a:lnSpc>
              <a:spcBef>
                <a:spcPts val="360"/>
              </a:spcBef>
              <a:spcAft>
                <a:spcPts val="0"/>
              </a:spcAft>
              <a:buSzPts val="1400"/>
              <a:buNone/>
            </a:pPr>
            <a:endParaRPr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14</a:t>
            </a:fld>
            <a:endParaRPr sz="1400" dirty="0"/>
          </a:p>
        </p:txBody>
      </p:sp>
    </p:spTree>
    <p:extLst>
      <p:ext uri="{BB962C8B-B14F-4D97-AF65-F5344CB8AC3E}">
        <p14:creationId xmlns:p14="http://schemas.microsoft.com/office/powerpoint/2010/main" val="396766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15</a:t>
            </a:fld>
            <a:endParaRPr sz="1400" dirty="0"/>
          </a:p>
        </p:txBody>
      </p:sp>
    </p:spTree>
    <p:extLst>
      <p:ext uri="{BB962C8B-B14F-4D97-AF65-F5344CB8AC3E}">
        <p14:creationId xmlns:p14="http://schemas.microsoft.com/office/powerpoint/2010/main" val="3921724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16</a:t>
            </a:fld>
            <a:endParaRPr sz="1400" dirty="0"/>
          </a:p>
        </p:txBody>
      </p:sp>
    </p:spTree>
    <p:extLst>
      <p:ext uri="{BB962C8B-B14F-4D97-AF65-F5344CB8AC3E}">
        <p14:creationId xmlns:p14="http://schemas.microsoft.com/office/powerpoint/2010/main" val="1778709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r>
              <a:rPr lang="en-IN" dirty="0"/>
              <a:t>Talking points – </a:t>
            </a:r>
            <a:br>
              <a:rPr lang="en-IN" dirty="0"/>
            </a:br>
            <a:r>
              <a:rPr lang="en-US" dirty="0">
                <a:effectLst/>
              </a:rPr>
              <a:t>The impact of AI on the world, healthcare and healthcare insurance industry is interlinked. For example:</a:t>
            </a:r>
          </a:p>
          <a:p>
            <a:pPr>
              <a:buFont typeface="Arial" panose="020B0604020202020204" pitchFamily="34" charset="0"/>
              <a:buChar char="•"/>
            </a:pPr>
            <a:r>
              <a:rPr lang="en-US" dirty="0">
                <a:effectLst/>
              </a:rPr>
              <a:t>AI can help address the global health challenges posed by the COVID-19 pandemic by enabling rapid testing, tracing, diagnosis, treatment, vaccination, and research. AI can also help mitigate the social and economic impacts of the pandemic by supporting remote work, education, commerce, entertainment, and communication.</a:t>
            </a:r>
          </a:p>
          <a:p>
            <a:pPr>
              <a:buFont typeface="Arial" panose="020B0604020202020204" pitchFamily="34" charset="0"/>
              <a:buChar char="•"/>
            </a:pPr>
            <a:r>
              <a:rPr lang="en-US" dirty="0">
                <a:effectLst/>
              </a:rPr>
              <a:t>AI can help improve health equity and access by reducing disparities in health outcomes across different populations and regions. AI can also help increase health literacy and awareness by providing reliable information and guidance to individuals and communities.</a:t>
            </a:r>
          </a:p>
          <a:p>
            <a:pPr>
              <a:buFont typeface="Arial" panose="020B0604020202020204" pitchFamily="34" charset="0"/>
              <a:buChar char="•"/>
            </a:pPr>
            <a:r>
              <a:rPr lang="en-US" dirty="0">
                <a:effectLst/>
              </a:rPr>
              <a:t>AI can help foster collaboration and innovation in the health ecosystem by facilitating data sharing and analysis across different stakeholders, such as researchers, clinicians, patients, regulators, insurers, and policymakers. AI can also help create new business models and value propositions that benefit all parties involved.</a:t>
            </a:r>
          </a:p>
          <a:p>
            <a:br>
              <a:rPr lang="en-US" b="0" i="0" dirty="0">
                <a:solidFill>
                  <a:srgbClr val="111111"/>
                </a:solidFill>
                <a:effectLst/>
                <a:latin typeface="-apple-system"/>
              </a:rPr>
            </a:br>
            <a:endParaRPr lang="en-IN" dirty="0"/>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17</a:t>
            </a:fld>
            <a:endParaRPr sz="1400" dirty="0"/>
          </a:p>
        </p:txBody>
      </p:sp>
    </p:spTree>
    <p:extLst>
      <p:ext uri="{BB962C8B-B14F-4D97-AF65-F5344CB8AC3E}">
        <p14:creationId xmlns:p14="http://schemas.microsoft.com/office/powerpoint/2010/main" val="4080187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7: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p7: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pPr marL="457200" lvl="0" indent="-228600" algn="l" rtl="0">
              <a:lnSpc>
                <a:spcPct val="100000"/>
              </a:lnSpc>
              <a:spcBef>
                <a:spcPts val="0"/>
              </a:spcBef>
              <a:spcAft>
                <a:spcPts val="0"/>
              </a:spcAft>
              <a:buSzPts val="1400"/>
              <a:buNone/>
            </a:pPr>
            <a:endParaRPr dirty="0"/>
          </a:p>
        </p:txBody>
      </p:sp>
      <p:sp>
        <p:nvSpPr>
          <p:cNvPr id="895" name="Google Shape;895;p7: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20</a:t>
            </a:fld>
            <a:endParaRPr sz="1400" dirty="0"/>
          </a:p>
        </p:txBody>
      </p:sp>
    </p:spTree>
    <p:extLst>
      <p:ext uri="{BB962C8B-B14F-4D97-AF65-F5344CB8AC3E}">
        <p14:creationId xmlns:p14="http://schemas.microsoft.com/office/powerpoint/2010/main" val="1171813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4776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5"/>
        <p:cNvGrpSpPr/>
        <p:nvPr/>
      </p:nvGrpSpPr>
      <p:grpSpPr>
        <a:xfrm>
          <a:off x="0" y="0"/>
          <a:ext cx="0" cy="0"/>
          <a:chOff x="0" y="0"/>
          <a:chExt cx="0" cy="0"/>
        </a:xfrm>
      </p:grpSpPr>
      <p:sp>
        <p:nvSpPr>
          <p:cNvPr id="2676" name="Google Shape;2676;p34:notes"/>
          <p:cNvSpPr txBox="1">
            <a:spLocks noGrp="1"/>
          </p:cNvSpPr>
          <p:nvPr>
            <p:ph type="body" idx="1"/>
          </p:nvPr>
        </p:nvSpPr>
        <p:spPr>
          <a:xfrm>
            <a:off x="258529" y="4849923"/>
            <a:ext cx="6798142" cy="7066994"/>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dirty="0"/>
          </a:p>
        </p:txBody>
      </p:sp>
      <p:sp>
        <p:nvSpPr>
          <p:cNvPr id="2677" name="Google Shape;2677;p34:notes"/>
          <p:cNvSpPr>
            <a:spLocks noGrp="1" noRot="1" noChangeAspect="1"/>
          </p:cNvSpPr>
          <p:nvPr>
            <p:ph type="sldImg" idx="2"/>
          </p:nvPr>
        </p:nvSpPr>
        <p:spPr>
          <a:xfrm>
            <a:off x="422275" y="962025"/>
            <a:ext cx="6470650" cy="36401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71444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5"/>
        <p:cNvGrpSpPr/>
        <p:nvPr/>
      </p:nvGrpSpPr>
      <p:grpSpPr>
        <a:xfrm>
          <a:off x="0" y="0"/>
          <a:ext cx="0" cy="0"/>
          <a:chOff x="0" y="0"/>
          <a:chExt cx="0" cy="0"/>
        </a:xfrm>
      </p:grpSpPr>
      <p:sp>
        <p:nvSpPr>
          <p:cNvPr id="2596" name="Google Shape;2596;p25:notes"/>
          <p:cNvSpPr txBox="1">
            <a:spLocks noGrp="1"/>
          </p:cNvSpPr>
          <p:nvPr>
            <p:ph type="body" idx="1"/>
          </p:nvPr>
        </p:nvSpPr>
        <p:spPr>
          <a:xfrm>
            <a:off x="275770" y="6547396"/>
            <a:ext cx="7251351" cy="9540442"/>
          </a:xfrm>
          <a:prstGeom prst="rect">
            <a:avLst/>
          </a:prstGeom>
        </p:spPr>
        <p:txBody>
          <a:bodyPr spcFirstLastPara="1" wrap="square" lIns="0" tIns="0" rIns="0" bIns="0" anchor="t" anchorCtr="0">
            <a:noAutofit/>
          </a:bodyPr>
          <a:lstStyle/>
          <a:p>
            <a:pPr>
              <a:spcAft>
                <a:spcPts val="634"/>
              </a:spcAft>
            </a:pPr>
            <a:endParaRPr dirty="0"/>
          </a:p>
        </p:txBody>
      </p:sp>
      <p:sp>
        <p:nvSpPr>
          <p:cNvPr id="2597" name="Google Shape;2597;p25:notes"/>
          <p:cNvSpPr>
            <a:spLocks noGrp="1" noRot="1" noChangeAspect="1"/>
          </p:cNvSpPr>
          <p:nvPr>
            <p:ph type="sldImg" idx="2"/>
          </p:nvPr>
        </p:nvSpPr>
        <p:spPr>
          <a:xfrm>
            <a:off x="-466725" y="1298575"/>
            <a:ext cx="8736013" cy="49149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9377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p9:notes"/>
          <p:cNvSpPr txBox="1">
            <a:spLocks noGrp="1"/>
          </p:cNvSpPr>
          <p:nvPr>
            <p:ph type="body" idx="1"/>
          </p:nvPr>
        </p:nvSpPr>
        <p:spPr>
          <a:xfrm>
            <a:off x="731520" y="4560570"/>
            <a:ext cx="5852100" cy="4320600"/>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dirty="0"/>
          </a:p>
        </p:txBody>
      </p:sp>
    </p:spTree>
    <p:extLst>
      <p:ext uri="{BB962C8B-B14F-4D97-AF65-F5344CB8AC3E}">
        <p14:creationId xmlns:p14="http://schemas.microsoft.com/office/powerpoint/2010/main" val="15701216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1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p10:notes"/>
          <p:cNvSpPr txBox="1">
            <a:spLocks noGrp="1"/>
          </p:cNvSpPr>
          <p:nvPr>
            <p:ph type="body" idx="1"/>
          </p:nvPr>
        </p:nvSpPr>
        <p:spPr>
          <a:xfrm>
            <a:off x="731520" y="4560570"/>
            <a:ext cx="5852100" cy="4320600"/>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dirty="0"/>
          </a:p>
        </p:txBody>
      </p:sp>
    </p:spTree>
    <p:extLst>
      <p:ext uri="{BB962C8B-B14F-4D97-AF65-F5344CB8AC3E}">
        <p14:creationId xmlns:p14="http://schemas.microsoft.com/office/powerpoint/2010/main" val="1256675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Master Title Slide - White">
  <p:cSld name="1_Master Title Slide - White">
    <p:spTree>
      <p:nvGrpSpPr>
        <p:cNvPr id="1" name="Shape 13"/>
        <p:cNvGrpSpPr/>
        <p:nvPr/>
      </p:nvGrpSpPr>
      <p:grpSpPr>
        <a:xfrm>
          <a:off x="0" y="0"/>
          <a:ext cx="0" cy="0"/>
          <a:chOff x="0" y="0"/>
          <a:chExt cx="0" cy="0"/>
        </a:xfrm>
      </p:grpSpPr>
      <p:pic>
        <p:nvPicPr>
          <p:cNvPr id="14" name="Google Shape;14;p53"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5" name="Google Shape;15;p53"/>
          <p:cNvSpPr txBox="1">
            <a:spLocks noGrp="1"/>
          </p:cNvSpPr>
          <p:nvPr>
            <p:ph type="body" idx="1"/>
          </p:nvPr>
        </p:nvSpPr>
        <p:spPr>
          <a:xfrm>
            <a:off x="1295400" y="3124200"/>
            <a:ext cx="6705600" cy="609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000000"/>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 name="Google Shape;16;p53"/>
          <p:cNvSpPr txBox="1">
            <a:spLocks noGrp="1"/>
          </p:cNvSpPr>
          <p:nvPr>
            <p:ph type="body" idx="2"/>
          </p:nvPr>
        </p:nvSpPr>
        <p:spPr>
          <a:xfrm>
            <a:off x="1295400" y="3733800"/>
            <a:ext cx="6705600" cy="3048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17" name="Google Shape;17;p53"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18" name="Google Shape;18;p53"/>
          <p:cNvSpPr/>
          <p:nvPr/>
        </p:nvSpPr>
        <p:spPr>
          <a:xfrm>
            <a:off x="6400800" y="6553200"/>
            <a:ext cx="5257800" cy="84639"/>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50"/>
              <a:buFont typeface="Arial"/>
              <a:buNone/>
            </a:pPr>
            <a:r>
              <a:rPr lang="en-US" sz="550" b="0" i="0" u="none" strike="noStrike" cap="none" dirty="0">
                <a:solidFill>
                  <a:schemeClr val="accent6"/>
                </a:solidFill>
                <a:latin typeface="Roboto"/>
                <a:ea typeface="Roboto"/>
                <a:cs typeface="Roboto"/>
                <a:sym typeface="Roboto"/>
              </a:rPr>
              <a:t>Blue Cross Blue Shield of Massachusetts is an Independent Licensee of the Blue Cross and Blue Shield Association.</a:t>
            </a:r>
            <a:endParaRPr sz="550" b="0" i="0" u="none" strike="noStrike" cap="none" dirty="0">
              <a:solidFill>
                <a:schemeClr val="accent6"/>
              </a:solidFill>
              <a:latin typeface="Arial"/>
              <a:ea typeface="Arial"/>
              <a:cs typeface="Arial"/>
              <a:sym typeface="Arial"/>
            </a:endParaRPr>
          </a:p>
        </p:txBody>
      </p:sp>
      <p:sp>
        <p:nvSpPr>
          <p:cNvPr id="19" name="Google Shape;19;p53"/>
          <p:cNvSpPr txBox="1"/>
          <p:nvPr/>
        </p:nvSpPr>
        <p:spPr>
          <a:xfrm>
            <a:off x="7391400" y="6400800"/>
            <a:ext cx="42672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Arial"/>
              <a:buNone/>
            </a:pPr>
            <a:r>
              <a:rPr lang="en-US" sz="700" b="1" i="0" u="none" strike="noStrike" cap="none" dirty="0">
                <a:solidFill>
                  <a:srgbClr val="7F7F7F"/>
                </a:solidFill>
                <a:latin typeface="DM Sans"/>
                <a:ea typeface="DM Sans"/>
                <a:cs typeface="DM Sans"/>
                <a:sym typeface="DM Sans"/>
              </a:rPr>
              <a:t>BLUE CROSS BLUE SHIELD OF MASSACHUSETTS | </a:t>
            </a:r>
            <a:r>
              <a:rPr lang="en-US" sz="700" b="0" i="0" u="none" strike="noStrike" cap="none" dirty="0">
                <a:solidFill>
                  <a:srgbClr val="7F7F7F"/>
                </a:solidFill>
                <a:latin typeface="DM Sans"/>
                <a:ea typeface="DM Sans"/>
                <a:cs typeface="DM Sans"/>
                <a:sym typeface="DM Sans"/>
              </a:rPr>
              <a:t>CONFIDENTIAL – NOT FOR DISTRIBUTION</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General Slide">
  <p:cSld name="General Slide">
    <p:spTree>
      <p:nvGrpSpPr>
        <p:cNvPr id="1" name="Shape 20"/>
        <p:cNvGrpSpPr/>
        <p:nvPr/>
      </p:nvGrpSpPr>
      <p:grpSpPr>
        <a:xfrm>
          <a:off x="0" y="0"/>
          <a:ext cx="0" cy="0"/>
          <a:chOff x="0" y="0"/>
          <a:chExt cx="0" cy="0"/>
        </a:xfrm>
      </p:grpSpPr>
      <p:sp>
        <p:nvSpPr>
          <p:cNvPr id="21" name="Google Shape;21;p54"/>
          <p:cNvSpPr txBox="1">
            <a:spLocks noGrp="1"/>
          </p:cNvSpPr>
          <p:nvPr>
            <p:ph type="body" idx="1"/>
          </p:nvPr>
        </p:nvSpPr>
        <p:spPr>
          <a:xfrm>
            <a:off x="609600" y="1371600"/>
            <a:ext cx="9448800" cy="4230474"/>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DM Sans"/>
                <a:ea typeface="DM Sans"/>
                <a:cs typeface="DM Sans"/>
                <a:sym typeface="DM Sans"/>
              </a:defRPr>
            </a:lvl2pPr>
            <a:lvl3pPr marL="1371600" marR="0" lvl="2"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3pPr>
            <a:lvl4pPr marL="1828800" marR="0" lvl="3" indent="-317500" algn="l" rtl="0">
              <a:lnSpc>
                <a:spcPct val="90000"/>
              </a:lnSpc>
              <a:spcBef>
                <a:spcPts val="5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4pPr>
            <a:lvl5pPr marL="2286000" marR="0" lvl="4" indent="-304800" algn="l" rtl="0">
              <a:lnSpc>
                <a:spcPct val="90000"/>
              </a:lnSpc>
              <a:spcBef>
                <a:spcPts val="500"/>
              </a:spcBef>
              <a:spcAft>
                <a:spcPts val="0"/>
              </a:spcAft>
              <a:buClr>
                <a:schemeClr val="accent1"/>
              </a:buClr>
              <a:buSzPts val="1200"/>
              <a:buFont typeface="Arial"/>
              <a:buChar char="•"/>
              <a:defRPr sz="12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54"/>
          <p:cNvSpPr txBox="1">
            <a:spLocks noGrp="1"/>
          </p:cNvSpPr>
          <p:nvPr>
            <p:ph type="body" idx="2"/>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54"/>
          <p:cNvSpPr txBox="1">
            <a:spLocks noGrp="1"/>
          </p:cNvSpPr>
          <p:nvPr>
            <p:ph type="body" idx="3"/>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28"/>
        <p:cNvGrpSpPr/>
        <p:nvPr/>
      </p:nvGrpSpPr>
      <p:grpSpPr>
        <a:xfrm>
          <a:off x="0" y="0"/>
          <a:ext cx="0" cy="0"/>
          <a:chOff x="0" y="0"/>
          <a:chExt cx="0" cy="0"/>
        </a:xfrm>
      </p:grpSpPr>
      <p:sp>
        <p:nvSpPr>
          <p:cNvPr id="29" name="Google Shape;29;p56"/>
          <p:cNvSpPr txBox="1">
            <a:spLocks noGrp="1"/>
          </p:cNvSpPr>
          <p:nvPr>
            <p:ph type="title"/>
          </p:nvPr>
        </p:nvSpPr>
        <p:spPr>
          <a:xfrm>
            <a:off x="377371" y="185057"/>
            <a:ext cx="8534400" cy="5817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rgbClr val="000000"/>
              </a:buClr>
              <a:buSzPts val="1900"/>
              <a:buFont typeface="Arial"/>
              <a:buNone/>
              <a:defRPr sz="2400" b="1" i="0" u="none" strike="noStrike" cap="none">
                <a:solidFill>
                  <a:schemeClr val="dk2"/>
                </a:solidFill>
                <a:latin typeface="Avenir"/>
                <a:ea typeface="Avenir"/>
                <a:cs typeface="Avenir"/>
                <a:sym typeface="Avenir"/>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30" name="Google Shape;30;p56"/>
          <p:cNvSpPr txBox="1">
            <a:spLocks noGrp="1"/>
          </p:cNvSpPr>
          <p:nvPr>
            <p:ph type="body" idx="1"/>
          </p:nvPr>
        </p:nvSpPr>
        <p:spPr>
          <a:xfrm>
            <a:off x="406401" y="1012372"/>
            <a:ext cx="11364300" cy="1415700"/>
          </a:xfrm>
          <a:prstGeom prst="rect">
            <a:avLst/>
          </a:prstGeom>
          <a:noFill/>
          <a:ln>
            <a:noFill/>
          </a:ln>
        </p:spPr>
        <p:txBody>
          <a:bodyPr spcFirstLastPara="1" wrap="square" lIns="0" tIns="0" rIns="0" bIns="0" anchor="t" anchorCtr="0">
            <a:spAutoFit/>
          </a:bodyPr>
          <a:lstStyle>
            <a:lvl1pPr marL="457200" marR="0" lvl="0" indent="-381000" algn="l" rtl="0">
              <a:lnSpc>
                <a:spcPct val="100000"/>
              </a:lnSpc>
              <a:spcBef>
                <a:spcPts val="500"/>
              </a:spcBef>
              <a:spcAft>
                <a:spcPts val="0"/>
              </a:spcAft>
              <a:buClr>
                <a:srgbClr val="0082CA"/>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400050" algn="l" rtl="0">
              <a:lnSpc>
                <a:spcPct val="100000"/>
              </a:lnSpc>
              <a:spcBef>
                <a:spcPts val="400"/>
              </a:spcBef>
              <a:spcAft>
                <a:spcPts val="0"/>
              </a:spcAft>
              <a:buClr>
                <a:srgbClr val="0082CA"/>
              </a:buClr>
              <a:buSzPts val="2700"/>
              <a:buFont typeface="Arial"/>
              <a:buChar char="-"/>
              <a:defRPr sz="2100" b="0" i="0" u="none" strike="noStrike" cap="none">
                <a:solidFill>
                  <a:schemeClr val="dk1"/>
                </a:solidFill>
                <a:latin typeface="Arial"/>
                <a:ea typeface="Arial"/>
                <a:cs typeface="Arial"/>
                <a:sym typeface="Arial"/>
              </a:defRPr>
            </a:lvl2pPr>
            <a:lvl3pPr marL="1371600" marR="0" lvl="2" indent="-361950" algn="l" rtl="0">
              <a:lnSpc>
                <a:spcPct val="100000"/>
              </a:lnSpc>
              <a:spcBef>
                <a:spcPts val="400"/>
              </a:spcBef>
              <a:spcAft>
                <a:spcPts val="0"/>
              </a:spcAft>
              <a:buClr>
                <a:srgbClr val="0082CA"/>
              </a:buClr>
              <a:buSzPts val="2100"/>
              <a:buFont typeface="Arial"/>
              <a:buChar char="–"/>
              <a:defRPr sz="1900" b="0" i="0" u="none" strike="noStrike" cap="none">
                <a:solidFill>
                  <a:schemeClr val="dk1"/>
                </a:solidFill>
                <a:latin typeface="Arial"/>
                <a:ea typeface="Arial"/>
                <a:cs typeface="Arial"/>
                <a:sym typeface="Arial"/>
              </a:defRPr>
            </a:lvl3pPr>
            <a:lvl4pPr marL="1828800" marR="0" lvl="3" indent="-330200" algn="l" rtl="0">
              <a:lnSpc>
                <a:spcPct val="100000"/>
              </a:lnSpc>
              <a:spcBef>
                <a:spcPts val="300"/>
              </a:spcBef>
              <a:spcAft>
                <a:spcPts val="0"/>
              </a:spcAft>
              <a:buClr>
                <a:srgbClr val="0082CA"/>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04800" algn="l" rtl="0">
              <a:lnSpc>
                <a:spcPct val="100000"/>
              </a:lnSpc>
              <a:spcBef>
                <a:spcPts val="300"/>
              </a:spcBef>
              <a:spcAft>
                <a:spcPts val="0"/>
              </a:spcAft>
              <a:buClr>
                <a:srgbClr val="0082CA"/>
              </a:buClr>
              <a:buSzPts val="1200"/>
              <a:buFont typeface="Arial"/>
              <a:buChar char="○"/>
              <a:defRPr sz="1500" b="0" i="0" u="none" strike="noStrike" cap="none">
                <a:solidFill>
                  <a:schemeClr val="dk1"/>
                </a:solidFill>
                <a:latin typeface="Arial"/>
                <a:ea typeface="Arial"/>
                <a:cs typeface="Arial"/>
                <a:sym typeface="Arial"/>
              </a:defRPr>
            </a:lvl5pPr>
            <a:lvl6pPr marL="2743200" marR="0" lvl="5"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31" name="Google Shape;31;p56"/>
          <p:cNvSpPr txBox="1">
            <a:spLocks noGrp="1"/>
          </p:cNvSpPr>
          <p:nvPr>
            <p:ph type="ftr" idx="11"/>
          </p:nvPr>
        </p:nvSpPr>
        <p:spPr>
          <a:xfrm>
            <a:off x="1828800" y="6356351"/>
            <a:ext cx="8534400" cy="365100"/>
          </a:xfrm>
          <a:prstGeom prst="rect">
            <a:avLst/>
          </a:prstGeom>
          <a:noFill/>
          <a:ln>
            <a:noFill/>
          </a:ln>
        </p:spPr>
        <p:txBody>
          <a:bodyPr spcFirstLastPara="1" wrap="square" lIns="107875" tIns="53925" rIns="107875" bIns="53925" anchor="t" anchorCtr="0">
            <a:noAutofit/>
          </a:bodyPr>
          <a:lstStyle>
            <a:lvl1pPr marR="0" lvl="0" algn="ctr" rtl="0">
              <a:lnSpc>
                <a:spcPct val="100000"/>
              </a:lnSpc>
              <a:spcBef>
                <a:spcPts val="0"/>
              </a:spcBef>
              <a:spcAft>
                <a:spcPts val="0"/>
              </a:spcAft>
              <a:buClr>
                <a:srgbClr val="000000"/>
              </a:buClr>
              <a:buSzPts val="1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2pPr>
            <a:lvl3pPr marR="0" lvl="2"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3pPr>
            <a:lvl4pPr marR="0" lvl="3"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4pPr>
            <a:lvl5pPr marR="0" lvl="4"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5pPr>
            <a:lvl6pPr marR="0" lvl="5"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6pPr>
            <a:lvl7pPr marR="0" lvl="6"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7pPr>
            <a:lvl8pPr marR="0" lvl="7"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8pPr>
            <a:lvl9pPr marR="0" lvl="8"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9pPr>
          </a:lstStyle>
          <a:p>
            <a:endParaRPr dirty="0"/>
          </a:p>
        </p:txBody>
      </p:sp>
      <p:sp>
        <p:nvSpPr>
          <p:cNvPr id="32" name="Google Shape;32;p56"/>
          <p:cNvSpPr txBox="1">
            <a:spLocks noGrp="1"/>
          </p:cNvSpPr>
          <p:nvPr>
            <p:ph type="sldNum" idx="12"/>
          </p:nvPr>
        </p:nvSpPr>
        <p:spPr>
          <a:xfrm>
            <a:off x="376767" y="6356351"/>
            <a:ext cx="537600" cy="365100"/>
          </a:xfrm>
          <a:prstGeom prst="rect">
            <a:avLst/>
          </a:prstGeom>
          <a:noFill/>
          <a:ln>
            <a:noFill/>
          </a:ln>
        </p:spPr>
        <p:txBody>
          <a:bodyPr spcFirstLastPara="1" wrap="square" lIns="107875" tIns="53925" rIns="107875" bIns="53925"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vider Slide - White">
  <p:cSld name="Divider Slide - White">
    <p:spTree>
      <p:nvGrpSpPr>
        <p:cNvPr id="1" name="Shape 36"/>
        <p:cNvGrpSpPr/>
        <p:nvPr/>
      </p:nvGrpSpPr>
      <p:grpSpPr>
        <a:xfrm>
          <a:off x="0" y="0"/>
          <a:ext cx="0" cy="0"/>
          <a:chOff x="0" y="0"/>
          <a:chExt cx="0" cy="0"/>
        </a:xfrm>
      </p:grpSpPr>
      <p:cxnSp>
        <p:nvCxnSpPr>
          <p:cNvPr id="37" name="Google Shape;37;p61"/>
          <p:cNvCxnSpPr/>
          <p:nvPr/>
        </p:nvCxnSpPr>
        <p:spPr>
          <a:xfrm>
            <a:off x="1056861" y="2166730"/>
            <a:ext cx="10078279" cy="0"/>
          </a:xfrm>
          <a:prstGeom prst="straightConnector1">
            <a:avLst/>
          </a:prstGeom>
          <a:noFill/>
          <a:ln w="9525" cap="flat" cmpd="sng">
            <a:solidFill>
              <a:srgbClr val="A5A5A5"/>
            </a:solidFill>
            <a:prstDash val="solid"/>
            <a:miter lim="800000"/>
            <a:headEnd type="none" w="sm" len="sm"/>
            <a:tailEnd type="none" w="sm" len="sm"/>
          </a:ln>
        </p:spPr>
      </p:cxnSp>
      <p:sp>
        <p:nvSpPr>
          <p:cNvPr id="38" name="Google Shape;38;p61"/>
          <p:cNvSpPr txBox="1">
            <a:spLocks noGrp="1"/>
          </p:cNvSpPr>
          <p:nvPr>
            <p:ph type="body" idx="1"/>
          </p:nvPr>
        </p:nvSpPr>
        <p:spPr>
          <a:xfrm>
            <a:off x="1056859" y="2524746"/>
            <a:ext cx="10078279" cy="296165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2pPr>
            <a:lvl3pPr marL="1371600" marR="0" lvl="2"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3pPr>
            <a:lvl4pPr marL="1828800" marR="0" lvl="3"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4pPr>
            <a:lvl5pPr marL="2286000" marR="0" lvl="4"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al Content Slide + Subtitle">
  <p:cSld name="General Content Slide + Subtitle">
    <p:spTree>
      <p:nvGrpSpPr>
        <p:cNvPr id="1" name="Shape 39"/>
        <p:cNvGrpSpPr/>
        <p:nvPr/>
      </p:nvGrpSpPr>
      <p:grpSpPr>
        <a:xfrm>
          <a:off x="0" y="0"/>
          <a:ext cx="0" cy="0"/>
          <a:chOff x="0" y="0"/>
          <a:chExt cx="0" cy="0"/>
        </a:xfrm>
      </p:grpSpPr>
      <p:sp>
        <p:nvSpPr>
          <p:cNvPr id="40" name="Google Shape;40;p62"/>
          <p:cNvSpPr txBox="1">
            <a:spLocks noGrp="1"/>
          </p:cNvSpPr>
          <p:nvPr>
            <p:ph type="body" idx="1"/>
          </p:nvPr>
        </p:nvSpPr>
        <p:spPr>
          <a:xfrm>
            <a:off x="829055" y="824322"/>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164E9C"/>
              </a:buClr>
              <a:buSzPts val="1800"/>
              <a:buFont typeface="Arial"/>
              <a:buNone/>
              <a:defRPr sz="1800" b="1" i="0" u="none" strike="noStrike" cap="none">
                <a:solidFill>
                  <a:srgbClr val="164E9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 name="Google Shape;41;p62"/>
          <p:cNvSpPr txBox="1"/>
          <p:nvPr/>
        </p:nvSpPr>
        <p:spPr>
          <a:xfrm>
            <a:off x="3330799" y="6335615"/>
            <a:ext cx="7814960"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64E9C"/>
              </a:buClr>
              <a:buSzPts val="1000"/>
              <a:buFont typeface="Calibri"/>
              <a:buNone/>
            </a:pPr>
            <a:r>
              <a:rPr lang="en-US" sz="1000" b="1" i="0" u="none" strike="noStrike" cap="none" dirty="0">
                <a:solidFill>
                  <a:srgbClr val="164E9C"/>
                </a:solidFill>
                <a:latin typeface="Calibri"/>
                <a:ea typeface="Calibri"/>
                <a:cs typeface="Calibri"/>
                <a:sym typeface="Calibri"/>
              </a:rPr>
              <a:t>BLUE CROSS BLUE SHIELD OF MASSACHUSETTS |</a:t>
            </a:r>
            <a:r>
              <a:rPr lang="en-US" sz="1000" b="0" i="0" u="none" strike="noStrike" cap="none" dirty="0">
                <a:solidFill>
                  <a:srgbClr val="164E9C"/>
                </a:solidFill>
                <a:latin typeface="Calibri"/>
                <a:ea typeface="Calibri"/>
                <a:cs typeface="Calibri"/>
                <a:sym typeface="Calibri"/>
              </a:rPr>
              <a:t> CONFIDENTIAL – NOT FOR DISTRIBUTION</a:t>
            </a:r>
            <a:endParaRPr sz="1000" b="0" i="0" u="none" strike="noStrike" cap="none" dirty="0">
              <a:solidFill>
                <a:srgbClr val="164E9C"/>
              </a:solidFill>
              <a:latin typeface="Calibri"/>
              <a:ea typeface="Calibri"/>
              <a:cs typeface="Calibri"/>
              <a:sym typeface="Calibri"/>
            </a:endParaRPr>
          </a:p>
        </p:txBody>
      </p:sp>
      <p:sp>
        <p:nvSpPr>
          <p:cNvPr id="42" name="Google Shape;42;p62"/>
          <p:cNvSpPr txBox="1">
            <a:spLocks noGrp="1"/>
          </p:cNvSpPr>
          <p:nvPr>
            <p:ph type="body" idx="2"/>
          </p:nvPr>
        </p:nvSpPr>
        <p:spPr>
          <a:xfrm>
            <a:off x="829055" y="1143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52AAED"/>
              </a:buClr>
              <a:buSzPts val="1600"/>
              <a:buFont typeface="Arial"/>
              <a:buNone/>
              <a:defRPr sz="1600" b="0" i="0" u="none" strike="noStrike" cap="none">
                <a:solidFill>
                  <a:srgbClr val="52AAED"/>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62"/>
          <p:cNvSpPr txBox="1">
            <a:spLocks noGrp="1"/>
          </p:cNvSpPr>
          <p:nvPr>
            <p:ph type="body" idx="3"/>
          </p:nvPr>
        </p:nvSpPr>
        <p:spPr>
          <a:xfrm>
            <a:off x="829055" y="1752600"/>
            <a:ext cx="9448800" cy="4230474"/>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1pPr>
            <a:lvl2pPr marL="914400" marR="0" lvl="1"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2pPr>
            <a:lvl3pPr marL="1371600" marR="0" lvl="2"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3pPr>
            <a:lvl4pPr marL="1828800" marR="0" lvl="3"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4pPr>
            <a:lvl5pPr marL="2286000" marR="0" lvl="4"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2"/>
          <p:cNvSpPr txBox="1">
            <a:spLocks noGrp="1"/>
          </p:cNvSpPr>
          <p:nvPr>
            <p:ph type="body" idx="4"/>
          </p:nvPr>
        </p:nvSpPr>
        <p:spPr>
          <a:xfrm rot="-5400000">
            <a:off x="-2376900" y="2915337"/>
            <a:ext cx="5678274" cy="4572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164E9C"/>
              </a:buClr>
              <a:buSzPts val="1200"/>
              <a:buFont typeface="Arial"/>
              <a:buNone/>
              <a:defRPr sz="1200" b="0" i="0" u="none" strike="noStrike" cap="none">
                <a:solidFill>
                  <a:srgbClr val="164E9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48" name="Google Shape;48;p63"/>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9" name="Google Shape;49;p63"/>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0" name="Google Shape;50;p63"/>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4"/>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ster Title Slide - Blue and White 1">
  <p:cSld name="Master Title Slide - Blue and White 1">
    <p:spTree>
      <p:nvGrpSpPr>
        <p:cNvPr id="1" name="Shape 53"/>
        <p:cNvGrpSpPr/>
        <p:nvPr/>
      </p:nvGrpSpPr>
      <p:grpSpPr>
        <a:xfrm>
          <a:off x="0" y="0"/>
          <a:ext cx="0" cy="0"/>
          <a:chOff x="0" y="0"/>
          <a:chExt cx="0" cy="0"/>
        </a:xfrm>
      </p:grpSpPr>
      <p:pic>
        <p:nvPicPr>
          <p:cNvPr id="54" name="Google Shape;54;p65" descr="A close up of a logo&#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5" name="Google Shape;55;p65"/>
          <p:cNvSpPr txBox="1">
            <a:spLocks noGrp="1"/>
          </p:cNvSpPr>
          <p:nvPr>
            <p:ph type="body" idx="1"/>
          </p:nvPr>
        </p:nvSpPr>
        <p:spPr>
          <a:xfrm>
            <a:off x="978977" y="2819400"/>
            <a:ext cx="7543800" cy="9144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DM Sans"/>
                <a:ea typeface="DM Sans"/>
                <a:cs typeface="DM Sans"/>
                <a:sym typeface="DM Sans"/>
              </a:defRPr>
            </a:lvl1pPr>
            <a:lvl2pPr marL="914400" marR="0" lvl="1" indent="-228600" algn="l" rtl="0">
              <a:lnSpc>
                <a:spcPct val="90000"/>
              </a:lnSpc>
              <a:spcBef>
                <a:spcPts val="1000"/>
              </a:spcBef>
              <a:spcAft>
                <a:spcPts val="0"/>
              </a:spcAft>
              <a:buClr>
                <a:schemeClr val="lt1"/>
              </a:buClr>
              <a:buSzPts val="2500"/>
              <a:buFont typeface="Arial"/>
              <a:buNone/>
              <a:defRPr sz="25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6" name="Google Shape;56;p65"/>
          <p:cNvSpPr txBox="1">
            <a:spLocks noGrp="1"/>
          </p:cNvSpPr>
          <p:nvPr>
            <p:ph type="body" idx="2"/>
          </p:nvPr>
        </p:nvSpPr>
        <p:spPr>
          <a:xfrm>
            <a:off x="871955" y="2097024"/>
            <a:ext cx="7620000" cy="61264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2pPr>
            <a:lvl3pPr marL="1371600" marR="0" lvl="2"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3pPr>
            <a:lvl4pPr marL="1828800" marR="0" lvl="3"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4pPr>
            <a:lvl5pPr marL="2286000" marR="0" lvl="4"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7" name="Google Shape;57;p65"/>
          <p:cNvSpPr/>
          <p:nvPr/>
        </p:nvSpPr>
        <p:spPr>
          <a:xfrm>
            <a:off x="6400800" y="6553200"/>
            <a:ext cx="5257800" cy="84639"/>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50"/>
              <a:buFont typeface="Arial"/>
              <a:buNone/>
            </a:pPr>
            <a:r>
              <a:rPr lang="en-US" sz="550" b="0" i="0" u="none" strike="noStrike" cap="none" dirty="0">
                <a:solidFill>
                  <a:schemeClr val="accent6"/>
                </a:solidFill>
                <a:latin typeface="Roboto"/>
                <a:ea typeface="Roboto"/>
                <a:cs typeface="Roboto"/>
                <a:sym typeface="Roboto"/>
              </a:rPr>
              <a:t>Blue Cross Blue Shield of Massachusetts is an Independent Licensee of the Blue Cross and Blue Shield Association.</a:t>
            </a:r>
            <a:endParaRPr sz="550" b="0" i="0" u="none" strike="noStrike" cap="none" dirty="0">
              <a:solidFill>
                <a:schemeClr val="accent6"/>
              </a:solidFill>
              <a:latin typeface="Calibri"/>
              <a:ea typeface="Calibri"/>
              <a:cs typeface="Calibri"/>
              <a:sym typeface="Calibri"/>
            </a:endParaRPr>
          </a:p>
        </p:txBody>
      </p:sp>
      <p:pic>
        <p:nvPicPr>
          <p:cNvPr id="58" name="Google Shape;58;p65"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59" name="Google Shape;59;p65"/>
          <p:cNvSpPr txBox="1"/>
          <p:nvPr/>
        </p:nvSpPr>
        <p:spPr>
          <a:xfrm>
            <a:off x="7391400" y="6400800"/>
            <a:ext cx="42672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dirty="0">
                <a:solidFill>
                  <a:srgbClr val="7F7F7F"/>
                </a:solidFill>
                <a:latin typeface="DM Sans"/>
                <a:ea typeface="DM Sans"/>
                <a:cs typeface="DM Sans"/>
                <a:sym typeface="DM Sans"/>
              </a:rPr>
              <a:t>BLUE CROSS BLUE SHIELD OF MASSACHUSETTS | </a:t>
            </a:r>
            <a:r>
              <a:rPr lang="en-US" sz="700" b="0" i="0" u="none" strike="noStrike" cap="none" dirty="0">
                <a:solidFill>
                  <a:srgbClr val="7F7F7F"/>
                </a:solidFill>
                <a:latin typeface="DM Sans"/>
                <a:ea typeface="DM Sans"/>
                <a:cs typeface="DM Sans"/>
                <a:sym typeface="DM Sans"/>
              </a:rPr>
              <a:t>CONFIDENTIAL – NOT FOR DISTRIBUTION</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ster Title Slide - White">
  <p:cSld name="Master Title Slide - White">
    <p:spTree>
      <p:nvGrpSpPr>
        <p:cNvPr id="1" name="Shape 60"/>
        <p:cNvGrpSpPr/>
        <p:nvPr/>
      </p:nvGrpSpPr>
      <p:grpSpPr>
        <a:xfrm>
          <a:off x="0" y="0"/>
          <a:ext cx="0" cy="0"/>
          <a:chOff x="0" y="0"/>
          <a:chExt cx="0" cy="0"/>
        </a:xfrm>
      </p:grpSpPr>
      <p:pic>
        <p:nvPicPr>
          <p:cNvPr id="61" name="Google Shape;61;p66"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2" name="Google Shape;62;p66"/>
          <p:cNvSpPr txBox="1">
            <a:spLocks noGrp="1"/>
          </p:cNvSpPr>
          <p:nvPr>
            <p:ph type="body" idx="1"/>
          </p:nvPr>
        </p:nvSpPr>
        <p:spPr>
          <a:xfrm>
            <a:off x="1295400" y="3124200"/>
            <a:ext cx="6705600" cy="609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66"/>
          <p:cNvSpPr txBox="1">
            <a:spLocks noGrp="1"/>
          </p:cNvSpPr>
          <p:nvPr>
            <p:ph type="body" idx="2"/>
          </p:nvPr>
        </p:nvSpPr>
        <p:spPr>
          <a:xfrm>
            <a:off x="1295400" y="3733800"/>
            <a:ext cx="6705600" cy="3048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64" name="Google Shape;64;p66"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65" name="Google Shape;65;p66"/>
          <p:cNvSpPr/>
          <p:nvPr/>
        </p:nvSpPr>
        <p:spPr>
          <a:xfrm>
            <a:off x="6400800" y="6553200"/>
            <a:ext cx="5257800" cy="84639"/>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50"/>
              <a:buFont typeface="Arial"/>
              <a:buNone/>
            </a:pPr>
            <a:r>
              <a:rPr lang="en-US" sz="550" b="0" i="0" u="none" strike="noStrike" cap="none" dirty="0">
                <a:solidFill>
                  <a:schemeClr val="accent6"/>
                </a:solidFill>
                <a:latin typeface="Roboto"/>
                <a:ea typeface="Roboto"/>
                <a:cs typeface="Roboto"/>
                <a:sym typeface="Roboto"/>
              </a:rPr>
              <a:t>Blue Cross Blue Shield of Massachusetts is an Independent Licensee of the Blue Cross and Blue Shield Association.</a:t>
            </a:r>
            <a:endParaRPr sz="550" b="0" i="0" u="none" strike="noStrike" cap="none" dirty="0">
              <a:solidFill>
                <a:schemeClr val="accent6"/>
              </a:solidFill>
              <a:latin typeface="Calibri"/>
              <a:ea typeface="Calibri"/>
              <a:cs typeface="Calibri"/>
              <a:sym typeface="Calibri"/>
            </a:endParaRPr>
          </a:p>
        </p:txBody>
      </p:sp>
      <p:sp>
        <p:nvSpPr>
          <p:cNvPr id="66" name="Google Shape;66;p66"/>
          <p:cNvSpPr txBox="1"/>
          <p:nvPr/>
        </p:nvSpPr>
        <p:spPr>
          <a:xfrm>
            <a:off x="7391400" y="6400800"/>
            <a:ext cx="42672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dirty="0">
                <a:solidFill>
                  <a:srgbClr val="7F7F7F"/>
                </a:solidFill>
                <a:latin typeface="DM Sans"/>
                <a:ea typeface="DM Sans"/>
                <a:cs typeface="DM Sans"/>
                <a:sym typeface="DM Sans"/>
              </a:rPr>
              <a:t>BLUE CROSS BLUE SHIELD OF MASSACHUSETTS | </a:t>
            </a:r>
            <a:r>
              <a:rPr lang="en-US" sz="700" b="0" i="0" u="none" strike="noStrike" cap="none" dirty="0">
                <a:solidFill>
                  <a:srgbClr val="7F7F7F"/>
                </a:solidFill>
                <a:latin typeface="DM Sans"/>
                <a:ea typeface="DM Sans"/>
                <a:cs typeface="DM Sans"/>
                <a:sym typeface="DM Sans"/>
              </a:rPr>
              <a:t>CONFIDENTIAL – NOT FOR DISTRIBUTION</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Slide">
  <p:cSld name="Agenda Slide">
    <p:spTree>
      <p:nvGrpSpPr>
        <p:cNvPr id="1" name="Shape 67"/>
        <p:cNvGrpSpPr/>
        <p:nvPr/>
      </p:nvGrpSpPr>
      <p:grpSpPr>
        <a:xfrm>
          <a:off x="0" y="0"/>
          <a:ext cx="0" cy="0"/>
          <a:chOff x="0" y="0"/>
          <a:chExt cx="0" cy="0"/>
        </a:xfrm>
      </p:grpSpPr>
      <p:sp>
        <p:nvSpPr>
          <p:cNvPr id="68" name="Google Shape;68;p67"/>
          <p:cNvSpPr txBox="1">
            <a:spLocks noGrp="1"/>
          </p:cNvSpPr>
          <p:nvPr>
            <p:ph type="body" idx="1"/>
          </p:nvPr>
        </p:nvSpPr>
        <p:spPr>
          <a:xfrm>
            <a:off x="1295400" y="1447800"/>
            <a:ext cx="2438400" cy="350520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000"/>
              </a:spcBef>
              <a:spcAft>
                <a:spcPts val="0"/>
              </a:spcAft>
              <a:buClr>
                <a:schemeClr val="accent4"/>
              </a:buClr>
              <a:buSzPts val="4800"/>
              <a:buFont typeface="Arial"/>
              <a:buNone/>
              <a:defRPr sz="4800" b="0" i="0" u="none" strike="noStrike" cap="none">
                <a:solidFill>
                  <a:schemeClr val="accent4"/>
                </a:solidFill>
                <a:latin typeface="Bebas Neue"/>
                <a:ea typeface="Bebas Neue"/>
                <a:cs typeface="Bebas Neue"/>
                <a:sym typeface="Bebas Neue"/>
              </a:defRPr>
            </a:lvl1pPr>
            <a:lvl2pPr marL="914400" marR="0" lvl="1" indent="-228600" algn="r"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228600" algn="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 name="Google Shape;69;p67"/>
          <p:cNvSpPr txBox="1">
            <a:spLocks noGrp="1"/>
          </p:cNvSpPr>
          <p:nvPr>
            <p:ph type="body" idx="2"/>
          </p:nvPr>
        </p:nvSpPr>
        <p:spPr>
          <a:xfrm>
            <a:off x="4648200" y="1447800"/>
            <a:ext cx="6497559" cy="3505200"/>
          </a:xfrm>
          <a:prstGeom prst="rect">
            <a:avLst/>
          </a:prstGeom>
          <a:noFill/>
          <a:ln>
            <a:noFill/>
          </a:ln>
        </p:spPr>
        <p:txBody>
          <a:bodyPr spcFirstLastPara="1" wrap="square" lIns="91425" tIns="45700" rIns="91425" bIns="45700" anchor="ctr" anchorCtr="0">
            <a:noAutofit/>
          </a:bodyPr>
          <a:lstStyle>
            <a:lvl1pPr marL="457200" marR="0" lvl="0" indent="-381000" algn="l" rtl="0">
              <a:lnSpc>
                <a:spcPct val="90000"/>
              </a:lnSpc>
              <a:spcBef>
                <a:spcPts val="1000"/>
              </a:spcBef>
              <a:spcAft>
                <a:spcPts val="0"/>
              </a:spcAft>
              <a:buClr>
                <a:srgbClr val="164E9C"/>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rgbClr val="164E9C"/>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2900" algn="l" rtl="0">
              <a:lnSpc>
                <a:spcPct val="90000"/>
              </a:lnSpc>
              <a:spcBef>
                <a:spcPts val="500"/>
              </a:spcBef>
              <a:spcAft>
                <a:spcPts val="0"/>
              </a:spcAft>
              <a:buClr>
                <a:srgbClr val="164E9C"/>
              </a:buClr>
              <a:buSzPts val="1800"/>
              <a:buFont typeface="Arial"/>
              <a:buChar char="•"/>
              <a:defRPr sz="18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rgbClr val="164E9C"/>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17500" algn="l" rtl="0">
              <a:lnSpc>
                <a:spcPct val="90000"/>
              </a:lnSpc>
              <a:spcBef>
                <a:spcPts val="500"/>
              </a:spcBef>
              <a:spcAft>
                <a:spcPts val="0"/>
              </a:spcAft>
              <a:buClr>
                <a:srgbClr val="164E9C"/>
              </a:buClr>
              <a:buSzPts val="1400"/>
              <a:buFont typeface="Arial"/>
              <a:buChar char="•"/>
              <a:defRPr sz="14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70" name="Google Shape;70;p67"/>
          <p:cNvCxnSpPr/>
          <p:nvPr/>
        </p:nvCxnSpPr>
        <p:spPr>
          <a:xfrm>
            <a:off x="4267200" y="1479480"/>
            <a:ext cx="0" cy="3505200"/>
          </a:xfrm>
          <a:prstGeom prst="straightConnector1">
            <a:avLst/>
          </a:prstGeom>
          <a:noFill/>
          <a:ln w="12700" cap="flat" cmpd="sng">
            <a:solidFill>
              <a:schemeClr val="accent6"/>
            </a:solidFill>
            <a:prstDash val="solid"/>
            <a:miter lim="800000"/>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viding Slide">
  <p:cSld name="Dividing Slide">
    <p:spTree>
      <p:nvGrpSpPr>
        <p:cNvPr id="1" name="Shape 71"/>
        <p:cNvGrpSpPr/>
        <p:nvPr/>
      </p:nvGrpSpPr>
      <p:grpSpPr>
        <a:xfrm>
          <a:off x="0" y="0"/>
          <a:ext cx="0" cy="0"/>
          <a:chOff x="0" y="0"/>
          <a:chExt cx="0" cy="0"/>
        </a:xfrm>
      </p:grpSpPr>
      <p:sp>
        <p:nvSpPr>
          <p:cNvPr id="72" name="Google Shape;72;p68"/>
          <p:cNvSpPr txBox="1">
            <a:spLocks noGrp="1"/>
          </p:cNvSpPr>
          <p:nvPr>
            <p:ph type="body" idx="1"/>
          </p:nvPr>
        </p:nvSpPr>
        <p:spPr>
          <a:xfrm>
            <a:off x="609600" y="2525517"/>
            <a:ext cx="10624100" cy="20464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accent1"/>
              </a:buClr>
              <a:buSzPts val="3200"/>
              <a:buFont typeface="Arial"/>
              <a:buNone/>
              <a:defRPr sz="3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73" name="Google Shape;73;p68"/>
          <p:cNvCxnSpPr/>
          <p:nvPr/>
        </p:nvCxnSpPr>
        <p:spPr>
          <a:xfrm>
            <a:off x="701950" y="2362200"/>
            <a:ext cx="10439400" cy="0"/>
          </a:xfrm>
          <a:prstGeom prst="straightConnector1">
            <a:avLst/>
          </a:prstGeom>
          <a:noFill/>
          <a:ln w="12700" cap="flat" cmpd="sng">
            <a:solidFill>
              <a:schemeClr val="accent6"/>
            </a:solidFill>
            <a:prstDash val="solid"/>
            <a:miter lim="800000"/>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ulti Column Text Layout">
  <p:cSld name="Multi Column Text Layout">
    <p:spTree>
      <p:nvGrpSpPr>
        <p:cNvPr id="1" name="Shape 74"/>
        <p:cNvGrpSpPr/>
        <p:nvPr/>
      </p:nvGrpSpPr>
      <p:grpSpPr>
        <a:xfrm>
          <a:off x="0" y="0"/>
          <a:ext cx="0" cy="0"/>
          <a:chOff x="0" y="0"/>
          <a:chExt cx="0" cy="0"/>
        </a:xfrm>
      </p:grpSpPr>
      <p:sp>
        <p:nvSpPr>
          <p:cNvPr id="75" name="Google Shape;75;p69"/>
          <p:cNvSpPr txBox="1">
            <a:spLocks noGrp="1"/>
          </p:cNvSpPr>
          <p:nvPr>
            <p:ph type="body" idx="1"/>
          </p:nvPr>
        </p:nvSpPr>
        <p:spPr>
          <a:xfrm>
            <a:off x="600075" y="1673352"/>
            <a:ext cx="2600325" cy="24479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FD5D3B"/>
              </a:buClr>
              <a:buSzPts val="3200"/>
              <a:buFont typeface="Arial"/>
              <a:buNone/>
              <a:defRPr sz="32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6" name="Google Shape;76;p69"/>
          <p:cNvSpPr txBox="1">
            <a:spLocks noGrp="1"/>
          </p:cNvSpPr>
          <p:nvPr>
            <p:ph type="body" idx="2"/>
          </p:nvPr>
        </p:nvSpPr>
        <p:spPr>
          <a:xfrm>
            <a:off x="3429000" y="1673352"/>
            <a:ext cx="3865775" cy="14508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77" name="Google Shape;77;p69"/>
          <p:cNvCxnSpPr/>
          <p:nvPr/>
        </p:nvCxnSpPr>
        <p:spPr>
          <a:xfrm>
            <a:off x="7467600" y="1673352"/>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78" name="Google Shape;78;p69"/>
          <p:cNvSpPr txBox="1">
            <a:spLocks noGrp="1"/>
          </p:cNvSpPr>
          <p:nvPr>
            <p:ph type="body" idx="3"/>
          </p:nvPr>
        </p:nvSpPr>
        <p:spPr>
          <a:xfrm>
            <a:off x="3429000" y="3200400"/>
            <a:ext cx="4038600"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69"/>
          <p:cNvSpPr txBox="1">
            <a:spLocks noGrp="1"/>
          </p:cNvSpPr>
          <p:nvPr>
            <p:ph type="body" idx="4"/>
          </p:nvPr>
        </p:nvSpPr>
        <p:spPr>
          <a:xfrm>
            <a:off x="7640425" y="1673352"/>
            <a:ext cx="3941975" cy="321061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69"/>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69"/>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352">
          <p15:clr>
            <a:srgbClr val="FBAE40"/>
          </p15:clr>
        </p15:guide>
        <p15:guide id="2" pos="432">
          <p15:clr>
            <a:srgbClr val="FBAE40"/>
          </p15:clr>
        </p15:guide>
        <p15:guide id="3" orient="horz" pos="11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Header &amp; Large Text Option 1">
  <p:cSld name="Header &amp; Large Text Option 1">
    <p:spTree>
      <p:nvGrpSpPr>
        <p:cNvPr id="1" name="Shape 82"/>
        <p:cNvGrpSpPr/>
        <p:nvPr/>
      </p:nvGrpSpPr>
      <p:grpSpPr>
        <a:xfrm>
          <a:off x="0" y="0"/>
          <a:ext cx="0" cy="0"/>
          <a:chOff x="0" y="0"/>
          <a:chExt cx="0" cy="0"/>
        </a:xfrm>
      </p:grpSpPr>
      <p:sp>
        <p:nvSpPr>
          <p:cNvPr id="83" name="Google Shape;83;p70"/>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70"/>
          <p:cNvSpPr txBox="1">
            <a:spLocks noGrp="1"/>
          </p:cNvSpPr>
          <p:nvPr>
            <p:ph type="body" idx="2"/>
          </p:nvPr>
        </p:nvSpPr>
        <p:spPr>
          <a:xfrm>
            <a:off x="3400931" y="3659580"/>
            <a:ext cx="8077200" cy="8454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70"/>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6" name="Google Shape;86;p70"/>
          <p:cNvSpPr txBox="1">
            <a:spLocks noGrp="1"/>
          </p:cNvSpPr>
          <p:nvPr>
            <p:ph type="body" idx="4"/>
          </p:nvPr>
        </p:nvSpPr>
        <p:spPr>
          <a:xfrm>
            <a:off x="3400931" y="1676400"/>
            <a:ext cx="8127777"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87" name="Google Shape;87;p70"/>
          <p:cNvCxnSpPr/>
          <p:nvPr/>
        </p:nvCxnSpPr>
        <p:spPr>
          <a:xfrm>
            <a:off x="3477131" y="3507180"/>
            <a:ext cx="8001000" cy="0"/>
          </a:xfrm>
          <a:prstGeom prst="straightConnector1">
            <a:avLst/>
          </a:prstGeom>
          <a:noFill/>
          <a:ln w="12700" cap="flat" cmpd="sng">
            <a:solidFill>
              <a:schemeClr val="accent6"/>
            </a:solidFill>
            <a:prstDash val="solid"/>
            <a:miter lim="800000"/>
            <a:headEnd type="none" w="sm" len="sm"/>
            <a:tailEnd type="none" w="sm" len="sm"/>
          </a:ln>
        </p:spPr>
      </p:cxnSp>
      <p:cxnSp>
        <p:nvCxnSpPr>
          <p:cNvPr id="88" name="Google Shape;88;p70"/>
          <p:cNvCxnSpPr/>
          <p:nvPr/>
        </p:nvCxnSpPr>
        <p:spPr>
          <a:xfrm>
            <a:off x="3477131" y="4650180"/>
            <a:ext cx="8001000" cy="0"/>
          </a:xfrm>
          <a:prstGeom prst="straightConnector1">
            <a:avLst/>
          </a:prstGeom>
          <a:noFill/>
          <a:ln w="12700" cap="flat" cmpd="sng">
            <a:solidFill>
              <a:schemeClr val="accent6"/>
            </a:solidFill>
            <a:prstDash val="solid"/>
            <a:miter lim="800000"/>
            <a:headEnd type="none" w="sm" len="sm"/>
            <a:tailEnd type="none" w="sm" len="sm"/>
          </a:ln>
        </p:spPr>
      </p:cxnSp>
      <p:sp>
        <p:nvSpPr>
          <p:cNvPr id="89" name="Google Shape;89;p70"/>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0" name="Google Shape;90;p70"/>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eader &amp; Large Text Option 2">
  <p:cSld name="Header &amp; Large Text Option 2">
    <p:spTree>
      <p:nvGrpSpPr>
        <p:cNvPr id="1" name="Shape 91"/>
        <p:cNvGrpSpPr/>
        <p:nvPr/>
      </p:nvGrpSpPr>
      <p:grpSpPr>
        <a:xfrm>
          <a:off x="0" y="0"/>
          <a:ext cx="0" cy="0"/>
          <a:chOff x="0" y="0"/>
          <a:chExt cx="0" cy="0"/>
        </a:xfrm>
      </p:grpSpPr>
      <p:sp>
        <p:nvSpPr>
          <p:cNvPr id="92" name="Google Shape;92;p71"/>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3" name="Google Shape;93;p71"/>
          <p:cNvSpPr txBox="1">
            <a:spLocks noGrp="1"/>
          </p:cNvSpPr>
          <p:nvPr>
            <p:ph type="body" idx="2"/>
          </p:nvPr>
        </p:nvSpPr>
        <p:spPr>
          <a:xfrm>
            <a:off x="3400931" y="3659580"/>
            <a:ext cx="80772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 name="Google Shape;94;p71"/>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5" name="Google Shape;95;p71"/>
          <p:cNvSpPr txBox="1">
            <a:spLocks noGrp="1"/>
          </p:cNvSpPr>
          <p:nvPr>
            <p:ph type="body" idx="4"/>
          </p:nvPr>
        </p:nvSpPr>
        <p:spPr>
          <a:xfrm>
            <a:off x="3400931" y="1676400"/>
            <a:ext cx="8127777"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6" name="Google Shape;96;p71"/>
          <p:cNvSpPr txBox="1">
            <a:spLocks noGrp="1"/>
          </p:cNvSpPr>
          <p:nvPr>
            <p:ph type="body" idx="5"/>
          </p:nvPr>
        </p:nvSpPr>
        <p:spPr>
          <a:xfrm>
            <a:off x="3400931" y="4300711"/>
            <a:ext cx="80772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4"/>
              </a:buClr>
              <a:buSzPts val="2400"/>
              <a:buFont typeface="Arial"/>
              <a:buNone/>
              <a:defRPr sz="2400" b="1" i="0" u="none" strike="noStrike" cap="none">
                <a:solidFill>
                  <a:schemeClr val="accent4"/>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7" name="Google Shape;97;p71"/>
          <p:cNvSpPr txBox="1">
            <a:spLocks noGrp="1"/>
          </p:cNvSpPr>
          <p:nvPr>
            <p:ph type="body" idx="6"/>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8" name="Google Shape;98;p71"/>
          <p:cNvSpPr txBox="1">
            <a:spLocks noGrp="1"/>
          </p:cNvSpPr>
          <p:nvPr>
            <p:ph type="body" idx="7"/>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General Two Column Text">
  <p:cSld name="General Two Column Text">
    <p:spTree>
      <p:nvGrpSpPr>
        <p:cNvPr id="1" name="Shape 99"/>
        <p:cNvGrpSpPr/>
        <p:nvPr/>
      </p:nvGrpSpPr>
      <p:grpSpPr>
        <a:xfrm>
          <a:off x="0" y="0"/>
          <a:ext cx="0" cy="0"/>
          <a:chOff x="0" y="0"/>
          <a:chExt cx="0" cy="0"/>
        </a:xfrm>
      </p:grpSpPr>
      <p:sp>
        <p:nvSpPr>
          <p:cNvPr id="100" name="Google Shape;100;p72"/>
          <p:cNvSpPr txBox="1">
            <a:spLocks noGrp="1"/>
          </p:cNvSpPr>
          <p:nvPr>
            <p:ph type="body" idx="1"/>
          </p:nvPr>
        </p:nvSpPr>
        <p:spPr>
          <a:xfrm>
            <a:off x="609981" y="1676400"/>
            <a:ext cx="4809745" cy="3925674"/>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000"/>
              </a:spcBef>
              <a:spcAft>
                <a:spcPts val="0"/>
              </a:spcAft>
              <a:buClr>
                <a:schemeClr val="accent1"/>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17500" algn="l" rtl="0">
              <a:lnSpc>
                <a:spcPct val="90000"/>
              </a:lnSpc>
              <a:spcBef>
                <a:spcPts val="5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1" name="Google Shape;101;p72"/>
          <p:cNvSpPr txBox="1">
            <a:spLocks noGrp="1"/>
          </p:cNvSpPr>
          <p:nvPr>
            <p:ph type="body" idx="2"/>
          </p:nvPr>
        </p:nvSpPr>
        <p:spPr>
          <a:xfrm>
            <a:off x="5557943" y="1676400"/>
            <a:ext cx="4809745" cy="3925674"/>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000"/>
              </a:spcBef>
              <a:spcAft>
                <a:spcPts val="0"/>
              </a:spcAft>
              <a:buClr>
                <a:schemeClr val="accent1"/>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17500" algn="l" rtl="0">
              <a:lnSpc>
                <a:spcPct val="90000"/>
              </a:lnSpc>
              <a:spcBef>
                <a:spcPts val="5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2" name="Google Shape;102;p72"/>
          <p:cNvSpPr txBox="1">
            <a:spLocks noGrp="1"/>
          </p:cNvSpPr>
          <p:nvPr>
            <p:ph type="body" idx="3"/>
          </p:nvPr>
        </p:nvSpPr>
        <p:spPr>
          <a:xfrm>
            <a:off x="609600" y="1371600"/>
            <a:ext cx="4810125"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400"/>
              <a:buFont typeface="Arial"/>
              <a:buNone/>
              <a:defRPr sz="1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3" name="Google Shape;103;p72"/>
          <p:cNvSpPr txBox="1">
            <a:spLocks noGrp="1"/>
          </p:cNvSpPr>
          <p:nvPr>
            <p:ph type="body" idx="4"/>
          </p:nvPr>
        </p:nvSpPr>
        <p:spPr>
          <a:xfrm>
            <a:off x="5557561" y="1371600"/>
            <a:ext cx="4810125"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400"/>
              <a:buFont typeface="Arial"/>
              <a:buNone/>
              <a:defRPr sz="1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 name="Google Shape;104;p72"/>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5" name="Google Shape;105;p72"/>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Column Grid">
  <p:cSld name="Three Column Grid">
    <p:spTree>
      <p:nvGrpSpPr>
        <p:cNvPr id="1" name="Shape 106"/>
        <p:cNvGrpSpPr/>
        <p:nvPr/>
      </p:nvGrpSpPr>
      <p:grpSpPr>
        <a:xfrm>
          <a:off x="0" y="0"/>
          <a:ext cx="0" cy="0"/>
          <a:chOff x="0" y="0"/>
          <a:chExt cx="0" cy="0"/>
        </a:xfrm>
      </p:grpSpPr>
      <p:sp>
        <p:nvSpPr>
          <p:cNvPr id="107" name="Google Shape;107;p73"/>
          <p:cNvSpPr/>
          <p:nvPr/>
        </p:nvSpPr>
        <p:spPr>
          <a:xfrm>
            <a:off x="8560629" y="1754124"/>
            <a:ext cx="2514600" cy="838200"/>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08" name="Google Shape;108;p73"/>
          <p:cNvSpPr txBox="1">
            <a:spLocks noGrp="1"/>
          </p:cNvSpPr>
          <p:nvPr>
            <p:ph type="body" idx="1"/>
          </p:nvPr>
        </p:nvSpPr>
        <p:spPr>
          <a:xfrm>
            <a:off x="8647942" y="1954149"/>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9" name="Google Shape;109;p73"/>
          <p:cNvSpPr/>
          <p:nvPr/>
        </p:nvSpPr>
        <p:spPr>
          <a:xfrm>
            <a:off x="4648200" y="1752600"/>
            <a:ext cx="2514600" cy="841248"/>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10" name="Google Shape;110;p73"/>
          <p:cNvSpPr txBox="1">
            <a:spLocks noGrp="1"/>
          </p:cNvSpPr>
          <p:nvPr>
            <p:ph type="body" idx="2"/>
          </p:nvPr>
        </p:nvSpPr>
        <p:spPr>
          <a:xfrm>
            <a:off x="4735513" y="1954149"/>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1" name="Google Shape;111;p73"/>
          <p:cNvSpPr/>
          <p:nvPr/>
        </p:nvSpPr>
        <p:spPr>
          <a:xfrm>
            <a:off x="685800" y="1754124"/>
            <a:ext cx="2514600" cy="838200"/>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12" name="Google Shape;112;p73"/>
          <p:cNvSpPr txBox="1">
            <a:spLocks noGrp="1"/>
          </p:cNvSpPr>
          <p:nvPr>
            <p:ph type="body" idx="3"/>
          </p:nvPr>
        </p:nvSpPr>
        <p:spPr>
          <a:xfrm>
            <a:off x="773113" y="1954149"/>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73"/>
          <p:cNvSpPr txBox="1">
            <a:spLocks noGrp="1"/>
          </p:cNvSpPr>
          <p:nvPr>
            <p:ph type="body" idx="4"/>
          </p:nvPr>
        </p:nvSpPr>
        <p:spPr>
          <a:xfrm>
            <a:off x="609600" y="381000"/>
            <a:ext cx="6714746"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4" name="Google Shape;114;p73"/>
          <p:cNvSpPr/>
          <p:nvPr/>
        </p:nvSpPr>
        <p:spPr>
          <a:xfrm>
            <a:off x="21156111" y="6136718"/>
            <a:ext cx="214161" cy="215444"/>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dirty="0">
              <a:solidFill>
                <a:srgbClr val="FFFFFF"/>
              </a:solidFill>
              <a:latin typeface="Calibri"/>
              <a:ea typeface="Calibri"/>
              <a:cs typeface="Calibri"/>
              <a:sym typeface="Calibri"/>
            </a:endParaRPr>
          </a:p>
        </p:txBody>
      </p:sp>
      <p:cxnSp>
        <p:nvCxnSpPr>
          <p:cNvPr id="115" name="Google Shape;115;p73"/>
          <p:cNvCxnSpPr/>
          <p:nvPr/>
        </p:nvCxnSpPr>
        <p:spPr>
          <a:xfrm>
            <a:off x="3891463" y="1787016"/>
            <a:ext cx="0" cy="3505200"/>
          </a:xfrm>
          <a:prstGeom prst="straightConnector1">
            <a:avLst/>
          </a:prstGeom>
          <a:solidFill>
            <a:schemeClr val="accent1"/>
          </a:solidFill>
          <a:ln w="12700" cap="flat" cmpd="sng">
            <a:solidFill>
              <a:schemeClr val="accent6"/>
            </a:solidFill>
            <a:prstDash val="solid"/>
            <a:round/>
            <a:headEnd type="none" w="sm" len="sm"/>
            <a:tailEnd type="none" w="sm" len="sm"/>
          </a:ln>
        </p:spPr>
      </p:cxnSp>
      <p:cxnSp>
        <p:nvCxnSpPr>
          <p:cNvPr id="116" name="Google Shape;116;p73"/>
          <p:cNvCxnSpPr/>
          <p:nvPr/>
        </p:nvCxnSpPr>
        <p:spPr>
          <a:xfrm>
            <a:off x="7871792" y="1787016"/>
            <a:ext cx="0" cy="3505200"/>
          </a:xfrm>
          <a:prstGeom prst="straightConnector1">
            <a:avLst/>
          </a:prstGeom>
          <a:solidFill>
            <a:schemeClr val="accent1"/>
          </a:solidFill>
          <a:ln w="12700" cap="flat" cmpd="sng">
            <a:solidFill>
              <a:schemeClr val="accent6"/>
            </a:solidFill>
            <a:prstDash val="solid"/>
            <a:round/>
            <a:headEnd type="none" w="sm" len="sm"/>
            <a:tailEnd type="none" w="sm" len="sm"/>
          </a:ln>
        </p:spPr>
      </p:cxnSp>
      <p:cxnSp>
        <p:nvCxnSpPr>
          <p:cNvPr id="117" name="Google Shape;117;p73"/>
          <p:cNvCxnSpPr/>
          <p:nvPr/>
        </p:nvCxnSpPr>
        <p:spPr>
          <a:xfrm>
            <a:off x="914400" y="4038600"/>
            <a:ext cx="2057400" cy="0"/>
          </a:xfrm>
          <a:prstGeom prst="straightConnector1">
            <a:avLst/>
          </a:prstGeom>
          <a:solidFill>
            <a:schemeClr val="accent1"/>
          </a:solidFill>
          <a:ln w="9525" cap="flat" cmpd="sng">
            <a:solidFill>
              <a:schemeClr val="accent6"/>
            </a:solidFill>
            <a:prstDash val="solid"/>
            <a:round/>
            <a:headEnd type="none" w="sm" len="sm"/>
            <a:tailEnd type="none" w="sm" len="sm"/>
          </a:ln>
        </p:spPr>
      </p:cxnSp>
      <p:cxnSp>
        <p:nvCxnSpPr>
          <p:cNvPr id="118" name="Google Shape;118;p73"/>
          <p:cNvCxnSpPr/>
          <p:nvPr/>
        </p:nvCxnSpPr>
        <p:spPr>
          <a:xfrm>
            <a:off x="4876800" y="4038600"/>
            <a:ext cx="2057400" cy="0"/>
          </a:xfrm>
          <a:prstGeom prst="straightConnector1">
            <a:avLst/>
          </a:prstGeom>
          <a:solidFill>
            <a:schemeClr val="accent1"/>
          </a:solidFill>
          <a:ln w="9525" cap="flat" cmpd="sng">
            <a:solidFill>
              <a:schemeClr val="accent6"/>
            </a:solidFill>
            <a:prstDash val="solid"/>
            <a:round/>
            <a:headEnd type="none" w="sm" len="sm"/>
            <a:tailEnd type="none" w="sm" len="sm"/>
          </a:ln>
        </p:spPr>
      </p:cxnSp>
      <p:cxnSp>
        <p:nvCxnSpPr>
          <p:cNvPr id="119" name="Google Shape;119;p73"/>
          <p:cNvCxnSpPr/>
          <p:nvPr/>
        </p:nvCxnSpPr>
        <p:spPr>
          <a:xfrm>
            <a:off x="8789229" y="4038600"/>
            <a:ext cx="2057400" cy="0"/>
          </a:xfrm>
          <a:prstGeom prst="straightConnector1">
            <a:avLst/>
          </a:prstGeom>
          <a:solidFill>
            <a:schemeClr val="accent1"/>
          </a:solidFill>
          <a:ln w="9525" cap="flat" cmpd="sng">
            <a:solidFill>
              <a:schemeClr val="accent6"/>
            </a:solidFill>
            <a:prstDash val="solid"/>
            <a:round/>
            <a:headEnd type="none" w="sm" len="sm"/>
            <a:tailEnd type="none" w="sm" len="sm"/>
          </a:ln>
        </p:spPr>
      </p:cxnSp>
      <p:sp>
        <p:nvSpPr>
          <p:cNvPr id="120" name="Google Shape;120;p73"/>
          <p:cNvSpPr txBox="1">
            <a:spLocks noGrp="1"/>
          </p:cNvSpPr>
          <p:nvPr>
            <p:ph type="body" idx="5"/>
          </p:nvPr>
        </p:nvSpPr>
        <p:spPr>
          <a:xfrm>
            <a:off x="742252" y="2853955"/>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1" name="Google Shape;121;p73"/>
          <p:cNvSpPr txBox="1">
            <a:spLocks noGrp="1"/>
          </p:cNvSpPr>
          <p:nvPr>
            <p:ph type="body" idx="6"/>
          </p:nvPr>
        </p:nvSpPr>
        <p:spPr>
          <a:xfrm>
            <a:off x="742252" y="4358098"/>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2" name="Google Shape;122;p73"/>
          <p:cNvSpPr txBox="1">
            <a:spLocks noGrp="1"/>
          </p:cNvSpPr>
          <p:nvPr>
            <p:ph type="body" idx="7"/>
          </p:nvPr>
        </p:nvSpPr>
        <p:spPr>
          <a:xfrm>
            <a:off x="4704652" y="2853955"/>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3" name="Google Shape;123;p73"/>
          <p:cNvSpPr txBox="1">
            <a:spLocks noGrp="1"/>
          </p:cNvSpPr>
          <p:nvPr>
            <p:ph type="body" idx="8"/>
          </p:nvPr>
        </p:nvSpPr>
        <p:spPr>
          <a:xfrm>
            <a:off x="4704652" y="4358098"/>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73"/>
          <p:cNvSpPr txBox="1">
            <a:spLocks noGrp="1"/>
          </p:cNvSpPr>
          <p:nvPr>
            <p:ph type="body" idx="9"/>
          </p:nvPr>
        </p:nvSpPr>
        <p:spPr>
          <a:xfrm>
            <a:off x="8617081" y="2853955"/>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73"/>
          <p:cNvSpPr txBox="1">
            <a:spLocks noGrp="1"/>
          </p:cNvSpPr>
          <p:nvPr>
            <p:ph type="body" idx="13"/>
          </p:nvPr>
        </p:nvSpPr>
        <p:spPr>
          <a:xfrm>
            <a:off x="8617081" y="4358098"/>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73"/>
          <p:cNvSpPr txBox="1">
            <a:spLocks noGrp="1"/>
          </p:cNvSpPr>
          <p:nvPr>
            <p:ph type="body" idx="14"/>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Column Layout">
  <p:cSld name="Four Column Layout">
    <p:spTree>
      <p:nvGrpSpPr>
        <p:cNvPr id="1" name="Shape 127"/>
        <p:cNvGrpSpPr/>
        <p:nvPr/>
      </p:nvGrpSpPr>
      <p:grpSpPr>
        <a:xfrm>
          <a:off x="0" y="0"/>
          <a:ext cx="0" cy="0"/>
          <a:chOff x="0" y="0"/>
          <a:chExt cx="0" cy="0"/>
        </a:xfrm>
      </p:grpSpPr>
      <p:sp>
        <p:nvSpPr>
          <p:cNvPr id="128" name="Google Shape;128;p74"/>
          <p:cNvSpPr/>
          <p:nvPr/>
        </p:nvSpPr>
        <p:spPr>
          <a:xfrm>
            <a:off x="8521686" y="2108774"/>
            <a:ext cx="2257455" cy="371705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29" name="Google Shape;129;p74"/>
          <p:cNvSpPr/>
          <p:nvPr/>
        </p:nvSpPr>
        <p:spPr>
          <a:xfrm>
            <a:off x="8521686" y="1600200"/>
            <a:ext cx="2257455" cy="512486"/>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30" name="Google Shape;130;p74"/>
          <p:cNvSpPr/>
          <p:nvPr/>
        </p:nvSpPr>
        <p:spPr>
          <a:xfrm>
            <a:off x="5930886" y="2108774"/>
            <a:ext cx="2257455" cy="371705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31" name="Google Shape;131;p74"/>
          <p:cNvSpPr/>
          <p:nvPr/>
        </p:nvSpPr>
        <p:spPr>
          <a:xfrm>
            <a:off x="5930886" y="1600200"/>
            <a:ext cx="2257455" cy="512486"/>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32" name="Google Shape;132;p74"/>
          <p:cNvSpPr/>
          <p:nvPr/>
        </p:nvSpPr>
        <p:spPr>
          <a:xfrm>
            <a:off x="3340086" y="2108774"/>
            <a:ext cx="2257455" cy="371705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33" name="Google Shape;133;p74"/>
          <p:cNvSpPr/>
          <p:nvPr/>
        </p:nvSpPr>
        <p:spPr>
          <a:xfrm>
            <a:off x="3340086" y="1600200"/>
            <a:ext cx="2257455" cy="512486"/>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34" name="Google Shape;134;p74"/>
          <p:cNvSpPr/>
          <p:nvPr/>
        </p:nvSpPr>
        <p:spPr>
          <a:xfrm>
            <a:off x="715477" y="2116598"/>
            <a:ext cx="2257455" cy="371705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35" name="Google Shape;135;p74"/>
          <p:cNvSpPr/>
          <p:nvPr/>
        </p:nvSpPr>
        <p:spPr>
          <a:xfrm>
            <a:off x="715477" y="1600200"/>
            <a:ext cx="2257455" cy="512486"/>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136" name="Google Shape;136;p74"/>
          <p:cNvSpPr txBox="1">
            <a:spLocks noGrp="1"/>
          </p:cNvSpPr>
          <p:nvPr>
            <p:ph type="body" idx="1"/>
          </p:nvPr>
        </p:nvSpPr>
        <p:spPr>
          <a:xfrm>
            <a:off x="666766" y="1637368"/>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7" name="Google Shape;137;p74"/>
          <p:cNvSpPr txBox="1">
            <a:spLocks noGrp="1"/>
          </p:cNvSpPr>
          <p:nvPr>
            <p:ph type="body" idx="2"/>
          </p:nvPr>
        </p:nvSpPr>
        <p:spPr>
          <a:xfrm>
            <a:off x="609600" y="381000"/>
            <a:ext cx="8010145"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8" name="Google Shape;138;p74"/>
          <p:cNvSpPr/>
          <p:nvPr/>
        </p:nvSpPr>
        <p:spPr>
          <a:xfrm>
            <a:off x="21156111" y="5987298"/>
            <a:ext cx="214161" cy="215444"/>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dirty="0">
              <a:solidFill>
                <a:srgbClr val="FFFFFF"/>
              </a:solidFill>
              <a:latin typeface="Calibri"/>
              <a:ea typeface="Calibri"/>
              <a:cs typeface="Calibri"/>
              <a:sym typeface="Calibri"/>
            </a:endParaRPr>
          </a:p>
        </p:txBody>
      </p:sp>
      <p:sp>
        <p:nvSpPr>
          <p:cNvPr id="139" name="Google Shape;139;p74"/>
          <p:cNvSpPr txBox="1">
            <a:spLocks noGrp="1"/>
          </p:cNvSpPr>
          <p:nvPr>
            <p:ph type="body" idx="3"/>
          </p:nvPr>
        </p:nvSpPr>
        <p:spPr>
          <a:xfrm>
            <a:off x="889057" y="243625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0" name="Google Shape;140;p74"/>
          <p:cNvSpPr txBox="1">
            <a:spLocks noGrp="1"/>
          </p:cNvSpPr>
          <p:nvPr>
            <p:ph type="body" idx="4"/>
          </p:nvPr>
        </p:nvSpPr>
        <p:spPr>
          <a:xfrm>
            <a:off x="3293719" y="163541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1" name="Google Shape;141;p74"/>
          <p:cNvSpPr txBox="1">
            <a:spLocks noGrp="1"/>
          </p:cNvSpPr>
          <p:nvPr>
            <p:ph type="body" idx="5"/>
          </p:nvPr>
        </p:nvSpPr>
        <p:spPr>
          <a:xfrm>
            <a:off x="5889625" y="163541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2" name="Google Shape;142;p74"/>
          <p:cNvSpPr txBox="1">
            <a:spLocks noGrp="1"/>
          </p:cNvSpPr>
          <p:nvPr>
            <p:ph type="body" idx="6"/>
          </p:nvPr>
        </p:nvSpPr>
        <p:spPr>
          <a:xfrm>
            <a:off x="8480425" y="163541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3" name="Google Shape;143;p74"/>
          <p:cNvSpPr txBox="1">
            <a:spLocks noGrp="1"/>
          </p:cNvSpPr>
          <p:nvPr>
            <p:ph type="body" idx="7"/>
          </p:nvPr>
        </p:nvSpPr>
        <p:spPr>
          <a:xfrm>
            <a:off x="3516010" y="243625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4" name="Google Shape;144;p74"/>
          <p:cNvSpPr txBox="1">
            <a:spLocks noGrp="1"/>
          </p:cNvSpPr>
          <p:nvPr>
            <p:ph type="body" idx="8"/>
          </p:nvPr>
        </p:nvSpPr>
        <p:spPr>
          <a:xfrm>
            <a:off x="6111916" y="243625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5" name="Google Shape;145;p74"/>
          <p:cNvSpPr txBox="1">
            <a:spLocks noGrp="1"/>
          </p:cNvSpPr>
          <p:nvPr>
            <p:ph type="body" idx="9"/>
          </p:nvPr>
        </p:nvSpPr>
        <p:spPr>
          <a:xfrm>
            <a:off x="8702716" y="243625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6" name="Google Shape;146;p74"/>
          <p:cNvSpPr txBox="1">
            <a:spLocks noGrp="1"/>
          </p:cNvSpPr>
          <p:nvPr>
            <p:ph type="body" idx="13"/>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Column Layout + Footer Text">
  <p:cSld name="Four Column Layout + Footer Text">
    <p:spTree>
      <p:nvGrpSpPr>
        <p:cNvPr id="1" name="Shape 147"/>
        <p:cNvGrpSpPr/>
        <p:nvPr/>
      </p:nvGrpSpPr>
      <p:grpSpPr>
        <a:xfrm>
          <a:off x="0" y="0"/>
          <a:ext cx="0" cy="0"/>
          <a:chOff x="0" y="0"/>
          <a:chExt cx="0" cy="0"/>
        </a:xfrm>
      </p:grpSpPr>
      <p:sp>
        <p:nvSpPr>
          <p:cNvPr id="148" name="Google Shape;148;p75"/>
          <p:cNvSpPr/>
          <p:nvPr/>
        </p:nvSpPr>
        <p:spPr>
          <a:xfrm>
            <a:off x="8521686" y="2258194"/>
            <a:ext cx="2257455" cy="239000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accent5"/>
              </a:solidFill>
              <a:latin typeface="Calibri"/>
              <a:ea typeface="Calibri"/>
              <a:cs typeface="Calibri"/>
              <a:sym typeface="Calibri"/>
            </a:endParaRPr>
          </a:p>
        </p:txBody>
      </p:sp>
      <p:sp>
        <p:nvSpPr>
          <p:cNvPr id="149" name="Google Shape;149;p75"/>
          <p:cNvSpPr/>
          <p:nvPr/>
        </p:nvSpPr>
        <p:spPr>
          <a:xfrm>
            <a:off x="8521686" y="1749620"/>
            <a:ext cx="2257455" cy="512486"/>
          </a:xfrm>
          <a:prstGeom prst="rect">
            <a:avLst/>
          </a:prstGeom>
          <a:solidFill>
            <a:schemeClr val="accent1"/>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DM Sans"/>
              <a:ea typeface="DM Sans"/>
              <a:cs typeface="DM Sans"/>
              <a:sym typeface="DM Sans"/>
            </a:endParaRPr>
          </a:p>
        </p:txBody>
      </p:sp>
      <p:sp>
        <p:nvSpPr>
          <p:cNvPr id="150" name="Google Shape;150;p75"/>
          <p:cNvSpPr/>
          <p:nvPr/>
        </p:nvSpPr>
        <p:spPr>
          <a:xfrm>
            <a:off x="5930886" y="2258194"/>
            <a:ext cx="2257455" cy="239000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accent5"/>
              </a:solidFill>
              <a:latin typeface="Calibri"/>
              <a:ea typeface="Calibri"/>
              <a:cs typeface="Calibri"/>
              <a:sym typeface="Calibri"/>
            </a:endParaRPr>
          </a:p>
        </p:txBody>
      </p:sp>
      <p:sp>
        <p:nvSpPr>
          <p:cNvPr id="151" name="Google Shape;151;p75"/>
          <p:cNvSpPr/>
          <p:nvPr/>
        </p:nvSpPr>
        <p:spPr>
          <a:xfrm>
            <a:off x="5930886" y="1749620"/>
            <a:ext cx="2257455" cy="512486"/>
          </a:xfrm>
          <a:prstGeom prst="rect">
            <a:avLst/>
          </a:prstGeom>
          <a:solidFill>
            <a:schemeClr val="accent1"/>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DM Sans"/>
              <a:ea typeface="DM Sans"/>
              <a:cs typeface="DM Sans"/>
              <a:sym typeface="DM Sans"/>
            </a:endParaRPr>
          </a:p>
        </p:txBody>
      </p:sp>
      <p:sp>
        <p:nvSpPr>
          <p:cNvPr id="152" name="Google Shape;152;p75"/>
          <p:cNvSpPr/>
          <p:nvPr/>
        </p:nvSpPr>
        <p:spPr>
          <a:xfrm>
            <a:off x="3340086" y="2258194"/>
            <a:ext cx="2257455" cy="239000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accent5"/>
              </a:solidFill>
              <a:latin typeface="Calibri"/>
              <a:ea typeface="Calibri"/>
              <a:cs typeface="Calibri"/>
              <a:sym typeface="Calibri"/>
            </a:endParaRPr>
          </a:p>
        </p:txBody>
      </p:sp>
      <p:sp>
        <p:nvSpPr>
          <p:cNvPr id="153" name="Google Shape;153;p75"/>
          <p:cNvSpPr/>
          <p:nvPr/>
        </p:nvSpPr>
        <p:spPr>
          <a:xfrm>
            <a:off x="3340086" y="1749620"/>
            <a:ext cx="2257455" cy="512486"/>
          </a:xfrm>
          <a:prstGeom prst="rect">
            <a:avLst/>
          </a:prstGeom>
          <a:solidFill>
            <a:schemeClr val="accent1"/>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DM Sans"/>
              <a:ea typeface="DM Sans"/>
              <a:cs typeface="DM Sans"/>
              <a:sym typeface="DM Sans"/>
            </a:endParaRPr>
          </a:p>
        </p:txBody>
      </p:sp>
      <p:sp>
        <p:nvSpPr>
          <p:cNvPr id="154" name="Google Shape;154;p75"/>
          <p:cNvSpPr/>
          <p:nvPr/>
        </p:nvSpPr>
        <p:spPr>
          <a:xfrm>
            <a:off x="715477" y="2266018"/>
            <a:ext cx="2257455" cy="2382182"/>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accent5"/>
              </a:solidFill>
              <a:latin typeface="Calibri"/>
              <a:ea typeface="Calibri"/>
              <a:cs typeface="Calibri"/>
              <a:sym typeface="Calibri"/>
            </a:endParaRPr>
          </a:p>
        </p:txBody>
      </p:sp>
      <p:sp>
        <p:nvSpPr>
          <p:cNvPr id="155" name="Google Shape;155;p75"/>
          <p:cNvSpPr/>
          <p:nvPr/>
        </p:nvSpPr>
        <p:spPr>
          <a:xfrm>
            <a:off x="715477" y="1749620"/>
            <a:ext cx="2257455" cy="512486"/>
          </a:xfrm>
          <a:prstGeom prst="rect">
            <a:avLst/>
          </a:prstGeom>
          <a:solidFill>
            <a:schemeClr val="accent1"/>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DM Sans"/>
              <a:ea typeface="DM Sans"/>
              <a:cs typeface="DM Sans"/>
              <a:sym typeface="DM Sans"/>
            </a:endParaRPr>
          </a:p>
        </p:txBody>
      </p:sp>
      <p:sp>
        <p:nvSpPr>
          <p:cNvPr id="156" name="Google Shape;156;p75"/>
          <p:cNvSpPr txBox="1">
            <a:spLocks noGrp="1"/>
          </p:cNvSpPr>
          <p:nvPr>
            <p:ph type="body" idx="1"/>
          </p:nvPr>
        </p:nvSpPr>
        <p:spPr>
          <a:xfrm>
            <a:off x="666766" y="178483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7" name="Google Shape;157;p75"/>
          <p:cNvSpPr/>
          <p:nvPr/>
        </p:nvSpPr>
        <p:spPr>
          <a:xfrm>
            <a:off x="21156111" y="6136718"/>
            <a:ext cx="214161" cy="215444"/>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dirty="0">
              <a:solidFill>
                <a:srgbClr val="FFFFFF"/>
              </a:solidFill>
              <a:latin typeface="Calibri"/>
              <a:ea typeface="Calibri"/>
              <a:cs typeface="Calibri"/>
              <a:sym typeface="Calibri"/>
            </a:endParaRPr>
          </a:p>
        </p:txBody>
      </p:sp>
      <p:sp>
        <p:nvSpPr>
          <p:cNvPr id="158" name="Google Shape;158;p75"/>
          <p:cNvSpPr txBox="1">
            <a:spLocks noGrp="1"/>
          </p:cNvSpPr>
          <p:nvPr>
            <p:ph type="body" idx="2"/>
          </p:nvPr>
        </p:nvSpPr>
        <p:spPr>
          <a:xfrm>
            <a:off x="889057" y="258567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9" name="Google Shape;159;p75"/>
          <p:cNvSpPr txBox="1">
            <a:spLocks noGrp="1"/>
          </p:cNvSpPr>
          <p:nvPr>
            <p:ph type="body" idx="3"/>
          </p:nvPr>
        </p:nvSpPr>
        <p:spPr>
          <a:xfrm>
            <a:off x="3293719" y="178483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0" name="Google Shape;160;p75"/>
          <p:cNvSpPr txBox="1">
            <a:spLocks noGrp="1"/>
          </p:cNvSpPr>
          <p:nvPr>
            <p:ph type="body" idx="4"/>
          </p:nvPr>
        </p:nvSpPr>
        <p:spPr>
          <a:xfrm>
            <a:off x="5889625" y="178483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1" name="Google Shape;161;p75"/>
          <p:cNvSpPr txBox="1">
            <a:spLocks noGrp="1"/>
          </p:cNvSpPr>
          <p:nvPr>
            <p:ph type="body" idx="5"/>
          </p:nvPr>
        </p:nvSpPr>
        <p:spPr>
          <a:xfrm>
            <a:off x="8480425" y="178483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2" name="Google Shape;162;p75"/>
          <p:cNvSpPr txBox="1">
            <a:spLocks noGrp="1"/>
          </p:cNvSpPr>
          <p:nvPr>
            <p:ph type="body" idx="6"/>
          </p:nvPr>
        </p:nvSpPr>
        <p:spPr>
          <a:xfrm>
            <a:off x="3516010" y="258567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3" name="Google Shape;163;p75"/>
          <p:cNvSpPr txBox="1">
            <a:spLocks noGrp="1"/>
          </p:cNvSpPr>
          <p:nvPr>
            <p:ph type="body" idx="7"/>
          </p:nvPr>
        </p:nvSpPr>
        <p:spPr>
          <a:xfrm>
            <a:off x="6111916" y="258567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4" name="Google Shape;164;p75"/>
          <p:cNvSpPr txBox="1">
            <a:spLocks noGrp="1"/>
          </p:cNvSpPr>
          <p:nvPr>
            <p:ph type="body" idx="8"/>
          </p:nvPr>
        </p:nvSpPr>
        <p:spPr>
          <a:xfrm>
            <a:off x="8702716" y="258567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5" name="Google Shape;165;p75"/>
          <p:cNvSpPr txBox="1">
            <a:spLocks noGrp="1"/>
          </p:cNvSpPr>
          <p:nvPr>
            <p:ph type="body" idx="9"/>
          </p:nvPr>
        </p:nvSpPr>
        <p:spPr>
          <a:xfrm>
            <a:off x="720741" y="5638800"/>
            <a:ext cx="10058400" cy="457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accent4"/>
              </a:buClr>
              <a:buSzPts val="2800"/>
              <a:buFont typeface="Arial"/>
              <a:buChar char="•"/>
              <a:defRPr sz="2800" b="0" i="0" u="none" strike="noStrike" cap="none">
                <a:solidFill>
                  <a:schemeClr val="accent4"/>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6" name="Google Shape;166;p75"/>
          <p:cNvSpPr txBox="1">
            <a:spLocks noGrp="1"/>
          </p:cNvSpPr>
          <p:nvPr>
            <p:ph type="body" idx="13"/>
          </p:nvPr>
        </p:nvSpPr>
        <p:spPr>
          <a:xfrm>
            <a:off x="720741" y="4910665"/>
            <a:ext cx="10058400" cy="72813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2800"/>
              <a:buFont typeface="Arial"/>
              <a:buNone/>
              <a:defRPr sz="28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7" name="Google Shape;167;p75"/>
          <p:cNvSpPr txBox="1">
            <a:spLocks noGrp="1"/>
          </p:cNvSpPr>
          <p:nvPr>
            <p:ph type="body" idx="14"/>
          </p:nvPr>
        </p:nvSpPr>
        <p:spPr>
          <a:xfrm>
            <a:off x="600455" y="381000"/>
            <a:ext cx="8010145"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8" name="Google Shape;168;p75"/>
          <p:cNvSpPr txBox="1">
            <a:spLocks noGrp="1"/>
          </p:cNvSpPr>
          <p:nvPr>
            <p:ph type="body" idx="15"/>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lumn Layout">
  <p:cSld name="Two Column Layout">
    <p:spTree>
      <p:nvGrpSpPr>
        <p:cNvPr id="1" name="Shape 169"/>
        <p:cNvGrpSpPr/>
        <p:nvPr/>
      </p:nvGrpSpPr>
      <p:grpSpPr>
        <a:xfrm>
          <a:off x="0" y="0"/>
          <a:ext cx="0" cy="0"/>
          <a:chOff x="0" y="0"/>
          <a:chExt cx="0" cy="0"/>
        </a:xfrm>
      </p:grpSpPr>
      <p:sp>
        <p:nvSpPr>
          <p:cNvPr id="170" name="Google Shape;170;p76"/>
          <p:cNvSpPr/>
          <p:nvPr/>
        </p:nvSpPr>
        <p:spPr>
          <a:xfrm>
            <a:off x="2204302" y="2095011"/>
            <a:ext cx="4000555" cy="8518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DM Sans"/>
              <a:ea typeface="DM Sans"/>
              <a:cs typeface="DM Sans"/>
              <a:sym typeface="DM Sans"/>
            </a:endParaRPr>
          </a:p>
        </p:txBody>
      </p:sp>
      <p:sp>
        <p:nvSpPr>
          <p:cNvPr id="171" name="Google Shape;171;p76"/>
          <p:cNvSpPr txBox="1">
            <a:spLocks noGrp="1"/>
          </p:cNvSpPr>
          <p:nvPr>
            <p:ph type="body" idx="1"/>
          </p:nvPr>
        </p:nvSpPr>
        <p:spPr>
          <a:xfrm>
            <a:off x="2451549" y="2235692"/>
            <a:ext cx="3421062" cy="685800"/>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2" name="Google Shape;172;p76"/>
          <p:cNvSpPr/>
          <p:nvPr/>
        </p:nvSpPr>
        <p:spPr>
          <a:xfrm>
            <a:off x="2204302" y="3031183"/>
            <a:ext cx="4000555" cy="113804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DM Sans"/>
              <a:ea typeface="DM Sans"/>
              <a:cs typeface="DM Sans"/>
              <a:sym typeface="DM Sans"/>
            </a:endParaRPr>
          </a:p>
        </p:txBody>
      </p:sp>
      <p:sp>
        <p:nvSpPr>
          <p:cNvPr id="173" name="Google Shape;173;p76"/>
          <p:cNvSpPr txBox="1">
            <a:spLocks noGrp="1"/>
          </p:cNvSpPr>
          <p:nvPr>
            <p:ph type="body" idx="2"/>
          </p:nvPr>
        </p:nvSpPr>
        <p:spPr>
          <a:xfrm>
            <a:off x="2451550" y="3120228"/>
            <a:ext cx="3421474" cy="940427"/>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4" name="Google Shape;174;p76"/>
          <p:cNvSpPr/>
          <p:nvPr/>
        </p:nvSpPr>
        <p:spPr>
          <a:xfrm>
            <a:off x="2204302" y="4261269"/>
            <a:ext cx="4000555" cy="19295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DM Sans"/>
              <a:ea typeface="DM Sans"/>
              <a:cs typeface="DM Sans"/>
              <a:sym typeface="DM Sans"/>
            </a:endParaRPr>
          </a:p>
        </p:txBody>
      </p:sp>
      <p:sp>
        <p:nvSpPr>
          <p:cNvPr id="175" name="Google Shape;175;p76"/>
          <p:cNvSpPr txBox="1">
            <a:spLocks noGrp="1"/>
          </p:cNvSpPr>
          <p:nvPr>
            <p:ph type="body" idx="3"/>
          </p:nvPr>
        </p:nvSpPr>
        <p:spPr>
          <a:xfrm>
            <a:off x="2451550" y="4347733"/>
            <a:ext cx="3421473" cy="1635341"/>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6" name="Google Shape;176;p76"/>
          <p:cNvSpPr/>
          <p:nvPr/>
        </p:nvSpPr>
        <p:spPr>
          <a:xfrm>
            <a:off x="6286445" y="2095011"/>
            <a:ext cx="4000555" cy="8518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DM Sans"/>
              <a:ea typeface="DM Sans"/>
              <a:cs typeface="DM Sans"/>
              <a:sym typeface="DM Sans"/>
            </a:endParaRPr>
          </a:p>
        </p:txBody>
      </p:sp>
      <p:sp>
        <p:nvSpPr>
          <p:cNvPr id="177" name="Google Shape;177;p76"/>
          <p:cNvSpPr txBox="1">
            <a:spLocks noGrp="1"/>
          </p:cNvSpPr>
          <p:nvPr>
            <p:ph type="body" idx="4"/>
          </p:nvPr>
        </p:nvSpPr>
        <p:spPr>
          <a:xfrm>
            <a:off x="6452104" y="2219981"/>
            <a:ext cx="3459520" cy="701512"/>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8" name="Google Shape;178;p76"/>
          <p:cNvSpPr/>
          <p:nvPr/>
        </p:nvSpPr>
        <p:spPr>
          <a:xfrm>
            <a:off x="6286445" y="3031183"/>
            <a:ext cx="4000555" cy="113804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DM Sans"/>
              <a:ea typeface="DM Sans"/>
              <a:cs typeface="DM Sans"/>
              <a:sym typeface="DM Sans"/>
            </a:endParaRPr>
          </a:p>
        </p:txBody>
      </p:sp>
      <p:sp>
        <p:nvSpPr>
          <p:cNvPr id="179" name="Google Shape;179;p76"/>
          <p:cNvSpPr txBox="1">
            <a:spLocks noGrp="1"/>
          </p:cNvSpPr>
          <p:nvPr>
            <p:ph type="body" idx="5"/>
          </p:nvPr>
        </p:nvSpPr>
        <p:spPr>
          <a:xfrm>
            <a:off x="6452104" y="3120228"/>
            <a:ext cx="3459520" cy="940427"/>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0" name="Google Shape;180;p76"/>
          <p:cNvSpPr/>
          <p:nvPr/>
        </p:nvSpPr>
        <p:spPr>
          <a:xfrm>
            <a:off x="6286445" y="4261269"/>
            <a:ext cx="4000555" cy="19295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DM Sans"/>
              <a:ea typeface="DM Sans"/>
              <a:cs typeface="DM Sans"/>
              <a:sym typeface="DM Sans"/>
            </a:endParaRPr>
          </a:p>
        </p:txBody>
      </p:sp>
      <p:sp>
        <p:nvSpPr>
          <p:cNvPr id="181" name="Google Shape;181;p76"/>
          <p:cNvSpPr txBox="1">
            <a:spLocks noGrp="1"/>
          </p:cNvSpPr>
          <p:nvPr>
            <p:ph type="body" idx="6"/>
          </p:nvPr>
        </p:nvSpPr>
        <p:spPr>
          <a:xfrm>
            <a:off x="6452104" y="4357691"/>
            <a:ext cx="3459520" cy="1625383"/>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2" name="Google Shape;182;p76"/>
          <p:cNvSpPr txBox="1">
            <a:spLocks noGrp="1"/>
          </p:cNvSpPr>
          <p:nvPr>
            <p:ph type="body" idx="7"/>
          </p:nvPr>
        </p:nvSpPr>
        <p:spPr>
          <a:xfrm>
            <a:off x="338228" y="4294220"/>
            <a:ext cx="1577975" cy="685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3" name="Google Shape;183;p76"/>
          <p:cNvSpPr txBox="1">
            <a:spLocks noGrp="1"/>
          </p:cNvSpPr>
          <p:nvPr>
            <p:ph type="body" idx="8"/>
          </p:nvPr>
        </p:nvSpPr>
        <p:spPr>
          <a:xfrm>
            <a:off x="338228" y="3067737"/>
            <a:ext cx="1577975" cy="685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4" name="Google Shape;184;p76"/>
          <p:cNvSpPr txBox="1">
            <a:spLocks noGrp="1"/>
          </p:cNvSpPr>
          <p:nvPr>
            <p:ph type="body" idx="9"/>
          </p:nvPr>
        </p:nvSpPr>
        <p:spPr>
          <a:xfrm>
            <a:off x="338228" y="2137784"/>
            <a:ext cx="1577975" cy="685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5" name="Google Shape;185;p76"/>
          <p:cNvSpPr/>
          <p:nvPr/>
        </p:nvSpPr>
        <p:spPr>
          <a:xfrm>
            <a:off x="6286444" y="1373538"/>
            <a:ext cx="4000555" cy="56666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DM Sans"/>
              <a:ea typeface="DM Sans"/>
              <a:cs typeface="DM Sans"/>
              <a:sym typeface="DM Sans"/>
            </a:endParaRPr>
          </a:p>
        </p:txBody>
      </p:sp>
      <p:sp>
        <p:nvSpPr>
          <p:cNvPr id="186" name="Google Shape;186;p76"/>
          <p:cNvSpPr txBox="1">
            <a:spLocks noGrp="1"/>
          </p:cNvSpPr>
          <p:nvPr>
            <p:ph type="body" idx="13"/>
          </p:nvPr>
        </p:nvSpPr>
        <p:spPr>
          <a:xfrm>
            <a:off x="6635023" y="1517966"/>
            <a:ext cx="3341687" cy="27781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7" name="Google Shape;187;p76"/>
          <p:cNvSpPr/>
          <p:nvPr/>
        </p:nvSpPr>
        <p:spPr>
          <a:xfrm>
            <a:off x="2204302" y="1373538"/>
            <a:ext cx="4000555" cy="56666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FFFFFF"/>
              </a:solidFill>
              <a:latin typeface="DM Sans"/>
              <a:ea typeface="DM Sans"/>
              <a:cs typeface="DM Sans"/>
              <a:sym typeface="DM Sans"/>
            </a:endParaRPr>
          </a:p>
        </p:txBody>
      </p:sp>
      <p:sp>
        <p:nvSpPr>
          <p:cNvPr id="188" name="Google Shape;188;p76"/>
          <p:cNvSpPr txBox="1">
            <a:spLocks noGrp="1"/>
          </p:cNvSpPr>
          <p:nvPr>
            <p:ph type="body" idx="14"/>
          </p:nvPr>
        </p:nvSpPr>
        <p:spPr>
          <a:xfrm>
            <a:off x="2533735" y="1517966"/>
            <a:ext cx="3341687" cy="27781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9" name="Google Shape;189;p76"/>
          <p:cNvSpPr txBox="1">
            <a:spLocks noGrp="1"/>
          </p:cNvSpPr>
          <p:nvPr>
            <p:ph type="body" idx="15"/>
          </p:nvPr>
        </p:nvSpPr>
        <p:spPr>
          <a:xfrm>
            <a:off x="600455" y="381000"/>
            <a:ext cx="8010145"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0" name="Google Shape;190;p76"/>
          <p:cNvSpPr txBox="1">
            <a:spLocks noGrp="1"/>
          </p:cNvSpPr>
          <p:nvPr>
            <p:ph type="body" idx="1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able Slide">
  <p:cSld name="Table Slide">
    <p:spTree>
      <p:nvGrpSpPr>
        <p:cNvPr id="1" name="Shape 191"/>
        <p:cNvGrpSpPr/>
        <p:nvPr/>
      </p:nvGrpSpPr>
      <p:grpSpPr>
        <a:xfrm>
          <a:off x="0" y="0"/>
          <a:ext cx="0" cy="0"/>
          <a:chOff x="0" y="0"/>
          <a:chExt cx="0" cy="0"/>
        </a:xfrm>
      </p:grpSpPr>
      <p:sp>
        <p:nvSpPr>
          <p:cNvPr id="192" name="Google Shape;192;p77"/>
          <p:cNvSpPr txBox="1">
            <a:spLocks noGrp="1"/>
          </p:cNvSpPr>
          <p:nvPr>
            <p:ph type="body" idx="1"/>
          </p:nvPr>
        </p:nvSpPr>
        <p:spPr>
          <a:xfrm>
            <a:off x="600455" y="381000"/>
            <a:ext cx="8010145"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3" name="Google Shape;193;p77"/>
          <p:cNvSpPr txBox="1">
            <a:spLocks noGrp="1"/>
          </p:cNvSpPr>
          <p:nvPr>
            <p:ph type="body" idx="2"/>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rge Number &amp; Text">
  <p:cSld name="Large Number &amp; Text">
    <p:spTree>
      <p:nvGrpSpPr>
        <p:cNvPr id="1" name="Shape 194"/>
        <p:cNvGrpSpPr/>
        <p:nvPr/>
      </p:nvGrpSpPr>
      <p:grpSpPr>
        <a:xfrm>
          <a:off x="0" y="0"/>
          <a:ext cx="0" cy="0"/>
          <a:chOff x="0" y="0"/>
          <a:chExt cx="0" cy="0"/>
        </a:xfrm>
      </p:grpSpPr>
      <p:sp>
        <p:nvSpPr>
          <p:cNvPr id="195" name="Google Shape;195;p78"/>
          <p:cNvSpPr txBox="1">
            <a:spLocks noGrp="1"/>
          </p:cNvSpPr>
          <p:nvPr>
            <p:ph type="body" idx="1"/>
          </p:nvPr>
        </p:nvSpPr>
        <p:spPr>
          <a:xfrm>
            <a:off x="1590675" y="5791200"/>
            <a:ext cx="7019925" cy="2286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000"/>
              </a:spcBef>
              <a:spcAft>
                <a:spcPts val="0"/>
              </a:spcAft>
              <a:buClr>
                <a:schemeClr val="accent1"/>
              </a:buClr>
              <a:buSzPts val="900"/>
              <a:buFont typeface="Arial"/>
              <a:buNone/>
              <a:defRPr sz="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6" name="Google Shape;196;p78"/>
          <p:cNvSpPr txBox="1">
            <a:spLocks noGrp="1"/>
          </p:cNvSpPr>
          <p:nvPr>
            <p:ph type="body" idx="2"/>
          </p:nvPr>
        </p:nvSpPr>
        <p:spPr>
          <a:xfrm>
            <a:off x="6617512" y="3236833"/>
            <a:ext cx="4977954"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7" name="Google Shape;197;p78"/>
          <p:cNvSpPr txBox="1">
            <a:spLocks noGrp="1"/>
          </p:cNvSpPr>
          <p:nvPr>
            <p:ph type="body" idx="3"/>
          </p:nvPr>
        </p:nvSpPr>
        <p:spPr>
          <a:xfrm>
            <a:off x="6617512" y="1676400"/>
            <a:ext cx="4991085" cy="138261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4166"/>
              </a:lnSpc>
              <a:spcBef>
                <a:spcPts val="10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8" name="Google Shape;198;p78"/>
          <p:cNvSpPr txBox="1">
            <a:spLocks noGrp="1"/>
          </p:cNvSpPr>
          <p:nvPr>
            <p:ph type="body" idx="4"/>
          </p:nvPr>
        </p:nvSpPr>
        <p:spPr>
          <a:xfrm>
            <a:off x="2959912" y="1676400"/>
            <a:ext cx="3276600" cy="29495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800"/>
              <a:buFont typeface="Arial"/>
              <a:buNone/>
              <a:defRPr sz="28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9" name="Google Shape;199;p78"/>
          <p:cNvSpPr txBox="1">
            <a:spLocks noGrp="1"/>
          </p:cNvSpPr>
          <p:nvPr>
            <p:ph type="body" idx="5"/>
          </p:nvPr>
        </p:nvSpPr>
        <p:spPr>
          <a:xfrm>
            <a:off x="609600" y="1676400"/>
            <a:ext cx="228600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15000"/>
              <a:buFont typeface="Arial"/>
              <a:buNone/>
              <a:defRPr sz="15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0" name="Google Shape;200;p78"/>
          <p:cNvSpPr txBox="1">
            <a:spLocks noGrp="1"/>
          </p:cNvSpPr>
          <p:nvPr>
            <p:ph type="body" idx="6"/>
          </p:nvPr>
        </p:nvSpPr>
        <p:spPr>
          <a:xfrm>
            <a:off x="828675" y="5780087"/>
            <a:ext cx="2286000" cy="1746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900"/>
              <a:buFont typeface="Arial"/>
              <a:buNone/>
              <a:defRPr sz="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1" name="Google Shape;201;p78"/>
          <p:cNvSpPr txBox="1">
            <a:spLocks noGrp="1"/>
          </p:cNvSpPr>
          <p:nvPr>
            <p:ph type="body" idx="7"/>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2" name="Google Shape;202;p78"/>
          <p:cNvSpPr txBox="1">
            <a:spLocks noGrp="1"/>
          </p:cNvSpPr>
          <p:nvPr>
            <p:ph type="body" idx="8"/>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Header &amp; Large Text 1">
  <p:cSld name="Header &amp; Large Text 1">
    <p:spTree>
      <p:nvGrpSpPr>
        <p:cNvPr id="1" name="Shape 203"/>
        <p:cNvGrpSpPr/>
        <p:nvPr/>
      </p:nvGrpSpPr>
      <p:grpSpPr>
        <a:xfrm>
          <a:off x="0" y="0"/>
          <a:ext cx="0" cy="0"/>
          <a:chOff x="0" y="0"/>
          <a:chExt cx="0" cy="0"/>
        </a:xfrm>
      </p:grpSpPr>
      <p:sp>
        <p:nvSpPr>
          <p:cNvPr id="204" name="Google Shape;204;p79"/>
          <p:cNvSpPr txBox="1">
            <a:spLocks noGrp="1"/>
          </p:cNvSpPr>
          <p:nvPr>
            <p:ph type="body" idx="1"/>
          </p:nvPr>
        </p:nvSpPr>
        <p:spPr>
          <a:xfrm>
            <a:off x="609600" y="1677087"/>
            <a:ext cx="2600325" cy="24479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FD5D3B"/>
              </a:buClr>
              <a:buSzPts val="3200"/>
              <a:buFont typeface="Arial"/>
              <a:buNone/>
              <a:defRPr sz="32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5" name="Google Shape;205;p79"/>
          <p:cNvSpPr txBox="1">
            <a:spLocks noGrp="1"/>
          </p:cNvSpPr>
          <p:nvPr>
            <p:ph type="body" idx="2"/>
          </p:nvPr>
        </p:nvSpPr>
        <p:spPr>
          <a:xfrm>
            <a:off x="3438525" y="1686560"/>
            <a:ext cx="3865775"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206" name="Google Shape;206;p79"/>
          <p:cNvCxnSpPr/>
          <p:nvPr/>
        </p:nvCxnSpPr>
        <p:spPr>
          <a:xfrm>
            <a:off x="7477125" y="1686612"/>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207" name="Google Shape;207;p79"/>
          <p:cNvSpPr txBox="1">
            <a:spLocks noGrp="1"/>
          </p:cNvSpPr>
          <p:nvPr>
            <p:ph type="body" idx="3"/>
          </p:nvPr>
        </p:nvSpPr>
        <p:spPr>
          <a:xfrm>
            <a:off x="3438525" y="3134412"/>
            <a:ext cx="4038600"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8" name="Google Shape;208;p79"/>
          <p:cNvSpPr txBox="1">
            <a:spLocks noGrp="1"/>
          </p:cNvSpPr>
          <p:nvPr>
            <p:ph type="body" idx="4"/>
          </p:nvPr>
        </p:nvSpPr>
        <p:spPr>
          <a:xfrm>
            <a:off x="7649950" y="1676400"/>
            <a:ext cx="3941975" cy="321061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9" name="Google Shape;209;p79"/>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0" name="Google Shape;210;p79"/>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Header &amp; Large Text 2">
  <p:cSld name="Header &amp; Large Text 2">
    <p:spTree>
      <p:nvGrpSpPr>
        <p:cNvPr id="1" name="Shape 211"/>
        <p:cNvGrpSpPr/>
        <p:nvPr/>
      </p:nvGrpSpPr>
      <p:grpSpPr>
        <a:xfrm>
          <a:off x="0" y="0"/>
          <a:ext cx="0" cy="0"/>
          <a:chOff x="0" y="0"/>
          <a:chExt cx="0" cy="0"/>
        </a:xfrm>
      </p:grpSpPr>
      <p:sp>
        <p:nvSpPr>
          <p:cNvPr id="212" name="Google Shape;212;p80"/>
          <p:cNvSpPr txBox="1">
            <a:spLocks noGrp="1"/>
          </p:cNvSpPr>
          <p:nvPr>
            <p:ph type="body" idx="1"/>
          </p:nvPr>
        </p:nvSpPr>
        <p:spPr>
          <a:xfrm>
            <a:off x="609600" y="1676400"/>
            <a:ext cx="27432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213" name="Google Shape;213;p80"/>
          <p:cNvCxnSpPr/>
          <p:nvPr/>
        </p:nvCxnSpPr>
        <p:spPr>
          <a:xfrm>
            <a:off x="7467600" y="1676400"/>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214" name="Google Shape;214;p80"/>
          <p:cNvSpPr txBox="1">
            <a:spLocks noGrp="1"/>
          </p:cNvSpPr>
          <p:nvPr>
            <p:ph type="body" idx="2"/>
          </p:nvPr>
        </p:nvSpPr>
        <p:spPr>
          <a:xfrm>
            <a:off x="3505200" y="1676400"/>
            <a:ext cx="3733800" cy="30686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5" name="Google Shape;215;p80"/>
          <p:cNvSpPr txBox="1">
            <a:spLocks noGrp="1"/>
          </p:cNvSpPr>
          <p:nvPr>
            <p:ph type="body" idx="3"/>
          </p:nvPr>
        </p:nvSpPr>
        <p:spPr>
          <a:xfrm>
            <a:off x="7620000" y="1676400"/>
            <a:ext cx="4012977"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6" name="Google Shape;216;p80"/>
          <p:cNvSpPr txBox="1">
            <a:spLocks noGrp="1"/>
          </p:cNvSpPr>
          <p:nvPr>
            <p:ph type="body" idx="4"/>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7" name="Google Shape;217;p80"/>
          <p:cNvSpPr txBox="1">
            <a:spLocks noGrp="1"/>
          </p:cNvSpPr>
          <p:nvPr>
            <p:ph type="body" idx="5"/>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Header &amp; Large Text 3">
  <p:cSld name="Header &amp; Large Text 3">
    <p:spTree>
      <p:nvGrpSpPr>
        <p:cNvPr id="1" name="Shape 218"/>
        <p:cNvGrpSpPr/>
        <p:nvPr/>
      </p:nvGrpSpPr>
      <p:grpSpPr>
        <a:xfrm>
          <a:off x="0" y="0"/>
          <a:ext cx="0" cy="0"/>
          <a:chOff x="0" y="0"/>
          <a:chExt cx="0" cy="0"/>
        </a:xfrm>
      </p:grpSpPr>
      <p:sp>
        <p:nvSpPr>
          <p:cNvPr id="219" name="Google Shape;219;p81"/>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0" name="Google Shape;220;p81"/>
          <p:cNvSpPr txBox="1">
            <a:spLocks noGrp="1"/>
          </p:cNvSpPr>
          <p:nvPr>
            <p:ph type="body" idx="2"/>
          </p:nvPr>
        </p:nvSpPr>
        <p:spPr>
          <a:xfrm>
            <a:off x="3400931" y="3659580"/>
            <a:ext cx="8077200" cy="8454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1" name="Google Shape;221;p81"/>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2" name="Google Shape;222;p81"/>
          <p:cNvSpPr txBox="1">
            <a:spLocks noGrp="1"/>
          </p:cNvSpPr>
          <p:nvPr>
            <p:ph type="body" idx="4"/>
          </p:nvPr>
        </p:nvSpPr>
        <p:spPr>
          <a:xfrm>
            <a:off x="3400931" y="1676400"/>
            <a:ext cx="8127777"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223" name="Google Shape;223;p81"/>
          <p:cNvCxnSpPr/>
          <p:nvPr/>
        </p:nvCxnSpPr>
        <p:spPr>
          <a:xfrm>
            <a:off x="3477131" y="3507180"/>
            <a:ext cx="8001000" cy="0"/>
          </a:xfrm>
          <a:prstGeom prst="straightConnector1">
            <a:avLst/>
          </a:prstGeom>
          <a:noFill/>
          <a:ln w="12700" cap="flat" cmpd="sng">
            <a:solidFill>
              <a:schemeClr val="accent6"/>
            </a:solidFill>
            <a:prstDash val="solid"/>
            <a:miter lim="800000"/>
            <a:headEnd type="none" w="sm" len="sm"/>
            <a:tailEnd type="none" w="sm" len="sm"/>
          </a:ln>
        </p:spPr>
      </p:cxnSp>
      <p:cxnSp>
        <p:nvCxnSpPr>
          <p:cNvPr id="224" name="Google Shape;224;p81"/>
          <p:cNvCxnSpPr/>
          <p:nvPr/>
        </p:nvCxnSpPr>
        <p:spPr>
          <a:xfrm>
            <a:off x="3477131" y="4650180"/>
            <a:ext cx="8001000" cy="0"/>
          </a:xfrm>
          <a:prstGeom prst="straightConnector1">
            <a:avLst/>
          </a:prstGeom>
          <a:noFill/>
          <a:ln w="12700" cap="flat" cmpd="sng">
            <a:solidFill>
              <a:schemeClr val="accent6"/>
            </a:solidFill>
            <a:prstDash val="solid"/>
            <a:miter lim="800000"/>
            <a:headEnd type="none" w="sm" len="sm"/>
            <a:tailEnd type="none" w="sm" len="sm"/>
          </a:ln>
        </p:spPr>
      </p:cxnSp>
      <p:sp>
        <p:nvSpPr>
          <p:cNvPr id="225" name="Google Shape;225;p81"/>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81"/>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227"/>
        <p:cNvGrpSpPr/>
        <p:nvPr/>
      </p:nvGrpSpPr>
      <p:grpSpPr>
        <a:xfrm>
          <a:off x="0" y="0"/>
          <a:ext cx="0" cy="0"/>
          <a:chOff x="0" y="0"/>
          <a:chExt cx="0" cy="0"/>
        </a:xfrm>
      </p:grpSpPr>
      <p:sp>
        <p:nvSpPr>
          <p:cNvPr id="228" name="Google Shape;228;p82"/>
          <p:cNvSpPr/>
          <p:nvPr/>
        </p:nvSpPr>
        <p:spPr>
          <a:xfrm>
            <a:off x="982980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229" name="Google Shape;229;p82"/>
          <p:cNvSpPr/>
          <p:nvPr/>
        </p:nvSpPr>
        <p:spPr>
          <a:xfrm>
            <a:off x="830580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chemeClr val="lt1"/>
              </a:solidFill>
              <a:latin typeface="DM Sans"/>
              <a:ea typeface="DM Sans"/>
              <a:cs typeface="DM Sans"/>
              <a:sym typeface="DM Sans"/>
            </a:endParaRPr>
          </a:p>
        </p:txBody>
      </p:sp>
      <p:sp>
        <p:nvSpPr>
          <p:cNvPr id="230" name="Google Shape;230;p82"/>
          <p:cNvSpPr/>
          <p:nvPr/>
        </p:nvSpPr>
        <p:spPr>
          <a:xfrm>
            <a:off x="6780823"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231" name="Google Shape;231;p82"/>
          <p:cNvSpPr/>
          <p:nvPr/>
        </p:nvSpPr>
        <p:spPr>
          <a:xfrm>
            <a:off x="525747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232" name="Google Shape;232;p82"/>
          <p:cNvSpPr/>
          <p:nvPr/>
        </p:nvSpPr>
        <p:spPr>
          <a:xfrm>
            <a:off x="374142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233" name="Google Shape;233;p82"/>
          <p:cNvSpPr/>
          <p:nvPr/>
        </p:nvSpPr>
        <p:spPr>
          <a:xfrm>
            <a:off x="220980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234" name="Google Shape;234;p82"/>
          <p:cNvSpPr txBox="1">
            <a:spLocks noGrp="1"/>
          </p:cNvSpPr>
          <p:nvPr>
            <p:ph type="body" idx="1"/>
          </p:nvPr>
        </p:nvSpPr>
        <p:spPr>
          <a:xfrm>
            <a:off x="220980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5" name="Google Shape;235;p82"/>
          <p:cNvSpPr txBox="1">
            <a:spLocks noGrp="1"/>
          </p:cNvSpPr>
          <p:nvPr>
            <p:ph type="body" idx="2"/>
          </p:nvPr>
        </p:nvSpPr>
        <p:spPr>
          <a:xfrm>
            <a:off x="374142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6" name="Google Shape;236;p82"/>
          <p:cNvSpPr txBox="1">
            <a:spLocks noGrp="1"/>
          </p:cNvSpPr>
          <p:nvPr>
            <p:ph type="body" idx="3"/>
          </p:nvPr>
        </p:nvSpPr>
        <p:spPr>
          <a:xfrm>
            <a:off x="525747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7" name="Google Shape;237;p82"/>
          <p:cNvSpPr txBox="1">
            <a:spLocks noGrp="1"/>
          </p:cNvSpPr>
          <p:nvPr>
            <p:ph type="body" idx="4"/>
          </p:nvPr>
        </p:nvSpPr>
        <p:spPr>
          <a:xfrm>
            <a:off x="6780823"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8" name="Google Shape;238;p82"/>
          <p:cNvSpPr txBox="1">
            <a:spLocks noGrp="1"/>
          </p:cNvSpPr>
          <p:nvPr>
            <p:ph type="body" idx="5"/>
          </p:nvPr>
        </p:nvSpPr>
        <p:spPr>
          <a:xfrm>
            <a:off x="830580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9" name="Google Shape;239;p82"/>
          <p:cNvSpPr txBox="1">
            <a:spLocks noGrp="1"/>
          </p:cNvSpPr>
          <p:nvPr>
            <p:ph type="body" idx="6"/>
          </p:nvPr>
        </p:nvSpPr>
        <p:spPr>
          <a:xfrm>
            <a:off x="220980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0" name="Google Shape;240;p82"/>
          <p:cNvSpPr txBox="1">
            <a:spLocks noGrp="1"/>
          </p:cNvSpPr>
          <p:nvPr>
            <p:ph type="body" idx="7"/>
          </p:nvPr>
        </p:nvSpPr>
        <p:spPr>
          <a:xfrm>
            <a:off x="525747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1" name="Google Shape;241;p82"/>
          <p:cNvSpPr txBox="1">
            <a:spLocks noGrp="1"/>
          </p:cNvSpPr>
          <p:nvPr>
            <p:ph type="body" idx="8"/>
          </p:nvPr>
        </p:nvSpPr>
        <p:spPr>
          <a:xfrm>
            <a:off x="6780823"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2" name="Google Shape;242;p82"/>
          <p:cNvSpPr txBox="1">
            <a:spLocks noGrp="1"/>
          </p:cNvSpPr>
          <p:nvPr>
            <p:ph type="body" idx="9"/>
          </p:nvPr>
        </p:nvSpPr>
        <p:spPr>
          <a:xfrm>
            <a:off x="830580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10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3" name="Google Shape;243;p82"/>
          <p:cNvSpPr txBox="1">
            <a:spLocks noGrp="1"/>
          </p:cNvSpPr>
          <p:nvPr>
            <p:ph type="body" idx="13"/>
          </p:nvPr>
        </p:nvSpPr>
        <p:spPr>
          <a:xfrm>
            <a:off x="6780823"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10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4" name="Google Shape;244;p82"/>
          <p:cNvSpPr txBox="1">
            <a:spLocks noGrp="1"/>
          </p:cNvSpPr>
          <p:nvPr>
            <p:ph type="body" idx="14"/>
          </p:nvPr>
        </p:nvSpPr>
        <p:spPr>
          <a:xfrm>
            <a:off x="525747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10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5" name="Google Shape;245;p82"/>
          <p:cNvSpPr txBox="1">
            <a:spLocks noGrp="1"/>
          </p:cNvSpPr>
          <p:nvPr>
            <p:ph type="body" idx="15"/>
          </p:nvPr>
        </p:nvSpPr>
        <p:spPr>
          <a:xfrm>
            <a:off x="220980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6" name="Google Shape;246;p82"/>
          <p:cNvSpPr txBox="1">
            <a:spLocks noGrp="1"/>
          </p:cNvSpPr>
          <p:nvPr>
            <p:ph type="body" idx="16"/>
          </p:nvPr>
        </p:nvSpPr>
        <p:spPr>
          <a:xfrm>
            <a:off x="741362" y="1688690"/>
            <a:ext cx="1280160" cy="708025"/>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7" name="Google Shape;247;p82"/>
          <p:cNvSpPr txBox="1">
            <a:spLocks noGrp="1"/>
          </p:cNvSpPr>
          <p:nvPr>
            <p:ph type="body" idx="17"/>
          </p:nvPr>
        </p:nvSpPr>
        <p:spPr>
          <a:xfrm>
            <a:off x="741362" y="2763513"/>
            <a:ext cx="1280160" cy="708025"/>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8" name="Google Shape;248;p82"/>
          <p:cNvSpPr txBox="1">
            <a:spLocks noGrp="1"/>
          </p:cNvSpPr>
          <p:nvPr>
            <p:ph type="body" idx="18"/>
          </p:nvPr>
        </p:nvSpPr>
        <p:spPr>
          <a:xfrm>
            <a:off x="741362" y="4203748"/>
            <a:ext cx="1280160" cy="708025"/>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9" name="Google Shape;249;p82"/>
          <p:cNvSpPr txBox="1">
            <a:spLocks noGrp="1"/>
          </p:cNvSpPr>
          <p:nvPr>
            <p:ph type="body" idx="19"/>
          </p:nvPr>
        </p:nvSpPr>
        <p:spPr>
          <a:xfrm>
            <a:off x="741362" y="5223310"/>
            <a:ext cx="1280160" cy="951333"/>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0" name="Google Shape;250;p82"/>
          <p:cNvSpPr txBox="1">
            <a:spLocks noGrp="1"/>
          </p:cNvSpPr>
          <p:nvPr>
            <p:ph type="body" idx="20"/>
          </p:nvPr>
        </p:nvSpPr>
        <p:spPr>
          <a:xfrm>
            <a:off x="609600" y="381000"/>
            <a:ext cx="7596509" cy="68421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1" name="Google Shape;251;p82"/>
          <p:cNvSpPr/>
          <p:nvPr/>
        </p:nvSpPr>
        <p:spPr>
          <a:xfrm>
            <a:off x="741362"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DM Sans"/>
              <a:ea typeface="DM Sans"/>
              <a:cs typeface="DM Sans"/>
              <a:sym typeface="DM Sans"/>
            </a:endParaRPr>
          </a:p>
        </p:txBody>
      </p:sp>
      <p:cxnSp>
        <p:nvCxnSpPr>
          <p:cNvPr id="252" name="Google Shape;252;p82"/>
          <p:cNvCxnSpPr/>
          <p:nvPr/>
        </p:nvCxnSpPr>
        <p:spPr>
          <a:xfrm>
            <a:off x="778255" y="2500180"/>
            <a:ext cx="10346945" cy="0"/>
          </a:xfrm>
          <a:prstGeom prst="straightConnector1">
            <a:avLst/>
          </a:prstGeom>
          <a:noFill/>
          <a:ln w="9525" cap="flat" cmpd="sng">
            <a:solidFill>
              <a:schemeClr val="accent6"/>
            </a:solidFill>
            <a:prstDash val="solid"/>
            <a:miter lim="800000"/>
            <a:headEnd type="none" w="sm" len="sm"/>
            <a:tailEnd type="none" w="sm" len="sm"/>
          </a:ln>
        </p:spPr>
      </p:cxnSp>
      <p:cxnSp>
        <p:nvCxnSpPr>
          <p:cNvPr id="253" name="Google Shape;253;p82"/>
          <p:cNvCxnSpPr/>
          <p:nvPr/>
        </p:nvCxnSpPr>
        <p:spPr>
          <a:xfrm>
            <a:off x="778255" y="5029200"/>
            <a:ext cx="10346945" cy="0"/>
          </a:xfrm>
          <a:prstGeom prst="straightConnector1">
            <a:avLst/>
          </a:prstGeom>
          <a:noFill/>
          <a:ln w="9525" cap="flat" cmpd="sng">
            <a:solidFill>
              <a:schemeClr val="accent6"/>
            </a:solidFill>
            <a:prstDash val="solid"/>
            <a:miter lim="800000"/>
            <a:headEnd type="none" w="sm" len="sm"/>
            <a:tailEnd type="none" w="sm" len="sm"/>
          </a:ln>
        </p:spPr>
      </p:cxnSp>
      <p:sp>
        <p:nvSpPr>
          <p:cNvPr id="254" name="Google Shape;254;p82"/>
          <p:cNvSpPr txBox="1">
            <a:spLocks noGrp="1"/>
          </p:cNvSpPr>
          <p:nvPr>
            <p:ph type="body" idx="21"/>
          </p:nvPr>
        </p:nvSpPr>
        <p:spPr>
          <a:xfrm>
            <a:off x="374142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5" name="Google Shape;255;p82"/>
          <p:cNvSpPr txBox="1">
            <a:spLocks noGrp="1"/>
          </p:cNvSpPr>
          <p:nvPr>
            <p:ph type="body" idx="22"/>
          </p:nvPr>
        </p:nvSpPr>
        <p:spPr>
          <a:xfrm>
            <a:off x="982980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10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6" name="Google Shape;256;p82"/>
          <p:cNvSpPr txBox="1">
            <a:spLocks noGrp="1"/>
          </p:cNvSpPr>
          <p:nvPr>
            <p:ph type="body" idx="23"/>
          </p:nvPr>
        </p:nvSpPr>
        <p:spPr>
          <a:xfrm>
            <a:off x="220980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7" name="Google Shape;257;p82"/>
          <p:cNvSpPr txBox="1">
            <a:spLocks noGrp="1"/>
          </p:cNvSpPr>
          <p:nvPr>
            <p:ph type="body" idx="24"/>
          </p:nvPr>
        </p:nvSpPr>
        <p:spPr>
          <a:xfrm>
            <a:off x="830580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8" name="Google Shape;258;p82"/>
          <p:cNvSpPr txBox="1">
            <a:spLocks noGrp="1"/>
          </p:cNvSpPr>
          <p:nvPr>
            <p:ph type="body" idx="25"/>
          </p:nvPr>
        </p:nvSpPr>
        <p:spPr>
          <a:xfrm>
            <a:off x="982980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9" name="Google Shape;259;p82"/>
          <p:cNvSpPr txBox="1">
            <a:spLocks noGrp="1"/>
          </p:cNvSpPr>
          <p:nvPr>
            <p:ph type="body" idx="26"/>
          </p:nvPr>
        </p:nvSpPr>
        <p:spPr>
          <a:xfrm>
            <a:off x="374142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0" name="Google Shape;260;p82"/>
          <p:cNvSpPr txBox="1">
            <a:spLocks noGrp="1"/>
          </p:cNvSpPr>
          <p:nvPr>
            <p:ph type="body" idx="27"/>
          </p:nvPr>
        </p:nvSpPr>
        <p:spPr>
          <a:xfrm>
            <a:off x="982980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1" name="Google Shape;261;p82"/>
          <p:cNvSpPr txBox="1">
            <a:spLocks noGrp="1"/>
          </p:cNvSpPr>
          <p:nvPr>
            <p:ph type="body" idx="28"/>
          </p:nvPr>
        </p:nvSpPr>
        <p:spPr>
          <a:xfrm>
            <a:off x="830580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2" name="Google Shape;262;p82"/>
          <p:cNvSpPr txBox="1">
            <a:spLocks noGrp="1"/>
          </p:cNvSpPr>
          <p:nvPr>
            <p:ph type="body" idx="29"/>
          </p:nvPr>
        </p:nvSpPr>
        <p:spPr>
          <a:xfrm>
            <a:off x="525747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3" name="Google Shape;263;p82"/>
          <p:cNvSpPr txBox="1">
            <a:spLocks noGrp="1"/>
          </p:cNvSpPr>
          <p:nvPr>
            <p:ph type="body" idx="30"/>
          </p:nvPr>
        </p:nvSpPr>
        <p:spPr>
          <a:xfrm>
            <a:off x="6780823"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4" name="Google Shape;264;p82"/>
          <p:cNvSpPr txBox="1">
            <a:spLocks noGrp="1"/>
          </p:cNvSpPr>
          <p:nvPr>
            <p:ph type="body" idx="31"/>
          </p:nvPr>
        </p:nvSpPr>
        <p:spPr>
          <a:xfrm>
            <a:off x="374142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5" name="Google Shape;265;p82"/>
          <p:cNvSpPr txBox="1">
            <a:spLocks noGrp="1"/>
          </p:cNvSpPr>
          <p:nvPr>
            <p:ph type="body" idx="32"/>
          </p:nvPr>
        </p:nvSpPr>
        <p:spPr>
          <a:xfrm>
            <a:off x="982980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6" name="Google Shape;266;p82"/>
          <p:cNvSpPr txBox="1">
            <a:spLocks noGrp="1"/>
          </p:cNvSpPr>
          <p:nvPr>
            <p:ph type="body" idx="33"/>
          </p:nvPr>
        </p:nvSpPr>
        <p:spPr>
          <a:xfrm>
            <a:off x="221011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7" name="Google Shape;267;p82"/>
          <p:cNvSpPr txBox="1">
            <a:spLocks noGrp="1"/>
          </p:cNvSpPr>
          <p:nvPr>
            <p:ph type="body" idx="34"/>
          </p:nvPr>
        </p:nvSpPr>
        <p:spPr>
          <a:xfrm>
            <a:off x="374173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8" name="Google Shape;268;p82"/>
          <p:cNvSpPr txBox="1">
            <a:spLocks noGrp="1"/>
          </p:cNvSpPr>
          <p:nvPr>
            <p:ph type="body" idx="35"/>
          </p:nvPr>
        </p:nvSpPr>
        <p:spPr>
          <a:xfrm>
            <a:off x="525778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9" name="Google Shape;269;p82"/>
          <p:cNvSpPr txBox="1">
            <a:spLocks noGrp="1"/>
          </p:cNvSpPr>
          <p:nvPr>
            <p:ph type="body" idx="36"/>
          </p:nvPr>
        </p:nvSpPr>
        <p:spPr>
          <a:xfrm>
            <a:off x="6781141"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0" name="Google Shape;270;p82"/>
          <p:cNvSpPr txBox="1">
            <a:spLocks noGrp="1"/>
          </p:cNvSpPr>
          <p:nvPr>
            <p:ph type="body" idx="37"/>
          </p:nvPr>
        </p:nvSpPr>
        <p:spPr>
          <a:xfrm>
            <a:off x="830611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1" name="Google Shape;271;p82"/>
          <p:cNvSpPr txBox="1">
            <a:spLocks noGrp="1"/>
          </p:cNvSpPr>
          <p:nvPr>
            <p:ph type="body" idx="38"/>
          </p:nvPr>
        </p:nvSpPr>
        <p:spPr>
          <a:xfrm>
            <a:off x="983011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losingSlide">
  <p:cSld name="ClosingSlide">
    <p:spTree>
      <p:nvGrpSpPr>
        <p:cNvPr id="1" name="Shape 272"/>
        <p:cNvGrpSpPr/>
        <p:nvPr/>
      </p:nvGrpSpPr>
      <p:grpSpPr>
        <a:xfrm>
          <a:off x="0" y="0"/>
          <a:ext cx="0" cy="0"/>
          <a:chOff x="0" y="0"/>
          <a:chExt cx="0" cy="0"/>
        </a:xfrm>
      </p:grpSpPr>
      <p:pic>
        <p:nvPicPr>
          <p:cNvPr id="273" name="Google Shape;273;p83"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74" name="Google Shape;274;p83"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275" name="Google Shape;275;p83"/>
          <p:cNvSpPr/>
          <p:nvPr/>
        </p:nvSpPr>
        <p:spPr>
          <a:xfrm>
            <a:off x="6400800" y="6553200"/>
            <a:ext cx="5257800" cy="84639"/>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50"/>
              <a:buFont typeface="Arial"/>
              <a:buNone/>
            </a:pPr>
            <a:r>
              <a:rPr lang="en-US" sz="550" b="0" i="0" u="none" strike="noStrike" cap="none" dirty="0">
                <a:solidFill>
                  <a:schemeClr val="accent6"/>
                </a:solidFill>
                <a:latin typeface="Roboto"/>
                <a:ea typeface="Roboto"/>
                <a:cs typeface="Roboto"/>
                <a:sym typeface="Roboto"/>
              </a:rPr>
              <a:t>Blue Cross Blue Shield of Massachusetts is an Independent Licensee of the Blue Cross and Blue Shield Association.</a:t>
            </a:r>
            <a:endParaRPr sz="550" b="0" i="0" u="none" strike="noStrike" cap="none" dirty="0">
              <a:solidFill>
                <a:schemeClr val="accent6"/>
              </a:solidFill>
              <a:latin typeface="Calibri"/>
              <a:ea typeface="Calibri"/>
              <a:cs typeface="Calibri"/>
              <a:sym typeface="Calibri"/>
            </a:endParaRPr>
          </a:p>
        </p:txBody>
      </p:sp>
      <p:sp>
        <p:nvSpPr>
          <p:cNvPr id="276" name="Google Shape;276;p83"/>
          <p:cNvSpPr txBox="1"/>
          <p:nvPr/>
        </p:nvSpPr>
        <p:spPr>
          <a:xfrm>
            <a:off x="7391400" y="6400800"/>
            <a:ext cx="42672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dirty="0">
                <a:solidFill>
                  <a:srgbClr val="7F7F7F"/>
                </a:solidFill>
                <a:latin typeface="DM Sans"/>
                <a:ea typeface="DM Sans"/>
                <a:cs typeface="DM Sans"/>
                <a:sym typeface="DM Sans"/>
              </a:rPr>
              <a:t>BLUE CROSS BLUE SHIELD OF MASSACHUSETTS | </a:t>
            </a:r>
            <a:r>
              <a:rPr lang="en-US" sz="700" b="0" i="0" u="none" strike="noStrike" cap="none" dirty="0">
                <a:solidFill>
                  <a:srgbClr val="7F7F7F"/>
                </a:solidFill>
                <a:latin typeface="DM Sans"/>
                <a:ea typeface="DM Sans"/>
                <a:cs typeface="DM Sans"/>
                <a:sym typeface="DM Sans"/>
              </a:rPr>
              <a:t>CONFIDENTIAL – NOT FOR DISTRIBUTION</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1">
  <p:cSld name="Title Only">
    <p:spTree>
      <p:nvGrpSpPr>
        <p:cNvPr id="1" name="Shape 277"/>
        <p:cNvGrpSpPr/>
        <p:nvPr/>
      </p:nvGrpSpPr>
      <p:grpSpPr>
        <a:xfrm>
          <a:off x="0" y="0"/>
          <a:ext cx="0" cy="0"/>
          <a:chOff x="0" y="0"/>
          <a:chExt cx="0" cy="0"/>
        </a:xfrm>
      </p:grpSpPr>
      <p:sp>
        <p:nvSpPr>
          <p:cNvPr id="278" name="Google Shape;278;p84"/>
          <p:cNvSpPr txBox="1">
            <a:spLocks noGrp="1"/>
          </p:cNvSpPr>
          <p:nvPr>
            <p:ph type="title"/>
          </p:nvPr>
        </p:nvSpPr>
        <p:spPr>
          <a:xfrm>
            <a:off x="442900" y="432000"/>
            <a:ext cx="11305500" cy="3663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800"/>
              <a:buFont typeface="Georgia"/>
              <a:buChar char="●"/>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ontent - bullet">
  <p:cSld name="Title and Content - bullet">
    <p:spTree>
      <p:nvGrpSpPr>
        <p:cNvPr id="1" name="Shape 279"/>
        <p:cNvGrpSpPr/>
        <p:nvPr/>
      </p:nvGrpSpPr>
      <p:grpSpPr>
        <a:xfrm>
          <a:off x="0" y="0"/>
          <a:ext cx="0" cy="0"/>
          <a:chOff x="0" y="0"/>
          <a:chExt cx="0" cy="0"/>
        </a:xfrm>
      </p:grpSpPr>
      <p:sp>
        <p:nvSpPr>
          <p:cNvPr id="280" name="Google Shape;280;p85"/>
          <p:cNvSpPr txBox="1">
            <a:spLocks noGrp="1"/>
          </p:cNvSpPr>
          <p:nvPr>
            <p:ph type="body" idx="1"/>
          </p:nvPr>
        </p:nvSpPr>
        <p:spPr>
          <a:xfrm>
            <a:off x="457200" y="6172200"/>
            <a:ext cx="11277600" cy="312300"/>
          </a:xfrm>
          <a:prstGeom prst="rect">
            <a:avLst/>
          </a:prstGeom>
          <a:noFill/>
          <a:ln>
            <a:noFill/>
          </a:ln>
        </p:spPr>
        <p:txBody>
          <a:bodyPr spcFirstLastPara="1" wrap="square" lIns="0" tIns="0" rIns="0" bIns="0" anchor="ctr" anchorCtr="0">
            <a:noAutofit/>
          </a:bodyPr>
          <a:lstStyle>
            <a:lvl1pPr marL="457200" marR="0" lvl="0" indent="-228600" algn="l" rtl="0">
              <a:lnSpc>
                <a:spcPct val="114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281" name="Google Shape;281;p85"/>
          <p:cNvSpPr txBox="1">
            <a:spLocks noGrp="1"/>
          </p:cNvSpPr>
          <p:nvPr>
            <p:ph type="body" idx="2"/>
          </p:nvPr>
        </p:nvSpPr>
        <p:spPr>
          <a:xfrm>
            <a:off x="457200" y="1295400"/>
            <a:ext cx="11277600" cy="4876800"/>
          </a:xfrm>
          <a:prstGeom prst="rect">
            <a:avLst/>
          </a:prstGeom>
          <a:noFill/>
          <a:ln>
            <a:noFill/>
          </a:ln>
        </p:spPr>
        <p:txBody>
          <a:bodyPr spcFirstLastPara="1" wrap="square" lIns="0" tIns="0" rIns="0" bIns="0" anchor="t" anchorCtr="0">
            <a:noAutofit/>
          </a:bodyPr>
          <a:lstStyle>
            <a:lvl1pPr marL="457200" marR="0" lvl="0" indent="-374650" algn="l" rtl="0">
              <a:lnSpc>
                <a:spcPct val="114000"/>
              </a:lnSpc>
              <a:spcBef>
                <a:spcPts val="700"/>
              </a:spcBef>
              <a:spcAft>
                <a:spcPts val="0"/>
              </a:spcAft>
              <a:buClr>
                <a:srgbClr val="000000"/>
              </a:buClr>
              <a:buSzPts val="2300"/>
              <a:buFont typeface="Arial"/>
              <a:buChar char="●"/>
              <a:defRPr sz="23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282" name="Google Shape;282;p85"/>
          <p:cNvSpPr txBox="1">
            <a:spLocks noGrp="1"/>
          </p:cNvSpPr>
          <p:nvPr>
            <p:ph type="title"/>
          </p:nvPr>
        </p:nvSpPr>
        <p:spPr>
          <a:xfrm>
            <a:off x="457200" y="411480"/>
            <a:ext cx="11277600" cy="8763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2800"/>
              <a:buFont typeface="Arial"/>
              <a:buChar char="●"/>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283" name="Google Shape;283;p85"/>
          <p:cNvSpPr txBox="1">
            <a:spLocks noGrp="1"/>
          </p:cNvSpPr>
          <p:nvPr>
            <p:ph type="ftr" idx="11"/>
          </p:nvPr>
        </p:nvSpPr>
        <p:spPr>
          <a:xfrm>
            <a:off x="4165600" y="6556248"/>
            <a:ext cx="3860700" cy="301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800" b="1" i="0" u="none" strike="noStrike" cap="none">
                <a:solidFill>
                  <a:srgbClr val="D8D8D8"/>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9pPr>
          </a:lstStyle>
          <a:p>
            <a:endParaRPr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sic - no bullet">
  <p:cSld name="Basic - no bullet">
    <p:spTree>
      <p:nvGrpSpPr>
        <p:cNvPr id="1" name="Shape 284"/>
        <p:cNvGrpSpPr/>
        <p:nvPr/>
      </p:nvGrpSpPr>
      <p:grpSpPr>
        <a:xfrm>
          <a:off x="0" y="0"/>
          <a:ext cx="0" cy="0"/>
          <a:chOff x="0" y="0"/>
          <a:chExt cx="0" cy="0"/>
        </a:xfrm>
      </p:grpSpPr>
      <p:sp>
        <p:nvSpPr>
          <p:cNvPr id="285" name="Google Shape;285;p86"/>
          <p:cNvSpPr txBox="1">
            <a:spLocks noGrp="1"/>
          </p:cNvSpPr>
          <p:nvPr>
            <p:ph type="sldNum" idx="12"/>
          </p:nvPr>
        </p:nvSpPr>
        <p:spPr>
          <a:xfrm>
            <a:off x="11734800" y="6553200"/>
            <a:ext cx="457200" cy="3048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dirty="0"/>
          </a:p>
        </p:txBody>
      </p:sp>
      <p:sp>
        <p:nvSpPr>
          <p:cNvPr id="286" name="Google Shape;286;p86"/>
          <p:cNvSpPr txBox="1">
            <a:spLocks noGrp="1"/>
          </p:cNvSpPr>
          <p:nvPr>
            <p:ph type="body" idx="1"/>
          </p:nvPr>
        </p:nvSpPr>
        <p:spPr>
          <a:xfrm>
            <a:off x="457200" y="6172200"/>
            <a:ext cx="11277600" cy="304800"/>
          </a:xfrm>
          <a:prstGeom prst="rect">
            <a:avLst/>
          </a:prstGeom>
          <a:noFill/>
          <a:ln>
            <a:noFill/>
          </a:ln>
        </p:spPr>
        <p:txBody>
          <a:bodyPr spcFirstLastPara="1" wrap="square" lIns="0" tIns="0" rIns="0" bIns="0" anchor="ctr" anchorCtr="0">
            <a:noAutofit/>
          </a:bodyPr>
          <a:lstStyle>
            <a:lvl1pPr marL="457200" marR="0" lvl="0" indent="-228600" algn="l" rtl="0">
              <a:lnSpc>
                <a:spcPct val="114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287" name="Google Shape;287;p86"/>
          <p:cNvSpPr txBox="1">
            <a:spLocks noGrp="1"/>
          </p:cNvSpPr>
          <p:nvPr>
            <p:ph type="body" idx="2"/>
          </p:nvPr>
        </p:nvSpPr>
        <p:spPr>
          <a:xfrm>
            <a:off x="457200" y="1295400"/>
            <a:ext cx="11277600" cy="4876800"/>
          </a:xfrm>
          <a:prstGeom prst="rect">
            <a:avLst/>
          </a:prstGeom>
          <a:noFill/>
          <a:ln>
            <a:noFill/>
          </a:ln>
        </p:spPr>
        <p:txBody>
          <a:bodyPr spcFirstLastPara="1" wrap="square" lIns="0" tIns="0" rIns="0" bIns="0" anchor="t" anchorCtr="0">
            <a:noAutofit/>
          </a:bodyPr>
          <a:lstStyle>
            <a:lvl1pPr marL="457200" marR="0" lvl="0" indent="-228600" algn="l" rtl="0">
              <a:lnSpc>
                <a:spcPct val="114000"/>
              </a:lnSpc>
              <a:spcBef>
                <a:spcPts val="700"/>
              </a:spcBef>
              <a:spcAft>
                <a:spcPts val="0"/>
              </a:spcAft>
              <a:buClr>
                <a:srgbClr val="000000"/>
              </a:buClr>
              <a:buSzPts val="2300"/>
              <a:buFont typeface="Arial"/>
              <a:buNone/>
              <a:defRPr sz="23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288" name="Google Shape;288;p86"/>
          <p:cNvSpPr txBox="1">
            <a:spLocks noGrp="1"/>
          </p:cNvSpPr>
          <p:nvPr>
            <p:ph type="title"/>
          </p:nvPr>
        </p:nvSpPr>
        <p:spPr>
          <a:xfrm>
            <a:off x="457200" y="411480"/>
            <a:ext cx="11277600" cy="8763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1900"/>
              <a:buFont typeface="Arial"/>
              <a:buNone/>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
        <p:nvSpPr>
          <p:cNvPr id="289" name="Google Shape;289;p86"/>
          <p:cNvSpPr txBox="1">
            <a:spLocks noGrp="1"/>
          </p:cNvSpPr>
          <p:nvPr>
            <p:ph type="ftr" idx="11"/>
          </p:nvPr>
        </p:nvSpPr>
        <p:spPr>
          <a:xfrm>
            <a:off x="4165600" y="6556248"/>
            <a:ext cx="3860700" cy="3015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800" b="1" i="0" u="none" strike="noStrike" cap="none">
                <a:solidFill>
                  <a:srgbClr val="D8D8D8"/>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9pPr>
          </a:lstStyle>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991134"/>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General Slide">
  <p:cSld name="General Slide">
    <p:spTree>
      <p:nvGrpSpPr>
        <p:cNvPr id="1" name="Shape 294"/>
        <p:cNvGrpSpPr/>
        <p:nvPr/>
      </p:nvGrpSpPr>
      <p:grpSpPr>
        <a:xfrm>
          <a:off x="0" y="0"/>
          <a:ext cx="0" cy="0"/>
          <a:chOff x="0" y="0"/>
          <a:chExt cx="0" cy="0"/>
        </a:xfrm>
      </p:grpSpPr>
      <p:sp>
        <p:nvSpPr>
          <p:cNvPr id="295" name="Google Shape;295;p59"/>
          <p:cNvSpPr txBox="1">
            <a:spLocks noGrp="1"/>
          </p:cNvSpPr>
          <p:nvPr>
            <p:ph type="body" idx="1"/>
          </p:nvPr>
        </p:nvSpPr>
        <p:spPr>
          <a:xfrm>
            <a:off x="609600" y="1371600"/>
            <a:ext cx="9448800" cy="42309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1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1pPr>
            <a:lvl2pPr marL="914400" marR="0" lvl="1" indent="-349250" algn="l" rtl="0">
              <a:lnSpc>
                <a:spcPct val="90000"/>
              </a:lnSpc>
              <a:spcBef>
                <a:spcPts val="500"/>
              </a:spcBef>
              <a:spcAft>
                <a:spcPts val="0"/>
              </a:spcAft>
              <a:buClr>
                <a:schemeClr val="accent1"/>
              </a:buClr>
              <a:buSzPts val="1900"/>
              <a:buFont typeface="Arial"/>
              <a:buChar char="•"/>
              <a:defRPr sz="1900" b="0" i="0" u="none" strike="noStrike" cap="none">
                <a:solidFill>
                  <a:schemeClr val="accent1"/>
                </a:solidFill>
                <a:latin typeface="DM Sans"/>
                <a:ea typeface="DM Sans"/>
                <a:cs typeface="DM Sans"/>
                <a:sym typeface="DM Sans"/>
              </a:defRPr>
            </a:lvl2pPr>
            <a:lvl3pPr marL="1371600" marR="0" lvl="2"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3pPr>
            <a:lvl4pPr marL="1828800" marR="0" lvl="3" indent="-323850" algn="l" rtl="0">
              <a:lnSpc>
                <a:spcPct val="90000"/>
              </a:lnSpc>
              <a:spcBef>
                <a:spcPts val="5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4pPr>
            <a:lvl5pPr marL="2286000" marR="0" lvl="4" indent="-304800" algn="l" rtl="0">
              <a:lnSpc>
                <a:spcPct val="90000"/>
              </a:lnSpc>
              <a:spcBef>
                <a:spcPts val="500"/>
              </a:spcBef>
              <a:spcAft>
                <a:spcPts val="0"/>
              </a:spcAft>
              <a:buClr>
                <a:schemeClr val="accent1"/>
              </a:buClr>
              <a:buSzPts val="1200"/>
              <a:buFont typeface="Arial"/>
              <a:buChar char="•"/>
              <a:defRPr sz="1200" b="0" i="0" u="none" strike="noStrike" cap="none">
                <a:solidFill>
                  <a:schemeClr val="accen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296" name="Google Shape;296;p59"/>
          <p:cNvSpPr txBox="1">
            <a:spLocks noGrp="1"/>
          </p:cNvSpPr>
          <p:nvPr>
            <p:ph type="body" idx="2"/>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297" name="Google Shape;297;p59"/>
          <p:cNvSpPr txBox="1">
            <a:spLocks noGrp="1"/>
          </p:cNvSpPr>
          <p:nvPr>
            <p:ph type="body" idx="3"/>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959403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298"/>
        <p:cNvGrpSpPr/>
        <p:nvPr/>
      </p:nvGrpSpPr>
      <p:grpSpPr>
        <a:xfrm>
          <a:off x="0" y="0"/>
          <a:ext cx="0" cy="0"/>
          <a:chOff x="0" y="0"/>
          <a:chExt cx="0" cy="0"/>
        </a:xfrm>
      </p:grpSpPr>
      <p:sp>
        <p:nvSpPr>
          <p:cNvPr id="299" name="Google Shape;299;p60"/>
          <p:cNvSpPr txBox="1">
            <a:spLocks noGrp="1"/>
          </p:cNvSpPr>
          <p:nvPr>
            <p:ph type="title"/>
          </p:nvPr>
        </p:nvSpPr>
        <p:spPr>
          <a:xfrm>
            <a:off x="377371" y="185057"/>
            <a:ext cx="8534400" cy="5817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rgbClr val="000000"/>
              </a:buClr>
              <a:buSzPts val="1900"/>
              <a:buFont typeface="Arial"/>
              <a:buNone/>
              <a:defRPr sz="2400" b="1" i="0" u="none" strike="noStrike" cap="none">
                <a:solidFill>
                  <a:schemeClr val="dk2"/>
                </a:solidFill>
                <a:latin typeface="Avenir"/>
                <a:ea typeface="Avenir"/>
                <a:cs typeface="Avenir"/>
                <a:sym typeface="Avenir"/>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300" name="Google Shape;300;p60"/>
          <p:cNvSpPr txBox="1">
            <a:spLocks noGrp="1"/>
          </p:cNvSpPr>
          <p:nvPr>
            <p:ph type="body" idx="1"/>
          </p:nvPr>
        </p:nvSpPr>
        <p:spPr>
          <a:xfrm>
            <a:off x="406401" y="1012372"/>
            <a:ext cx="11364300" cy="1415700"/>
          </a:xfrm>
          <a:prstGeom prst="rect">
            <a:avLst/>
          </a:prstGeom>
          <a:noFill/>
          <a:ln>
            <a:noFill/>
          </a:ln>
        </p:spPr>
        <p:txBody>
          <a:bodyPr spcFirstLastPara="1" wrap="square" lIns="0" tIns="0" rIns="0" bIns="0" anchor="t" anchorCtr="0">
            <a:spAutoFit/>
          </a:bodyPr>
          <a:lstStyle>
            <a:lvl1pPr marL="457200" marR="0" lvl="0" indent="-381000" algn="l" rtl="0">
              <a:lnSpc>
                <a:spcPct val="100000"/>
              </a:lnSpc>
              <a:spcBef>
                <a:spcPts val="500"/>
              </a:spcBef>
              <a:spcAft>
                <a:spcPts val="0"/>
              </a:spcAft>
              <a:buClr>
                <a:srgbClr val="0082CA"/>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400050" algn="l" rtl="0">
              <a:lnSpc>
                <a:spcPct val="100000"/>
              </a:lnSpc>
              <a:spcBef>
                <a:spcPts val="400"/>
              </a:spcBef>
              <a:spcAft>
                <a:spcPts val="0"/>
              </a:spcAft>
              <a:buClr>
                <a:srgbClr val="0082CA"/>
              </a:buClr>
              <a:buSzPts val="2700"/>
              <a:buFont typeface="Arial"/>
              <a:buChar char="-"/>
              <a:defRPr sz="2100" b="0" i="0" u="none" strike="noStrike" cap="none">
                <a:solidFill>
                  <a:schemeClr val="dk1"/>
                </a:solidFill>
                <a:latin typeface="Arial"/>
                <a:ea typeface="Arial"/>
                <a:cs typeface="Arial"/>
                <a:sym typeface="Arial"/>
              </a:defRPr>
            </a:lvl2pPr>
            <a:lvl3pPr marL="1371600" marR="0" lvl="2" indent="-361950" algn="l" rtl="0">
              <a:lnSpc>
                <a:spcPct val="100000"/>
              </a:lnSpc>
              <a:spcBef>
                <a:spcPts val="400"/>
              </a:spcBef>
              <a:spcAft>
                <a:spcPts val="0"/>
              </a:spcAft>
              <a:buClr>
                <a:srgbClr val="0082CA"/>
              </a:buClr>
              <a:buSzPts val="2100"/>
              <a:buFont typeface="Arial"/>
              <a:buChar char="–"/>
              <a:defRPr sz="1900" b="0" i="0" u="none" strike="noStrike" cap="none">
                <a:solidFill>
                  <a:schemeClr val="dk1"/>
                </a:solidFill>
                <a:latin typeface="Arial"/>
                <a:ea typeface="Arial"/>
                <a:cs typeface="Arial"/>
                <a:sym typeface="Arial"/>
              </a:defRPr>
            </a:lvl3pPr>
            <a:lvl4pPr marL="1828800" marR="0" lvl="3" indent="-330200" algn="l" rtl="0">
              <a:lnSpc>
                <a:spcPct val="100000"/>
              </a:lnSpc>
              <a:spcBef>
                <a:spcPts val="300"/>
              </a:spcBef>
              <a:spcAft>
                <a:spcPts val="0"/>
              </a:spcAft>
              <a:buClr>
                <a:srgbClr val="0082CA"/>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04800" algn="l" rtl="0">
              <a:lnSpc>
                <a:spcPct val="100000"/>
              </a:lnSpc>
              <a:spcBef>
                <a:spcPts val="300"/>
              </a:spcBef>
              <a:spcAft>
                <a:spcPts val="0"/>
              </a:spcAft>
              <a:buClr>
                <a:srgbClr val="0082CA"/>
              </a:buClr>
              <a:buSzPts val="1200"/>
              <a:buFont typeface="Arial"/>
              <a:buChar char="○"/>
              <a:defRPr sz="1500" b="0" i="0" u="none" strike="noStrike" cap="none">
                <a:solidFill>
                  <a:schemeClr val="dk1"/>
                </a:solidFill>
                <a:latin typeface="Arial"/>
                <a:ea typeface="Arial"/>
                <a:cs typeface="Arial"/>
                <a:sym typeface="Arial"/>
              </a:defRPr>
            </a:lvl5pPr>
            <a:lvl6pPr marL="2743200" marR="0" lvl="5"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301" name="Google Shape;301;p60"/>
          <p:cNvSpPr txBox="1">
            <a:spLocks noGrp="1"/>
          </p:cNvSpPr>
          <p:nvPr>
            <p:ph type="ftr" idx="11"/>
          </p:nvPr>
        </p:nvSpPr>
        <p:spPr>
          <a:xfrm>
            <a:off x="1828800" y="6356351"/>
            <a:ext cx="8534400" cy="365100"/>
          </a:xfrm>
          <a:prstGeom prst="rect">
            <a:avLst/>
          </a:prstGeom>
          <a:noFill/>
          <a:ln>
            <a:noFill/>
          </a:ln>
        </p:spPr>
        <p:txBody>
          <a:bodyPr spcFirstLastPara="1" wrap="square" lIns="107875" tIns="53925" rIns="107875" bIns="53925" anchor="t" anchorCtr="0">
            <a:noAutofit/>
          </a:bodyPr>
          <a:lstStyle>
            <a:lvl1pPr marR="0" lvl="0" algn="ctr" rtl="0">
              <a:lnSpc>
                <a:spcPct val="100000"/>
              </a:lnSpc>
              <a:spcBef>
                <a:spcPts val="0"/>
              </a:spcBef>
              <a:spcAft>
                <a:spcPts val="0"/>
              </a:spcAft>
              <a:buClr>
                <a:srgbClr val="000000"/>
              </a:buClr>
              <a:buSzPts val="1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2pPr>
            <a:lvl3pPr marR="0" lvl="2"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3pPr>
            <a:lvl4pPr marR="0" lvl="3"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4pPr>
            <a:lvl5pPr marR="0" lvl="4"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5pPr>
            <a:lvl6pPr marR="0" lvl="5"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6pPr>
            <a:lvl7pPr marR="0" lvl="6"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7pPr>
            <a:lvl8pPr marR="0" lvl="7"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8pPr>
            <a:lvl9pPr marR="0" lvl="8"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9pPr>
          </a:lstStyle>
          <a:p>
            <a:endParaRPr dirty="0"/>
          </a:p>
        </p:txBody>
      </p:sp>
      <p:sp>
        <p:nvSpPr>
          <p:cNvPr id="302" name="Google Shape;302;p60"/>
          <p:cNvSpPr txBox="1">
            <a:spLocks noGrp="1"/>
          </p:cNvSpPr>
          <p:nvPr>
            <p:ph type="sldNum" idx="12"/>
          </p:nvPr>
        </p:nvSpPr>
        <p:spPr>
          <a:xfrm>
            <a:off x="376767" y="6356351"/>
            <a:ext cx="537600" cy="365100"/>
          </a:xfrm>
          <a:prstGeom prst="rect">
            <a:avLst/>
          </a:prstGeom>
          <a:noFill/>
          <a:ln>
            <a:noFill/>
          </a:ln>
        </p:spPr>
        <p:txBody>
          <a:bodyPr spcFirstLastPara="1" wrap="square" lIns="107875" tIns="53925" rIns="107875" bIns="53925"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16007623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Master Title Slide - White">
  <p:cSld name="1_Master Title Slide - White">
    <p:spTree>
      <p:nvGrpSpPr>
        <p:cNvPr id="1" name="Shape 303"/>
        <p:cNvGrpSpPr/>
        <p:nvPr/>
      </p:nvGrpSpPr>
      <p:grpSpPr>
        <a:xfrm>
          <a:off x="0" y="0"/>
          <a:ext cx="0" cy="0"/>
          <a:chOff x="0" y="0"/>
          <a:chExt cx="0" cy="0"/>
        </a:xfrm>
      </p:grpSpPr>
      <p:pic>
        <p:nvPicPr>
          <p:cNvPr id="304" name="Google Shape;304;p87"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05" name="Google Shape;305;p87"/>
          <p:cNvSpPr txBox="1">
            <a:spLocks noGrp="1"/>
          </p:cNvSpPr>
          <p:nvPr>
            <p:ph type="body" idx="1"/>
          </p:nvPr>
        </p:nvSpPr>
        <p:spPr>
          <a:xfrm>
            <a:off x="1295400" y="3124200"/>
            <a:ext cx="6705600" cy="609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0"/>
              </a:spcBef>
              <a:spcAft>
                <a:spcPts val="0"/>
              </a:spcAft>
              <a:buClr>
                <a:srgbClr val="000000"/>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306" name="Google Shape;306;p87"/>
          <p:cNvSpPr txBox="1">
            <a:spLocks noGrp="1"/>
          </p:cNvSpPr>
          <p:nvPr>
            <p:ph type="body" idx="2"/>
          </p:nvPr>
        </p:nvSpPr>
        <p:spPr>
          <a:xfrm>
            <a:off x="1295400" y="3733800"/>
            <a:ext cx="6705600" cy="3048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pic>
        <p:nvPicPr>
          <p:cNvPr id="307" name="Google Shape;307;p87"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308" name="Google Shape;308;p87"/>
          <p:cNvSpPr/>
          <p:nvPr/>
        </p:nvSpPr>
        <p:spPr>
          <a:xfrm>
            <a:off x="6400800" y="6553200"/>
            <a:ext cx="5257500" cy="84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00"/>
              <a:buFont typeface="Arial"/>
              <a:buNone/>
            </a:pPr>
            <a:r>
              <a:rPr lang="en-US" sz="500" b="0" i="0" u="none" strike="noStrike" cap="none" dirty="0">
                <a:solidFill>
                  <a:schemeClr val="accent6"/>
                </a:solidFill>
                <a:latin typeface="Roboto"/>
                <a:ea typeface="Roboto"/>
                <a:cs typeface="Roboto"/>
                <a:sym typeface="Roboto"/>
              </a:rPr>
              <a:t>Blue Cross Blue Shield of Massachusetts is an Independent Licensee of the Blue Cross and Blue Shield Association.</a:t>
            </a:r>
            <a:endParaRPr sz="500" b="0" i="0" u="none" strike="noStrike" cap="none" dirty="0">
              <a:solidFill>
                <a:schemeClr val="accent6"/>
              </a:solidFill>
              <a:latin typeface="Arial"/>
              <a:ea typeface="Arial"/>
              <a:cs typeface="Arial"/>
              <a:sym typeface="Arial"/>
            </a:endParaRPr>
          </a:p>
        </p:txBody>
      </p:sp>
      <p:sp>
        <p:nvSpPr>
          <p:cNvPr id="309" name="Google Shape;309;p87"/>
          <p:cNvSpPr txBox="1"/>
          <p:nvPr/>
        </p:nvSpPr>
        <p:spPr>
          <a:xfrm>
            <a:off x="7391400" y="6400800"/>
            <a:ext cx="4267200" cy="1077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Arial"/>
              <a:buNone/>
            </a:pPr>
            <a:r>
              <a:rPr lang="en-US" sz="700" b="1" i="0" u="none" strike="noStrike" cap="none" dirty="0">
                <a:solidFill>
                  <a:srgbClr val="7F7F7F"/>
                </a:solidFill>
                <a:latin typeface="DM Sans"/>
                <a:ea typeface="DM Sans"/>
                <a:cs typeface="DM Sans"/>
                <a:sym typeface="DM Sans"/>
              </a:rPr>
              <a:t>BLUE CROSS BLUE SHIELD OF MASSACHUSETTS | </a:t>
            </a:r>
            <a:r>
              <a:rPr lang="en-US" sz="700" b="0" i="0" u="none" strike="noStrike" cap="none" dirty="0">
                <a:solidFill>
                  <a:srgbClr val="7F7F7F"/>
                </a:solidFill>
                <a:latin typeface="DM Sans"/>
                <a:ea typeface="DM Sans"/>
                <a:cs typeface="DM Sans"/>
                <a:sym typeface="DM Sans"/>
              </a:rPr>
              <a:t>CONFIDENTIAL – NOT FOR DISTRIBUTION</a:t>
            </a:r>
            <a:endParaRPr sz="15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5666898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Divider Slide - White">
  <p:cSld name="Divider Slide - White">
    <p:spTree>
      <p:nvGrpSpPr>
        <p:cNvPr id="1" name="Shape 310"/>
        <p:cNvGrpSpPr/>
        <p:nvPr/>
      </p:nvGrpSpPr>
      <p:grpSpPr>
        <a:xfrm>
          <a:off x="0" y="0"/>
          <a:ext cx="0" cy="0"/>
          <a:chOff x="0" y="0"/>
          <a:chExt cx="0" cy="0"/>
        </a:xfrm>
      </p:grpSpPr>
      <p:cxnSp>
        <p:nvCxnSpPr>
          <p:cNvPr id="311" name="Google Shape;311;p88"/>
          <p:cNvCxnSpPr/>
          <p:nvPr/>
        </p:nvCxnSpPr>
        <p:spPr>
          <a:xfrm>
            <a:off x="1056861" y="2166730"/>
            <a:ext cx="10077900" cy="0"/>
          </a:xfrm>
          <a:prstGeom prst="straightConnector1">
            <a:avLst/>
          </a:prstGeom>
          <a:noFill/>
          <a:ln w="9525" cap="flat" cmpd="sng">
            <a:solidFill>
              <a:srgbClr val="A5A5A5"/>
            </a:solidFill>
            <a:prstDash val="solid"/>
            <a:miter lim="800000"/>
            <a:headEnd type="none" w="sm" len="sm"/>
            <a:tailEnd type="none" w="sm" len="sm"/>
          </a:ln>
        </p:spPr>
      </p:cxnSp>
      <p:sp>
        <p:nvSpPr>
          <p:cNvPr id="312" name="Google Shape;312;p88"/>
          <p:cNvSpPr txBox="1">
            <a:spLocks noGrp="1"/>
          </p:cNvSpPr>
          <p:nvPr>
            <p:ph type="body" idx="1"/>
          </p:nvPr>
        </p:nvSpPr>
        <p:spPr>
          <a:xfrm>
            <a:off x="1056859" y="2524746"/>
            <a:ext cx="10077900" cy="2961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2pPr>
            <a:lvl3pPr marL="1371600" marR="0" lvl="2"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3pPr>
            <a:lvl4pPr marL="1828800" marR="0" lvl="3"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4pPr>
            <a:lvl5pPr marL="2286000" marR="0" lvl="4"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6229075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General Content Slide + Subtitle">
  <p:cSld name="General Content Slide + Subtitle">
    <p:spTree>
      <p:nvGrpSpPr>
        <p:cNvPr id="1" name="Shape 313"/>
        <p:cNvGrpSpPr/>
        <p:nvPr/>
      </p:nvGrpSpPr>
      <p:grpSpPr>
        <a:xfrm>
          <a:off x="0" y="0"/>
          <a:ext cx="0" cy="0"/>
          <a:chOff x="0" y="0"/>
          <a:chExt cx="0" cy="0"/>
        </a:xfrm>
      </p:grpSpPr>
      <p:sp>
        <p:nvSpPr>
          <p:cNvPr id="314" name="Google Shape;314;p89"/>
          <p:cNvSpPr txBox="1">
            <a:spLocks noGrp="1"/>
          </p:cNvSpPr>
          <p:nvPr>
            <p:ph type="body" idx="1"/>
          </p:nvPr>
        </p:nvSpPr>
        <p:spPr>
          <a:xfrm>
            <a:off x="829055" y="824322"/>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164E9C"/>
              </a:buClr>
              <a:buSzPts val="1900"/>
              <a:buFont typeface="Arial"/>
              <a:buNone/>
              <a:defRPr sz="1900" b="1" i="0" u="none" strike="noStrike" cap="none">
                <a:solidFill>
                  <a:srgbClr val="164E9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15" name="Google Shape;315;p89"/>
          <p:cNvSpPr txBox="1"/>
          <p:nvPr/>
        </p:nvSpPr>
        <p:spPr>
          <a:xfrm>
            <a:off x="3330799" y="6335615"/>
            <a:ext cx="78153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64E9C"/>
              </a:buClr>
              <a:buSzPts val="1100"/>
              <a:buFont typeface="Calibri"/>
              <a:buNone/>
            </a:pPr>
            <a:r>
              <a:rPr lang="en-US" sz="1100" b="1" i="0" u="none" strike="noStrike" cap="none" dirty="0">
                <a:solidFill>
                  <a:srgbClr val="164E9C"/>
                </a:solidFill>
                <a:latin typeface="Calibri"/>
                <a:ea typeface="Calibri"/>
                <a:cs typeface="Calibri"/>
                <a:sym typeface="Calibri"/>
              </a:rPr>
              <a:t>BLUE CROSS BLUE SHIELD OF MASSACHUSETTS |</a:t>
            </a:r>
            <a:r>
              <a:rPr lang="en-US" sz="1100" b="0" i="0" u="none" strike="noStrike" cap="none" dirty="0">
                <a:solidFill>
                  <a:srgbClr val="164E9C"/>
                </a:solidFill>
                <a:latin typeface="Calibri"/>
                <a:ea typeface="Calibri"/>
                <a:cs typeface="Calibri"/>
                <a:sym typeface="Calibri"/>
              </a:rPr>
              <a:t> CONFIDENTIAL – NOT FOR DISTRIBUTION</a:t>
            </a:r>
            <a:endParaRPr sz="1100" b="0" i="0" u="none" strike="noStrike" cap="none" dirty="0">
              <a:solidFill>
                <a:srgbClr val="164E9C"/>
              </a:solidFill>
              <a:latin typeface="Calibri"/>
              <a:ea typeface="Calibri"/>
              <a:cs typeface="Calibri"/>
              <a:sym typeface="Calibri"/>
            </a:endParaRPr>
          </a:p>
        </p:txBody>
      </p:sp>
      <p:sp>
        <p:nvSpPr>
          <p:cNvPr id="316" name="Google Shape;316;p89"/>
          <p:cNvSpPr txBox="1">
            <a:spLocks noGrp="1"/>
          </p:cNvSpPr>
          <p:nvPr>
            <p:ph type="body" idx="2"/>
          </p:nvPr>
        </p:nvSpPr>
        <p:spPr>
          <a:xfrm>
            <a:off x="829055" y="1143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2AAED"/>
              </a:buClr>
              <a:buSzPts val="1600"/>
              <a:buFont typeface="Arial"/>
              <a:buNone/>
              <a:defRPr sz="1600" b="0" i="0" u="none" strike="noStrike" cap="none">
                <a:solidFill>
                  <a:srgbClr val="52AAED"/>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17" name="Google Shape;317;p89"/>
          <p:cNvSpPr txBox="1">
            <a:spLocks noGrp="1"/>
          </p:cNvSpPr>
          <p:nvPr>
            <p:ph type="body" idx="3"/>
          </p:nvPr>
        </p:nvSpPr>
        <p:spPr>
          <a:xfrm>
            <a:off x="829055" y="1752600"/>
            <a:ext cx="9448800" cy="42309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1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1pPr>
            <a:lvl2pPr marL="914400" marR="0" lvl="1"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2pPr>
            <a:lvl3pPr marL="1371600" marR="0" lvl="2"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3pPr>
            <a:lvl4pPr marL="1828800" marR="0" lvl="3"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4pPr>
            <a:lvl5pPr marL="2286000" marR="0" lvl="4"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18" name="Google Shape;318;p89"/>
          <p:cNvSpPr txBox="1">
            <a:spLocks noGrp="1"/>
          </p:cNvSpPr>
          <p:nvPr>
            <p:ph type="body" idx="4"/>
          </p:nvPr>
        </p:nvSpPr>
        <p:spPr>
          <a:xfrm rot="-5400000">
            <a:off x="-2376963" y="2915274"/>
            <a:ext cx="5678400" cy="4572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100"/>
              </a:spcBef>
              <a:spcAft>
                <a:spcPts val="0"/>
              </a:spcAft>
              <a:buClr>
                <a:srgbClr val="164E9C"/>
              </a:buClr>
              <a:buSzPts val="1200"/>
              <a:buFont typeface="Arial"/>
              <a:buNone/>
              <a:defRPr sz="1200" b="0" i="0" u="none" strike="noStrike" cap="none">
                <a:solidFill>
                  <a:srgbClr val="164E9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265435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19"/>
        <p:cNvGrpSpPr/>
        <p:nvPr/>
      </p:nvGrpSpPr>
      <p:grpSpPr>
        <a:xfrm>
          <a:off x="0" y="0"/>
          <a:ext cx="0" cy="0"/>
          <a:chOff x="0" y="0"/>
          <a:chExt cx="0" cy="0"/>
        </a:xfrm>
      </p:grpSpPr>
      <p:sp>
        <p:nvSpPr>
          <p:cNvPr id="320" name="Google Shape;320;p90"/>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
        <p:nvSpPr>
          <p:cNvPr id="321" name="Google Shape;321;p90"/>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1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900"/>
              <a:buFont typeface="Arial"/>
              <a:buNone/>
              <a:defRPr sz="19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322" name="Google Shape;322;p9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9pPr>
          </a:lstStyle>
          <a:p>
            <a:endParaRPr dirty="0"/>
          </a:p>
        </p:txBody>
      </p:sp>
      <p:sp>
        <p:nvSpPr>
          <p:cNvPr id="323" name="Google Shape;323;p9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9pPr>
          </a:lstStyle>
          <a:p>
            <a:endParaRPr dirty="0"/>
          </a:p>
        </p:txBody>
      </p:sp>
      <p:sp>
        <p:nvSpPr>
          <p:cNvPr id="324" name="Google Shape;324;p9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32300167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25"/>
        <p:cNvGrpSpPr/>
        <p:nvPr/>
      </p:nvGrpSpPr>
      <p:grpSpPr>
        <a:xfrm>
          <a:off x="0" y="0"/>
          <a:ext cx="0" cy="0"/>
          <a:chOff x="0" y="0"/>
          <a:chExt cx="0" cy="0"/>
        </a:xfrm>
      </p:grpSpPr>
      <p:sp>
        <p:nvSpPr>
          <p:cNvPr id="326" name="Google Shape;326;p91"/>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370717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aster Title Slide - Blue and White 1">
  <p:cSld name="Master Title Slide - Blue and White 1">
    <p:spTree>
      <p:nvGrpSpPr>
        <p:cNvPr id="1" name="Shape 327"/>
        <p:cNvGrpSpPr/>
        <p:nvPr/>
      </p:nvGrpSpPr>
      <p:grpSpPr>
        <a:xfrm>
          <a:off x="0" y="0"/>
          <a:ext cx="0" cy="0"/>
          <a:chOff x="0" y="0"/>
          <a:chExt cx="0" cy="0"/>
        </a:xfrm>
      </p:grpSpPr>
      <p:pic>
        <p:nvPicPr>
          <p:cNvPr id="328" name="Google Shape;328;p92" descr="A close up of a logo&#10;&#10;Description automatically generated"/>
          <p:cNvPicPr preferRelativeResize="0"/>
          <p:nvPr/>
        </p:nvPicPr>
        <p:blipFill rotWithShape="1">
          <a:blip r:embed="rId2">
            <a:alphaModFix/>
          </a:blip>
          <a:srcRect/>
          <a:stretch/>
        </p:blipFill>
        <p:spPr>
          <a:xfrm>
            <a:off x="0" y="0"/>
            <a:ext cx="12192000" cy="6858001"/>
          </a:xfrm>
          <a:prstGeom prst="rect">
            <a:avLst/>
          </a:prstGeom>
          <a:noFill/>
          <a:ln>
            <a:noFill/>
          </a:ln>
        </p:spPr>
      </p:pic>
      <p:sp>
        <p:nvSpPr>
          <p:cNvPr id="329" name="Google Shape;329;p92"/>
          <p:cNvSpPr txBox="1">
            <a:spLocks noGrp="1"/>
          </p:cNvSpPr>
          <p:nvPr>
            <p:ph type="body" idx="1"/>
          </p:nvPr>
        </p:nvSpPr>
        <p:spPr>
          <a:xfrm>
            <a:off x="978977" y="2819400"/>
            <a:ext cx="7544100" cy="9144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0"/>
              </a:spcBef>
              <a:spcAft>
                <a:spcPts val="0"/>
              </a:spcAft>
              <a:buClr>
                <a:schemeClr val="lt1"/>
              </a:buClr>
              <a:buSzPts val="2400"/>
              <a:buFont typeface="Arial"/>
              <a:buNone/>
              <a:defRPr sz="2400" b="0" i="0" u="none" strike="noStrike" cap="none">
                <a:solidFill>
                  <a:schemeClr val="lt1"/>
                </a:solidFill>
                <a:latin typeface="DM Sans"/>
                <a:ea typeface="DM Sans"/>
                <a:cs typeface="DM Sans"/>
                <a:sym typeface="DM Sans"/>
              </a:defRPr>
            </a:lvl1pPr>
            <a:lvl2pPr marL="914400" marR="0" lvl="1" indent="-228600" algn="l" rtl="0">
              <a:lnSpc>
                <a:spcPct val="90000"/>
              </a:lnSpc>
              <a:spcBef>
                <a:spcPts val="1100"/>
              </a:spcBef>
              <a:spcAft>
                <a:spcPts val="0"/>
              </a:spcAft>
              <a:buClr>
                <a:schemeClr val="lt1"/>
              </a:buClr>
              <a:buSzPts val="2500"/>
              <a:buFont typeface="Arial"/>
              <a:buNone/>
              <a:defRPr sz="25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30" name="Google Shape;330;p92"/>
          <p:cNvSpPr txBox="1">
            <a:spLocks noGrp="1"/>
          </p:cNvSpPr>
          <p:nvPr>
            <p:ph type="body" idx="2"/>
          </p:nvPr>
        </p:nvSpPr>
        <p:spPr>
          <a:xfrm>
            <a:off x="871955" y="2097024"/>
            <a:ext cx="7620000" cy="61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2pPr>
            <a:lvl3pPr marL="1371600" marR="0" lvl="2"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3pPr>
            <a:lvl4pPr marL="1828800" marR="0" lvl="3"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4pPr>
            <a:lvl5pPr marL="2286000" marR="0" lvl="4"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31" name="Google Shape;331;p92"/>
          <p:cNvSpPr/>
          <p:nvPr/>
        </p:nvSpPr>
        <p:spPr>
          <a:xfrm>
            <a:off x="6400800" y="6553200"/>
            <a:ext cx="5257500" cy="84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00"/>
              <a:buFont typeface="Arial"/>
              <a:buNone/>
            </a:pPr>
            <a:r>
              <a:rPr lang="en-US" sz="500" b="0" i="0" u="none" strike="noStrike" cap="none" dirty="0">
                <a:solidFill>
                  <a:schemeClr val="accent6"/>
                </a:solidFill>
                <a:latin typeface="Roboto"/>
                <a:ea typeface="Roboto"/>
                <a:cs typeface="Roboto"/>
                <a:sym typeface="Roboto"/>
              </a:rPr>
              <a:t>Blue Cross Blue Shield of Massachusetts is an Independent Licensee of the Blue Cross and Blue Shield Association.</a:t>
            </a:r>
            <a:endParaRPr sz="500" b="0" i="0" u="none" strike="noStrike" cap="none" dirty="0">
              <a:solidFill>
                <a:schemeClr val="accent6"/>
              </a:solidFill>
              <a:latin typeface="Calibri"/>
              <a:ea typeface="Calibri"/>
              <a:cs typeface="Calibri"/>
              <a:sym typeface="Calibri"/>
            </a:endParaRPr>
          </a:p>
        </p:txBody>
      </p:sp>
      <p:pic>
        <p:nvPicPr>
          <p:cNvPr id="332" name="Google Shape;332;p92"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333" name="Google Shape;333;p92"/>
          <p:cNvSpPr txBox="1"/>
          <p:nvPr/>
        </p:nvSpPr>
        <p:spPr>
          <a:xfrm>
            <a:off x="7391400" y="6400800"/>
            <a:ext cx="4267200" cy="1077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dirty="0">
                <a:solidFill>
                  <a:srgbClr val="7F7F7F"/>
                </a:solidFill>
                <a:latin typeface="DM Sans"/>
                <a:ea typeface="DM Sans"/>
                <a:cs typeface="DM Sans"/>
                <a:sym typeface="DM Sans"/>
              </a:rPr>
              <a:t>BLUE CROSS BLUE SHIELD OF MASSACHUSETTS | </a:t>
            </a:r>
            <a:r>
              <a:rPr lang="en-US" sz="700" b="0" i="0" u="none" strike="noStrike" cap="none" dirty="0">
                <a:solidFill>
                  <a:srgbClr val="7F7F7F"/>
                </a:solidFill>
                <a:latin typeface="DM Sans"/>
                <a:ea typeface="DM Sans"/>
                <a:cs typeface="DM Sans"/>
                <a:sym typeface="DM Sans"/>
              </a:rPr>
              <a:t>CONFIDENTIAL – NOT FOR DISTRIBUTION</a:t>
            </a:r>
            <a:endParaRPr sz="15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0468212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Master Title Slide - White">
  <p:cSld name="Master Title Slide - White">
    <p:spTree>
      <p:nvGrpSpPr>
        <p:cNvPr id="1" name="Shape 334"/>
        <p:cNvGrpSpPr/>
        <p:nvPr/>
      </p:nvGrpSpPr>
      <p:grpSpPr>
        <a:xfrm>
          <a:off x="0" y="0"/>
          <a:ext cx="0" cy="0"/>
          <a:chOff x="0" y="0"/>
          <a:chExt cx="0" cy="0"/>
        </a:xfrm>
      </p:grpSpPr>
      <p:pic>
        <p:nvPicPr>
          <p:cNvPr id="335" name="Google Shape;335;p93"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36" name="Google Shape;336;p93"/>
          <p:cNvSpPr txBox="1">
            <a:spLocks noGrp="1"/>
          </p:cNvSpPr>
          <p:nvPr>
            <p:ph type="body" idx="1"/>
          </p:nvPr>
        </p:nvSpPr>
        <p:spPr>
          <a:xfrm>
            <a:off x="1295400" y="3124200"/>
            <a:ext cx="6705600" cy="609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37" name="Google Shape;337;p93"/>
          <p:cNvSpPr txBox="1">
            <a:spLocks noGrp="1"/>
          </p:cNvSpPr>
          <p:nvPr>
            <p:ph type="body" idx="2"/>
          </p:nvPr>
        </p:nvSpPr>
        <p:spPr>
          <a:xfrm>
            <a:off x="1295400" y="3733800"/>
            <a:ext cx="6705600" cy="3048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pic>
        <p:nvPicPr>
          <p:cNvPr id="338" name="Google Shape;338;p93"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339" name="Google Shape;339;p93"/>
          <p:cNvSpPr/>
          <p:nvPr/>
        </p:nvSpPr>
        <p:spPr>
          <a:xfrm>
            <a:off x="6400800" y="6553200"/>
            <a:ext cx="5257500" cy="84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00"/>
              <a:buFont typeface="Arial"/>
              <a:buNone/>
            </a:pPr>
            <a:r>
              <a:rPr lang="en-US" sz="500" b="0" i="0" u="none" strike="noStrike" cap="none" dirty="0">
                <a:solidFill>
                  <a:schemeClr val="accent6"/>
                </a:solidFill>
                <a:latin typeface="Roboto"/>
                <a:ea typeface="Roboto"/>
                <a:cs typeface="Roboto"/>
                <a:sym typeface="Roboto"/>
              </a:rPr>
              <a:t>Blue Cross Blue Shield of Massachusetts is an Independent Licensee of the Blue Cross and Blue Shield Association.</a:t>
            </a:r>
            <a:endParaRPr sz="500" b="0" i="0" u="none" strike="noStrike" cap="none" dirty="0">
              <a:solidFill>
                <a:schemeClr val="accent6"/>
              </a:solidFill>
              <a:latin typeface="Calibri"/>
              <a:ea typeface="Calibri"/>
              <a:cs typeface="Calibri"/>
              <a:sym typeface="Calibri"/>
            </a:endParaRPr>
          </a:p>
        </p:txBody>
      </p:sp>
      <p:sp>
        <p:nvSpPr>
          <p:cNvPr id="340" name="Google Shape;340;p93"/>
          <p:cNvSpPr txBox="1"/>
          <p:nvPr/>
        </p:nvSpPr>
        <p:spPr>
          <a:xfrm>
            <a:off x="7391400" y="6400800"/>
            <a:ext cx="4267200" cy="1077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dirty="0">
                <a:solidFill>
                  <a:srgbClr val="7F7F7F"/>
                </a:solidFill>
                <a:latin typeface="DM Sans"/>
                <a:ea typeface="DM Sans"/>
                <a:cs typeface="DM Sans"/>
                <a:sym typeface="DM Sans"/>
              </a:rPr>
              <a:t>BLUE CROSS BLUE SHIELD OF MASSACHUSETTS | </a:t>
            </a:r>
            <a:r>
              <a:rPr lang="en-US" sz="700" b="0" i="0" u="none" strike="noStrike" cap="none" dirty="0">
                <a:solidFill>
                  <a:srgbClr val="7F7F7F"/>
                </a:solidFill>
                <a:latin typeface="DM Sans"/>
                <a:ea typeface="DM Sans"/>
                <a:cs typeface="DM Sans"/>
                <a:sym typeface="DM Sans"/>
              </a:rPr>
              <a:t>CONFIDENTIAL – NOT FOR DISTRIBUTION</a:t>
            </a:r>
            <a:endParaRPr sz="15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1655037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Agenda Slide">
  <p:cSld name="Agenda Slide">
    <p:spTree>
      <p:nvGrpSpPr>
        <p:cNvPr id="1" name="Shape 341"/>
        <p:cNvGrpSpPr/>
        <p:nvPr/>
      </p:nvGrpSpPr>
      <p:grpSpPr>
        <a:xfrm>
          <a:off x="0" y="0"/>
          <a:ext cx="0" cy="0"/>
          <a:chOff x="0" y="0"/>
          <a:chExt cx="0" cy="0"/>
        </a:xfrm>
      </p:grpSpPr>
      <p:sp>
        <p:nvSpPr>
          <p:cNvPr id="342" name="Google Shape;342;p94"/>
          <p:cNvSpPr txBox="1">
            <a:spLocks noGrp="1"/>
          </p:cNvSpPr>
          <p:nvPr>
            <p:ph type="body" idx="1"/>
          </p:nvPr>
        </p:nvSpPr>
        <p:spPr>
          <a:xfrm>
            <a:off x="1295400" y="1447800"/>
            <a:ext cx="2438400" cy="350520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100"/>
              </a:spcBef>
              <a:spcAft>
                <a:spcPts val="0"/>
              </a:spcAft>
              <a:buClr>
                <a:schemeClr val="accent4"/>
              </a:buClr>
              <a:buSzPts val="4800"/>
              <a:buFont typeface="Arial"/>
              <a:buNone/>
              <a:defRPr sz="4800" b="0" i="0" u="none" strike="noStrike" cap="none">
                <a:solidFill>
                  <a:schemeClr val="accent4"/>
                </a:solidFill>
                <a:latin typeface="Bebas Neue"/>
                <a:ea typeface="Bebas Neue"/>
                <a:cs typeface="Bebas Neue"/>
                <a:sym typeface="Bebas Neue"/>
              </a:defRPr>
            </a:lvl1pPr>
            <a:lvl2pPr marL="914400" marR="0" lvl="1" indent="-228600" algn="r"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r" rtl="0">
              <a:lnSpc>
                <a:spcPct val="90000"/>
              </a:lnSpc>
              <a:spcBef>
                <a:spcPts val="500"/>
              </a:spcBef>
              <a:spcAft>
                <a:spcPts val="0"/>
              </a:spcAft>
              <a:buClr>
                <a:schemeClr val="dk1"/>
              </a:buClr>
              <a:buSzPts val="1900"/>
              <a:buFont typeface="Arial"/>
              <a:buNone/>
              <a:defRPr sz="1900" b="0" i="0" u="none" strike="noStrike" cap="none">
                <a:solidFill>
                  <a:schemeClr val="dk1"/>
                </a:solidFill>
                <a:latin typeface="Calibri"/>
                <a:ea typeface="Calibri"/>
                <a:cs typeface="Calibri"/>
                <a:sym typeface="Calibri"/>
              </a:defRPr>
            </a:lvl4pPr>
            <a:lvl5pPr marL="2286000" marR="0" lvl="4" indent="-228600" algn="r" rtl="0">
              <a:lnSpc>
                <a:spcPct val="90000"/>
              </a:lnSpc>
              <a:spcBef>
                <a:spcPts val="500"/>
              </a:spcBef>
              <a:spcAft>
                <a:spcPts val="0"/>
              </a:spcAft>
              <a:buClr>
                <a:schemeClr val="dk1"/>
              </a:buClr>
              <a:buSzPts val="1900"/>
              <a:buFont typeface="Arial"/>
              <a:buNone/>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43" name="Google Shape;343;p94"/>
          <p:cNvSpPr txBox="1">
            <a:spLocks noGrp="1"/>
          </p:cNvSpPr>
          <p:nvPr>
            <p:ph type="body" idx="2"/>
          </p:nvPr>
        </p:nvSpPr>
        <p:spPr>
          <a:xfrm>
            <a:off x="4648200" y="1447800"/>
            <a:ext cx="6497700" cy="3505200"/>
          </a:xfrm>
          <a:prstGeom prst="rect">
            <a:avLst/>
          </a:prstGeom>
          <a:noFill/>
          <a:ln>
            <a:noFill/>
          </a:ln>
        </p:spPr>
        <p:txBody>
          <a:bodyPr spcFirstLastPara="1" wrap="square" lIns="91425" tIns="45700" rIns="91425" bIns="45700" anchor="ctr" anchorCtr="0">
            <a:noAutofit/>
          </a:bodyPr>
          <a:lstStyle>
            <a:lvl1pPr marL="457200" marR="0" lvl="0" indent="-381000" algn="l" rtl="0">
              <a:lnSpc>
                <a:spcPct val="90000"/>
              </a:lnSpc>
              <a:spcBef>
                <a:spcPts val="1100"/>
              </a:spcBef>
              <a:spcAft>
                <a:spcPts val="0"/>
              </a:spcAft>
              <a:buClr>
                <a:srgbClr val="164E9C"/>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rgbClr val="164E9C"/>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9250" algn="l" rtl="0">
              <a:lnSpc>
                <a:spcPct val="90000"/>
              </a:lnSpc>
              <a:spcBef>
                <a:spcPts val="500"/>
              </a:spcBef>
              <a:spcAft>
                <a:spcPts val="0"/>
              </a:spcAft>
              <a:buClr>
                <a:srgbClr val="164E9C"/>
              </a:buClr>
              <a:buSzPts val="1900"/>
              <a:buFont typeface="Arial"/>
              <a:buChar char="•"/>
              <a:defRPr sz="19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rgbClr val="164E9C"/>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23850" algn="l" rtl="0">
              <a:lnSpc>
                <a:spcPct val="90000"/>
              </a:lnSpc>
              <a:spcBef>
                <a:spcPts val="500"/>
              </a:spcBef>
              <a:spcAft>
                <a:spcPts val="0"/>
              </a:spcAft>
              <a:buClr>
                <a:srgbClr val="164E9C"/>
              </a:buClr>
              <a:buSzPts val="1500"/>
              <a:buFont typeface="Arial"/>
              <a:buChar char="•"/>
              <a:defRPr sz="1500" b="0" i="0" u="none" strike="noStrike" cap="none">
                <a:solidFill>
                  <a:schemeClr val="accen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344" name="Google Shape;344;p94"/>
          <p:cNvCxnSpPr/>
          <p:nvPr/>
        </p:nvCxnSpPr>
        <p:spPr>
          <a:xfrm>
            <a:off x="4267200" y="1479480"/>
            <a:ext cx="0" cy="3505200"/>
          </a:xfrm>
          <a:prstGeom prst="straightConnector1">
            <a:avLst/>
          </a:prstGeom>
          <a:noFill/>
          <a:ln w="12700" cap="flat" cmpd="sng">
            <a:solidFill>
              <a:schemeClr val="accent6"/>
            </a:solidFill>
            <a:prstDash val="solid"/>
            <a:miter lim="800000"/>
            <a:headEnd type="none" w="sm" len="sm"/>
            <a:tailEnd type="none" w="sm" len="sm"/>
          </a:ln>
        </p:spPr>
      </p:cxnSp>
    </p:spTree>
    <p:extLst>
      <p:ext uri="{BB962C8B-B14F-4D97-AF65-F5344CB8AC3E}">
        <p14:creationId xmlns:p14="http://schemas.microsoft.com/office/powerpoint/2010/main" val="18797812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Dividing Slide">
  <p:cSld name="Dividing Slide">
    <p:spTree>
      <p:nvGrpSpPr>
        <p:cNvPr id="1" name="Shape 345"/>
        <p:cNvGrpSpPr/>
        <p:nvPr/>
      </p:nvGrpSpPr>
      <p:grpSpPr>
        <a:xfrm>
          <a:off x="0" y="0"/>
          <a:ext cx="0" cy="0"/>
          <a:chOff x="0" y="0"/>
          <a:chExt cx="0" cy="0"/>
        </a:xfrm>
      </p:grpSpPr>
      <p:sp>
        <p:nvSpPr>
          <p:cNvPr id="346" name="Google Shape;346;p95"/>
          <p:cNvSpPr txBox="1">
            <a:spLocks noGrp="1"/>
          </p:cNvSpPr>
          <p:nvPr>
            <p:ph type="body" idx="1"/>
          </p:nvPr>
        </p:nvSpPr>
        <p:spPr>
          <a:xfrm>
            <a:off x="609600" y="2525517"/>
            <a:ext cx="10624500" cy="2046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100"/>
              </a:spcBef>
              <a:spcAft>
                <a:spcPts val="0"/>
              </a:spcAft>
              <a:buClr>
                <a:schemeClr val="accent1"/>
              </a:buClr>
              <a:buSzPts val="3200"/>
              <a:buFont typeface="Arial"/>
              <a:buNone/>
              <a:defRPr sz="3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347" name="Google Shape;347;p95"/>
          <p:cNvCxnSpPr/>
          <p:nvPr/>
        </p:nvCxnSpPr>
        <p:spPr>
          <a:xfrm>
            <a:off x="701950" y="2362200"/>
            <a:ext cx="10439100" cy="0"/>
          </a:xfrm>
          <a:prstGeom prst="straightConnector1">
            <a:avLst/>
          </a:prstGeom>
          <a:noFill/>
          <a:ln w="12700" cap="flat" cmpd="sng">
            <a:solidFill>
              <a:schemeClr val="accent6"/>
            </a:solidFill>
            <a:prstDash val="solid"/>
            <a:miter lim="800000"/>
            <a:headEnd type="none" w="sm" len="sm"/>
            <a:tailEnd type="none" w="sm" len="sm"/>
          </a:ln>
        </p:spPr>
      </p:cxnSp>
    </p:spTree>
    <p:extLst>
      <p:ext uri="{BB962C8B-B14F-4D97-AF65-F5344CB8AC3E}">
        <p14:creationId xmlns:p14="http://schemas.microsoft.com/office/powerpoint/2010/main" val="5728458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Multi Column Text Layout">
  <p:cSld name="Multi Column Text Layout">
    <p:spTree>
      <p:nvGrpSpPr>
        <p:cNvPr id="1" name="Shape 348"/>
        <p:cNvGrpSpPr/>
        <p:nvPr/>
      </p:nvGrpSpPr>
      <p:grpSpPr>
        <a:xfrm>
          <a:off x="0" y="0"/>
          <a:ext cx="0" cy="0"/>
          <a:chOff x="0" y="0"/>
          <a:chExt cx="0" cy="0"/>
        </a:xfrm>
      </p:grpSpPr>
      <p:sp>
        <p:nvSpPr>
          <p:cNvPr id="349" name="Google Shape;349;p96"/>
          <p:cNvSpPr txBox="1">
            <a:spLocks noGrp="1"/>
          </p:cNvSpPr>
          <p:nvPr>
            <p:ph type="body" idx="1"/>
          </p:nvPr>
        </p:nvSpPr>
        <p:spPr>
          <a:xfrm>
            <a:off x="600075" y="1673352"/>
            <a:ext cx="2600400" cy="24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FD5D3B"/>
              </a:buClr>
              <a:buSzPts val="3200"/>
              <a:buFont typeface="Arial"/>
              <a:buNone/>
              <a:defRPr sz="32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0" name="Google Shape;350;p96"/>
          <p:cNvSpPr txBox="1">
            <a:spLocks noGrp="1"/>
          </p:cNvSpPr>
          <p:nvPr>
            <p:ph type="body" idx="2"/>
          </p:nvPr>
        </p:nvSpPr>
        <p:spPr>
          <a:xfrm>
            <a:off x="3429000" y="1673352"/>
            <a:ext cx="3866100" cy="145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351" name="Google Shape;351;p96"/>
          <p:cNvCxnSpPr/>
          <p:nvPr/>
        </p:nvCxnSpPr>
        <p:spPr>
          <a:xfrm>
            <a:off x="7467600" y="1673352"/>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352" name="Google Shape;352;p96"/>
          <p:cNvSpPr txBox="1">
            <a:spLocks noGrp="1"/>
          </p:cNvSpPr>
          <p:nvPr>
            <p:ph type="body" idx="3"/>
          </p:nvPr>
        </p:nvSpPr>
        <p:spPr>
          <a:xfrm>
            <a:off x="3429000" y="3200400"/>
            <a:ext cx="4038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3" name="Google Shape;353;p96"/>
          <p:cNvSpPr txBox="1">
            <a:spLocks noGrp="1"/>
          </p:cNvSpPr>
          <p:nvPr>
            <p:ph type="body" idx="4"/>
          </p:nvPr>
        </p:nvSpPr>
        <p:spPr>
          <a:xfrm>
            <a:off x="7640425" y="1673352"/>
            <a:ext cx="3942000" cy="321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4" name="Google Shape;354;p96"/>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5" name="Google Shape;355;p96"/>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037210445"/>
      </p:ext>
    </p:extLst>
  </p:cSld>
  <p:clrMapOvr>
    <a:masterClrMapping/>
  </p:clrMapOvr>
  <p:extLst>
    <p:ext uri="{DCECCB84-F9BA-43D5-87BE-67443E8EF086}">
      <p15:sldGuideLst xmlns:p15="http://schemas.microsoft.com/office/powerpoint/2012/main">
        <p15:guide id="1" orient="horz" pos="2352">
          <p15:clr>
            <a:srgbClr val="FBAE40"/>
          </p15:clr>
        </p15:guide>
        <p15:guide id="2" pos="432">
          <p15:clr>
            <a:srgbClr val="FBAE40"/>
          </p15:clr>
        </p15:guide>
        <p15:guide id="3" orient="horz" pos="110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Header &amp; Large Text Option 1">
  <p:cSld name="Header &amp; Large Text Option 1">
    <p:spTree>
      <p:nvGrpSpPr>
        <p:cNvPr id="1" name="Shape 356"/>
        <p:cNvGrpSpPr/>
        <p:nvPr/>
      </p:nvGrpSpPr>
      <p:grpSpPr>
        <a:xfrm>
          <a:off x="0" y="0"/>
          <a:ext cx="0" cy="0"/>
          <a:chOff x="0" y="0"/>
          <a:chExt cx="0" cy="0"/>
        </a:xfrm>
      </p:grpSpPr>
      <p:sp>
        <p:nvSpPr>
          <p:cNvPr id="357" name="Google Shape;357;p97"/>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8" name="Google Shape;358;p97"/>
          <p:cNvSpPr txBox="1">
            <a:spLocks noGrp="1"/>
          </p:cNvSpPr>
          <p:nvPr>
            <p:ph type="body" idx="2"/>
          </p:nvPr>
        </p:nvSpPr>
        <p:spPr>
          <a:xfrm>
            <a:off x="3400931" y="3659580"/>
            <a:ext cx="8077200" cy="845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9" name="Google Shape;359;p97"/>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0" name="Google Shape;360;p97"/>
          <p:cNvSpPr txBox="1">
            <a:spLocks noGrp="1"/>
          </p:cNvSpPr>
          <p:nvPr>
            <p:ph type="body" idx="4"/>
          </p:nvPr>
        </p:nvSpPr>
        <p:spPr>
          <a:xfrm>
            <a:off x="3400931" y="1676400"/>
            <a:ext cx="8127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361" name="Google Shape;361;p97"/>
          <p:cNvCxnSpPr/>
          <p:nvPr/>
        </p:nvCxnSpPr>
        <p:spPr>
          <a:xfrm>
            <a:off x="3477131" y="3507180"/>
            <a:ext cx="8001300" cy="0"/>
          </a:xfrm>
          <a:prstGeom prst="straightConnector1">
            <a:avLst/>
          </a:prstGeom>
          <a:noFill/>
          <a:ln w="12700" cap="flat" cmpd="sng">
            <a:solidFill>
              <a:schemeClr val="accent6"/>
            </a:solidFill>
            <a:prstDash val="solid"/>
            <a:miter lim="800000"/>
            <a:headEnd type="none" w="sm" len="sm"/>
            <a:tailEnd type="none" w="sm" len="sm"/>
          </a:ln>
        </p:spPr>
      </p:cxnSp>
      <p:cxnSp>
        <p:nvCxnSpPr>
          <p:cNvPr id="362" name="Google Shape;362;p97"/>
          <p:cNvCxnSpPr/>
          <p:nvPr/>
        </p:nvCxnSpPr>
        <p:spPr>
          <a:xfrm>
            <a:off x="3477131" y="4650180"/>
            <a:ext cx="8001300" cy="0"/>
          </a:xfrm>
          <a:prstGeom prst="straightConnector1">
            <a:avLst/>
          </a:prstGeom>
          <a:noFill/>
          <a:ln w="12700" cap="flat" cmpd="sng">
            <a:solidFill>
              <a:schemeClr val="accent6"/>
            </a:solidFill>
            <a:prstDash val="solid"/>
            <a:miter lim="800000"/>
            <a:headEnd type="none" w="sm" len="sm"/>
            <a:tailEnd type="none" w="sm" len="sm"/>
          </a:ln>
        </p:spPr>
      </p:cxnSp>
      <p:sp>
        <p:nvSpPr>
          <p:cNvPr id="363" name="Google Shape;363;p97"/>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4" name="Google Shape;364;p97"/>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084121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Header &amp; Large Text Option 2">
  <p:cSld name="Header &amp; Large Text Option 2">
    <p:spTree>
      <p:nvGrpSpPr>
        <p:cNvPr id="1" name="Shape 365"/>
        <p:cNvGrpSpPr/>
        <p:nvPr/>
      </p:nvGrpSpPr>
      <p:grpSpPr>
        <a:xfrm>
          <a:off x="0" y="0"/>
          <a:ext cx="0" cy="0"/>
          <a:chOff x="0" y="0"/>
          <a:chExt cx="0" cy="0"/>
        </a:xfrm>
      </p:grpSpPr>
      <p:sp>
        <p:nvSpPr>
          <p:cNvPr id="366" name="Google Shape;366;p98"/>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7" name="Google Shape;367;p98"/>
          <p:cNvSpPr txBox="1">
            <a:spLocks noGrp="1"/>
          </p:cNvSpPr>
          <p:nvPr>
            <p:ph type="body" idx="2"/>
          </p:nvPr>
        </p:nvSpPr>
        <p:spPr>
          <a:xfrm>
            <a:off x="3400931" y="3659580"/>
            <a:ext cx="80772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8" name="Google Shape;368;p98"/>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9" name="Google Shape;369;p98"/>
          <p:cNvSpPr txBox="1">
            <a:spLocks noGrp="1"/>
          </p:cNvSpPr>
          <p:nvPr>
            <p:ph type="body" idx="4"/>
          </p:nvPr>
        </p:nvSpPr>
        <p:spPr>
          <a:xfrm>
            <a:off x="3400931" y="1676400"/>
            <a:ext cx="8127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0" name="Google Shape;370;p98"/>
          <p:cNvSpPr txBox="1">
            <a:spLocks noGrp="1"/>
          </p:cNvSpPr>
          <p:nvPr>
            <p:ph type="body" idx="5"/>
          </p:nvPr>
        </p:nvSpPr>
        <p:spPr>
          <a:xfrm>
            <a:off x="3400931" y="4300711"/>
            <a:ext cx="80772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4"/>
              </a:buClr>
              <a:buSzPts val="2400"/>
              <a:buFont typeface="Arial"/>
              <a:buNone/>
              <a:defRPr sz="2400" b="1" i="0" u="none" strike="noStrike" cap="none">
                <a:solidFill>
                  <a:schemeClr val="accent4"/>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1" name="Google Shape;371;p98"/>
          <p:cNvSpPr txBox="1">
            <a:spLocks noGrp="1"/>
          </p:cNvSpPr>
          <p:nvPr>
            <p:ph type="body" idx="6"/>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2" name="Google Shape;372;p98"/>
          <p:cNvSpPr txBox="1">
            <a:spLocks noGrp="1"/>
          </p:cNvSpPr>
          <p:nvPr>
            <p:ph type="body" idx="7"/>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6667097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General Two Column Text">
  <p:cSld name="General Two Column Text">
    <p:spTree>
      <p:nvGrpSpPr>
        <p:cNvPr id="1" name="Shape 373"/>
        <p:cNvGrpSpPr/>
        <p:nvPr/>
      </p:nvGrpSpPr>
      <p:grpSpPr>
        <a:xfrm>
          <a:off x="0" y="0"/>
          <a:ext cx="0" cy="0"/>
          <a:chOff x="0" y="0"/>
          <a:chExt cx="0" cy="0"/>
        </a:xfrm>
      </p:grpSpPr>
      <p:sp>
        <p:nvSpPr>
          <p:cNvPr id="374" name="Google Shape;374;p99"/>
          <p:cNvSpPr txBox="1">
            <a:spLocks noGrp="1"/>
          </p:cNvSpPr>
          <p:nvPr>
            <p:ph type="body" idx="1"/>
          </p:nvPr>
        </p:nvSpPr>
        <p:spPr>
          <a:xfrm>
            <a:off x="609981" y="1676400"/>
            <a:ext cx="4809600" cy="39261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100"/>
              </a:spcBef>
              <a:spcAft>
                <a:spcPts val="0"/>
              </a:spcAft>
              <a:buClr>
                <a:schemeClr val="accent1"/>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9250" algn="l" rtl="0">
              <a:lnSpc>
                <a:spcPct val="90000"/>
              </a:lnSpc>
              <a:spcBef>
                <a:spcPts val="500"/>
              </a:spcBef>
              <a:spcAft>
                <a:spcPts val="0"/>
              </a:spcAft>
              <a:buClr>
                <a:schemeClr val="accent1"/>
              </a:buClr>
              <a:buSzPts val="1900"/>
              <a:buFont typeface="Arial"/>
              <a:buChar char="•"/>
              <a:defRPr sz="19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23850" algn="l" rtl="0">
              <a:lnSpc>
                <a:spcPct val="90000"/>
              </a:lnSpc>
              <a:spcBef>
                <a:spcPts val="5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5" name="Google Shape;375;p99"/>
          <p:cNvSpPr txBox="1">
            <a:spLocks noGrp="1"/>
          </p:cNvSpPr>
          <p:nvPr>
            <p:ph type="body" idx="2"/>
          </p:nvPr>
        </p:nvSpPr>
        <p:spPr>
          <a:xfrm>
            <a:off x="5557943" y="1676400"/>
            <a:ext cx="4809600" cy="39261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100"/>
              </a:spcBef>
              <a:spcAft>
                <a:spcPts val="0"/>
              </a:spcAft>
              <a:buClr>
                <a:schemeClr val="accent1"/>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9250" algn="l" rtl="0">
              <a:lnSpc>
                <a:spcPct val="90000"/>
              </a:lnSpc>
              <a:spcBef>
                <a:spcPts val="500"/>
              </a:spcBef>
              <a:spcAft>
                <a:spcPts val="0"/>
              </a:spcAft>
              <a:buClr>
                <a:schemeClr val="accent1"/>
              </a:buClr>
              <a:buSzPts val="1900"/>
              <a:buFont typeface="Arial"/>
              <a:buChar char="•"/>
              <a:defRPr sz="19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23850" algn="l" rtl="0">
              <a:lnSpc>
                <a:spcPct val="90000"/>
              </a:lnSpc>
              <a:spcBef>
                <a:spcPts val="5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6" name="Google Shape;376;p99"/>
          <p:cNvSpPr txBox="1">
            <a:spLocks noGrp="1"/>
          </p:cNvSpPr>
          <p:nvPr>
            <p:ph type="body" idx="3"/>
          </p:nvPr>
        </p:nvSpPr>
        <p:spPr>
          <a:xfrm>
            <a:off x="609600" y="1371600"/>
            <a:ext cx="48105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500"/>
              <a:buFont typeface="Arial"/>
              <a:buNone/>
              <a:defRPr sz="15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7" name="Google Shape;377;p99"/>
          <p:cNvSpPr txBox="1">
            <a:spLocks noGrp="1"/>
          </p:cNvSpPr>
          <p:nvPr>
            <p:ph type="body" idx="4"/>
          </p:nvPr>
        </p:nvSpPr>
        <p:spPr>
          <a:xfrm>
            <a:off x="5557561" y="1371600"/>
            <a:ext cx="48105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500"/>
              <a:buFont typeface="Arial"/>
              <a:buNone/>
              <a:defRPr sz="15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8" name="Google Shape;378;p99"/>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9" name="Google Shape;379;p99"/>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32809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hree Column Grid">
  <p:cSld name="Three Column Grid">
    <p:spTree>
      <p:nvGrpSpPr>
        <p:cNvPr id="1" name="Shape 380"/>
        <p:cNvGrpSpPr/>
        <p:nvPr/>
      </p:nvGrpSpPr>
      <p:grpSpPr>
        <a:xfrm>
          <a:off x="0" y="0"/>
          <a:ext cx="0" cy="0"/>
          <a:chOff x="0" y="0"/>
          <a:chExt cx="0" cy="0"/>
        </a:xfrm>
      </p:grpSpPr>
      <p:sp>
        <p:nvSpPr>
          <p:cNvPr id="381" name="Google Shape;381;p100"/>
          <p:cNvSpPr/>
          <p:nvPr/>
        </p:nvSpPr>
        <p:spPr>
          <a:xfrm>
            <a:off x="8560629" y="1754124"/>
            <a:ext cx="2514300" cy="8385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382" name="Google Shape;382;p100"/>
          <p:cNvSpPr txBox="1">
            <a:spLocks noGrp="1"/>
          </p:cNvSpPr>
          <p:nvPr>
            <p:ph type="body" idx="1"/>
          </p:nvPr>
        </p:nvSpPr>
        <p:spPr>
          <a:xfrm>
            <a:off x="8647942" y="1954149"/>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83" name="Google Shape;383;p100"/>
          <p:cNvSpPr/>
          <p:nvPr/>
        </p:nvSpPr>
        <p:spPr>
          <a:xfrm>
            <a:off x="4648200" y="1752600"/>
            <a:ext cx="2514300" cy="8412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384" name="Google Shape;384;p100"/>
          <p:cNvSpPr txBox="1">
            <a:spLocks noGrp="1"/>
          </p:cNvSpPr>
          <p:nvPr>
            <p:ph type="body" idx="2"/>
          </p:nvPr>
        </p:nvSpPr>
        <p:spPr>
          <a:xfrm>
            <a:off x="4735513" y="1954149"/>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85" name="Google Shape;385;p100"/>
          <p:cNvSpPr/>
          <p:nvPr/>
        </p:nvSpPr>
        <p:spPr>
          <a:xfrm>
            <a:off x="685800" y="1754124"/>
            <a:ext cx="2514300" cy="8385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386" name="Google Shape;386;p100"/>
          <p:cNvSpPr txBox="1">
            <a:spLocks noGrp="1"/>
          </p:cNvSpPr>
          <p:nvPr>
            <p:ph type="body" idx="3"/>
          </p:nvPr>
        </p:nvSpPr>
        <p:spPr>
          <a:xfrm>
            <a:off x="773113" y="1954149"/>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87" name="Google Shape;387;p100"/>
          <p:cNvSpPr txBox="1">
            <a:spLocks noGrp="1"/>
          </p:cNvSpPr>
          <p:nvPr>
            <p:ph type="body" idx="4"/>
          </p:nvPr>
        </p:nvSpPr>
        <p:spPr>
          <a:xfrm>
            <a:off x="609600" y="381000"/>
            <a:ext cx="67149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88" name="Google Shape;388;p100"/>
          <p:cNvSpPr/>
          <p:nvPr/>
        </p:nvSpPr>
        <p:spPr>
          <a:xfrm>
            <a:off x="21156111" y="6136718"/>
            <a:ext cx="214500" cy="215700"/>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dirty="0">
              <a:solidFill>
                <a:srgbClr val="FFFFFF"/>
              </a:solidFill>
              <a:latin typeface="Calibri"/>
              <a:ea typeface="Calibri"/>
              <a:cs typeface="Calibri"/>
              <a:sym typeface="Calibri"/>
            </a:endParaRPr>
          </a:p>
        </p:txBody>
      </p:sp>
      <p:cxnSp>
        <p:nvCxnSpPr>
          <p:cNvPr id="389" name="Google Shape;389;p100"/>
          <p:cNvCxnSpPr/>
          <p:nvPr/>
        </p:nvCxnSpPr>
        <p:spPr>
          <a:xfrm>
            <a:off x="3891463" y="1787016"/>
            <a:ext cx="0" cy="3505200"/>
          </a:xfrm>
          <a:prstGeom prst="straightConnector1">
            <a:avLst/>
          </a:prstGeom>
          <a:solidFill>
            <a:schemeClr val="accent1"/>
          </a:solidFill>
          <a:ln w="12700" cap="flat" cmpd="sng">
            <a:solidFill>
              <a:schemeClr val="accent6"/>
            </a:solidFill>
            <a:prstDash val="solid"/>
            <a:round/>
            <a:headEnd type="none" w="sm" len="sm"/>
            <a:tailEnd type="none" w="sm" len="sm"/>
          </a:ln>
        </p:spPr>
      </p:cxnSp>
      <p:cxnSp>
        <p:nvCxnSpPr>
          <p:cNvPr id="390" name="Google Shape;390;p100"/>
          <p:cNvCxnSpPr/>
          <p:nvPr/>
        </p:nvCxnSpPr>
        <p:spPr>
          <a:xfrm>
            <a:off x="7871792" y="1787016"/>
            <a:ext cx="0" cy="3505200"/>
          </a:xfrm>
          <a:prstGeom prst="straightConnector1">
            <a:avLst/>
          </a:prstGeom>
          <a:solidFill>
            <a:schemeClr val="accent1"/>
          </a:solidFill>
          <a:ln w="12700" cap="flat" cmpd="sng">
            <a:solidFill>
              <a:schemeClr val="accent6"/>
            </a:solidFill>
            <a:prstDash val="solid"/>
            <a:round/>
            <a:headEnd type="none" w="sm" len="sm"/>
            <a:tailEnd type="none" w="sm" len="sm"/>
          </a:ln>
        </p:spPr>
      </p:cxnSp>
      <p:cxnSp>
        <p:nvCxnSpPr>
          <p:cNvPr id="391" name="Google Shape;391;p100"/>
          <p:cNvCxnSpPr/>
          <p:nvPr/>
        </p:nvCxnSpPr>
        <p:spPr>
          <a:xfrm>
            <a:off x="914400" y="4038600"/>
            <a:ext cx="2057700" cy="0"/>
          </a:xfrm>
          <a:prstGeom prst="straightConnector1">
            <a:avLst/>
          </a:prstGeom>
          <a:solidFill>
            <a:schemeClr val="accent1"/>
          </a:solidFill>
          <a:ln w="9525" cap="flat" cmpd="sng">
            <a:solidFill>
              <a:schemeClr val="accent6"/>
            </a:solidFill>
            <a:prstDash val="solid"/>
            <a:round/>
            <a:headEnd type="none" w="sm" len="sm"/>
            <a:tailEnd type="none" w="sm" len="sm"/>
          </a:ln>
        </p:spPr>
      </p:cxnSp>
      <p:cxnSp>
        <p:nvCxnSpPr>
          <p:cNvPr id="392" name="Google Shape;392;p100"/>
          <p:cNvCxnSpPr/>
          <p:nvPr/>
        </p:nvCxnSpPr>
        <p:spPr>
          <a:xfrm>
            <a:off x="4876800" y="4038600"/>
            <a:ext cx="2057700" cy="0"/>
          </a:xfrm>
          <a:prstGeom prst="straightConnector1">
            <a:avLst/>
          </a:prstGeom>
          <a:solidFill>
            <a:schemeClr val="accent1"/>
          </a:solidFill>
          <a:ln w="9525" cap="flat" cmpd="sng">
            <a:solidFill>
              <a:schemeClr val="accent6"/>
            </a:solidFill>
            <a:prstDash val="solid"/>
            <a:round/>
            <a:headEnd type="none" w="sm" len="sm"/>
            <a:tailEnd type="none" w="sm" len="sm"/>
          </a:ln>
        </p:spPr>
      </p:cxnSp>
      <p:cxnSp>
        <p:nvCxnSpPr>
          <p:cNvPr id="393" name="Google Shape;393;p100"/>
          <p:cNvCxnSpPr/>
          <p:nvPr/>
        </p:nvCxnSpPr>
        <p:spPr>
          <a:xfrm>
            <a:off x="8789229" y="4038600"/>
            <a:ext cx="2057700" cy="0"/>
          </a:xfrm>
          <a:prstGeom prst="straightConnector1">
            <a:avLst/>
          </a:prstGeom>
          <a:solidFill>
            <a:schemeClr val="accent1"/>
          </a:solidFill>
          <a:ln w="9525" cap="flat" cmpd="sng">
            <a:solidFill>
              <a:schemeClr val="accent6"/>
            </a:solidFill>
            <a:prstDash val="solid"/>
            <a:round/>
            <a:headEnd type="none" w="sm" len="sm"/>
            <a:tailEnd type="none" w="sm" len="sm"/>
          </a:ln>
        </p:spPr>
      </p:cxnSp>
      <p:sp>
        <p:nvSpPr>
          <p:cNvPr id="394" name="Google Shape;394;p100"/>
          <p:cNvSpPr txBox="1">
            <a:spLocks noGrp="1"/>
          </p:cNvSpPr>
          <p:nvPr>
            <p:ph type="body" idx="5"/>
          </p:nvPr>
        </p:nvSpPr>
        <p:spPr>
          <a:xfrm>
            <a:off x="742252" y="2853955"/>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5" name="Google Shape;395;p100"/>
          <p:cNvSpPr txBox="1">
            <a:spLocks noGrp="1"/>
          </p:cNvSpPr>
          <p:nvPr>
            <p:ph type="body" idx="6"/>
          </p:nvPr>
        </p:nvSpPr>
        <p:spPr>
          <a:xfrm>
            <a:off x="742252" y="4358098"/>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6" name="Google Shape;396;p100"/>
          <p:cNvSpPr txBox="1">
            <a:spLocks noGrp="1"/>
          </p:cNvSpPr>
          <p:nvPr>
            <p:ph type="body" idx="7"/>
          </p:nvPr>
        </p:nvSpPr>
        <p:spPr>
          <a:xfrm>
            <a:off x="4704652" y="2853955"/>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7" name="Google Shape;397;p100"/>
          <p:cNvSpPr txBox="1">
            <a:spLocks noGrp="1"/>
          </p:cNvSpPr>
          <p:nvPr>
            <p:ph type="body" idx="8"/>
          </p:nvPr>
        </p:nvSpPr>
        <p:spPr>
          <a:xfrm>
            <a:off x="4704652" y="4358098"/>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8" name="Google Shape;398;p100"/>
          <p:cNvSpPr txBox="1">
            <a:spLocks noGrp="1"/>
          </p:cNvSpPr>
          <p:nvPr>
            <p:ph type="body" idx="9"/>
          </p:nvPr>
        </p:nvSpPr>
        <p:spPr>
          <a:xfrm>
            <a:off x="8617081" y="2853955"/>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9" name="Google Shape;399;p100"/>
          <p:cNvSpPr txBox="1">
            <a:spLocks noGrp="1"/>
          </p:cNvSpPr>
          <p:nvPr>
            <p:ph type="body" idx="13"/>
          </p:nvPr>
        </p:nvSpPr>
        <p:spPr>
          <a:xfrm>
            <a:off x="8617081" y="4358098"/>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00" name="Google Shape;400;p100"/>
          <p:cNvSpPr txBox="1">
            <a:spLocks noGrp="1"/>
          </p:cNvSpPr>
          <p:nvPr>
            <p:ph type="body" idx="14"/>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159033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Four Column Layout">
  <p:cSld name="Four Column Layout">
    <p:spTree>
      <p:nvGrpSpPr>
        <p:cNvPr id="1" name="Shape 401"/>
        <p:cNvGrpSpPr/>
        <p:nvPr/>
      </p:nvGrpSpPr>
      <p:grpSpPr>
        <a:xfrm>
          <a:off x="0" y="0"/>
          <a:ext cx="0" cy="0"/>
          <a:chOff x="0" y="0"/>
          <a:chExt cx="0" cy="0"/>
        </a:xfrm>
      </p:grpSpPr>
      <p:sp>
        <p:nvSpPr>
          <p:cNvPr id="402" name="Google Shape;402;p101"/>
          <p:cNvSpPr/>
          <p:nvPr/>
        </p:nvSpPr>
        <p:spPr>
          <a:xfrm>
            <a:off x="8521686" y="2108774"/>
            <a:ext cx="2257500" cy="3717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403" name="Google Shape;403;p101"/>
          <p:cNvSpPr/>
          <p:nvPr/>
        </p:nvSpPr>
        <p:spPr>
          <a:xfrm>
            <a:off x="8521686" y="1600200"/>
            <a:ext cx="2257500" cy="5124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404" name="Google Shape;404;p101"/>
          <p:cNvSpPr/>
          <p:nvPr/>
        </p:nvSpPr>
        <p:spPr>
          <a:xfrm>
            <a:off x="5930886" y="2108774"/>
            <a:ext cx="2257500" cy="3717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405" name="Google Shape;405;p101"/>
          <p:cNvSpPr/>
          <p:nvPr/>
        </p:nvSpPr>
        <p:spPr>
          <a:xfrm>
            <a:off x="5930886" y="1600200"/>
            <a:ext cx="2257500" cy="5124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406" name="Google Shape;406;p101"/>
          <p:cNvSpPr/>
          <p:nvPr/>
        </p:nvSpPr>
        <p:spPr>
          <a:xfrm>
            <a:off x="3340086" y="2108774"/>
            <a:ext cx="2257500" cy="3717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407" name="Google Shape;407;p101"/>
          <p:cNvSpPr/>
          <p:nvPr/>
        </p:nvSpPr>
        <p:spPr>
          <a:xfrm>
            <a:off x="3340086" y="1600200"/>
            <a:ext cx="2257500" cy="5124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408" name="Google Shape;408;p101"/>
          <p:cNvSpPr/>
          <p:nvPr/>
        </p:nvSpPr>
        <p:spPr>
          <a:xfrm>
            <a:off x="715477" y="2116598"/>
            <a:ext cx="2257500" cy="3717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409" name="Google Shape;409;p101"/>
          <p:cNvSpPr/>
          <p:nvPr/>
        </p:nvSpPr>
        <p:spPr>
          <a:xfrm>
            <a:off x="715477" y="1600200"/>
            <a:ext cx="2257500" cy="5124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Calibri"/>
              <a:ea typeface="Calibri"/>
              <a:cs typeface="Calibri"/>
              <a:sym typeface="Calibri"/>
            </a:endParaRPr>
          </a:p>
        </p:txBody>
      </p:sp>
      <p:sp>
        <p:nvSpPr>
          <p:cNvPr id="410" name="Google Shape;410;p101"/>
          <p:cNvSpPr txBox="1">
            <a:spLocks noGrp="1"/>
          </p:cNvSpPr>
          <p:nvPr>
            <p:ph type="body" idx="1"/>
          </p:nvPr>
        </p:nvSpPr>
        <p:spPr>
          <a:xfrm>
            <a:off x="666766" y="1637368"/>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1" name="Google Shape;411;p101"/>
          <p:cNvSpPr txBox="1">
            <a:spLocks noGrp="1"/>
          </p:cNvSpPr>
          <p:nvPr>
            <p:ph type="body" idx="2"/>
          </p:nvPr>
        </p:nvSpPr>
        <p:spPr>
          <a:xfrm>
            <a:off x="609600" y="381000"/>
            <a:ext cx="80100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2" name="Google Shape;412;p101"/>
          <p:cNvSpPr/>
          <p:nvPr/>
        </p:nvSpPr>
        <p:spPr>
          <a:xfrm>
            <a:off x="21156111" y="5987298"/>
            <a:ext cx="214500" cy="215700"/>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dirty="0">
              <a:solidFill>
                <a:srgbClr val="FFFFFF"/>
              </a:solidFill>
              <a:latin typeface="Calibri"/>
              <a:ea typeface="Calibri"/>
              <a:cs typeface="Calibri"/>
              <a:sym typeface="Calibri"/>
            </a:endParaRPr>
          </a:p>
        </p:txBody>
      </p:sp>
      <p:sp>
        <p:nvSpPr>
          <p:cNvPr id="413" name="Google Shape;413;p101"/>
          <p:cNvSpPr txBox="1">
            <a:spLocks noGrp="1"/>
          </p:cNvSpPr>
          <p:nvPr>
            <p:ph type="body" idx="3"/>
          </p:nvPr>
        </p:nvSpPr>
        <p:spPr>
          <a:xfrm>
            <a:off x="889057" y="243625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4" name="Google Shape;414;p101"/>
          <p:cNvSpPr txBox="1">
            <a:spLocks noGrp="1"/>
          </p:cNvSpPr>
          <p:nvPr>
            <p:ph type="body" idx="4"/>
          </p:nvPr>
        </p:nvSpPr>
        <p:spPr>
          <a:xfrm>
            <a:off x="3293719" y="163541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5" name="Google Shape;415;p101"/>
          <p:cNvSpPr txBox="1">
            <a:spLocks noGrp="1"/>
          </p:cNvSpPr>
          <p:nvPr>
            <p:ph type="body" idx="5"/>
          </p:nvPr>
        </p:nvSpPr>
        <p:spPr>
          <a:xfrm>
            <a:off x="5889625" y="163541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6" name="Google Shape;416;p101"/>
          <p:cNvSpPr txBox="1">
            <a:spLocks noGrp="1"/>
          </p:cNvSpPr>
          <p:nvPr>
            <p:ph type="body" idx="6"/>
          </p:nvPr>
        </p:nvSpPr>
        <p:spPr>
          <a:xfrm>
            <a:off x="8480425" y="163541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7" name="Google Shape;417;p101"/>
          <p:cNvSpPr txBox="1">
            <a:spLocks noGrp="1"/>
          </p:cNvSpPr>
          <p:nvPr>
            <p:ph type="body" idx="7"/>
          </p:nvPr>
        </p:nvSpPr>
        <p:spPr>
          <a:xfrm>
            <a:off x="3516010" y="243625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8" name="Google Shape;418;p101"/>
          <p:cNvSpPr txBox="1">
            <a:spLocks noGrp="1"/>
          </p:cNvSpPr>
          <p:nvPr>
            <p:ph type="body" idx="8"/>
          </p:nvPr>
        </p:nvSpPr>
        <p:spPr>
          <a:xfrm>
            <a:off x="6111916" y="243625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9" name="Google Shape;419;p101"/>
          <p:cNvSpPr txBox="1">
            <a:spLocks noGrp="1"/>
          </p:cNvSpPr>
          <p:nvPr>
            <p:ph type="body" idx="9"/>
          </p:nvPr>
        </p:nvSpPr>
        <p:spPr>
          <a:xfrm>
            <a:off x="8702716" y="243625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20" name="Google Shape;420;p101"/>
          <p:cNvSpPr txBox="1">
            <a:spLocks noGrp="1"/>
          </p:cNvSpPr>
          <p:nvPr>
            <p:ph type="body" idx="13"/>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1651640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Four Column Layout + Footer Text">
  <p:cSld name="Four Column Layout + Footer Text">
    <p:spTree>
      <p:nvGrpSpPr>
        <p:cNvPr id="1" name="Shape 421"/>
        <p:cNvGrpSpPr/>
        <p:nvPr/>
      </p:nvGrpSpPr>
      <p:grpSpPr>
        <a:xfrm>
          <a:off x="0" y="0"/>
          <a:ext cx="0" cy="0"/>
          <a:chOff x="0" y="0"/>
          <a:chExt cx="0" cy="0"/>
        </a:xfrm>
      </p:grpSpPr>
      <p:sp>
        <p:nvSpPr>
          <p:cNvPr id="422" name="Google Shape;422;p102"/>
          <p:cNvSpPr/>
          <p:nvPr/>
        </p:nvSpPr>
        <p:spPr>
          <a:xfrm>
            <a:off x="8521686" y="2258194"/>
            <a:ext cx="2257500" cy="23901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accent5"/>
              </a:solidFill>
              <a:latin typeface="Calibri"/>
              <a:ea typeface="Calibri"/>
              <a:cs typeface="Calibri"/>
              <a:sym typeface="Calibri"/>
            </a:endParaRPr>
          </a:p>
        </p:txBody>
      </p:sp>
      <p:sp>
        <p:nvSpPr>
          <p:cNvPr id="423" name="Google Shape;423;p102"/>
          <p:cNvSpPr/>
          <p:nvPr/>
        </p:nvSpPr>
        <p:spPr>
          <a:xfrm>
            <a:off x="8521686" y="1749620"/>
            <a:ext cx="2257500" cy="512400"/>
          </a:xfrm>
          <a:prstGeom prst="rect">
            <a:avLst/>
          </a:prstGeom>
          <a:solidFill>
            <a:schemeClr val="accent1"/>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DM Sans"/>
              <a:ea typeface="DM Sans"/>
              <a:cs typeface="DM Sans"/>
              <a:sym typeface="DM Sans"/>
            </a:endParaRPr>
          </a:p>
        </p:txBody>
      </p:sp>
      <p:sp>
        <p:nvSpPr>
          <p:cNvPr id="424" name="Google Shape;424;p102"/>
          <p:cNvSpPr/>
          <p:nvPr/>
        </p:nvSpPr>
        <p:spPr>
          <a:xfrm>
            <a:off x="5930886" y="2258194"/>
            <a:ext cx="2257500" cy="23901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accent5"/>
              </a:solidFill>
              <a:latin typeface="Calibri"/>
              <a:ea typeface="Calibri"/>
              <a:cs typeface="Calibri"/>
              <a:sym typeface="Calibri"/>
            </a:endParaRPr>
          </a:p>
        </p:txBody>
      </p:sp>
      <p:sp>
        <p:nvSpPr>
          <p:cNvPr id="425" name="Google Shape;425;p102"/>
          <p:cNvSpPr/>
          <p:nvPr/>
        </p:nvSpPr>
        <p:spPr>
          <a:xfrm>
            <a:off x="5930886" y="1749620"/>
            <a:ext cx="2257500" cy="512400"/>
          </a:xfrm>
          <a:prstGeom prst="rect">
            <a:avLst/>
          </a:prstGeom>
          <a:solidFill>
            <a:schemeClr val="accent1"/>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DM Sans"/>
              <a:ea typeface="DM Sans"/>
              <a:cs typeface="DM Sans"/>
              <a:sym typeface="DM Sans"/>
            </a:endParaRPr>
          </a:p>
        </p:txBody>
      </p:sp>
      <p:sp>
        <p:nvSpPr>
          <p:cNvPr id="426" name="Google Shape;426;p102"/>
          <p:cNvSpPr/>
          <p:nvPr/>
        </p:nvSpPr>
        <p:spPr>
          <a:xfrm>
            <a:off x="3340086" y="2258194"/>
            <a:ext cx="2257500" cy="23901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accent5"/>
              </a:solidFill>
              <a:latin typeface="Calibri"/>
              <a:ea typeface="Calibri"/>
              <a:cs typeface="Calibri"/>
              <a:sym typeface="Calibri"/>
            </a:endParaRPr>
          </a:p>
        </p:txBody>
      </p:sp>
      <p:sp>
        <p:nvSpPr>
          <p:cNvPr id="427" name="Google Shape;427;p102"/>
          <p:cNvSpPr/>
          <p:nvPr/>
        </p:nvSpPr>
        <p:spPr>
          <a:xfrm>
            <a:off x="3340086" y="1749620"/>
            <a:ext cx="2257500" cy="512400"/>
          </a:xfrm>
          <a:prstGeom prst="rect">
            <a:avLst/>
          </a:prstGeom>
          <a:solidFill>
            <a:schemeClr val="accent1"/>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DM Sans"/>
              <a:ea typeface="DM Sans"/>
              <a:cs typeface="DM Sans"/>
              <a:sym typeface="DM Sans"/>
            </a:endParaRPr>
          </a:p>
        </p:txBody>
      </p:sp>
      <p:sp>
        <p:nvSpPr>
          <p:cNvPr id="428" name="Google Shape;428;p102"/>
          <p:cNvSpPr/>
          <p:nvPr/>
        </p:nvSpPr>
        <p:spPr>
          <a:xfrm>
            <a:off x="715477" y="2266018"/>
            <a:ext cx="2257500" cy="2382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accent5"/>
              </a:solidFill>
              <a:latin typeface="Calibri"/>
              <a:ea typeface="Calibri"/>
              <a:cs typeface="Calibri"/>
              <a:sym typeface="Calibri"/>
            </a:endParaRPr>
          </a:p>
        </p:txBody>
      </p:sp>
      <p:sp>
        <p:nvSpPr>
          <p:cNvPr id="429" name="Google Shape;429;p102"/>
          <p:cNvSpPr/>
          <p:nvPr/>
        </p:nvSpPr>
        <p:spPr>
          <a:xfrm>
            <a:off x="715477" y="1749620"/>
            <a:ext cx="2257500" cy="512400"/>
          </a:xfrm>
          <a:prstGeom prst="rect">
            <a:avLst/>
          </a:prstGeom>
          <a:solidFill>
            <a:schemeClr val="accent1"/>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lt1"/>
              </a:solidFill>
              <a:latin typeface="DM Sans"/>
              <a:ea typeface="DM Sans"/>
              <a:cs typeface="DM Sans"/>
              <a:sym typeface="DM Sans"/>
            </a:endParaRPr>
          </a:p>
        </p:txBody>
      </p:sp>
      <p:sp>
        <p:nvSpPr>
          <p:cNvPr id="430" name="Google Shape;430;p102"/>
          <p:cNvSpPr txBox="1">
            <a:spLocks noGrp="1"/>
          </p:cNvSpPr>
          <p:nvPr>
            <p:ph type="body" idx="1"/>
          </p:nvPr>
        </p:nvSpPr>
        <p:spPr>
          <a:xfrm>
            <a:off x="666766" y="178483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1" name="Google Shape;431;p102"/>
          <p:cNvSpPr/>
          <p:nvPr/>
        </p:nvSpPr>
        <p:spPr>
          <a:xfrm>
            <a:off x="21156111" y="6136718"/>
            <a:ext cx="214500" cy="215700"/>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dirty="0">
              <a:solidFill>
                <a:srgbClr val="FFFFFF"/>
              </a:solidFill>
              <a:latin typeface="Calibri"/>
              <a:ea typeface="Calibri"/>
              <a:cs typeface="Calibri"/>
              <a:sym typeface="Calibri"/>
            </a:endParaRPr>
          </a:p>
        </p:txBody>
      </p:sp>
      <p:sp>
        <p:nvSpPr>
          <p:cNvPr id="432" name="Google Shape;432;p102"/>
          <p:cNvSpPr txBox="1">
            <a:spLocks noGrp="1"/>
          </p:cNvSpPr>
          <p:nvPr>
            <p:ph type="body" idx="2"/>
          </p:nvPr>
        </p:nvSpPr>
        <p:spPr>
          <a:xfrm>
            <a:off x="889057" y="258567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3" name="Google Shape;433;p102"/>
          <p:cNvSpPr txBox="1">
            <a:spLocks noGrp="1"/>
          </p:cNvSpPr>
          <p:nvPr>
            <p:ph type="body" idx="3"/>
          </p:nvPr>
        </p:nvSpPr>
        <p:spPr>
          <a:xfrm>
            <a:off x="3293719" y="178483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4" name="Google Shape;434;p102"/>
          <p:cNvSpPr txBox="1">
            <a:spLocks noGrp="1"/>
          </p:cNvSpPr>
          <p:nvPr>
            <p:ph type="body" idx="4"/>
          </p:nvPr>
        </p:nvSpPr>
        <p:spPr>
          <a:xfrm>
            <a:off x="5889625" y="178483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5" name="Google Shape;435;p102"/>
          <p:cNvSpPr txBox="1">
            <a:spLocks noGrp="1"/>
          </p:cNvSpPr>
          <p:nvPr>
            <p:ph type="body" idx="5"/>
          </p:nvPr>
        </p:nvSpPr>
        <p:spPr>
          <a:xfrm>
            <a:off x="8480425" y="178483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6" name="Google Shape;436;p102"/>
          <p:cNvSpPr txBox="1">
            <a:spLocks noGrp="1"/>
          </p:cNvSpPr>
          <p:nvPr>
            <p:ph type="body" idx="6"/>
          </p:nvPr>
        </p:nvSpPr>
        <p:spPr>
          <a:xfrm>
            <a:off x="3516010" y="258567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7" name="Google Shape;437;p102"/>
          <p:cNvSpPr txBox="1">
            <a:spLocks noGrp="1"/>
          </p:cNvSpPr>
          <p:nvPr>
            <p:ph type="body" idx="7"/>
          </p:nvPr>
        </p:nvSpPr>
        <p:spPr>
          <a:xfrm>
            <a:off x="6111916" y="258567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8" name="Google Shape;438;p102"/>
          <p:cNvSpPr txBox="1">
            <a:spLocks noGrp="1"/>
          </p:cNvSpPr>
          <p:nvPr>
            <p:ph type="body" idx="8"/>
          </p:nvPr>
        </p:nvSpPr>
        <p:spPr>
          <a:xfrm>
            <a:off x="8702716" y="258567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9" name="Google Shape;439;p102"/>
          <p:cNvSpPr txBox="1">
            <a:spLocks noGrp="1"/>
          </p:cNvSpPr>
          <p:nvPr>
            <p:ph type="body" idx="9"/>
          </p:nvPr>
        </p:nvSpPr>
        <p:spPr>
          <a:xfrm>
            <a:off x="720741" y="5638800"/>
            <a:ext cx="10058400" cy="457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100"/>
              </a:spcBef>
              <a:spcAft>
                <a:spcPts val="0"/>
              </a:spcAft>
              <a:buClr>
                <a:schemeClr val="accent4"/>
              </a:buClr>
              <a:buSzPts val="2800"/>
              <a:buFont typeface="Arial"/>
              <a:buChar char="•"/>
              <a:defRPr sz="2800" b="0" i="0" u="none" strike="noStrike" cap="none">
                <a:solidFill>
                  <a:schemeClr val="accent4"/>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0" name="Google Shape;440;p102"/>
          <p:cNvSpPr txBox="1">
            <a:spLocks noGrp="1"/>
          </p:cNvSpPr>
          <p:nvPr>
            <p:ph type="body" idx="13"/>
          </p:nvPr>
        </p:nvSpPr>
        <p:spPr>
          <a:xfrm>
            <a:off x="720741" y="4910665"/>
            <a:ext cx="10058400" cy="7281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2800"/>
              <a:buFont typeface="Arial"/>
              <a:buNone/>
              <a:defRPr sz="28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1" name="Google Shape;441;p102"/>
          <p:cNvSpPr txBox="1">
            <a:spLocks noGrp="1"/>
          </p:cNvSpPr>
          <p:nvPr>
            <p:ph type="body" idx="14"/>
          </p:nvPr>
        </p:nvSpPr>
        <p:spPr>
          <a:xfrm>
            <a:off x="600455" y="381000"/>
            <a:ext cx="80100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2" name="Google Shape;442;p102"/>
          <p:cNvSpPr txBox="1">
            <a:spLocks noGrp="1"/>
          </p:cNvSpPr>
          <p:nvPr>
            <p:ph type="body" idx="15"/>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0082062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wo Column Layout">
  <p:cSld name="Two Column Layout">
    <p:spTree>
      <p:nvGrpSpPr>
        <p:cNvPr id="1" name="Shape 443"/>
        <p:cNvGrpSpPr/>
        <p:nvPr/>
      </p:nvGrpSpPr>
      <p:grpSpPr>
        <a:xfrm>
          <a:off x="0" y="0"/>
          <a:ext cx="0" cy="0"/>
          <a:chOff x="0" y="0"/>
          <a:chExt cx="0" cy="0"/>
        </a:xfrm>
      </p:grpSpPr>
      <p:sp>
        <p:nvSpPr>
          <p:cNvPr id="444" name="Google Shape;444;p103"/>
          <p:cNvSpPr/>
          <p:nvPr/>
        </p:nvSpPr>
        <p:spPr>
          <a:xfrm>
            <a:off x="2204302" y="2095011"/>
            <a:ext cx="4000500" cy="85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dirty="0">
              <a:solidFill>
                <a:srgbClr val="FFFFFF"/>
              </a:solidFill>
              <a:latin typeface="DM Sans"/>
              <a:ea typeface="DM Sans"/>
              <a:cs typeface="DM Sans"/>
              <a:sym typeface="DM Sans"/>
            </a:endParaRPr>
          </a:p>
        </p:txBody>
      </p:sp>
      <p:sp>
        <p:nvSpPr>
          <p:cNvPr id="445" name="Google Shape;445;p103"/>
          <p:cNvSpPr txBox="1">
            <a:spLocks noGrp="1"/>
          </p:cNvSpPr>
          <p:nvPr>
            <p:ph type="body" idx="1"/>
          </p:nvPr>
        </p:nvSpPr>
        <p:spPr>
          <a:xfrm>
            <a:off x="2451549" y="2235692"/>
            <a:ext cx="3421200" cy="6861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6" name="Google Shape;446;p103"/>
          <p:cNvSpPr/>
          <p:nvPr/>
        </p:nvSpPr>
        <p:spPr>
          <a:xfrm>
            <a:off x="2204302" y="3031183"/>
            <a:ext cx="4000500" cy="11379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dirty="0">
              <a:solidFill>
                <a:srgbClr val="FFFFFF"/>
              </a:solidFill>
              <a:latin typeface="DM Sans"/>
              <a:ea typeface="DM Sans"/>
              <a:cs typeface="DM Sans"/>
              <a:sym typeface="DM Sans"/>
            </a:endParaRPr>
          </a:p>
        </p:txBody>
      </p:sp>
      <p:sp>
        <p:nvSpPr>
          <p:cNvPr id="447" name="Google Shape;447;p103"/>
          <p:cNvSpPr txBox="1">
            <a:spLocks noGrp="1"/>
          </p:cNvSpPr>
          <p:nvPr>
            <p:ph type="body" idx="2"/>
          </p:nvPr>
        </p:nvSpPr>
        <p:spPr>
          <a:xfrm>
            <a:off x="2451550" y="3120228"/>
            <a:ext cx="3421500" cy="940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8" name="Google Shape;448;p103"/>
          <p:cNvSpPr/>
          <p:nvPr/>
        </p:nvSpPr>
        <p:spPr>
          <a:xfrm>
            <a:off x="2204302" y="4261269"/>
            <a:ext cx="4000500" cy="19296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dirty="0">
              <a:solidFill>
                <a:srgbClr val="FFFFFF"/>
              </a:solidFill>
              <a:latin typeface="DM Sans"/>
              <a:ea typeface="DM Sans"/>
              <a:cs typeface="DM Sans"/>
              <a:sym typeface="DM Sans"/>
            </a:endParaRPr>
          </a:p>
        </p:txBody>
      </p:sp>
      <p:sp>
        <p:nvSpPr>
          <p:cNvPr id="449" name="Google Shape;449;p103"/>
          <p:cNvSpPr txBox="1">
            <a:spLocks noGrp="1"/>
          </p:cNvSpPr>
          <p:nvPr>
            <p:ph type="body" idx="3"/>
          </p:nvPr>
        </p:nvSpPr>
        <p:spPr>
          <a:xfrm>
            <a:off x="2451550" y="4347733"/>
            <a:ext cx="3421500" cy="1635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0" name="Google Shape;450;p103"/>
          <p:cNvSpPr/>
          <p:nvPr/>
        </p:nvSpPr>
        <p:spPr>
          <a:xfrm>
            <a:off x="6286445" y="2095011"/>
            <a:ext cx="4000500" cy="85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dirty="0">
              <a:solidFill>
                <a:srgbClr val="FFFFFF"/>
              </a:solidFill>
              <a:latin typeface="DM Sans"/>
              <a:ea typeface="DM Sans"/>
              <a:cs typeface="DM Sans"/>
              <a:sym typeface="DM Sans"/>
            </a:endParaRPr>
          </a:p>
        </p:txBody>
      </p:sp>
      <p:sp>
        <p:nvSpPr>
          <p:cNvPr id="451" name="Google Shape;451;p103"/>
          <p:cNvSpPr txBox="1">
            <a:spLocks noGrp="1"/>
          </p:cNvSpPr>
          <p:nvPr>
            <p:ph type="body" idx="4"/>
          </p:nvPr>
        </p:nvSpPr>
        <p:spPr>
          <a:xfrm>
            <a:off x="6452104" y="2219981"/>
            <a:ext cx="3459600" cy="701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2" name="Google Shape;452;p103"/>
          <p:cNvSpPr/>
          <p:nvPr/>
        </p:nvSpPr>
        <p:spPr>
          <a:xfrm>
            <a:off x="6286445" y="3031183"/>
            <a:ext cx="4000500" cy="11379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dirty="0">
              <a:solidFill>
                <a:srgbClr val="FFFFFF"/>
              </a:solidFill>
              <a:latin typeface="DM Sans"/>
              <a:ea typeface="DM Sans"/>
              <a:cs typeface="DM Sans"/>
              <a:sym typeface="DM Sans"/>
            </a:endParaRPr>
          </a:p>
        </p:txBody>
      </p:sp>
      <p:sp>
        <p:nvSpPr>
          <p:cNvPr id="453" name="Google Shape;453;p103"/>
          <p:cNvSpPr txBox="1">
            <a:spLocks noGrp="1"/>
          </p:cNvSpPr>
          <p:nvPr>
            <p:ph type="body" idx="5"/>
          </p:nvPr>
        </p:nvSpPr>
        <p:spPr>
          <a:xfrm>
            <a:off x="6452104" y="3120228"/>
            <a:ext cx="3459600" cy="940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4" name="Google Shape;454;p103"/>
          <p:cNvSpPr/>
          <p:nvPr/>
        </p:nvSpPr>
        <p:spPr>
          <a:xfrm>
            <a:off x="6286445" y="4261269"/>
            <a:ext cx="4000500" cy="19296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dirty="0">
              <a:solidFill>
                <a:srgbClr val="FFFFFF"/>
              </a:solidFill>
              <a:latin typeface="DM Sans"/>
              <a:ea typeface="DM Sans"/>
              <a:cs typeface="DM Sans"/>
              <a:sym typeface="DM Sans"/>
            </a:endParaRPr>
          </a:p>
        </p:txBody>
      </p:sp>
      <p:sp>
        <p:nvSpPr>
          <p:cNvPr id="455" name="Google Shape;455;p103"/>
          <p:cNvSpPr txBox="1">
            <a:spLocks noGrp="1"/>
          </p:cNvSpPr>
          <p:nvPr>
            <p:ph type="body" idx="6"/>
          </p:nvPr>
        </p:nvSpPr>
        <p:spPr>
          <a:xfrm>
            <a:off x="6452104" y="4357691"/>
            <a:ext cx="3459600" cy="1625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6" name="Google Shape;456;p103"/>
          <p:cNvSpPr txBox="1">
            <a:spLocks noGrp="1"/>
          </p:cNvSpPr>
          <p:nvPr>
            <p:ph type="body" idx="7"/>
          </p:nvPr>
        </p:nvSpPr>
        <p:spPr>
          <a:xfrm>
            <a:off x="338228" y="4294220"/>
            <a:ext cx="1578000" cy="6861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7" name="Google Shape;457;p103"/>
          <p:cNvSpPr txBox="1">
            <a:spLocks noGrp="1"/>
          </p:cNvSpPr>
          <p:nvPr>
            <p:ph type="body" idx="8"/>
          </p:nvPr>
        </p:nvSpPr>
        <p:spPr>
          <a:xfrm>
            <a:off x="338228" y="3067737"/>
            <a:ext cx="1578000" cy="6861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8" name="Google Shape;458;p103"/>
          <p:cNvSpPr txBox="1">
            <a:spLocks noGrp="1"/>
          </p:cNvSpPr>
          <p:nvPr>
            <p:ph type="body" idx="9"/>
          </p:nvPr>
        </p:nvSpPr>
        <p:spPr>
          <a:xfrm>
            <a:off x="338228" y="2137784"/>
            <a:ext cx="1578000" cy="6861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9" name="Google Shape;459;p103"/>
          <p:cNvSpPr/>
          <p:nvPr/>
        </p:nvSpPr>
        <p:spPr>
          <a:xfrm>
            <a:off x="6286444" y="1373538"/>
            <a:ext cx="4000500" cy="566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dirty="0">
              <a:solidFill>
                <a:srgbClr val="FFFFFF"/>
              </a:solidFill>
              <a:latin typeface="DM Sans"/>
              <a:ea typeface="DM Sans"/>
              <a:cs typeface="DM Sans"/>
              <a:sym typeface="DM Sans"/>
            </a:endParaRPr>
          </a:p>
        </p:txBody>
      </p:sp>
      <p:sp>
        <p:nvSpPr>
          <p:cNvPr id="460" name="Google Shape;460;p103"/>
          <p:cNvSpPr txBox="1">
            <a:spLocks noGrp="1"/>
          </p:cNvSpPr>
          <p:nvPr>
            <p:ph type="body" idx="13"/>
          </p:nvPr>
        </p:nvSpPr>
        <p:spPr>
          <a:xfrm>
            <a:off x="6635023" y="1517966"/>
            <a:ext cx="3341700" cy="2781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61" name="Google Shape;461;p103"/>
          <p:cNvSpPr/>
          <p:nvPr/>
        </p:nvSpPr>
        <p:spPr>
          <a:xfrm>
            <a:off x="2204302" y="1373538"/>
            <a:ext cx="4000500" cy="566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dirty="0">
              <a:solidFill>
                <a:srgbClr val="FFFFFF"/>
              </a:solidFill>
              <a:latin typeface="DM Sans"/>
              <a:ea typeface="DM Sans"/>
              <a:cs typeface="DM Sans"/>
              <a:sym typeface="DM Sans"/>
            </a:endParaRPr>
          </a:p>
        </p:txBody>
      </p:sp>
      <p:sp>
        <p:nvSpPr>
          <p:cNvPr id="462" name="Google Shape;462;p103"/>
          <p:cNvSpPr txBox="1">
            <a:spLocks noGrp="1"/>
          </p:cNvSpPr>
          <p:nvPr>
            <p:ph type="body" idx="14"/>
          </p:nvPr>
        </p:nvSpPr>
        <p:spPr>
          <a:xfrm>
            <a:off x="2533735" y="1517966"/>
            <a:ext cx="3341700" cy="2781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63" name="Google Shape;463;p103"/>
          <p:cNvSpPr txBox="1">
            <a:spLocks noGrp="1"/>
          </p:cNvSpPr>
          <p:nvPr>
            <p:ph type="body" idx="15"/>
          </p:nvPr>
        </p:nvSpPr>
        <p:spPr>
          <a:xfrm>
            <a:off x="600455" y="381000"/>
            <a:ext cx="80100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64" name="Google Shape;464;p103"/>
          <p:cNvSpPr txBox="1">
            <a:spLocks noGrp="1"/>
          </p:cNvSpPr>
          <p:nvPr>
            <p:ph type="body" idx="1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7417353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able Slide">
  <p:cSld name="Table Slide">
    <p:spTree>
      <p:nvGrpSpPr>
        <p:cNvPr id="1" name="Shape 465"/>
        <p:cNvGrpSpPr/>
        <p:nvPr/>
      </p:nvGrpSpPr>
      <p:grpSpPr>
        <a:xfrm>
          <a:off x="0" y="0"/>
          <a:ext cx="0" cy="0"/>
          <a:chOff x="0" y="0"/>
          <a:chExt cx="0" cy="0"/>
        </a:xfrm>
      </p:grpSpPr>
      <p:sp>
        <p:nvSpPr>
          <p:cNvPr id="466" name="Google Shape;466;p104"/>
          <p:cNvSpPr txBox="1">
            <a:spLocks noGrp="1"/>
          </p:cNvSpPr>
          <p:nvPr>
            <p:ph type="body" idx="1"/>
          </p:nvPr>
        </p:nvSpPr>
        <p:spPr>
          <a:xfrm>
            <a:off x="600455" y="381000"/>
            <a:ext cx="80100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67" name="Google Shape;467;p104"/>
          <p:cNvSpPr txBox="1">
            <a:spLocks noGrp="1"/>
          </p:cNvSpPr>
          <p:nvPr>
            <p:ph type="body" idx="2"/>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005660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Large Number &amp; Text">
  <p:cSld name="Large Number &amp; Text">
    <p:spTree>
      <p:nvGrpSpPr>
        <p:cNvPr id="1" name="Shape 468"/>
        <p:cNvGrpSpPr/>
        <p:nvPr/>
      </p:nvGrpSpPr>
      <p:grpSpPr>
        <a:xfrm>
          <a:off x="0" y="0"/>
          <a:ext cx="0" cy="0"/>
          <a:chOff x="0" y="0"/>
          <a:chExt cx="0" cy="0"/>
        </a:xfrm>
      </p:grpSpPr>
      <p:sp>
        <p:nvSpPr>
          <p:cNvPr id="469" name="Google Shape;469;p105"/>
          <p:cNvSpPr txBox="1">
            <a:spLocks noGrp="1"/>
          </p:cNvSpPr>
          <p:nvPr>
            <p:ph type="body" idx="1"/>
          </p:nvPr>
        </p:nvSpPr>
        <p:spPr>
          <a:xfrm>
            <a:off x="1590675" y="5791200"/>
            <a:ext cx="7020000" cy="2289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100"/>
              </a:spcBef>
              <a:spcAft>
                <a:spcPts val="0"/>
              </a:spcAft>
              <a:buClr>
                <a:schemeClr val="accent1"/>
              </a:buClr>
              <a:buSzPts val="900"/>
              <a:buFont typeface="Arial"/>
              <a:buNone/>
              <a:defRPr sz="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0" name="Google Shape;470;p105"/>
          <p:cNvSpPr txBox="1">
            <a:spLocks noGrp="1"/>
          </p:cNvSpPr>
          <p:nvPr>
            <p:ph type="body" idx="2"/>
          </p:nvPr>
        </p:nvSpPr>
        <p:spPr>
          <a:xfrm>
            <a:off x="6617512" y="3236833"/>
            <a:ext cx="4977900"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1" name="Google Shape;471;p105"/>
          <p:cNvSpPr txBox="1">
            <a:spLocks noGrp="1"/>
          </p:cNvSpPr>
          <p:nvPr>
            <p:ph type="body" idx="3"/>
          </p:nvPr>
        </p:nvSpPr>
        <p:spPr>
          <a:xfrm>
            <a:off x="6617512" y="1676400"/>
            <a:ext cx="4991100" cy="1382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4166"/>
              </a:lnSpc>
              <a:spcBef>
                <a:spcPts val="11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2" name="Google Shape;472;p105"/>
          <p:cNvSpPr txBox="1">
            <a:spLocks noGrp="1"/>
          </p:cNvSpPr>
          <p:nvPr>
            <p:ph type="body" idx="4"/>
          </p:nvPr>
        </p:nvSpPr>
        <p:spPr>
          <a:xfrm>
            <a:off x="2959912" y="1676400"/>
            <a:ext cx="3276900" cy="2949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800"/>
              <a:buFont typeface="Arial"/>
              <a:buNone/>
              <a:defRPr sz="28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3" name="Google Shape;473;p105"/>
          <p:cNvSpPr txBox="1">
            <a:spLocks noGrp="1"/>
          </p:cNvSpPr>
          <p:nvPr>
            <p:ph type="body" idx="5"/>
          </p:nvPr>
        </p:nvSpPr>
        <p:spPr>
          <a:xfrm>
            <a:off x="609600" y="1676400"/>
            <a:ext cx="228600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15100"/>
              <a:buFont typeface="Arial"/>
              <a:buNone/>
              <a:defRPr sz="151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4" name="Google Shape;474;p105"/>
          <p:cNvSpPr txBox="1">
            <a:spLocks noGrp="1"/>
          </p:cNvSpPr>
          <p:nvPr>
            <p:ph type="body" idx="6"/>
          </p:nvPr>
        </p:nvSpPr>
        <p:spPr>
          <a:xfrm>
            <a:off x="828675" y="5780087"/>
            <a:ext cx="2286000" cy="174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900"/>
              <a:buFont typeface="Arial"/>
              <a:buNone/>
              <a:defRPr sz="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5" name="Google Shape;475;p105"/>
          <p:cNvSpPr txBox="1">
            <a:spLocks noGrp="1"/>
          </p:cNvSpPr>
          <p:nvPr>
            <p:ph type="body" idx="7"/>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6" name="Google Shape;476;p105"/>
          <p:cNvSpPr txBox="1">
            <a:spLocks noGrp="1"/>
          </p:cNvSpPr>
          <p:nvPr>
            <p:ph type="body" idx="8"/>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0136737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Header &amp; Large Text 1">
  <p:cSld name="Header &amp; Large Text 1">
    <p:spTree>
      <p:nvGrpSpPr>
        <p:cNvPr id="1" name="Shape 477"/>
        <p:cNvGrpSpPr/>
        <p:nvPr/>
      </p:nvGrpSpPr>
      <p:grpSpPr>
        <a:xfrm>
          <a:off x="0" y="0"/>
          <a:ext cx="0" cy="0"/>
          <a:chOff x="0" y="0"/>
          <a:chExt cx="0" cy="0"/>
        </a:xfrm>
      </p:grpSpPr>
      <p:sp>
        <p:nvSpPr>
          <p:cNvPr id="478" name="Google Shape;478;p106"/>
          <p:cNvSpPr txBox="1">
            <a:spLocks noGrp="1"/>
          </p:cNvSpPr>
          <p:nvPr>
            <p:ph type="body" idx="1"/>
          </p:nvPr>
        </p:nvSpPr>
        <p:spPr>
          <a:xfrm>
            <a:off x="609600" y="1677087"/>
            <a:ext cx="2600400" cy="24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FD5D3B"/>
              </a:buClr>
              <a:buSzPts val="3200"/>
              <a:buFont typeface="Arial"/>
              <a:buNone/>
              <a:defRPr sz="32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9" name="Google Shape;479;p106"/>
          <p:cNvSpPr txBox="1">
            <a:spLocks noGrp="1"/>
          </p:cNvSpPr>
          <p:nvPr>
            <p:ph type="body" idx="2"/>
          </p:nvPr>
        </p:nvSpPr>
        <p:spPr>
          <a:xfrm>
            <a:off x="3438525" y="1686560"/>
            <a:ext cx="38661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480" name="Google Shape;480;p106"/>
          <p:cNvCxnSpPr/>
          <p:nvPr/>
        </p:nvCxnSpPr>
        <p:spPr>
          <a:xfrm>
            <a:off x="7477125" y="1686612"/>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481" name="Google Shape;481;p106"/>
          <p:cNvSpPr txBox="1">
            <a:spLocks noGrp="1"/>
          </p:cNvSpPr>
          <p:nvPr>
            <p:ph type="body" idx="3"/>
          </p:nvPr>
        </p:nvSpPr>
        <p:spPr>
          <a:xfrm>
            <a:off x="3438525" y="3134412"/>
            <a:ext cx="4038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82" name="Google Shape;482;p106"/>
          <p:cNvSpPr txBox="1">
            <a:spLocks noGrp="1"/>
          </p:cNvSpPr>
          <p:nvPr>
            <p:ph type="body" idx="4"/>
          </p:nvPr>
        </p:nvSpPr>
        <p:spPr>
          <a:xfrm>
            <a:off x="7649950" y="1676400"/>
            <a:ext cx="3942000" cy="321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83" name="Google Shape;483;p106"/>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84" name="Google Shape;484;p106"/>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229824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Header &amp; Large Text 2">
  <p:cSld name="Header &amp; Large Text 2">
    <p:spTree>
      <p:nvGrpSpPr>
        <p:cNvPr id="1" name="Shape 485"/>
        <p:cNvGrpSpPr/>
        <p:nvPr/>
      </p:nvGrpSpPr>
      <p:grpSpPr>
        <a:xfrm>
          <a:off x="0" y="0"/>
          <a:ext cx="0" cy="0"/>
          <a:chOff x="0" y="0"/>
          <a:chExt cx="0" cy="0"/>
        </a:xfrm>
      </p:grpSpPr>
      <p:sp>
        <p:nvSpPr>
          <p:cNvPr id="486" name="Google Shape;486;p107"/>
          <p:cNvSpPr txBox="1">
            <a:spLocks noGrp="1"/>
          </p:cNvSpPr>
          <p:nvPr>
            <p:ph type="body" idx="1"/>
          </p:nvPr>
        </p:nvSpPr>
        <p:spPr>
          <a:xfrm>
            <a:off x="609600" y="1676400"/>
            <a:ext cx="27432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487" name="Google Shape;487;p107"/>
          <p:cNvCxnSpPr/>
          <p:nvPr/>
        </p:nvCxnSpPr>
        <p:spPr>
          <a:xfrm>
            <a:off x="7467600" y="1676400"/>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488" name="Google Shape;488;p107"/>
          <p:cNvSpPr txBox="1">
            <a:spLocks noGrp="1"/>
          </p:cNvSpPr>
          <p:nvPr>
            <p:ph type="body" idx="2"/>
          </p:nvPr>
        </p:nvSpPr>
        <p:spPr>
          <a:xfrm>
            <a:off x="3505200" y="1676400"/>
            <a:ext cx="3733500" cy="306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89" name="Google Shape;489;p107"/>
          <p:cNvSpPr txBox="1">
            <a:spLocks noGrp="1"/>
          </p:cNvSpPr>
          <p:nvPr>
            <p:ph type="body" idx="3"/>
          </p:nvPr>
        </p:nvSpPr>
        <p:spPr>
          <a:xfrm>
            <a:off x="7620000" y="1676400"/>
            <a:ext cx="40131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0" name="Google Shape;490;p107"/>
          <p:cNvSpPr txBox="1">
            <a:spLocks noGrp="1"/>
          </p:cNvSpPr>
          <p:nvPr>
            <p:ph type="body" idx="4"/>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1" name="Google Shape;491;p107"/>
          <p:cNvSpPr txBox="1">
            <a:spLocks noGrp="1"/>
          </p:cNvSpPr>
          <p:nvPr>
            <p:ph type="body" idx="5"/>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406809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eader &amp; Large Text 3">
  <p:cSld name="Header &amp; Large Text 3">
    <p:spTree>
      <p:nvGrpSpPr>
        <p:cNvPr id="1" name="Shape 492"/>
        <p:cNvGrpSpPr/>
        <p:nvPr/>
      </p:nvGrpSpPr>
      <p:grpSpPr>
        <a:xfrm>
          <a:off x="0" y="0"/>
          <a:ext cx="0" cy="0"/>
          <a:chOff x="0" y="0"/>
          <a:chExt cx="0" cy="0"/>
        </a:xfrm>
      </p:grpSpPr>
      <p:sp>
        <p:nvSpPr>
          <p:cNvPr id="493" name="Google Shape;493;p108"/>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4" name="Google Shape;494;p108"/>
          <p:cNvSpPr txBox="1">
            <a:spLocks noGrp="1"/>
          </p:cNvSpPr>
          <p:nvPr>
            <p:ph type="body" idx="2"/>
          </p:nvPr>
        </p:nvSpPr>
        <p:spPr>
          <a:xfrm>
            <a:off x="3400931" y="3659580"/>
            <a:ext cx="8077200" cy="845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5" name="Google Shape;495;p108"/>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6" name="Google Shape;496;p108"/>
          <p:cNvSpPr txBox="1">
            <a:spLocks noGrp="1"/>
          </p:cNvSpPr>
          <p:nvPr>
            <p:ph type="body" idx="4"/>
          </p:nvPr>
        </p:nvSpPr>
        <p:spPr>
          <a:xfrm>
            <a:off x="3400931" y="1676400"/>
            <a:ext cx="8127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497" name="Google Shape;497;p108"/>
          <p:cNvCxnSpPr/>
          <p:nvPr/>
        </p:nvCxnSpPr>
        <p:spPr>
          <a:xfrm>
            <a:off x="3477131" y="3507180"/>
            <a:ext cx="8001300" cy="0"/>
          </a:xfrm>
          <a:prstGeom prst="straightConnector1">
            <a:avLst/>
          </a:prstGeom>
          <a:noFill/>
          <a:ln w="12700" cap="flat" cmpd="sng">
            <a:solidFill>
              <a:schemeClr val="accent6"/>
            </a:solidFill>
            <a:prstDash val="solid"/>
            <a:miter lim="800000"/>
            <a:headEnd type="none" w="sm" len="sm"/>
            <a:tailEnd type="none" w="sm" len="sm"/>
          </a:ln>
        </p:spPr>
      </p:cxnSp>
      <p:cxnSp>
        <p:nvCxnSpPr>
          <p:cNvPr id="498" name="Google Shape;498;p108"/>
          <p:cNvCxnSpPr/>
          <p:nvPr/>
        </p:nvCxnSpPr>
        <p:spPr>
          <a:xfrm>
            <a:off x="3477131" y="4650180"/>
            <a:ext cx="8001300" cy="0"/>
          </a:xfrm>
          <a:prstGeom prst="straightConnector1">
            <a:avLst/>
          </a:prstGeom>
          <a:noFill/>
          <a:ln w="12700" cap="flat" cmpd="sng">
            <a:solidFill>
              <a:schemeClr val="accent6"/>
            </a:solidFill>
            <a:prstDash val="solid"/>
            <a:miter lim="800000"/>
            <a:headEnd type="none" w="sm" len="sm"/>
            <a:tailEnd type="none" w="sm" len="sm"/>
          </a:ln>
        </p:spPr>
      </p:cxnSp>
      <p:sp>
        <p:nvSpPr>
          <p:cNvPr id="499" name="Google Shape;499;p108"/>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00" name="Google Shape;500;p108"/>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6321671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501"/>
        <p:cNvGrpSpPr/>
        <p:nvPr/>
      </p:nvGrpSpPr>
      <p:grpSpPr>
        <a:xfrm>
          <a:off x="0" y="0"/>
          <a:ext cx="0" cy="0"/>
          <a:chOff x="0" y="0"/>
          <a:chExt cx="0" cy="0"/>
        </a:xfrm>
      </p:grpSpPr>
      <p:sp>
        <p:nvSpPr>
          <p:cNvPr id="502" name="Google Shape;502;p109"/>
          <p:cNvSpPr/>
          <p:nvPr/>
        </p:nvSpPr>
        <p:spPr>
          <a:xfrm>
            <a:off x="982980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503" name="Google Shape;503;p109"/>
          <p:cNvSpPr/>
          <p:nvPr/>
        </p:nvSpPr>
        <p:spPr>
          <a:xfrm>
            <a:off x="830580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chemeClr val="lt1"/>
              </a:solidFill>
              <a:latin typeface="DM Sans"/>
              <a:ea typeface="DM Sans"/>
              <a:cs typeface="DM Sans"/>
              <a:sym typeface="DM Sans"/>
            </a:endParaRPr>
          </a:p>
        </p:txBody>
      </p:sp>
      <p:sp>
        <p:nvSpPr>
          <p:cNvPr id="504" name="Google Shape;504;p109"/>
          <p:cNvSpPr/>
          <p:nvPr/>
        </p:nvSpPr>
        <p:spPr>
          <a:xfrm>
            <a:off x="6780823"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505" name="Google Shape;505;p109"/>
          <p:cNvSpPr/>
          <p:nvPr/>
        </p:nvSpPr>
        <p:spPr>
          <a:xfrm>
            <a:off x="525747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506" name="Google Shape;506;p109"/>
          <p:cNvSpPr/>
          <p:nvPr/>
        </p:nvSpPr>
        <p:spPr>
          <a:xfrm>
            <a:off x="374142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507" name="Google Shape;507;p109"/>
          <p:cNvSpPr/>
          <p:nvPr/>
        </p:nvSpPr>
        <p:spPr>
          <a:xfrm>
            <a:off x="220980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dirty="0">
              <a:solidFill>
                <a:schemeClr val="lt1"/>
              </a:solidFill>
              <a:latin typeface="DM Sans"/>
              <a:ea typeface="DM Sans"/>
              <a:cs typeface="DM Sans"/>
              <a:sym typeface="DM Sans"/>
            </a:endParaRPr>
          </a:p>
        </p:txBody>
      </p:sp>
      <p:sp>
        <p:nvSpPr>
          <p:cNvPr id="508" name="Google Shape;508;p109"/>
          <p:cNvSpPr txBox="1">
            <a:spLocks noGrp="1"/>
          </p:cNvSpPr>
          <p:nvPr>
            <p:ph type="body" idx="1"/>
          </p:nvPr>
        </p:nvSpPr>
        <p:spPr>
          <a:xfrm>
            <a:off x="220980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09" name="Google Shape;509;p109"/>
          <p:cNvSpPr txBox="1">
            <a:spLocks noGrp="1"/>
          </p:cNvSpPr>
          <p:nvPr>
            <p:ph type="body" idx="2"/>
          </p:nvPr>
        </p:nvSpPr>
        <p:spPr>
          <a:xfrm>
            <a:off x="374142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0" name="Google Shape;510;p109"/>
          <p:cNvSpPr txBox="1">
            <a:spLocks noGrp="1"/>
          </p:cNvSpPr>
          <p:nvPr>
            <p:ph type="body" idx="3"/>
          </p:nvPr>
        </p:nvSpPr>
        <p:spPr>
          <a:xfrm>
            <a:off x="525747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1" name="Google Shape;511;p109"/>
          <p:cNvSpPr txBox="1">
            <a:spLocks noGrp="1"/>
          </p:cNvSpPr>
          <p:nvPr>
            <p:ph type="body" idx="4"/>
          </p:nvPr>
        </p:nvSpPr>
        <p:spPr>
          <a:xfrm>
            <a:off x="6780823"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2" name="Google Shape;512;p109"/>
          <p:cNvSpPr txBox="1">
            <a:spLocks noGrp="1"/>
          </p:cNvSpPr>
          <p:nvPr>
            <p:ph type="body" idx="5"/>
          </p:nvPr>
        </p:nvSpPr>
        <p:spPr>
          <a:xfrm>
            <a:off x="830580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3" name="Google Shape;513;p109"/>
          <p:cNvSpPr txBox="1">
            <a:spLocks noGrp="1"/>
          </p:cNvSpPr>
          <p:nvPr>
            <p:ph type="body" idx="6"/>
          </p:nvPr>
        </p:nvSpPr>
        <p:spPr>
          <a:xfrm>
            <a:off x="220980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4" name="Google Shape;514;p109"/>
          <p:cNvSpPr txBox="1">
            <a:spLocks noGrp="1"/>
          </p:cNvSpPr>
          <p:nvPr>
            <p:ph type="body" idx="7"/>
          </p:nvPr>
        </p:nvSpPr>
        <p:spPr>
          <a:xfrm>
            <a:off x="525747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5" name="Google Shape;515;p109"/>
          <p:cNvSpPr txBox="1">
            <a:spLocks noGrp="1"/>
          </p:cNvSpPr>
          <p:nvPr>
            <p:ph type="body" idx="8"/>
          </p:nvPr>
        </p:nvSpPr>
        <p:spPr>
          <a:xfrm>
            <a:off x="6780823"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6" name="Google Shape;516;p109"/>
          <p:cNvSpPr txBox="1">
            <a:spLocks noGrp="1"/>
          </p:cNvSpPr>
          <p:nvPr>
            <p:ph type="body" idx="9"/>
          </p:nvPr>
        </p:nvSpPr>
        <p:spPr>
          <a:xfrm>
            <a:off x="830580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10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7" name="Google Shape;517;p109"/>
          <p:cNvSpPr txBox="1">
            <a:spLocks noGrp="1"/>
          </p:cNvSpPr>
          <p:nvPr>
            <p:ph type="body" idx="13"/>
          </p:nvPr>
        </p:nvSpPr>
        <p:spPr>
          <a:xfrm>
            <a:off x="6780823"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10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8" name="Google Shape;518;p109"/>
          <p:cNvSpPr txBox="1">
            <a:spLocks noGrp="1"/>
          </p:cNvSpPr>
          <p:nvPr>
            <p:ph type="body" idx="14"/>
          </p:nvPr>
        </p:nvSpPr>
        <p:spPr>
          <a:xfrm>
            <a:off x="525747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10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9" name="Google Shape;519;p109"/>
          <p:cNvSpPr txBox="1">
            <a:spLocks noGrp="1"/>
          </p:cNvSpPr>
          <p:nvPr>
            <p:ph type="body" idx="15"/>
          </p:nvPr>
        </p:nvSpPr>
        <p:spPr>
          <a:xfrm>
            <a:off x="220980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0" name="Google Shape;520;p109"/>
          <p:cNvSpPr txBox="1">
            <a:spLocks noGrp="1"/>
          </p:cNvSpPr>
          <p:nvPr>
            <p:ph type="body" idx="16"/>
          </p:nvPr>
        </p:nvSpPr>
        <p:spPr>
          <a:xfrm>
            <a:off x="741362" y="1688690"/>
            <a:ext cx="1280100" cy="708000"/>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1" name="Google Shape;521;p109"/>
          <p:cNvSpPr txBox="1">
            <a:spLocks noGrp="1"/>
          </p:cNvSpPr>
          <p:nvPr>
            <p:ph type="body" idx="17"/>
          </p:nvPr>
        </p:nvSpPr>
        <p:spPr>
          <a:xfrm>
            <a:off x="741362" y="2763513"/>
            <a:ext cx="1280100" cy="708000"/>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2" name="Google Shape;522;p109"/>
          <p:cNvSpPr txBox="1">
            <a:spLocks noGrp="1"/>
          </p:cNvSpPr>
          <p:nvPr>
            <p:ph type="body" idx="18"/>
          </p:nvPr>
        </p:nvSpPr>
        <p:spPr>
          <a:xfrm>
            <a:off x="741362" y="4203748"/>
            <a:ext cx="1280100" cy="708000"/>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3" name="Google Shape;523;p109"/>
          <p:cNvSpPr txBox="1">
            <a:spLocks noGrp="1"/>
          </p:cNvSpPr>
          <p:nvPr>
            <p:ph type="body" idx="19"/>
          </p:nvPr>
        </p:nvSpPr>
        <p:spPr>
          <a:xfrm>
            <a:off x="741362" y="5223310"/>
            <a:ext cx="1280100" cy="951300"/>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4" name="Google Shape;524;p109"/>
          <p:cNvSpPr txBox="1">
            <a:spLocks noGrp="1"/>
          </p:cNvSpPr>
          <p:nvPr>
            <p:ph type="body" idx="20"/>
          </p:nvPr>
        </p:nvSpPr>
        <p:spPr>
          <a:xfrm>
            <a:off x="609600" y="381000"/>
            <a:ext cx="7596900" cy="68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5" name="Google Shape;525;p109"/>
          <p:cNvSpPr/>
          <p:nvPr/>
        </p:nvSpPr>
        <p:spPr>
          <a:xfrm>
            <a:off x="741362"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dirty="0">
              <a:solidFill>
                <a:schemeClr val="lt1"/>
              </a:solidFill>
              <a:latin typeface="DM Sans"/>
              <a:ea typeface="DM Sans"/>
              <a:cs typeface="DM Sans"/>
              <a:sym typeface="DM Sans"/>
            </a:endParaRPr>
          </a:p>
        </p:txBody>
      </p:sp>
      <p:cxnSp>
        <p:nvCxnSpPr>
          <p:cNvPr id="526" name="Google Shape;526;p109"/>
          <p:cNvCxnSpPr/>
          <p:nvPr/>
        </p:nvCxnSpPr>
        <p:spPr>
          <a:xfrm>
            <a:off x="778255" y="2500180"/>
            <a:ext cx="10347300" cy="0"/>
          </a:xfrm>
          <a:prstGeom prst="straightConnector1">
            <a:avLst/>
          </a:prstGeom>
          <a:noFill/>
          <a:ln w="9525" cap="flat" cmpd="sng">
            <a:solidFill>
              <a:schemeClr val="accent6"/>
            </a:solidFill>
            <a:prstDash val="solid"/>
            <a:miter lim="800000"/>
            <a:headEnd type="none" w="sm" len="sm"/>
            <a:tailEnd type="none" w="sm" len="sm"/>
          </a:ln>
        </p:spPr>
      </p:cxnSp>
      <p:cxnSp>
        <p:nvCxnSpPr>
          <p:cNvPr id="527" name="Google Shape;527;p109"/>
          <p:cNvCxnSpPr/>
          <p:nvPr/>
        </p:nvCxnSpPr>
        <p:spPr>
          <a:xfrm>
            <a:off x="778255" y="5029200"/>
            <a:ext cx="10347300" cy="0"/>
          </a:xfrm>
          <a:prstGeom prst="straightConnector1">
            <a:avLst/>
          </a:prstGeom>
          <a:noFill/>
          <a:ln w="9525" cap="flat" cmpd="sng">
            <a:solidFill>
              <a:schemeClr val="accent6"/>
            </a:solidFill>
            <a:prstDash val="solid"/>
            <a:miter lim="800000"/>
            <a:headEnd type="none" w="sm" len="sm"/>
            <a:tailEnd type="none" w="sm" len="sm"/>
          </a:ln>
        </p:spPr>
      </p:cxnSp>
      <p:sp>
        <p:nvSpPr>
          <p:cNvPr id="528" name="Google Shape;528;p109"/>
          <p:cNvSpPr txBox="1">
            <a:spLocks noGrp="1"/>
          </p:cNvSpPr>
          <p:nvPr>
            <p:ph type="body" idx="21"/>
          </p:nvPr>
        </p:nvSpPr>
        <p:spPr>
          <a:xfrm>
            <a:off x="374142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9" name="Google Shape;529;p109"/>
          <p:cNvSpPr txBox="1">
            <a:spLocks noGrp="1"/>
          </p:cNvSpPr>
          <p:nvPr>
            <p:ph type="body" idx="22"/>
          </p:nvPr>
        </p:nvSpPr>
        <p:spPr>
          <a:xfrm>
            <a:off x="982980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10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0" name="Google Shape;530;p109"/>
          <p:cNvSpPr txBox="1">
            <a:spLocks noGrp="1"/>
          </p:cNvSpPr>
          <p:nvPr>
            <p:ph type="body" idx="23"/>
          </p:nvPr>
        </p:nvSpPr>
        <p:spPr>
          <a:xfrm>
            <a:off x="220980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1" name="Google Shape;531;p109"/>
          <p:cNvSpPr txBox="1">
            <a:spLocks noGrp="1"/>
          </p:cNvSpPr>
          <p:nvPr>
            <p:ph type="body" idx="24"/>
          </p:nvPr>
        </p:nvSpPr>
        <p:spPr>
          <a:xfrm>
            <a:off x="830580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2" name="Google Shape;532;p109"/>
          <p:cNvSpPr txBox="1">
            <a:spLocks noGrp="1"/>
          </p:cNvSpPr>
          <p:nvPr>
            <p:ph type="body" idx="25"/>
          </p:nvPr>
        </p:nvSpPr>
        <p:spPr>
          <a:xfrm>
            <a:off x="982980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3" name="Google Shape;533;p109"/>
          <p:cNvSpPr txBox="1">
            <a:spLocks noGrp="1"/>
          </p:cNvSpPr>
          <p:nvPr>
            <p:ph type="body" idx="26"/>
          </p:nvPr>
        </p:nvSpPr>
        <p:spPr>
          <a:xfrm>
            <a:off x="374142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4" name="Google Shape;534;p109"/>
          <p:cNvSpPr txBox="1">
            <a:spLocks noGrp="1"/>
          </p:cNvSpPr>
          <p:nvPr>
            <p:ph type="body" idx="27"/>
          </p:nvPr>
        </p:nvSpPr>
        <p:spPr>
          <a:xfrm>
            <a:off x="982980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5" name="Google Shape;535;p109"/>
          <p:cNvSpPr txBox="1">
            <a:spLocks noGrp="1"/>
          </p:cNvSpPr>
          <p:nvPr>
            <p:ph type="body" idx="28"/>
          </p:nvPr>
        </p:nvSpPr>
        <p:spPr>
          <a:xfrm>
            <a:off x="830580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6" name="Google Shape;536;p109"/>
          <p:cNvSpPr txBox="1">
            <a:spLocks noGrp="1"/>
          </p:cNvSpPr>
          <p:nvPr>
            <p:ph type="body" idx="29"/>
          </p:nvPr>
        </p:nvSpPr>
        <p:spPr>
          <a:xfrm>
            <a:off x="525747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7" name="Google Shape;537;p109"/>
          <p:cNvSpPr txBox="1">
            <a:spLocks noGrp="1"/>
          </p:cNvSpPr>
          <p:nvPr>
            <p:ph type="body" idx="30"/>
          </p:nvPr>
        </p:nvSpPr>
        <p:spPr>
          <a:xfrm>
            <a:off x="6780823"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8" name="Google Shape;538;p109"/>
          <p:cNvSpPr txBox="1">
            <a:spLocks noGrp="1"/>
          </p:cNvSpPr>
          <p:nvPr>
            <p:ph type="body" idx="31"/>
          </p:nvPr>
        </p:nvSpPr>
        <p:spPr>
          <a:xfrm>
            <a:off x="374142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9" name="Google Shape;539;p109"/>
          <p:cNvSpPr txBox="1">
            <a:spLocks noGrp="1"/>
          </p:cNvSpPr>
          <p:nvPr>
            <p:ph type="body" idx="32"/>
          </p:nvPr>
        </p:nvSpPr>
        <p:spPr>
          <a:xfrm>
            <a:off x="982980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0" name="Google Shape;540;p109"/>
          <p:cNvSpPr txBox="1">
            <a:spLocks noGrp="1"/>
          </p:cNvSpPr>
          <p:nvPr>
            <p:ph type="body" idx="33"/>
          </p:nvPr>
        </p:nvSpPr>
        <p:spPr>
          <a:xfrm>
            <a:off x="221011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1" name="Google Shape;541;p109"/>
          <p:cNvSpPr txBox="1">
            <a:spLocks noGrp="1"/>
          </p:cNvSpPr>
          <p:nvPr>
            <p:ph type="body" idx="34"/>
          </p:nvPr>
        </p:nvSpPr>
        <p:spPr>
          <a:xfrm>
            <a:off x="374173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2" name="Google Shape;542;p109"/>
          <p:cNvSpPr txBox="1">
            <a:spLocks noGrp="1"/>
          </p:cNvSpPr>
          <p:nvPr>
            <p:ph type="body" idx="35"/>
          </p:nvPr>
        </p:nvSpPr>
        <p:spPr>
          <a:xfrm>
            <a:off x="525778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3" name="Google Shape;543;p109"/>
          <p:cNvSpPr txBox="1">
            <a:spLocks noGrp="1"/>
          </p:cNvSpPr>
          <p:nvPr>
            <p:ph type="body" idx="36"/>
          </p:nvPr>
        </p:nvSpPr>
        <p:spPr>
          <a:xfrm>
            <a:off x="6781141"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4" name="Google Shape;544;p109"/>
          <p:cNvSpPr txBox="1">
            <a:spLocks noGrp="1"/>
          </p:cNvSpPr>
          <p:nvPr>
            <p:ph type="body" idx="37"/>
          </p:nvPr>
        </p:nvSpPr>
        <p:spPr>
          <a:xfrm>
            <a:off x="830611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5" name="Google Shape;545;p109"/>
          <p:cNvSpPr txBox="1">
            <a:spLocks noGrp="1"/>
          </p:cNvSpPr>
          <p:nvPr>
            <p:ph type="body" idx="38"/>
          </p:nvPr>
        </p:nvSpPr>
        <p:spPr>
          <a:xfrm>
            <a:off x="983011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772010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ClosingSlide">
  <p:cSld name="ClosingSlide">
    <p:spTree>
      <p:nvGrpSpPr>
        <p:cNvPr id="1" name="Shape 546"/>
        <p:cNvGrpSpPr/>
        <p:nvPr/>
      </p:nvGrpSpPr>
      <p:grpSpPr>
        <a:xfrm>
          <a:off x="0" y="0"/>
          <a:ext cx="0" cy="0"/>
          <a:chOff x="0" y="0"/>
          <a:chExt cx="0" cy="0"/>
        </a:xfrm>
      </p:grpSpPr>
      <p:pic>
        <p:nvPicPr>
          <p:cNvPr id="547" name="Google Shape;547;p110"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548" name="Google Shape;548;p110"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549" name="Google Shape;549;p110"/>
          <p:cNvSpPr/>
          <p:nvPr/>
        </p:nvSpPr>
        <p:spPr>
          <a:xfrm>
            <a:off x="6400800" y="6553200"/>
            <a:ext cx="5257500" cy="84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00"/>
              <a:buFont typeface="Arial"/>
              <a:buNone/>
            </a:pPr>
            <a:r>
              <a:rPr lang="en-US" sz="500" b="0" i="0" u="none" strike="noStrike" cap="none" dirty="0">
                <a:solidFill>
                  <a:schemeClr val="accent6"/>
                </a:solidFill>
                <a:latin typeface="Roboto"/>
                <a:ea typeface="Roboto"/>
                <a:cs typeface="Roboto"/>
                <a:sym typeface="Roboto"/>
              </a:rPr>
              <a:t>Blue Cross Blue Shield of Massachusetts is an Independent Licensee of the Blue Cross and Blue Shield Association.</a:t>
            </a:r>
            <a:endParaRPr sz="500" b="0" i="0" u="none" strike="noStrike" cap="none" dirty="0">
              <a:solidFill>
                <a:schemeClr val="accent6"/>
              </a:solidFill>
              <a:latin typeface="Calibri"/>
              <a:ea typeface="Calibri"/>
              <a:cs typeface="Calibri"/>
              <a:sym typeface="Calibri"/>
            </a:endParaRPr>
          </a:p>
        </p:txBody>
      </p:sp>
      <p:sp>
        <p:nvSpPr>
          <p:cNvPr id="550" name="Google Shape;550;p110"/>
          <p:cNvSpPr txBox="1"/>
          <p:nvPr/>
        </p:nvSpPr>
        <p:spPr>
          <a:xfrm>
            <a:off x="7391400" y="6400800"/>
            <a:ext cx="4267200" cy="1077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dirty="0">
                <a:solidFill>
                  <a:srgbClr val="7F7F7F"/>
                </a:solidFill>
                <a:latin typeface="DM Sans"/>
                <a:ea typeface="DM Sans"/>
                <a:cs typeface="DM Sans"/>
                <a:sym typeface="DM Sans"/>
              </a:rPr>
              <a:t>BLUE CROSS BLUE SHIELD OF MASSACHUSETTS | </a:t>
            </a:r>
            <a:r>
              <a:rPr lang="en-US" sz="700" b="0" i="0" u="none" strike="noStrike" cap="none" dirty="0">
                <a:solidFill>
                  <a:srgbClr val="7F7F7F"/>
                </a:solidFill>
                <a:latin typeface="DM Sans"/>
                <a:ea typeface="DM Sans"/>
                <a:cs typeface="DM Sans"/>
                <a:sym typeface="DM Sans"/>
              </a:rPr>
              <a:t>CONFIDENTIAL – NOT FOR DISTRIBUTION</a:t>
            </a:r>
            <a:endParaRPr sz="15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0844211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51"/>
        <p:cNvGrpSpPr/>
        <p:nvPr/>
      </p:nvGrpSpPr>
      <p:grpSpPr>
        <a:xfrm>
          <a:off x="0" y="0"/>
          <a:ext cx="0" cy="0"/>
          <a:chOff x="0" y="0"/>
          <a:chExt cx="0" cy="0"/>
        </a:xfrm>
      </p:grpSpPr>
      <p:sp>
        <p:nvSpPr>
          <p:cNvPr id="552" name="Google Shape;552;p111"/>
          <p:cNvSpPr txBox="1">
            <a:spLocks noGrp="1"/>
          </p:cNvSpPr>
          <p:nvPr>
            <p:ph type="title"/>
          </p:nvPr>
        </p:nvSpPr>
        <p:spPr>
          <a:xfrm>
            <a:off x="442900" y="432000"/>
            <a:ext cx="11305500" cy="3663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800"/>
              <a:buFont typeface="Georgia"/>
              <a:buChar char="●"/>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245352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Content - bullet">
  <p:cSld name="Title and Content - bullet">
    <p:spTree>
      <p:nvGrpSpPr>
        <p:cNvPr id="1" name="Shape 553"/>
        <p:cNvGrpSpPr/>
        <p:nvPr/>
      </p:nvGrpSpPr>
      <p:grpSpPr>
        <a:xfrm>
          <a:off x="0" y="0"/>
          <a:ext cx="0" cy="0"/>
          <a:chOff x="0" y="0"/>
          <a:chExt cx="0" cy="0"/>
        </a:xfrm>
      </p:grpSpPr>
      <p:sp>
        <p:nvSpPr>
          <p:cNvPr id="554" name="Google Shape;554;p112"/>
          <p:cNvSpPr txBox="1">
            <a:spLocks noGrp="1"/>
          </p:cNvSpPr>
          <p:nvPr>
            <p:ph type="body" idx="1"/>
          </p:nvPr>
        </p:nvSpPr>
        <p:spPr>
          <a:xfrm>
            <a:off x="457200" y="6172200"/>
            <a:ext cx="11277600" cy="312300"/>
          </a:xfrm>
          <a:prstGeom prst="rect">
            <a:avLst/>
          </a:prstGeom>
          <a:noFill/>
          <a:ln>
            <a:noFill/>
          </a:ln>
        </p:spPr>
        <p:txBody>
          <a:bodyPr spcFirstLastPara="1" wrap="square" lIns="0" tIns="0" rIns="0" bIns="0" anchor="ctr" anchorCtr="0">
            <a:noAutofit/>
          </a:bodyPr>
          <a:lstStyle>
            <a:lvl1pPr marL="457200" marR="0" lvl="0" indent="-228600" algn="l" rtl="0">
              <a:lnSpc>
                <a:spcPct val="114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555" name="Google Shape;555;p112"/>
          <p:cNvSpPr txBox="1">
            <a:spLocks noGrp="1"/>
          </p:cNvSpPr>
          <p:nvPr>
            <p:ph type="body" idx="2"/>
          </p:nvPr>
        </p:nvSpPr>
        <p:spPr>
          <a:xfrm>
            <a:off x="457200" y="1295400"/>
            <a:ext cx="11277600" cy="4876800"/>
          </a:xfrm>
          <a:prstGeom prst="rect">
            <a:avLst/>
          </a:prstGeom>
          <a:noFill/>
          <a:ln>
            <a:noFill/>
          </a:ln>
        </p:spPr>
        <p:txBody>
          <a:bodyPr spcFirstLastPara="1" wrap="square" lIns="0" tIns="0" rIns="0" bIns="0" anchor="t" anchorCtr="0">
            <a:noAutofit/>
          </a:bodyPr>
          <a:lstStyle>
            <a:lvl1pPr marL="457200" marR="0" lvl="0" indent="-374650" algn="l" rtl="0">
              <a:lnSpc>
                <a:spcPct val="114000"/>
              </a:lnSpc>
              <a:spcBef>
                <a:spcPts val="700"/>
              </a:spcBef>
              <a:spcAft>
                <a:spcPts val="0"/>
              </a:spcAft>
              <a:buClr>
                <a:srgbClr val="000000"/>
              </a:buClr>
              <a:buSzPts val="2300"/>
              <a:buFont typeface="Arial"/>
              <a:buChar char="●"/>
              <a:defRPr sz="23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556" name="Google Shape;556;p112"/>
          <p:cNvSpPr txBox="1">
            <a:spLocks noGrp="1"/>
          </p:cNvSpPr>
          <p:nvPr>
            <p:ph type="title"/>
          </p:nvPr>
        </p:nvSpPr>
        <p:spPr>
          <a:xfrm>
            <a:off x="457200" y="411480"/>
            <a:ext cx="11277600" cy="8763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2800"/>
              <a:buFont typeface="Arial"/>
              <a:buChar char="●"/>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557" name="Google Shape;557;p112"/>
          <p:cNvSpPr txBox="1">
            <a:spLocks noGrp="1"/>
          </p:cNvSpPr>
          <p:nvPr>
            <p:ph type="ftr" idx="11"/>
          </p:nvPr>
        </p:nvSpPr>
        <p:spPr>
          <a:xfrm>
            <a:off x="4165600" y="6556248"/>
            <a:ext cx="3860700" cy="301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800" b="1" i="0" u="none" strike="noStrike" cap="none">
                <a:solidFill>
                  <a:srgbClr val="D8D8D8"/>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26372033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sic - no bullet">
  <p:cSld name="Basic - no bullet">
    <p:spTree>
      <p:nvGrpSpPr>
        <p:cNvPr id="1" name="Shape 558"/>
        <p:cNvGrpSpPr/>
        <p:nvPr/>
      </p:nvGrpSpPr>
      <p:grpSpPr>
        <a:xfrm>
          <a:off x="0" y="0"/>
          <a:ext cx="0" cy="0"/>
          <a:chOff x="0" y="0"/>
          <a:chExt cx="0" cy="0"/>
        </a:xfrm>
      </p:grpSpPr>
      <p:sp>
        <p:nvSpPr>
          <p:cNvPr id="559" name="Google Shape;559;p113"/>
          <p:cNvSpPr txBox="1">
            <a:spLocks noGrp="1"/>
          </p:cNvSpPr>
          <p:nvPr>
            <p:ph type="sldNum" idx="12"/>
          </p:nvPr>
        </p:nvSpPr>
        <p:spPr>
          <a:xfrm>
            <a:off x="11734800" y="6553200"/>
            <a:ext cx="457200" cy="3048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dirty="0"/>
          </a:p>
        </p:txBody>
      </p:sp>
      <p:sp>
        <p:nvSpPr>
          <p:cNvPr id="560" name="Google Shape;560;p113"/>
          <p:cNvSpPr txBox="1">
            <a:spLocks noGrp="1"/>
          </p:cNvSpPr>
          <p:nvPr>
            <p:ph type="body" idx="1"/>
          </p:nvPr>
        </p:nvSpPr>
        <p:spPr>
          <a:xfrm>
            <a:off x="457200" y="6172200"/>
            <a:ext cx="11277600" cy="304800"/>
          </a:xfrm>
          <a:prstGeom prst="rect">
            <a:avLst/>
          </a:prstGeom>
          <a:noFill/>
          <a:ln>
            <a:noFill/>
          </a:ln>
        </p:spPr>
        <p:txBody>
          <a:bodyPr spcFirstLastPara="1" wrap="square" lIns="0" tIns="0" rIns="0" bIns="0" anchor="ctr" anchorCtr="0">
            <a:noAutofit/>
          </a:bodyPr>
          <a:lstStyle>
            <a:lvl1pPr marL="457200" marR="0" lvl="0" indent="-228600" algn="l" rtl="0">
              <a:lnSpc>
                <a:spcPct val="114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561" name="Google Shape;561;p113"/>
          <p:cNvSpPr txBox="1">
            <a:spLocks noGrp="1"/>
          </p:cNvSpPr>
          <p:nvPr>
            <p:ph type="body" idx="2"/>
          </p:nvPr>
        </p:nvSpPr>
        <p:spPr>
          <a:xfrm>
            <a:off x="457200" y="1295400"/>
            <a:ext cx="11277600" cy="4876800"/>
          </a:xfrm>
          <a:prstGeom prst="rect">
            <a:avLst/>
          </a:prstGeom>
          <a:noFill/>
          <a:ln>
            <a:noFill/>
          </a:ln>
        </p:spPr>
        <p:txBody>
          <a:bodyPr spcFirstLastPara="1" wrap="square" lIns="0" tIns="0" rIns="0" bIns="0" anchor="t" anchorCtr="0">
            <a:noAutofit/>
          </a:bodyPr>
          <a:lstStyle>
            <a:lvl1pPr marL="457200" marR="0" lvl="0" indent="-228600" algn="l" rtl="0">
              <a:lnSpc>
                <a:spcPct val="114000"/>
              </a:lnSpc>
              <a:spcBef>
                <a:spcPts val="700"/>
              </a:spcBef>
              <a:spcAft>
                <a:spcPts val="0"/>
              </a:spcAft>
              <a:buClr>
                <a:srgbClr val="000000"/>
              </a:buClr>
              <a:buSzPts val="2300"/>
              <a:buFont typeface="Arial"/>
              <a:buNone/>
              <a:defRPr sz="23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562" name="Google Shape;562;p113"/>
          <p:cNvSpPr txBox="1">
            <a:spLocks noGrp="1"/>
          </p:cNvSpPr>
          <p:nvPr>
            <p:ph type="title"/>
          </p:nvPr>
        </p:nvSpPr>
        <p:spPr>
          <a:xfrm>
            <a:off x="457200" y="411480"/>
            <a:ext cx="11277600" cy="8763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1900"/>
              <a:buFont typeface="Arial"/>
              <a:buNone/>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
        <p:nvSpPr>
          <p:cNvPr id="563" name="Google Shape;563;p113"/>
          <p:cNvSpPr txBox="1">
            <a:spLocks noGrp="1"/>
          </p:cNvSpPr>
          <p:nvPr>
            <p:ph type="ftr" idx="11"/>
          </p:nvPr>
        </p:nvSpPr>
        <p:spPr>
          <a:xfrm>
            <a:off x="4165600" y="6556248"/>
            <a:ext cx="3860700" cy="3015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800" b="1" i="0" u="none" strike="noStrike" cap="none">
                <a:solidFill>
                  <a:srgbClr val="D8D8D8"/>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1822058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8073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emf"/><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34" Type="http://schemas.openxmlformats.org/officeDocument/2006/relationships/oleObject" Target="../embeddings/oleObject2.bin"/><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image" Target="../media/image1.jpeg"/><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29" Type="http://schemas.openxmlformats.org/officeDocument/2006/relationships/slideLayout" Target="../slideLayouts/slideLayout59.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tags" Target="../tags/tag3.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36" Type="http://schemas.openxmlformats.org/officeDocument/2006/relationships/image" Target="../media/image3.png"/><Relationship Id="rId10" Type="http://schemas.openxmlformats.org/officeDocument/2006/relationships/slideLayout" Target="../slideLayouts/slideLayout40.xml"/><Relationship Id="rId19" Type="http://schemas.openxmlformats.org/officeDocument/2006/relationships/slideLayout" Target="../slideLayouts/slideLayout49.xml"/><Relationship Id="rId31" Type="http://schemas.openxmlformats.org/officeDocument/2006/relationships/theme" Target="../theme/theme2.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image" Target="../media/image2.emf"/><Relationship Id="rId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3">
            <a:alphaModFix/>
          </a:blip>
          <a:stretch>
            <a:fillRect/>
          </a:stretch>
        </a:blipFill>
        <a:effectLst/>
      </p:bgPr>
    </p:bg>
    <p:spTree>
      <p:nvGrpSpPr>
        <p:cNvPr id="1" name="Shape 9"/>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0874178-4917-4F41-AEDB-9DEBAA089B31}"/>
              </a:ext>
            </a:extLst>
          </p:cNvPr>
          <p:cNvGraphicFramePr>
            <a:graphicFrameLocks noChangeAspect="1"/>
          </p:cNvGraphicFramePr>
          <p:nvPr userDrawn="1">
            <p:custDataLst>
              <p:tags r:id="rId32"/>
            </p:custDataLst>
            <p:extLst>
              <p:ext uri="{D42A27DB-BD31-4B8C-83A1-F6EECF244321}">
                <p14:modId xmlns:p14="http://schemas.microsoft.com/office/powerpoint/2010/main" val="880513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306" imgH="306" progId="TCLayout.ActiveDocument.1">
                  <p:embed/>
                </p:oleObj>
              </mc:Choice>
              <mc:Fallback>
                <p:oleObj name="think-cell Slide" r:id="rId34" imgW="306" imgH="306" progId="TCLayout.ActiveDocument.1">
                  <p:embed/>
                  <p:pic>
                    <p:nvPicPr>
                      <p:cNvPr id="2" name="Object 1" hidden="1">
                        <a:extLst>
                          <a:ext uri="{FF2B5EF4-FFF2-40B4-BE49-F238E27FC236}">
                            <a16:creationId xmlns:a16="http://schemas.microsoft.com/office/drawing/2014/main" id="{F0874178-4917-4F41-AEDB-9DEBAA089B31}"/>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10" name="Google Shape;10;p52"/>
          <p:cNvSpPr/>
          <p:nvPr/>
        </p:nvSpPr>
        <p:spPr>
          <a:xfrm>
            <a:off x="9829800" y="3124200"/>
            <a:ext cx="2362200" cy="3733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pic>
        <p:nvPicPr>
          <p:cNvPr id="11" name="Google Shape;11;p52" descr="A picture containing object, clock, drawing&#10;&#10;Description automatically generated"/>
          <p:cNvPicPr preferRelativeResize="0"/>
          <p:nvPr/>
        </p:nvPicPr>
        <p:blipFill rotWithShape="1">
          <a:blip r:embed="rId36">
            <a:alphaModFix/>
          </a:blip>
          <a:srcRect/>
          <a:stretch/>
        </p:blipFill>
        <p:spPr>
          <a:xfrm>
            <a:off x="10525125" y="410289"/>
            <a:ext cx="1133475" cy="457200"/>
          </a:xfrm>
          <a:prstGeom prst="rect">
            <a:avLst/>
          </a:prstGeom>
          <a:noFill/>
          <a:ln>
            <a:noFill/>
          </a:ln>
        </p:spPr>
      </p:pic>
      <p:sp>
        <p:nvSpPr>
          <p:cNvPr id="12" name="Google Shape;12;p52"/>
          <p:cNvSpPr txBox="1"/>
          <p:nvPr/>
        </p:nvSpPr>
        <p:spPr>
          <a:xfrm>
            <a:off x="11353800" y="6550968"/>
            <a:ext cx="463588" cy="23083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7F7F7F"/>
              </a:buClr>
              <a:buSzPts val="900"/>
              <a:buFont typeface="DM Sans Medium"/>
              <a:buNone/>
            </a:pPr>
            <a:fld id="{00000000-1234-1234-1234-123412341234}" type="slidenum">
              <a:rPr lang="en-US" sz="900" b="0" i="0" u="none" strike="noStrike" cap="none">
                <a:solidFill>
                  <a:srgbClr val="7F7F7F"/>
                </a:solidFill>
                <a:latin typeface="DM Sans Medium"/>
                <a:ea typeface="DM Sans Medium"/>
                <a:cs typeface="DM Sans Medium"/>
                <a:sym typeface="DM Sans Medium"/>
              </a:rPr>
              <a:t>‹#›</a:t>
            </a:fld>
            <a:endParaRPr sz="900" b="0" i="0" u="none" strike="noStrike" cap="none" dirty="0">
              <a:solidFill>
                <a:srgbClr val="7F7F7F"/>
              </a:solidFill>
              <a:latin typeface="DM Sans Medium"/>
              <a:ea typeface="DM Sans Medium"/>
              <a:cs typeface="DM Sans Medium"/>
              <a:sym typeface="DM Sans Medium"/>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771"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840">
          <p15:clr>
            <a:srgbClr val="F26B43"/>
          </p15:clr>
        </p15:guide>
        <p15:guide id="2" pos="3840">
          <p15:clr>
            <a:srgbClr val="F26B43"/>
          </p15:clr>
        </p15:guide>
        <p15:guide id="3" pos="7344">
          <p15:clr>
            <a:srgbClr val="F26B43"/>
          </p15:clr>
        </p15:guide>
        <p15:guide id="4" orient="horz" pos="1104">
          <p15:clr>
            <a:srgbClr val="F26B43"/>
          </p15:clr>
        </p15:guide>
        <p15:guide id="5" pos="432">
          <p15:clr>
            <a:srgbClr val="F26B43"/>
          </p15:clr>
        </p15:guide>
        <p15:guide id="6" orient="horz" pos="384">
          <p15:clr>
            <a:srgbClr val="F26B43"/>
          </p15:clr>
        </p15:guide>
        <p15:guide id="7" orient="horz" pos="624">
          <p15:clr>
            <a:srgbClr val="F26B43"/>
          </p15:clr>
        </p15:guide>
        <p15:guide id="8"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3">
            <a:alphaModFix/>
          </a:blip>
          <a:stretch>
            <a:fillRect/>
          </a:stretch>
        </a:blipFill>
        <a:effectLst/>
      </p:bgPr>
    </p:bg>
    <p:spTree>
      <p:nvGrpSpPr>
        <p:cNvPr id="1" name="Shape 290"/>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C1F2090-EBAC-4C79-95F7-2FCCF0A9FC84}"/>
              </a:ext>
            </a:extLst>
          </p:cNvPr>
          <p:cNvGraphicFramePr>
            <a:graphicFrameLocks noChangeAspect="1"/>
          </p:cNvGraphicFramePr>
          <p:nvPr userDrawn="1">
            <p:custDataLst>
              <p:tags r:id="rId32"/>
            </p:custDataLst>
            <p:extLst>
              <p:ext uri="{D42A27DB-BD31-4B8C-83A1-F6EECF244321}">
                <p14:modId xmlns:p14="http://schemas.microsoft.com/office/powerpoint/2010/main" val="18566273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306" imgH="306" progId="TCLayout.ActiveDocument.1">
                  <p:embed/>
                </p:oleObj>
              </mc:Choice>
              <mc:Fallback>
                <p:oleObj name="think-cell Slide" r:id="rId34" imgW="306" imgH="306" progId="TCLayout.ActiveDocument.1">
                  <p:embed/>
                  <p:pic>
                    <p:nvPicPr>
                      <p:cNvPr id="2" name="Object 1" hidden="1">
                        <a:extLst>
                          <a:ext uri="{FF2B5EF4-FFF2-40B4-BE49-F238E27FC236}">
                            <a16:creationId xmlns:a16="http://schemas.microsoft.com/office/drawing/2014/main" id="{FC1F2090-EBAC-4C79-95F7-2FCCF0A9FC84}"/>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291" name="Google Shape;291;p58"/>
          <p:cNvSpPr/>
          <p:nvPr/>
        </p:nvSpPr>
        <p:spPr>
          <a:xfrm>
            <a:off x="9829800" y="3124200"/>
            <a:ext cx="2362500" cy="373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dirty="0">
              <a:solidFill>
                <a:schemeClr val="lt1"/>
              </a:solidFill>
              <a:latin typeface="Calibri"/>
              <a:ea typeface="Calibri"/>
              <a:cs typeface="Calibri"/>
              <a:sym typeface="Calibri"/>
            </a:endParaRPr>
          </a:p>
        </p:txBody>
      </p:sp>
      <p:pic>
        <p:nvPicPr>
          <p:cNvPr id="292" name="Google Shape;292;p58" descr="A picture containing object, clock, drawing&#10;&#10;Description automatically generated"/>
          <p:cNvPicPr preferRelativeResize="0"/>
          <p:nvPr/>
        </p:nvPicPr>
        <p:blipFill rotWithShape="1">
          <a:blip r:embed="rId36">
            <a:alphaModFix/>
          </a:blip>
          <a:srcRect/>
          <a:stretch/>
        </p:blipFill>
        <p:spPr>
          <a:xfrm>
            <a:off x="10525125" y="410289"/>
            <a:ext cx="1133475" cy="457200"/>
          </a:xfrm>
          <a:prstGeom prst="rect">
            <a:avLst/>
          </a:prstGeom>
          <a:noFill/>
          <a:ln>
            <a:noFill/>
          </a:ln>
        </p:spPr>
      </p:pic>
      <p:sp>
        <p:nvSpPr>
          <p:cNvPr id="293" name="Google Shape;293;p58"/>
          <p:cNvSpPr txBox="1"/>
          <p:nvPr/>
        </p:nvSpPr>
        <p:spPr>
          <a:xfrm>
            <a:off x="11353800" y="6550968"/>
            <a:ext cx="46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7F7F7F"/>
              </a:buClr>
              <a:buSzPts val="900"/>
              <a:buFont typeface="DM Sans Medium"/>
              <a:buNone/>
            </a:pPr>
            <a:fld id="{00000000-1234-1234-1234-123412341234}" type="slidenum">
              <a:rPr lang="en-US" sz="900" b="0" i="0" u="none" strike="noStrike" cap="none">
                <a:solidFill>
                  <a:srgbClr val="7F7F7F"/>
                </a:solidFill>
                <a:latin typeface="DM Sans Medium"/>
                <a:ea typeface="DM Sans Medium"/>
                <a:cs typeface="DM Sans Medium"/>
                <a:sym typeface="DM Sans Medium"/>
              </a:rPr>
              <a:t>‹#›</a:t>
            </a:fld>
            <a:endParaRPr sz="900" b="0" i="0" u="none" strike="noStrike" cap="none" dirty="0">
              <a:solidFill>
                <a:srgbClr val="7F7F7F"/>
              </a:solidFill>
              <a:latin typeface="DM Sans Medium"/>
              <a:ea typeface="DM Sans Medium"/>
              <a:cs typeface="DM Sans Medium"/>
              <a:sym typeface="DM Sans Medium"/>
            </a:endParaRPr>
          </a:p>
        </p:txBody>
      </p:sp>
    </p:spTree>
    <p:extLst>
      <p:ext uri="{BB962C8B-B14F-4D97-AF65-F5344CB8AC3E}">
        <p14:creationId xmlns:p14="http://schemas.microsoft.com/office/powerpoint/2010/main" val="432959428"/>
      </p:ext>
    </p:extLst>
  </p:cSld>
  <p:clrMap bg1="lt1" tx1="dk1" bg2="dk2" tx2="lt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63" r:id="rId23"/>
    <p:sldLayoutId id="2147483764" r:id="rId24"/>
    <p:sldLayoutId id="2147483765" r:id="rId25"/>
    <p:sldLayoutId id="2147483766" r:id="rId26"/>
    <p:sldLayoutId id="2147483767" r:id="rId27"/>
    <p:sldLayoutId id="2147483768" r:id="rId28"/>
    <p:sldLayoutId id="2147483769" r:id="rId29"/>
    <p:sldLayoutId id="2147483770"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840">
          <p15:clr>
            <a:srgbClr val="F26B43"/>
          </p15:clr>
        </p15:guide>
        <p15:guide id="2" pos="3840">
          <p15:clr>
            <a:srgbClr val="F26B43"/>
          </p15:clr>
        </p15:guide>
        <p15:guide id="3" pos="7344">
          <p15:clr>
            <a:srgbClr val="F26B43"/>
          </p15:clr>
        </p15:guide>
        <p15:guide id="4" orient="horz" pos="1104">
          <p15:clr>
            <a:srgbClr val="F26B43"/>
          </p15:clr>
        </p15:guide>
        <p15:guide id="5" pos="432">
          <p15:clr>
            <a:srgbClr val="F26B43"/>
          </p15:clr>
        </p15:guide>
        <p15:guide id="6" orient="horz" pos="384">
          <p15:clr>
            <a:srgbClr val="F26B43"/>
          </p15:clr>
        </p15:guide>
        <p15:guide id="7" orient="horz" pos="624">
          <p15:clr>
            <a:srgbClr val="F26B43"/>
          </p15:clr>
        </p15:guide>
        <p15:guide id="8" orient="horz" pos="2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0.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0.xml"/><Relationship Id="rId6" Type="http://schemas.openxmlformats.org/officeDocument/2006/relationships/diagramColors" Target="../diagrams/colors1.xml"/><Relationship Id="rId11" Type="http://schemas.openxmlformats.org/officeDocument/2006/relationships/image" Target="../media/image15.png"/><Relationship Id="rId5" Type="http://schemas.openxmlformats.org/officeDocument/2006/relationships/diagramQuickStyle" Target="../diagrams/quickStyle1.xml"/><Relationship Id="rId10" Type="http://schemas.openxmlformats.org/officeDocument/2006/relationships/image" Target="../media/image14.png"/><Relationship Id="rId4" Type="http://schemas.openxmlformats.org/officeDocument/2006/relationships/diagramLayout" Target="../diagrams/layout1.xml"/><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notesSlide" Target="../notesSlides/notesSlide4.xml"/><Relationship Id="rId1" Type="http://schemas.openxmlformats.org/officeDocument/2006/relationships/slideLayout" Target="../slideLayouts/slideLayout30.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30.xml"/><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30.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png"/><Relationship Id="rId18" Type="http://schemas.openxmlformats.org/officeDocument/2006/relationships/image" Target="../media/image49.sv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svg"/><Relationship Id="rId17" Type="http://schemas.openxmlformats.org/officeDocument/2006/relationships/image" Target="../media/image48.png"/><Relationship Id="rId2" Type="http://schemas.openxmlformats.org/officeDocument/2006/relationships/notesSlide" Target="../notesSlides/notesSlide8.xml"/><Relationship Id="rId16" Type="http://schemas.openxmlformats.org/officeDocument/2006/relationships/image" Target="../media/image47.svg"/><Relationship Id="rId20" Type="http://schemas.openxmlformats.org/officeDocument/2006/relationships/image" Target="../media/image51.svg"/><Relationship Id="rId1" Type="http://schemas.openxmlformats.org/officeDocument/2006/relationships/slideLayout" Target="../slideLayouts/slideLayout2.xml"/><Relationship Id="rId6" Type="http://schemas.openxmlformats.org/officeDocument/2006/relationships/image" Target="../media/image37.svg"/><Relationship Id="rId11" Type="http://schemas.openxmlformats.org/officeDocument/2006/relationships/image" Target="../media/image42.png"/><Relationship Id="rId24" Type="http://schemas.openxmlformats.org/officeDocument/2006/relationships/image" Target="../media/image55.sv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svg"/><Relationship Id="rId19" Type="http://schemas.openxmlformats.org/officeDocument/2006/relationships/image" Target="../media/image50.png"/><Relationship Id="rId4" Type="http://schemas.openxmlformats.org/officeDocument/2006/relationships/image" Target="../media/image35.svg"/><Relationship Id="rId9" Type="http://schemas.openxmlformats.org/officeDocument/2006/relationships/image" Target="../media/image40.png"/><Relationship Id="rId14" Type="http://schemas.openxmlformats.org/officeDocument/2006/relationships/image" Target="../media/image45.svg"/><Relationship Id="rId22" Type="http://schemas.openxmlformats.org/officeDocument/2006/relationships/image" Target="../media/image53.svg"/></Relationships>
</file>

<file path=ppt/slides/_rels/slide10.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svg"/><Relationship Id="rId18" Type="http://schemas.openxmlformats.org/officeDocument/2006/relationships/image" Target="../media/image66.png"/><Relationship Id="rId3" Type="http://schemas.openxmlformats.org/officeDocument/2006/relationships/diagramData" Target="../diagrams/data2.xml"/><Relationship Id="rId21" Type="http://schemas.openxmlformats.org/officeDocument/2006/relationships/image" Target="../media/image69.svg"/><Relationship Id="rId7" Type="http://schemas.microsoft.com/office/2007/relationships/diagramDrawing" Target="../diagrams/drawing2.xml"/><Relationship Id="rId12" Type="http://schemas.openxmlformats.org/officeDocument/2006/relationships/image" Target="../media/image60.png"/><Relationship Id="rId17" Type="http://schemas.openxmlformats.org/officeDocument/2006/relationships/image" Target="../media/image65.svg"/><Relationship Id="rId25" Type="http://schemas.openxmlformats.org/officeDocument/2006/relationships/image" Target="../media/image73.svg"/><Relationship Id="rId2" Type="http://schemas.openxmlformats.org/officeDocument/2006/relationships/notesSlide" Target="../notesSlides/notesSlide9.xml"/><Relationship Id="rId16" Type="http://schemas.openxmlformats.org/officeDocument/2006/relationships/image" Target="../media/image64.png"/><Relationship Id="rId20"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59.svg"/><Relationship Id="rId24" Type="http://schemas.openxmlformats.org/officeDocument/2006/relationships/image" Target="../media/image72.png"/><Relationship Id="rId5" Type="http://schemas.openxmlformats.org/officeDocument/2006/relationships/diagramQuickStyle" Target="../diagrams/quickStyle2.xml"/><Relationship Id="rId15" Type="http://schemas.openxmlformats.org/officeDocument/2006/relationships/image" Target="../media/image63.svg"/><Relationship Id="rId23" Type="http://schemas.openxmlformats.org/officeDocument/2006/relationships/image" Target="../media/image71.svg"/><Relationship Id="rId10" Type="http://schemas.openxmlformats.org/officeDocument/2006/relationships/image" Target="../media/image58.png"/><Relationship Id="rId19" Type="http://schemas.openxmlformats.org/officeDocument/2006/relationships/image" Target="../media/image67.svg"/><Relationship Id="rId4" Type="http://schemas.openxmlformats.org/officeDocument/2006/relationships/diagramLayout" Target="../diagrams/layout2.xml"/><Relationship Id="rId9" Type="http://schemas.openxmlformats.org/officeDocument/2006/relationships/image" Target="../media/image57.svg"/><Relationship Id="rId14" Type="http://schemas.openxmlformats.org/officeDocument/2006/relationships/image" Target="../media/image62.png"/><Relationship Id="rId22" Type="http://schemas.openxmlformats.org/officeDocument/2006/relationships/image" Target="../media/image70.png"/></Relationships>
</file>

<file path=ppt/slides/_rels/slide11.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image" Target="../media/image77.png"/><Relationship Id="rId5" Type="http://schemas.openxmlformats.org/officeDocument/2006/relationships/diagramQuickStyle" Target="../diagrams/quickStyle3.xml"/><Relationship Id="rId10" Type="http://schemas.openxmlformats.org/officeDocument/2006/relationships/image" Target="../media/image76.png"/><Relationship Id="rId4" Type="http://schemas.openxmlformats.org/officeDocument/2006/relationships/diagramLayout" Target="../diagrams/layout3.xml"/><Relationship Id="rId9" Type="http://schemas.openxmlformats.org/officeDocument/2006/relationships/image" Target="../media/image75.png"/></Relationships>
</file>

<file path=ppt/slides/_rels/slide12.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svg"/><Relationship Id="rId18" Type="http://schemas.openxmlformats.org/officeDocument/2006/relationships/image" Target="../media/image50.png"/><Relationship Id="rId3" Type="http://schemas.openxmlformats.org/officeDocument/2006/relationships/diagramData" Target="../diagrams/data4.xml"/><Relationship Id="rId21" Type="http://schemas.openxmlformats.org/officeDocument/2006/relationships/image" Target="../media/image90.svg"/><Relationship Id="rId7" Type="http://schemas.microsoft.com/office/2007/relationships/diagramDrawing" Target="../diagrams/drawing4.xml"/><Relationship Id="rId12" Type="http://schemas.openxmlformats.org/officeDocument/2006/relationships/image" Target="../media/image82.png"/><Relationship Id="rId17" Type="http://schemas.openxmlformats.org/officeDocument/2006/relationships/image" Target="../media/image87.svg"/><Relationship Id="rId2" Type="http://schemas.openxmlformats.org/officeDocument/2006/relationships/notesSlide" Target="../notesSlides/notesSlide11.xml"/><Relationship Id="rId16" Type="http://schemas.openxmlformats.org/officeDocument/2006/relationships/image" Target="../media/image86.png"/><Relationship Id="rId20"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image" Target="../media/image81.svg"/><Relationship Id="rId5" Type="http://schemas.openxmlformats.org/officeDocument/2006/relationships/diagramQuickStyle" Target="../diagrams/quickStyle4.xml"/><Relationship Id="rId15" Type="http://schemas.openxmlformats.org/officeDocument/2006/relationships/image" Target="../media/image85.svg"/><Relationship Id="rId23" Type="http://schemas.openxmlformats.org/officeDocument/2006/relationships/image" Target="../media/image92.svg"/><Relationship Id="rId10" Type="http://schemas.openxmlformats.org/officeDocument/2006/relationships/image" Target="../media/image80.png"/><Relationship Id="rId19" Type="http://schemas.openxmlformats.org/officeDocument/2006/relationships/image" Target="../media/image88.svg"/><Relationship Id="rId4" Type="http://schemas.openxmlformats.org/officeDocument/2006/relationships/diagramLayout" Target="../diagrams/layout4.xml"/><Relationship Id="rId9" Type="http://schemas.openxmlformats.org/officeDocument/2006/relationships/image" Target="../media/image79.svg"/><Relationship Id="rId14" Type="http://schemas.openxmlformats.org/officeDocument/2006/relationships/image" Target="../media/image84.png"/><Relationship Id="rId22" Type="http://schemas.openxmlformats.org/officeDocument/2006/relationships/image" Target="../media/image91.png"/></Relationships>
</file>

<file path=ppt/slides/_rels/slide13.xml.rels><?xml version="1.0" encoding="UTF-8" standalone="yes"?>
<Relationships xmlns="http://schemas.openxmlformats.org/package/2006/relationships"><Relationship Id="rId8" Type="http://schemas.openxmlformats.org/officeDocument/2006/relationships/image" Target="../media/image98.sv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6.svg"/><Relationship Id="rId5" Type="http://schemas.openxmlformats.org/officeDocument/2006/relationships/image" Target="../media/image95.png"/><Relationship Id="rId4" Type="http://schemas.openxmlformats.org/officeDocument/2006/relationships/image" Target="../media/image94.svg"/></Relationships>
</file>

<file path=ppt/slides/_rels/slide14.xml.rels><?xml version="1.0" encoding="UTF-8" standalone="yes"?>
<Relationships xmlns="http://schemas.openxmlformats.org/package/2006/relationships"><Relationship Id="rId3" Type="http://schemas.openxmlformats.org/officeDocument/2006/relationships/image" Target="../media/image99.jpeg"/><Relationship Id="rId7" Type="http://schemas.openxmlformats.org/officeDocument/2006/relationships/hyperlink" Target="https://nexocode.com/blog/posts/ai-in-insurance-artificial-intelligence-in-the-insurance-industry/"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hbr.org/2020/04/the-case-for-ai-insurance" TargetMode="External"/><Relationship Id="rId5" Type="http://schemas.openxmlformats.org/officeDocument/2006/relationships/hyperlink" Target="https://www.mckinsey.com/industries/financial-services/our-insights/insurance-2030-the-impact-of-ai-on-the-future-of-insurance" TargetMode="External"/><Relationship Id="rId4" Type="http://schemas.openxmlformats.org/officeDocument/2006/relationships/hyperlink" Target="https://insuranceblog.accenture.com/insurers-race-ai-maturity"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insuranceblog.accenture.com/insurers-race-ai-maturity" TargetMode="External"/><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hyperlink" Target="https://www.fiercehealthcare.com/payers/blue-cross-blue-shield-ma-clinches-value-based-contracts-equity-metrics" TargetMode="External"/><Relationship Id="rId5" Type="http://schemas.openxmlformats.org/officeDocument/2006/relationships/diagramQuickStyle" Target="../diagrams/quickStyle5.xml"/><Relationship Id="rId10" Type="http://schemas.openxmlformats.org/officeDocument/2006/relationships/hyperlink" Target="https://www.beckerspayer.com/payer/bcbs-of-massachusetts-trims-8-days-from-prior-auth-time-in-ai-pilot.html" TargetMode="External"/><Relationship Id="rId4" Type="http://schemas.openxmlformats.org/officeDocument/2006/relationships/diagramLayout" Target="../diagrams/layout5.xml"/><Relationship Id="rId9" Type="http://schemas.openxmlformats.org/officeDocument/2006/relationships/hyperlink" Target="https://www.beckerspayer.com/payer/home-page/how-bcbs-massachusetts-is-using-ai-to-fight-fraud.html"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svg"/><Relationship Id="rId3" Type="http://schemas.openxmlformats.org/officeDocument/2006/relationships/image" Target="../media/image100.png"/><Relationship Id="rId7" Type="http://schemas.openxmlformats.org/officeDocument/2006/relationships/image" Target="../media/image104.svg"/><Relationship Id="rId12" Type="http://schemas.openxmlformats.org/officeDocument/2006/relationships/image" Target="../media/image10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image" Target="../media/image108.svg"/><Relationship Id="rId5" Type="http://schemas.openxmlformats.org/officeDocument/2006/relationships/image" Target="../media/image102.svg"/><Relationship Id="rId15" Type="http://schemas.openxmlformats.org/officeDocument/2006/relationships/image" Target="../media/image112.sv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svg"/><Relationship Id="rId14" Type="http://schemas.openxmlformats.org/officeDocument/2006/relationships/image" Target="../media/image111.png"/></Relationships>
</file>

<file path=ppt/slides/_rels/slide17.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svg"/><Relationship Id="rId18" Type="http://schemas.openxmlformats.org/officeDocument/2006/relationships/image" Target="../media/image123.png"/><Relationship Id="rId3" Type="http://schemas.openxmlformats.org/officeDocument/2006/relationships/diagramData" Target="../diagrams/data6.xml"/><Relationship Id="rId21" Type="http://schemas.openxmlformats.org/officeDocument/2006/relationships/image" Target="../media/image126.svg"/><Relationship Id="rId7" Type="http://schemas.microsoft.com/office/2007/relationships/diagramDrawing" Target="../diagrams/drawing6.xml"/><Relationship Id="rId12" Type="http://schemas.openxmlformats.org/officeDocument/2006/relationships/image" Target="../media/image117.png"/><Relationship Id="rId17" Type="http://schemas.openxmlformats.org/officeDocument/2006/relationships/image" Target="../media/image122.svg"/><Relationship Id="rId2" Type="http://schemas.openxmlformats.org/officeDocument/2006/relationships/notesSlide" Target="../notesSlides/notesSlide16.xml"/><Relationship Id="rId16" Type="http://schemas.openxmlformats.org/officeDocument/2006/relationships/image" Target="../media/image121.png"/><Relationship Id="rId20" Type="http://schemas.openxmlformats.org/officeDocument/2006/relationships/image" Target="../media/image125.png"/><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image" Target="../media/image116.svg"/><Relationship Id="rId5" Type="http://schemas.openxmlformats.org/officeDocument/2006/relationships/diagramQuickStyle" Target="../diagrams/quickStyle6.xml"/><Relationship Id="rId15" Type="http://schemas.openxmlformats.org/officeDocument/2006/relationships/image" Target="../media/image120.svg"/><Relationship Id="rId10" Type="http://schemas.openxmlformats.org/officeDocument/2006/relationships/image" Target="../media/image115.png"/><Relationship Id="rId19" Type="http://schemas.openxmlformats.org/officeDocument/2006/relationships/image" Target="../media/image124.svg"/><Relationship Id="rId4" Type="http://schemas.openxmlformats.org/officeDocument/2006/relationships/diagramLayout" Target="../diagrams/layout6.xml"/><Relationship Id="rId9" Type="http://schemas.openxmlformats.org/officeDocument/2006/relationships/image" Target="../media/image114.svg"/><Relationship Id="rId14" Type="http://schemas.openxmlformats.org/officeDocument/2006/relationships/image" Target="../media/image119.png"/><Relationship Id="rId22" Type="http://schemas.openxmlformats.org/officeDocument/2006/relationships/image" Target="../media/image1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2.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9.svg"/><Relationship Id="rId3" Type="http://schemas.openxmlformats.org/officeDocument/2006/relationships/image" Target="../media/image129.svg"/><Relationship Id="rId7" Type="http://schemas.openxmlformats.org/officeDocument/2006/relationships/image" Target="../media/image133.svg"/><Relationship Id="rId12" Type="http://schemas.openxmlformats.org/officeDocument/2006/relationships/image" Target="../media/image138.png"/><Relationship Id="rId17" Type="http://schemas.openxmlformats.org/officeDocument/2006/relationships/image" Target="../media/image143.svg"/><Relationship Id="rId2" Type="http://schemas.openxmlformats.org/officeDocument/2006/relationships/image" Target="../media/image128.png"/><Relationship Id="rId16"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32.png"/><Relationship Id="rId11" Type="http://schemas.openxmlformats.org/officeDocument/2006/relationships/image" Target="../media/image137.svg"/><Relationship Id="rId5" Type="http://schemas.openxmlformats.org/officeDocument/2006/relationships/image" Target="../media/image131.svg"/><Relationship Id="rId15" Type="http://schemas.openxmlformats.org/officeDocument/2006/relationships/image" Target="../media/image141.sv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svg"/><Relationship Id="rId14" Type="http://schemas.openxmlformats.org/officeDocument/2006/relationships/image" Target="../media/image140.png"/></Relationships>
</file>

<file path=ppt/slides/_rels/slide22.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image" Target="../media/image129.svg"/><Relationship Id="rId7" Type="http://schemas.openxmlformats.org/officeDocument/2006/relationships/image" Target="../media/image147.png"/><Relationship Id="rId2"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46.png"/><Relationship Id="rId5" Type="http://schemas.openxmlformats.org/officeDocument/2006/relationships/image" Target="../media/image145.emf"/><Relationship Id="rId10" Type="http://schemas.openxmlformats.org/officeDocument/2006/relationships/image" Target="../media/image150.png"/><Relationship Id="rId4" Type="http://schemas.openxmlformats.org/officeDocument/2006/relationships/image" Target="../media/image144.emf"/><Relationship Id="rId9" Type="http://schemas.openxmlformats.org/officeDocument/2006/relationships/image" Target="../media/image149.png"/></Relationships>
</file>

<file path=ppt/slides/_rels/slide23.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31.svg"/><Relationship Id="rId7" Type="http://schemas.openxmlformats.org/officeDocument/2006/relationships/image" Target="../media/image149.png"/><Relationship Id="rId12" Type="http://schemas.openxmlformats.org/officeDocument/2006/relationships/image" Target="../media/image155.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48.png"/><Relationship Id="rId11" Type="http://schemas.openxmlformats.org/officeDocument/2006/relationships/image" Target="../media/image154.png"/><Relationship Id="rId5" Type="http://schemas.openxmlformats.org/officeDocument/2006/relationships/image" Target="../media/image147.png"/><Relationship Id="rId10" Type="http://schemas.openxmlformats.org/officeDocument/2006/relationships/image" Target="../media/image153.png"/><Relationship Id="rId4" Type="http://schemas.openxmlformats.org/officeDocument/2006/relationships/image" Target="../media/image146.png"/><Relationship Id="rId9" Type="http://schemas.openxmlformats.org/officeDocument/2006/relationships/image" Target="../media/image152.png"/></Relationships>
</file>

<file path=ppt/slides/_rels/slide24.xml.rels><?xml version="1.0" encoding="UTF-8" standalone="yes"?>
<Relationships xmlns="http://schemas.openxmlformats.org/package/2006/relationships"><Relationship Id="rId8" Type="http://schemas.openxmlformats.org/officeDocument/2006/relationships/image" Target="../media/image159.svg"/><Relationship Id="rId3" Type="http://schemas.openxmlformats.org/officeDocument/2006/relationships/image" Target="../media/image132.png"/><Relationship Id="rId7" Type="http://schemas.openxmlformats.org/officeDocument/2006/relationships/image" Target="../media/image15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57.svg"/><Relationship Id="rId5" Type="http://schemas.openxmlformats.org/officeDocument/2006/relationships/image" Target="../media/image156.png"/><Relationship Id="rId4" Type="http://schemas.openxmlformats.org/officeDocument/2006/relationships/image" Target="../media/image133.svg"/><Relationship Id="rId9" Type="http://schemas.openxmlformats.org/officeDocument/2006/relationships/image" Target="../media/image160.png"/></Relationships>
</file>

<file path=ppt/slides/_rels/slide2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9.xml"/><Relationship Id="rId1" Type="http://schemas.openxmlformats.org/officeDocument/2006/relationships/slideLayout" Target="../slideLayouts/slideLayout37.xml"/><Relationship Id="rId4" Type="http://schemas.openxmlformats.org/officeDocument/2006/relationships/image" Target="../media/image161.png"/></Relationships>
</file>

<file path=ppt/slides/_rels/slide26.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32.xml"/><Relationship Id="rId4" Type="http://schemas.openxmlformats.org/officeDocument/2006/relationships/image" Target="../media/image164.png"/></Relationships>
</file>

<file path=ppt/slides/_rels/slide2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20.xml"/><Relationship Id="rId1" Type="http://schemas.openxmlformats.org/officeDocument/2006/relationships/slideLayout" Target="../slideLayouts/slideLayout60.xml"/><Relationship Id="rId4" Type="http://schemas.openxmlformats.org/officeDocument/2006/relationships/image" Target="../media/image166.png"/></Relationships>
</file>

<file path=ppt/slides/_rels/slide28.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8.png"/><Relationship Id="rId7" Type="http://schemas.openxmlformats.org/officeDocument/2006/relationships/image" Target="../media/image172.png"/><Relationship Id="rId12" Type="http://schemas.openxmlformats.org/officeDocument/2006/relationships/image" Target="../media/image177.png"/><Relationship Id="rId2" Type="http://schemas.openxmlformats.org/officeDocument/2006/relationships/image" Target="../media/image167.png"/><Relationship Id="rId1" Type="http://schemas.openxmlformats.org/officeDocument/2006/relationships/slideLayout" Target="../slideLayouts/slideLayout37.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70.png"/><Relationship Id="rId10" Type="http://schemas.openxmlformats.org/officeDocument/2006/relationships/image" Target="../media/image175.png"/><Relationship Id="rId4" Type="http://schemas.openxmlformats.org/officeDocument/2006/relationships/image" Target="../media/image169.png"/><Relationship Id="rId9" Type="http://schemas.openxmlformats.org/officeDocument/2006/relationships/image" Target="../media/image174.png"/></Relationships>
</file>

<file path=ppt/slides/_rels/slide29.xml.rels><?xml version="1.0" encoding="UTF-8" standalone="yes"?>
<Relationships xmlns="http://schemas.openxmlformats.org/package/2006/relationships"><Relationship Id="rId8" Type="http://schemas.openxmlformats.org/officeDocument/2006/relationships/image" Target="../media/image179.png"/><Relationship Id="rId3" Type="http://schemas.openxmlformats.org/officeDocument/2006/relationships/image" Target="../media/image169.png"/><Relationship Id="rId7" Type="http://schemas.openxmlformats.org/officeDocument/2006/relationships/image" Target="../media/image178.png"/><Relationship Id="rId12" Type="http://schemas.openxmlformats.org/officeDocument/2006/relationships/image" Target="../media/image176.png"/><Relationship Id="rId2" Type="http://schemas.openxmlformats.org/officeDocument/2006/relationships/image" Target="../media/image168.png"/><Relationship Id="rId1" Type="http://schemas.openxmlformats.org/officeDocument/2006/relationships/slideLayout" Target="../slideLayouts/slideLayout37.xml"/><Relationship Id="rId6" Type="http://schemas.openxmlformats.org/officeDocument/2006/relationships/image" Target="../media/image172.png"/><Relationship Id="rId11" Type="http://schemas.openxmlformats.org/officeDocument/2006/relationships/image" Target="../media/image175.png"/><Relationship Id="rId5" Type="http://schemas.openxmlformats.org/officeDocument/2006/relationships/image" Target="../media/image171.png"/><Relationship Id="rId10" Type="http://schemas.openxmlformats.org/officeDocument/2006/relationships/image" Target="../media/image173.png"/><Relationship Id="rId4" Type="http://schemas.openxmlformats.org/officeDocument/2006/relationships/image" Target="../media/image170.png"/><Relationship Id="rId9" Type="http://schemas.openxmlformats.org/officeDocument/2006/relationships/image" Target="../media/image174.png"/></Relationships>
</file>

<file path=ppt/slides/_rels/slide30.xml.rels><?xml version="1.0" encoding="UTF-8" standalone="yes"?>
<Relationships xmlns="http://schemas.openxmlformats.org/package/2006/relationships"><Relationship Id="rId3" Type="http://schemas.openxmlformats.org/officeDocument/2006/relationships/image" Target="../media/image141.svg"/><Relationship Id="rId7" Type="http://schemas.openxmlformats.org/officeDocument/2006/relationships/image" Target="../media/image183.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82.png"/><Relationship Id="rId5" Type="http://schemas.openxmlformats.org/officeDocument/2006/relationships/image" Target="../media/image181.emf"/><Relationship Id="rId4" Type="http://schemas.openxmlformats.org/officeDocument/2006/relationships/image" Target="../media/image180.emf"/></Relationships>
</file>

<file path=ppt/slides/_rels/slide31.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7.sv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86.png"/><Relationship Id="rId3" Type="http://schemas.openxmlformats.org/officeDocument/2006/relationships/image" Target="../media/image139.svg"/><Relationship Id="rId7" Type="http://schemas.openxmlformats.org/officeDocument/2006/relationships/image" Target="../media/image185.png"/><Relationship Id="rId12" Type="http://schemas.openxmlformats.org/officeDocument/2006/relationships/image" Target="../media/image190.png"/><Relationship Id="rId2" Type="http://schemas.openxmlformats.org/officeDocument/2006/relationships/image" Target="../media/image138.png"/><Relationship Id="rId1" Type="http://schemas.openxmlformats.org/officeDocument/2006/relationships/slideLayout" Target="../slideLayouts/slideLayout2.xml"/><Relationship Id="rId6" Type="http://schemas.openxmlformats.org/officeDocument/2006/relationships/image" Target="../media/image184.png"/><Relationship Id="rId11" Type="http://schemas.openxmlformats.org/officeDocument/2006/relationships/image" Target="../media/image189.png"/><Relationship Id="rId5" Type="http://schemas.openxmlformats.org/officeDocument/2006/relationships/image" Target="../media/image146.png"/><Relationship Id="rId10" Type="http://schemas.openxmlformats.org/officeDocument/2006/relationships/image" Target="../media/image188.png"/><Relationship Id="rId4" Type="http://schemas.openxmlformats.org/officeDocument/2006/relationships/image" Target="../media/image148.png"/><Relationship Id="rId9" Type="http://schemas.openxmlformats.org/officeDocument/2006/relationships/image" Target="../media/image187.png"/></Relationships>
</file>

<file path=ppt/slides/_rels/slide34.xml.rels><?xml version="1.0" encoding="UTF-8" standalone="yes"?>
<Relationships xmlns="http://schemas.openxmlformats.org/package/2006/relationships"><Relationship Id="rId3" Type="http://schemas.openxmlformats.org/officeDocument/2006/relationships/image" Target="../media/image143.sv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image" Target="../media/image192.svg"/><Relationship Id="rId7" Type="http://schemas.openxmlformats.org/officeDocument/2006/relationships/image" Target="../media/image196.svg"/><Relationship Id="rId2"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95.png"/><Relationship Id="rId5" Type="http://schemas.openxmlformats.org/officeDocument/2006/relationships/image" Target="../media/image194.svg"/><Relationship Id="rId4" Type="http://schemas.openxmlformats.org/officeDocument/2006/relationships/image" Target="../media/image193.png"/><Relationship Id="rId9" Type="http://schemas.openxmlformats.org/officeDocument/2006/relationships/image" Target="../media/image198.svg"/></Relationships>
</file>

<file path=ppt/slides/_rels/slide36.xml.rels><?xml version="1.0" encoding="UTF-8" standalone="yes"?>
<Relationships xmlns="http://schemas.openxmlformats.org/package/2006/relationships"><Relationship Id="rId8" Type="http://schemas.openxmlformats.org/officeDocument/2006/relationships/image" Target="../media/image205.png"/><Relationship Id="rId3" Type="http://schemas.openxmlformats.org/officeDocument/2006/relationships/image" Target="../media/image200.svg"/><Relationship Id="rId7" Type="http://schemas.openxmlformats.org/officeDocument/2006/relationships/image" Target="../media/image204.svg"/><Relationship Id="rId2" Type="http://schemas.openxmlformats.org/officeDocument/2006/relationships/image" Target="../media/image199.png"/><Relationship Id="rId1" Type="http://schemas.openxmlformats.org/officeDocument/2006/relationships/slideLayout" Target="../slideLayouts/slideLayout2.xml"/><Relationship Id="rId6" Type="http://schemas.openxmlformats.org/officeDocument/2006/relationships/image" Target="../media/image203.png"/><Relationship Id="rId5" Type="http://schemas.openxmlformats.org/officeDocument/2006/relationships/image" Target="../media/image202.svg"/><Relationship Id="rId4" Type="http://schemas.openxmlformats.org/officeDocument/2006/relationships/image" Target="../media/image201.png"/><Relationship Id="rId9" Type="http://schemas.openxmlformats.org/officeDocument/2006/relationships/image" Target="../media/image206.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1"/>
          <p:cNvSpPr txBox="1">
            <a:spLocks noGrp="1"/>
          </p:cNvSpPr>
          <p:nvPr>
            <p:ph type="body" idx="1"/>
          </p:nvPr>
        </p:nvSpPr>
        <p:spPr>
          <a:xfrm>
            <a:off x="1295400" y="3124200"/>
            <a:ext cx="8469086" cy="6096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SzPts val="4800"/>
              <a:buFont typeface="Arial"/>
              <a:buNone/>
            </a:pPr>
            <a:r>
              <a:rPr lang="en-US" dirty="0"/>
              <a:t>BCBSMA Artificial Intelligence Strategy </a:t>
            </a:r>
            <a:endParaRPr dirty="0"/>
          </a:p>
        </p:txBody>
      </p:sp>
      <p:sp>
        <p:nvSpPr>
          <p:cNvPr id="845" name="Google Shape;845;p1"/>
          <p:cNvSpPr txBox="1"/>
          <p:nvPr/>
        </p:nvSpPr>
        <p:spPr>
          <a:xfrm>
            <a:off x="1373654" y="3733800"/>
            <a:ext cx="6148500" cy="381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1600"/>
              <a:buFont typeface="Arial"/>
              <a:buNone/>
            </a:pPr>
            <a:r>
              <a:rPr lang="en-US" sz="1600" b="0" i="0" u="none" strike="noStrike" cap="none" dirty="0">
                <a:solidFill>
                  <a:srgbClr val="0D4877"/>
                </a:solidFill>
                <a:latin typeface="DM Sans"/>
                <a:ea typeface="DM Sans"/>
                <a:cs typeface="DM Sans"/>
                <a:sym typeface="DM Sans"/>
              </a:rPr>
              <a:t>May 2023</a:t>
            </a:r>
            <a:endParaRPr sz="1600" b="0" i="0" u="none" strike="noStrike" cap="none" dirty="0">
              <a:solidFill>
                <a:srgbClr val="0D4877"/>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D5D3B"/>
                </a:solidFill>
                <a:effectLst/>
                <a:uLnTx/>
                <a:uFillTx/>
                <a:latin typeface="Bebas Neue" panose="020B0606020202050201" pitchFamily="34" charset="0"/>
              </a:rPr>
              <a:t>HealthCare Payer ecosystem is increasingly driven by….</a:t>
            </a:r>
            <a:endParaRPr kumimoji="0" lang="en-IN" sz="2000" b="1" i="0" u="none" strike="noStrike" kern="1200" cap="none" spc="0" normalizeH="0" baseline="0" noProof="0" dirty="0">
              <a:ln>
                <a:noFill/>
              </a:ln>
              <a:solidFill>
                <a:srgbClr val="FD5D3B"/>
              </a:solidFill>
              <a:effectLst/>
              <a:uLnTx/>
              <a:uFillTx/>
              <a:latin typeface="Bebas Neue" panose="020B0606020202050201" pitchFamily="34" charset="0"/>
            </a:endParaRPr>
          </a:p>
        </p:txBody>
      </p:sp>
      <p:sp>
        <p:nvSpPr>
          <p:cNvPr id="13" name="Oval 12" descr="Cloud Computing with solid fill">
            <a:extLst>
              <a:ext uri="{FF2B5EF4-FFF2-40B4-BE49-F238E27FC236}">
                <a16:creationId xmlns:a16="http://schemas.microsoft.com/office/drawing/2014/main" id="{85400341-DC1E-3C93-89CB-8A98FB26CC86}"/>
              </a:ext>
            </a:extLst>
          </p:cNvPr>
          <p:cNvSpPr/>
          <p:nvPr/>
        </p:nvSpPr>
        <p:spPr>
          <a:xfrm>
            <a:off x="5611105" y="1496785"/>
            <a:ext cx="1260000" cy="1260000"/>
          </a:xfrm>
          <a:prstGeom prst="ellipse">
            <a:avLst/>
          </a:prstGeom>
          <a:blipFill>
            <a:blip r:embed="rId3">
              <a:extLst>
                <a:ext uri="{96DAC541-7B7A-43D3-8B79-37D633B846F1}">
                  <asvg:svgBlip xmlns:asvg="http://schemas.microsoft.com/office/drawing/2016/SVG/main" r:embed="rId4"/>
                </a:ext>
              </a:extLst>
            </a:blip>
            <a:srcRect/>
            <a:stretch>
              <a:fillRect/>
            </a:stretch>
          </a:blipFill>
        </p:spPr>
        <p:style>
          <a:lnRef idx="1">
            <a:schemeClr val="lt1">
              <a:hueOff val="0"/>
              <a:satOff val="0"/>
              <a:lumOff val="0"/>
              <a:alphaOff val="0"/>
            </a:schemeClr>
          </a:lnRef>
          <a:fillRef idx="1">
            <a:scrgbClr r="0" g="0" b="0"/>
          </a:fillRef>
          <a:effectRef idx="1">
            <a:schemeClr val="accent6">
              <a:tint val="50000"/>
              <a:hueOff val="-4036"/>
              <a:satOff val="150"/>
              <a:lumOff val="-512"/>
              <a:alphaOff val="0"/>
            </a:schemeClr>
          </a:effectRef>
          <a:fontRef idx="minor">
            <a:schemeClr val="lt1">
              <a:hueOff val="0"/>
              <a:satOff val="0"/>
              <a:lumOff val="0"/>
              <a:alphaOff val="0"/>
            </a:schemeClr>
          </a:fontRef>
        </p:style>
      </p:sp>
      <p:sp>
        <p:nvSpPr>
          <p:cNvPr id="15" name="Oval 14" descr="Scales of justice with solid fill">
            <a:extLst>
              <a:ext uri="{FF2B5EF4-FFF2-40B4-BE49-F238E27FC236}">
                <a16:creationId xmlns:a16="http://schemas.microsoft.com/office/drawing/2014/main" id="{67E807F7-22B7-0CB1-54D8-8896DDE2BBE4}"/>
              </a:ext>
            </a:extLst>
          </p:cNvPr>
          <p:cNvSpPr/>
          <p:nvPr/>
        </p:nvSpPr>
        <p:spPr>
          <a:xfrm>
            <a:off x="9261860" y="1471616"/>
            <a:ext cx="1260000" cy="1260000"/>
          </a:xfrm>
          <a:prstGeom prst="ellipse">
            <a:avLst/>
          </a:prstGeom>
          <a:blipFill>
            <a:blip r:embed="rId5">
              <a:extLst>
                <a:ext uri="{96DAC541-7B7A-43D3-8B79-37D633B846F1}">
                  <asvg:svgBlip xmlns:asvg="http://schemas.microsoft.com/office/drawing/2016/SVG/main" r:embed="rId6"/>
                </a:ext>
              </a:extLst>
            </a:blip>
            <a:srcRect/>
            <a:stretch>
              <a:fillRect/>
            </a:stretch>
          </a:blipFill>
        </p:spPr>
        <p:style>
          <a:lnRef idx="1">
            <a:schemeClr val="lt1">
              <a:hueOff val="0"/>
              <a:satOff val="0"/>
              <a:lumOff val="0"/>
              <a:alphaOff val="0"/>
            </a:schemeClr>
          </a:lnRef>
          <a:fillRef idx="1">
            <a:scrgbClr r="0" g="0" b="0"/>
          </a:fillRef>
          <a:effectRef idx="1">
            <a:schemeClr val="accent6">
              <a:tint val="50000"/>
              <a:hueOff val="-8072"/>
              <a:satOff val="300"/>
              <a:lumOff val="-1025"/>
              <a:alphaOff val="0"/>
            </a:schemeClr>
          </a:effectRef>
          <a:fontRef idx="minor">
            <a:schemeClr val="lt1">
              <a:hueOff val="0"/>
              <a:satOff val="0"/>
              <a:lumOff val="0"/>
              <a:alphaOff val="0"/>
            </a:schemeClr>
          </a:fontRef>
        </p:style>
      </p:sp>
      <p:sp>
        <p:nvSpPr>
          <p:cNvPr id="8" name="TextBox 7">
            <a:extLst>
              <a:ext uri="{FF2B5EF4-FFF2-40B4-BE49-F238E27FC236}">
                <a16:creationId xmlns:a16="http://schemas.microsoft.com/office/drawing/2014/main" id="{EA261E53-E6FB-6B96-5FD8-A755B745CEFC}"/>
              </a:ext>
            </a:extLst>
          </p:cNvPr>
          <p:cNvSpPr txBox="1"/>
          <p:nvPr/>
        </p:nvSpPr>
        <p:spPr>
          <a:xfrm>
            <a:off x="891843" y="3608049"/>
            <a:ext cx="3527116" cy="1900777"/>
          </a:xfrm>
          <a:prstGeom prst="rect">
            <a:avLst/>
          </a:prstGeom>
          <a:noFill/>
        </p:spPr>
        <p:txBody>
          <a:bodyPr wrap="square">
            <a:spAutoFit/>
          </a:bodyPr>
          <a:lstStyle/>
          <a:p>
            <a:pPr marL="628650" marR="0" lvl="1" indent="-274638" defTabSz="914354"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Shifting Regulations -       Transparency, Medicaid        Redetermination</a:t>
            </a:r>
          </a:p>
          <a:p>
            <a:pPr marL="628650" marR="0" lvl="1" indent="-274638" defTabSz="914354"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Building Zero Distance </a:t>
            </a:r>
            <a:br>
              <a:rPr kumimoji="0" lang="en-US" sz="1600" b="0"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br>
            <a:r>
              <a:rPr kumimoji="0" lang="en-US" sz="1600" b="0"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Strategies for Members</a:t>
            </a:r>
          </a:p>
        </p:txBody>
      </p:sp>
      <p:sp>
        <p:nvSpPr>
          <p:cNvPr id="18" name="TextBox 17">
            <a:extLst>
              <a:ext uri="{FF2B5EF4-FFF2-40B4-BE49-F238E27FC236}">
                <a16:creationId xmlns:a16="http://schemas.microsoft.com/office/drawing/2014/main" id="{4D3AD772-FDC2-6564-774B-65F7BE0431C7}"/>
              </a:ext>
            </a:extLst>
          </p:cNvPr>
          <p:cNvSpPr txBox="1"/>
          <p:nvPr/>
        </p:nvSpPr>
        <p:spPr>
          <a:xfrm>
            <a:off x="4469717" y="3594798"/>
            <a:ext cx="3552485" cy="1162113"/>
          </a:xfrm>
          <a:prstGeom prst="rect">
            <a:avLst/>
          </a:prstGeom>
          <a:noFill/>
        </p:spPr>
        <p:txBody>
          <a:bodyPr wrap="square">
            <a:spAutoFit/>
          </a:bodyPr>
          <a:lstStyle/>
          <a:p>
            <a:pPr marL="446088" marR="0" lvl="1" indent="-263525" defTabSz="914354"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e-Consultation, Home based Care, Digital Apps</a:t>
            </a:r>
          </a:p>
          <a:p>
            <a:pPr marL="446088" marR="0" lvl="1" indent="-263525" defTabSz="914354"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Steerage to Optimal Channel</a:t>
            </a:r>
          </a:p>
        </p:txBody>
      </p:sp>
      <p:sp>
        <p:nvSpPr>
          <p:cNvPr id="20" name="TextBox 19">
            <a:extLst>
              <a:ext uri="{FF2B5EF4-FFF2-40B4-BE49-F238E27FC236}">
                <a16:creationId xmlns:a16="http://schemas.microsoft.com/office/drawing/2014/main" id="{7DD6002F-D116-9331-B52C-2085EF84031F}"/>
              </a:ext>
            </a:extLst>
          </p:cNvPr>
          <p:cNvSpPr txBox="1"/>
          <p:nvPr/>
        </p:nvSpPr>
        <p:spPr>
          <a:xfrm>
            <a:off x="8154089" y="3594798"/>
            <a:ext cx="3521835" cy="792781"/>
          </a:xfrm>
          <a:prstGeom prst="rect">
            <a:avLst/>
          </a:prstGeom>
          <a:noFill/>
        </p:spPr>
        <p:txBody>
          <a:bodyPr wrap="square">
            <a:spAutoFit/>
          </a:bodyPr>
          <a:lstStyle/>
          <a:p>
            <a:pPr marL="628650" marR="0" lvl="1" indent="-285750" defTabSz="914354"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Accessibility for all </a:t>
            </a:r>
          </a:p>
          <a:p>
            <a:pPr marL="628650" marR="0" lvl="1" indent="-285750" defTabSz="914354"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Affordable health benefits  </a:t>
            </a:r>
          </a:p>
        </p:txBody>
      </p:sp>
      <p:sp>
        <p:nvSpPr>
          <p:cNvPr id="24" name="TextBox 23">
            <a:extLst>
              <a:ext uri="{FF2B5EF4-FFF2-40B4-BE49-F238E27FC236}">
                <a16:creationId xmlns:a16="http://schemas.microsoft.com/office/drawing/2014/main" id="{600F39AC-A69D-8B5F-6885-BC006A9AEAEA}"/>
              </a:ext>
            </a:extLst>
          </p:cNvPr>
          <p:cNvSpPr txBox="1"/>
          <p:nvPr/>
        </p:nvSpPr>
        <p:spPr>
          <a:xfrm>
            <a:off x="848810" y="2802017"/>
            <a:ext cx="3540479" cy="792781"/>
          </a:xfrm>
          <a:prstGeom prst="rect">
            <a:avLst/>
          </a:prstGeom>
          <a:noFill/>
        </p:spPr>
        <p:txBody>
          <a:bodyPr wrap="square">
            <a:spAutoFit/>
          </a:bodyPr>
          <a:lstStyle/>
          <a:p>
            <a:pPr marR="0" lvl="0" algn="ctr" defTabSz="914354" rtl="0" eaLnBrk="1" fontAlgn="auto" latinLnBrk="0" hangingPunct="1">
              <a:lnSpc>
                <a:spcPct val="150000"/>
              </a:lnSpc>
              <a:spcBef>
                <a:spcPts val="0"/>
              </a:spcBef>
              <a:spcAft>
                <a:spcPts val="0"/>
              </a:spcAft>
              <a:buClrTx/>
              <a:buSzTx/>
              <a:tabLst/>
              <a:defRPr/>
            </a:pPr>
            <a:r>
              <a:rPr kumimoji="0" lang="en-US" sz="1600" b="1" i="1" u="none" strike="noStrike" kern="1200" cap="none" spc="0" normalizeH="0" baseline="0" noProof="0" dirty="0">
                <a:ln>
                  <a:noFill/>
                </a:ln>
                <a:solidFill>
                  <a:schemeClr val="bg2"/>
                </a:solidFill>
                <a:effectLst/>
                <a:uLnTx/>
                <a:uFillTx/>
                <a:latin typeface="Calibri" panose="020F0502020204030204"/>
                <a:ea typeface="+mn-ea"/>
                <a:cs typeface="+mn-cs"/>
              </a:rPr>
              <a:t>Member Experience</a:t>
            </a:r>
            <a:br>
              <a:rPr kumimoji="0" lang="en-US" sz="1600" b="1" i="0" u="none" strike="noStrike" kern="1200" cap="none" spc="0" normalizeH="0" baseline="0" noProof="0" dirty="0">
                <a:ln>
                  <a:noFill/>
                </a:ln>
                <a:solidFill>
                  <a:schemeClr val="bg2"/>
                </a:solidFill>
                <a:effectLst/>
                <a:uLnTx/>
                <a:uFillTx/>
                <a:latin typeface="Calibri" panose="020F0502020204030204"/>
                <a:ea typeface="+mn-ea"/>
                <a:cs typeface="+mn-cs"/>
              </a:rPr>
            </a:br>
            <a:r>
              <a:rPr kumimoji="0" lang="en-US" sz="1600" b="1" u="sng" strike="noStrike" kern="1200" cap="none" spc="0" normalizeH="0" baseline="0" noProof="0" dirty="0">
                <a:ln>
                  <a:noFill/>
                </a:ln>
                <a:solidFill>
                  <a:schemeClr val="accent4">
                    <a:lumMod val="50000"/>
                  </a:schemeClr>
                </a:solidFill>
                <a:effectLst/>
                <a:uLnTx/>
                <a:uFillTx/>
                <a:latin typeface="Calibri" panose="020F0502020204030204"/>
                <a:ea typeface="+mn-ea"/>
                <a:cs typeface="+mn-cs"/>
              </a:rPr>
              <a:t>Consumerization</a:t>
            </a:r>
            <a:r>
              <a:rPr kumimoji="0" lang="en-US" sz="1600" b="1" u="none" strike="noStrike" kern="1200" cap="none" spc="0" normalizeH="0" baseline="0" noProof="0" dirty="0">
                <a:ln>
                  <a:noFill/>
                </a:ln>
                <a:solidFill>
                  <a:schemeClr val="accent4">
                    <a:lumMod val="50000"/>
                  </a:schemeClr>
                </a:solidFill>
                <a:effectLst/>
                <a:uLnTx/>
                <a:uFillTx/>
                <a:latin typeface="Calibri" panose="020F0502020204030204"/>
                <a:ea typeface="+mn-ea"/>
                <a:cs typeface="+mn-cs"/>
              </a:rPr>
              <a:t> of Healthcare</a:t>
            </a:r>
          </a:p>
        </p:txBody>
      </p:sp>
      <p:sp>
        <p:nvSpPr>
          <p:cNvPr id="25" name="TextBox 24">
            <a:extLst>
              <a:ext uri="{FF2B5EF4-FFF2-40B4-BE49-F238E27FC236}">
                <a16:creationId xmlns:a16="http://schemas.microsoft.com/office/drawing/2014/main" id="{5C16C4E9-F89F-3C56-DDE7-DF7060CF3437}"/>
              </a:ext>
            </a:extLst>
          </p:cNvPr>
          <p:cNvSpPr txBox="1"/>
          <p:nvPr/>
        </p:nvSpPr>
        <p:spPr>
          <a:xfrm>
            <a:off x="4486200" y="2802017"/>
            <a:ext cx="3540480" cy="792781"/>
          </a:xfrm>
          <a:prstGeom prst="rect">
            <a:avLst/>
          </a:prstGeom>
          <a:noFill/>
        </p:spPr>
        <p:txBody>
          <a:bodyPr wrap="square">
            <a:spAutoFit/>
          </a:bodyPr>
          <a:lstStyle/>
          <a:p>
            <a:pPr marR="0" lvl="0" algn="ctr" defTabSz="914354" rtl="0" eaLnBrk="1" fontAlgn="auto" latinLnBrk="0" hangingPunct="1">
              <a:lnSpc>
                <a:spcPct val="150000"/>
              </a:lnSpc>
              <a:spcBef>
                <a:spcPts val="0"/>
              </a:spcBef>
              <a:spcAft>
                <a:spcPts val="0"/>
              </a:spcAft>
              <a:buClrTx/>
              <a:buSzTx/>
              <a:tabLst/>
              <a:defRPr/>
            </a:pPr>
            <a:r>
              <a:rPr kumimoji="0" lang="en-US" sz="1600" b="1" i="1" u="none" strike="noStrike" kern="1200" cap="none" spc="0" normalizeH="0" baseline="0" noProof="0" dirty="0">
                <a:ln>
                  <a:noFill/>
                </a:ln>
                <a:solidFill>
                  <a:schemeClr val="bg2"/>
                </a:solidFill>
                <a:effectLst/>
                <a:uLnTx/>
                <a:uFillTx/>
                <a:latin typeface="Calibri" panose="020F0502020204030204"/>
                <a:ea typeface="+mn-ea"/>
                <a:cs typeface="+mn-cs"/>
              </a:rPr>
              <a:t>Cost Efficiency and Quality Improvement </a:t>
            </a:r>
            <a:r>
              <a:rPr kumimoji="0" lang="en-US" sz="1600" b="1" u="sng" strike="noStrike" kern="1200" cap="none" spc="0" normalizeH="0" baseline="0" noProof="0" dirty="0">
                <a:ln>
                  <a:noFill/>
                </a:ln>
                <a:solidFill>
                  <a:schemeClr val="accent4">
                    <a:lumMod val="50000"/>
                  </a:schemeClr>
                </a:solidFill>
                <a:effectLst/>
                <a:uLnTx/>
                <a:uFillTx/>
                <a:latin typeface="Calibri" panose="020F0502020204030204"/>
                <a:ea typeface="+mn-ea"/>
                <a:cs typeface="+mn-cs"/>
              </a:rPr>
              <a:t>Virtualization</a:t>
            </a:r>
            <a:r>
              <a:rPr kumimoji="0" lang="en-US" sz="1600" b="1" u="none" strike="noStrike" kern="1200" cap="none" spc="0" normalizeH="0" baseline="0" noProof="0" dirty="0">
                <a:ln>
                  <a:noFill/>
                </a:ln>
                <a:solidFill>
                  <a:schemeClr val="accent4">
                    <a:lumMod val="50000"/>
                  </a:schemeClr>
                </a:solidFill>
                <a:effectLst/>
                <a:uLnTx/>
                <a:uFillTx/>
                <a:latin typeface="Calibri" panose="020F0502020204030204"/>
                <a:ea typeface="+mn-ea"/>
                <a:cs typeface="+mn-cs"/>
              </a:rPr>
              <a:t> of Care</a:t>
            </a:r>
          </a:p>
        </p:txBody>
      </p:sp>
      <p:sp>
        <p:nvSpPr>
          <p:cNvPr id="26" name="TextBox 25">
            <a:extLst>
              <a:ext uri="{FF2B5EF4-FFF2-40B4-BE49-F238E27FC236}">
                <a16:creationId xmlns:a16="http://schemas.microsoft.com/office/drawing/2014/main" id="{FEA626BA-87CD-0097-1F28-52E4FFB6AF58}"/>
              </a:ext>
            </a:extLst>
          </p:cNvPr>
          <p:cNvSpPr txBox="1"/>
          <p:nvPr/>
        </p:nvSpPr>
        <p:spPr>
          <a:xfrm>
            <a:off x="8045339" y="2758289"/>
            <a:ext cx="3560760" cy="792781"/>
          </a:xfrm>
          <a:prstGeom prst="rect">
            <a:avLst/>
          </a:prstGeom>
          <a:noFill/>
        </p:spPr>
        <p:txBody>
          <a:bodyPr wrap="square">
            <a:spAutoFit/>
          </a:bodyPr>
          <a:lstStyle/>
          <a:p>
            <a:pPr marR="0" lvl="0" algn="ctr" defTabSz="914354" rtl="0" eaLnBrk="1" fontAlgn="auto" latinLnBrk="0" hangingPunct="1">
              <a:lnSpc>
                <a:spcPct val="150000"/>
              </a:lnSpc>
              <a:spcBef>
                <a:spcPts val="0"/>
              </a:spcBef>
              <a:spcAft>
                <a:spcPts val="0"/>
              </a:spcAft>
              <a:buClrTx/>
              <a:buSzTx/>
              <a:tabLst/>
              <a:defRPr/>
            </a:pPr>
            <a:r>
              <a:rPr kumimoji="0" lang="en-US" sz="1600" b="1" i="1" u="none" strike="noStrike" kern="1200" cap="none" spc="0" normalizeH="0" baseline="0" noProof="0" dirty="0">
                <a:ln>
                  <a:noFill/>
                </a:ln>
                <a:solidFill>
                  <a:schemeClr val="bg2"/>
                </a:solidFill>
                <a:effectLst/>
                <a:uLnTx/>
                <a:uFillTx/>
                <a:latin typeface="Calibri" panose="020F0502020204030204"/>
                <a:ea typeface="+mn-ea"/>
                <a:cs typeface="+mn-cs"/>
              </a:rPr>
              <a:t>Racial and Economic Equity</a:t>
            </a:r>
            <a:br>
              <a:rPr kumimoji="0" lang="en-US" sz="1600" b="1" i="0" u="none" strike="noStrike" kern="1200" cap="none" spc="0" normalizeH="0" baseline="0" noProof="0" dirty="0">
                <a:ln>
                  <a:noFill/>
                </a:ln>
                <a:solidFill>
                  <a:schemeClr val="bg2"/>
                </a:solidFill>
                <a:effectLst/>
                <a:uLnTx/>
                <a:uFillTx/>
                <a:latin typeface="Calibri" panose="020F0502020204030204"/>
                <a:ea typeface="+mn-ea"/>
                <a:cs typeface="+mn-cs"/>
              </a:rPr>
            </a:br>
            <a:r>
              <a:rPr kumimoji="0" lang="en-US" sz="1600" b="1" u="sng" strike="noStrike" kern="1200" cap="none" spc="0" normalizeH="0" baseline="0" noProof="0" dirty="0">
                <a:ln>
                  <a:noFill/>
                </a:ln>
                <a:solidFill>
                  <a:schemeClr val="accent4">
                    <a:lumMod val="50000"/>
                  </a:schemeClr>
                </a:solidFill>
                <a:effectLst/>
                <a:uLnTx/>
                <a:uFillTx/>
                <a:latin typeface="Calibri" panose="020F0502020204030204"/>
                <a:ea typeface="+mn-ea"/>
                <a:cs typeface="+mn-cs"/>
              </a:rPr>
              <a:t>Democratization</a:t>
            </a:r>
            <a:r>
              <a:rPr kumimoji="0" lang="en-US" sz="1600" b="1" u="none" strike="noStrike" kern="1200" cap="none" spc="0" normalizeH="0" baseline="0" noProof="0" dirty="0">
                <a:ln>
                  <a:noFill/>
                </a:ln>
                <a:solidFill>
                  <a:schemeClr val="accent4">
                    <a:lumMod val="50000"/>
                  </a:schemeClr>
                </a:solidFill>
                <a:effectLst/>
                <a:uLnTx/>
                <a:uFillTx/>
                <a:latin typeface="Calibri" panose="020F0502020204030204"/>
                <a:ea typeface="+mn-ea"/>
                <a:cs typeface="+mn-cs"/>
              </a:rPr>
              <a:t> of Health </a:t>
            </a:r>
          </a:p>
        </p:txBody>
      </p:sp>
      <p:sp>
        <p:nvSpPr>
          <p:cNvPr id="11" name="Oval 10" descr="Ui Ux with solid fill">
            <a:extLst>
              <a:ext uri="{FF2B5EF4-FFF2-40B4-BE49-F238E27FC236}">
                <a16:creationId xmlns:a16="http://schemas.microsoft.com/office/drawing/2014/main" id="{6CA43E55-B9D4-D5A1-008C-C1EDCBF3DE72}"/>
              </a:ext>
            </a:extLst>
          </p:cNvPr>
          <p:cNvSpPr/>
          <p:nvPr/>
        </p:nvSpPr>
        <p:spPr>
          <a:xfrm>
            <a:off x="1995690" y="1471616"/>
            <a:ext cx="1263600" cy="1260000"/>
          </a:xfrm>
          <a:prstGeom prst="ellipse">
            <a:avLst/>
          </a:prstGeom>
          <a:blipFill>
            <a:blip r:embed="rId7">
              <a:extLst>
                <a:ext uri="{96DAC541-7B7A-43D3-8B79-37D633B846F1}">
                  <asvg:svgBlip xmlns:asvg="http://schemas.microsoft.com/office/drawing/2016/SVG/main" r:embed="rId8"/>
                </a:ext>
              </a:extLst>
            </a:blip>
            <a:srcRect/>
            <a:stretch>
              <a:fillRect/>
            </a:stretch>
          </a:blipFill>
        </p:spPr>
        <p:style>
          <a:lnRef idx="1">
            <a:schemeClr val="lt1">
              <a:hueOff val="0"/>
              <a:satOff val="0"/>
              <a:lumOff val="0"/>
              <a:alphaOff val="0"/>
            </a:schemeClr>
          </a:lnRef>
          <a:fillRef idx="1">
            <a:scrgbClr r="0" g="0" b="0"/>
          </a:fillRef>
          <a:effectRef idx="1">
            <a:schemeClr val="accent6">
              <a:tint val="50000"/>
              <a:hueOff val="0"/>
              <a:satOff val="0"/>
              <a:lumOff val="0"/>
              <a:alphaOff val="0"/>
            </a:schemeClr>
          </a:effectRef>
          <a:fontRef idx="minor">
            <a:schemeClr val="lt1">
              <a:hueOff val="0"/>
              <a:satOff val="0"/>
              <a:lumOff val="0"/>
              <a:alphaOff val="0"/>
            </a:schemeClr>
          </a:fontRef>
        </p:style>
        <p:txBody>
          <a:bodyPr/>
          <a:lstStyle/>
          <a:p>
            <a:endParaRPr lang="en-IN" dirty="0"/>
          </a:p>
        </p:txBody>
      </p:sp>
      <p:cxnSp>
        <p:nvCxnSpPr>
          <p:cNvPr id="4" name="Straight Connector 3">
            <a:extLst>
              <a:ext uri="{FF2B5EF4-FFF2-40B4-BE49-F238E27FC236}">
                <a16:creationId xmlns:a16="http://schemas.microsoft.com/office/drawing/2014/main" id="{51E2CE46-B607-7839-15EA-281E984CF86B}"/>
              </a:ext>
            </a:extLst>
          </p:cNvPr>
          <p:cNvCxnSpPr>
            <a:stCxn id="11" idx="2"/>
          </p:cNvCxnSpPr>
          <p:nvPr/>
        </p:nvCxnSpPr>
        <p:spPr>
          <a:xfrm flipH="1">
            <a:off x="857250" y="2101616"/>
            <a:ext cx="1138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2B1C711-899A-CE18-4A55-7B356C976828}"/>
              </a:ext>
            </a:extLst>
          </p:cNvPr>
          <p:cNvCxnSpPr/>
          <p:nvPr/>
        </p:nvCxnSpPr>
        <p:spPr>
          <a:xfrm flipH="1">
            <a:off x="3259290" y="2103922"/>
            <a:ext cx="1138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79956F4-A99F-EEDF-721D-AA8EBB7D7F19}"/>
              </a:ext>
            </a:extLst>
          </p:cNvPr>
          <p:cNvCxnSpPr/>
          <p:nvPr/>
        </p:nvCxnSpPr>
        <p:spPr>
          <a:xfrm>
            <a:off x="857250" y="2101616"/>
            <a:ext cx="0" cy="3681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D0EDDA-1469-B842-AC1A-E0B7EE0DA597}"/>
              </a:ext>
            </a:extLst>
          </p:cNvPr>
          <p:cNvCxnSpPr>
            <a:cxnSpLocks/>
          </p:cNvCxnSpPr>
          <p:nvPr/>
        </p:nvCxnSpPr>
        <p:spPr>
          <a:xfrm flipH="1">
            <a:off x="857250" y="5783580"/>
            <a:ext cx="35404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1CFFB82-DE51-918E-3116-B491DC6BA7DA}"/>
              </a:ext>
            </a:extLst>
          </p:cNvPr>
          <p:cNvCxnSpPr/>
          <p:nvPr/>
        </p:nvCxnSpPr>
        <p:spPr>
          <a:xfrm>
            <a:off x="4397730" y="2101616"/>
            <a:ext cx="0" cy="3681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406EC9E-7A50-49B2-B63F-12EC70C6B5F3}"/>
              </a:ext>
            </a:extLst>
          </p:cNvPr>
          <p:cNvCxnSpPr/>
          <p:nvPr/>
        </p:nvCxnSpPr>
        <p:spPr>
          <a:xfrm flipH="1">
            <a:off x="4487724" y="2101616"/>
            <a:ext cx="1138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1D8C16-978E-6585-E342-CAA815494F33}"/>
              </a:ext>
            </a:extLst>
          </p:cNvPr>
          <p:cNvCxnSpPr/>
          <p:nvPr/>
        </p:nvCxnSpPr>
        <p:spPr>
          <a:xfrm flipH="1">
            <a:off x="6889764" y="2103922"/>
            <a:ext cx="1138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BB6D8E4-8F6B-D19C-B20F-D10B199D1853}"/>
              </a:ext>
            </a:extLst>
          </p:cNvPr>
          <p:cNvCxnSpPr/>
          <p:nvPr/>
        </p:nvCxnSpPr>
        <p:spPr>
          <a:xfrm>
            <a:off x="4487724" y="2101616"/>
            <a:ext cx="0" cy="3681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756F586-B43F-7F12-472E-7C96CFD72F74}"/>
              </a:ext>
            </a:extLst>
          </p:cNvPr>
          <p:cNvCxnSpPr>
            <a:cxnSpLocks/>
          </p:cNvCxnSpPr>
          <p:nvPr/>
        </p:nvCxnSpPr>
        <p:spPr>
          <a:xfrm flipH="1">
            <a:off x="4487724" y="5783580"/>
            <a:ext cx="35404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7DF1BAD-AA0C-A32A-6034-D49D59F937B6}"/>
              </a:ext>
            </a:extLst>
          </p:cNvPr>
          <p:cNvCxnSpPr/>
          <p:nvPr/>
        </p:nvCxnSpPr>
        <p:spPr>
          <a:xfrm>
            <a:off x="8028204" y="2101616"/>
            <a:ext cx="0" cy="3681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8A520A6-4805-541A-6E9F-0502D1832BCA}"/>
              </a:ext>
            </a:extLst>
          </p:cNvPr>
          <p:cNvCxnSpPr/>
          <p:nvPr/>
        </p:nvCxnSpPr>
        <p:spPr>
          <a:xfrm flipH="1">
            <a:off x="8116674" y="2101616"/>
            <a:ext cx="1138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6A7C654-2605-3B6C-BF73-DC6073A5FE9F}"/>
              </a:ext>
            </a:extLst>
          </p:cNvPr>
          <p:cNvCxnSpPr/>
          <p:nvPr/>
        </p:nvCxnSpPr>
        <p:spPr>
          <a:xfrm flipH="1">
            <a:off x="10518714" y="2103922"/>
            <a:ext cx="1138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7962A4A-DE65-01C9-2E9E-9EF2F35E5999}"/>
              </a:ext>
            </a:extLst>
          </p:cNvPr>
          <p:cNvCxnSpPr/>
          <p:nvPr/>
        </p:nvCxnSpPr>
        <p:spPr>
          <a:xfrm>
            <a:off x="8127953" y="2101616"/>
            <a:ext cx="0" cy="3681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6F60AF0-B29D-44CF-E565-566C07AFE9AA}"/>
              </a:ext>
            </a:extLst>
          </p:cNvPr>
          <p:cNvCxnSpPr>
            <a:cxnSpLocks/>
          </p:cNvCxnSpPr>
          <p:nvPr/>
        </p:nvCxnSpPr>
        <p:spPr>
          <a:xfrm flipH="1">
            <a:off x="8116674" y="5783580"/>
            <a:ext cx="35404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3A81A1A-D202-1B10-44D0-FF3DC42F1DBE}"/>
              </a:ext>
            </a:extLst>
          </p:cNvPr>
          <p:cNvCxnSpPr/>
          <p:nvPr/>
        </p:nvCxnSpPr>
        <p:spPr>
          <a:xfrm>
            <a:off x="11657154" y="2101616"/>
            <a:ext cx="0" cy="368196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3188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038153" y="180458"/>
            <a:ext cx="11065225" cy="95246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defTabSz="914354">
              <a:lnSpc>
                <a:spcPct val="100000"/>
              </a:lnSpc>
              <a:spcBef>
                <a:spcPts val="0"/>
              </a:spcBef>
              <a:buClrTx/>
              <a:defRPr/>
            </a:pPr>
            <a:r>
              <a:rPr lang="en-US" sz="2000" dirty="0">
                <a:solidFill>
                  <a:srgbClr val="FD5D3B"/>
                </a:solidFill>
                <a:latin typeface="Bebas Neue" panose="020B0606020202050201" pitchFamily="34" charset="0"/>
              </a:rPr>
              <a:t>Our competition in market is doubling down on their AI investments</a:t>
            </a:r>
            <a:endParaRPr lang="en-IN" sz="2000" dirty="0">
              <a:solidFill>
                <a:srgbClr val="FD5D3B"/>
              </a:solidFill>
              <a:latin typeface="Bebas Neue" panose="020B0606020202050201" pitchFamily="34" charset="0"/>
            </a:endParaRPr>
          </a:p>
        </p:txBody>
      </p:sp>
      <p:graphicFrame>
        <p:nvGraphicFramePr>
          <p:cNvPr id="2" name="Diagram 1">
            <a:extLst>
              <a:ext uri="{FF2B5EF4-FFF2-40B4-BE49-F238E27FC236}">
                <a16:creationId xmlns:a16="http://schemas.microsoft.com/office/drawing/2014/main" id="{376150AA-EE6C-21C3-9A64-C2F6E8DD0DFB}"/>
              </a:ext>
            </a:extLst>
          </p:cNvPr>
          <p:cNvGraphicFramePr/>
          <p:nvPr>
            <p:extLst>
              <p:ext uri="{D42A27DB-BD31-4B8C-83A1-F6EECF244321}">
                <p14:modId xmlns:p14="http://schemas.microsoft.com/office/powerpoint/2010/main" val="2444908705"/>
              </p:ext>
            </p:extLst>
          </p:nvPr>
        </p:nvGraphicFramePr>
        <p:xfrm>
          <a:off x="1556027" y="1132927"/>
          <a:ext cx="8655862" cy="4490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a:extLst>
              <a:ext uri="{FF2B5EF4-FFF2-40B4-BE49-F238E27FC236}">
                <a16:creationId xmlns:a16="http://schemas.microsoft.com/office/drawing/2014/main" id="{E573B0C6-1626-52A7-84F7-9567067A7389}"/>
              </a:ext>
            </a:extLst>
          </p:cNvPr>
          <p:cNvPicPr>
            <a:picLocks noChangeAspect="1" noChangeArrowheads="1"/>
          </p:cNvPicPr>
          <p:nvPr/>
        </p:nvPicPr>
        <p:blipFill>
          <a:blip r:embed="rId8">
            <a:biLevel thresh="25000"/>
            <a:extLst>
              <a:ext uri="{28A0092B-C50C-407E-A947-70E740481C1C}">
                <a14:useLocalDpi xmlns:a14="http://schemas.microsoft.com/office/drawing/2010/main" val="0"/>
              </a:ext>
            </a:extLst>
          </a:blip>
          <a:srcRect/>
          <a:stretch>
            <a:fillRect/>
          </a:stretch>
        </p:blipFill>
        <p:spPr bwMode="auto">
          <a:xfrm>
            <a:off x="3105880" y="1265603"/>
            <a:ext cx="1321428" cy="3932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Cigna PNG Transparent Images, Pictures, Photos | PNG Arts">
            <a:extLst>
              <a:ext uri="{FF2B5EF4-FFF2-40B4-BE49-F238E27FC236}">
                <a16:creationId xmlns:a16="http://schemas.microsoft.com/office/drawing/2014/main" id="{76FD5913-1E8A-9F00-6BF4-C6479E8CDC2F}"/>
              </a:ext>
            </a:extLst>
          </p:cNvPr>
          <p:cNvPicPr>
            <a:picLocks noChangeAspect="1" noChangeArrowheads="1"/>
          </p:cNvPicPr>
          <p:nvPr/>
        </p:nvPicPr>
        <p:blipFill>
          <a:blip r:embed="rId9" cstate="print">
            <a:biLevel thresh="25000"/>
            <a:extLst>
              <a:ext uri="{28A0092B-C50C-407E-A947-70E740481C1C}">
                <a14:useLocalDpi xmlns:a14="http://schemas.microsoft.com/office/drawing/2010/main" val="0"/>
              </a:ext>
            </a:extLst>
          </a:blip>
          <a:srcRect/>
          <a:stretch>
            <a:fillRect/>
          </a:stretch>
        </p:blipFill>
        <p:spPr bwMode="auto">
          <a:xfrm>
            <a:off x="7259770" y="3487928"/>
            <a:ext cx="1571240" cy="88460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descr="Aetna-Logo-PNG-Transparent-2 - National Academy of Medicine">
            <a:extLst>
              <a:ext uri="{FF2B5EF4-FFF2-40B4-BE49-F238E27FC236}">
                <a16:creationId xmlns:a16="http://schemas.microsoft.com/office/drawing/2014/main" id="{E5928171-866A-4F64-79B6-2A87A554EA8B}"/>
              </a:ext>
            </a:extLst>
          </p:cNvPr>
          <p:cNvPicPr>
            <a:picLocks noChangeAspect="1" noChangeArrowheads="1"/>
          </p:cNvPicPr>
          <p:nvPr/>
        </p:nvPicPr>
        <p:blipFill>
          <a:blip r:embed="rId10" cstate="print">
            <a:biLevel thresh="25000"/>
            <a:extLst>
              <a:ext uri="{28A0092B-C50C-407E-A947-70E740481C1C}">
                <a14:useLocalDpi xmlns:a14="http://schemas.microsoft.com/office/drawing/2010/main" val="0"/>
              </a:ext>
            </a:extLst>
          </a:blip>
          <a:srcRect/>
          <a:stretch>
            <a:fillRect/>
          </a:stretch>
        </p:blipFill>
        <p:spPr bwMode="auto">
          <a:xfrm>
            <a:off x="7354695" y="1293712"/>
            <a:ext cx="1257636" cy="36517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2F3C861-83E3-250B-C789-A7718140685B}"/>
              </a:ext>
            </a:extLst>
          </p:cNvPr>
          <p:cNvSpPr/>
          <p:nvPr/>
        </p:nvSpPr>
        <p:spPr>
          <a:xfrm>
            <a:off x="88622" y="6116626"/>
            <a:ext cx="12014756" cy="5609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rial"/>
              </a:rPr>
              <a:t>BCBS-NC lost the State Health plan account after 40 years to Aetna, it is likely that Aetna leveraged AI based pricing and discounting models based on transparency data</a:t>
            </a:r>
            <a:r>
              <a:rPr lang="en-US" sz="1400" b="1" dirty="0">
                <a:solidFill>
                  <a:schemeClr val="bg1"/>
                </a:solidFill>
                <a:latin typeface="Arial"/>
                <a:ea typeface="Arial"/>
                <a:cs typeface="Arial"/>
              </a:rPr>
              <a:t>​</a:t>
            </a:r>
            <a:endParaRPr lang="en-US" b="1" dirty="0">
              <a:solidFill>
                <a:schemeClr val="bg1"/>
              </a:solidFill>
              <a:cs typeface="Arial"/>
            </a:endParaRPr>
          </a:p>
        </p:txBody>
      </p:sp>
      <p:pic>
        <p:nvPicPr>
          <p:cNvPr id="2058" name="Picture 10" descr="Paid Program: The New Age of User-Friendly Health Care">
            <a:extLst>
              <a:ext uri="{FF2B5EF4-FFF2-40B4-BE49-F238E27FC236}">
                <a16:creationId xmlns:a16="http://schemas.microsoft.com/office/drawing/2014/main" id="{DDA54A75-46F5-8698-3931-58D4B404CF26}"/>
              </a:ext>
            </a:extLst>
          </p:cNvPr>
          <p:cNvPicPr>
            <a:picLocks noChangeAspect="1" noChangeArrowheads="1"/>
          </p:cNvPicPr>
          <p:nvPr/>
        </p:nvPicPr>
        <p:blipFill>
          <a:blip r:embed="rId11"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018188" y="3671266"/>
            <a:ext cx="1537138" cy="56347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BF52A8-7AA4-F797-E353-452FF520BC32}"/>
              </a:ext>
            </a:extLst>
          </p:cNvPr>
          <p:cNvSpPr/>
          <p:nvPr/>
        </p:nvSpPr>
        <p:spPr>
          <a:xfrm>
            <a:off x="0" y="5921121"/>
            <a:ext cx="12192000" cy="5609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solidFill>
                <a:latin typeface="Arial"/>
              </a:rPr>
              <a:t>BCBS-NC lost the State Health plan account after 40 years to Aetna, it is likely that Aetna leveraged AI based pricing and discounting models based on transparency data</a:t>
            </a:r>
            <a:r>
              <a:rPr lang="en-US" sz="1500" b="1" dirty="0">
                <a:solidFill>
                  <a:schemeClr val="tx1"/>
                </a:solidFill>
                <a:latin typeface="Arial"/>
                <a:ea typeface="Arial"/>
                <a:cs typeface="Arial"/>
              </a:rPr>
              <a:t>​</a:t>
            </a:r>
            <a:endParaRPr lang="en-US" sz="1500" b="1" dirty="0">
              <a:solidFill>
                <a:schemeClr val="tx1"/>
              </a:solidFill>
              <a:cs typeface="Arial"/>
            </a:endParaRPr>
          </a:p>
        </p:txBody>
      </p:sp>
    </p:spTree>
    <p:extLst>
      <p:ext uri="{BB962C8B-B14F-4D97-AF65-F5344CB8AC3E}">
        <p14:creationId xmlns:p14="http://schemas.microsoft.com/office/powerpoint/2010/main" val="1721589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969402" y="143231"/>
            <a:ext cx="11222598" cy="952469"/>
          </a:xfrm>
          <a:prstGeom prst="rect">
            <a:avLst/>
          </a:prstGeom>
          <a:noFill/>
        </p:spPr>
        <p:txBody>
          <a:bodyPr vert="horz" lIns="91440" tIns="45720" rIns="91440" bIns="45720" rtlCol="0" anchor="ctr">
            <a:normAutofit/>
          </a:bodyPr>
          <a:lstStyle>
            <a:defPPr>
              <a:defRPr lang="fr-FR"/>
            </a:defPPr>
            <a:lvl1pPr marR="0" lvl="0" indent="0" fontAlgn="auto">
              <a:lnSpc>
                <a:spcPct val="100000"/>
              </a:lnSpc>
              <a:spcBef>
                <a:spcPts val="0"/>
              </a:spcBef>
              <a:spcAft>
                <a:spcPts val="0"/>
              </a:spcAft>
              <a:buClrTx/>
              <a:buSzTx/>
              <a:buFontTx/>
              <a:buNone/>
              <a:tabLst/>
              <a:defRPr kumimoji="0" sz="2800" b="1" i="0" u="none" strike="noStrike" cap="none" spc="0" normalizeH="0" baseline="0">
                <a:ln>
                  <a:noFill/>
                </a:ln>
                <a:solidFill>
                  <a:srgbClr val="91B94C"/>
                </a:solidFill>
                <a:effectLst/>
                <a:uLnTx/>
                <a:uFillTx/>
                <a:latin typeface="Helvetica light"/>
              </a:defRPr>
            </a:lvl1pPr>
          </a:lstStyle>
          <a:p>
            <a:pPr defTabSz="914354">
              <a:defRPr/>
            </a:pPr>
            <a:r>
              <a:rPr lang="en-US" sz="2000" kern="1200" dirty="0">
                <a:solidFill>
                  <a:srgbClr val="FD5D3B"/>
                </a:solidFill>
                <a:latin typeface="Bebas Neue" panose="020B0606020202050201" pitchFamily="34" charset="0"/>
                <a:ea typeface="+mj-ea"/>
                <a:cs typeface="+mj-cs"/>
              </a:rPr>
              <a:t>AI will help align to market shifts &amp; accelerate realization of our strategy</a:t>
            </a:r>
            <a:endParaRPr lang="en-IN" sz="2000" kern="1200" dirty="0">
              <a:solidFill>
                <a:srgbClr val="FD5D3B"/>
              </a:solidFill>
              <a:latin typeface="Bebas Neue" panose="020B0606020202050201" pitchFamily="34" charset="0"/>
              <a:ea typeface="+mj-ea"/>
              <a:cs typeface="+mj-cs"/>
            </a:endParaRPr>
          </a:p>
        </p:txBody>
      </p:sp>
      <p:pic>
        <p:nvPicPr>
          <p:cNvPr id="26" name="Graphic 25" descr="Bridge scene outline">
            <a:extLst>
              <a:ext uri="{FF2B5EF4-FFF2-40B4-BE49-F238E27FC236}">
                <a16:creationId xmlns:a16="http://schemas.microsoft.com/office/drawing/2014/main" id="{A496A090-FD14-FB52-DDC0-8BB64DA590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62764" y="2893062"/>
            <a:ext cx="3455356" cy="1418277"/>
          </a:xfrm>
          <a:prstGeom prst="rect">
            <a:avLst/>
          </a:prstGeom>
        </p:spPr>
      </p:pic>
      <p:grpSp>
        <p:nvGrpSpPr>
          <p:cNvPr id="31" name="Group 30">
            <a:extLst>
              <a:ext uri="{FF2B5EF4-FFF2-40B4-BE49-F238E27FC236}">
                <a16:creationId xmlns:a16="http://schemas.microsoft.com/office/drawing/2014/main" id="{9BFBCE6C-8298-7BEA-D005-0E0D9AF0BFC0}"/>
              </a:ext>
            </a:extLst>
          </p:cNvPr>
          <p:cNvGrpSpPr/>
          <p:nvPr/>
        </p:nvGrpSpPr>
        <p:grpSpPr>
          <a:xfrm>
            <a:off x="4640644" y="4233192"/>
            <a:ext cx="3100710" cy="873150"/>
            <a:chOff x="5182727" y="4496370"/>
            <a:chExt cx="3054913" cy="1097280"/>
          </a:xfrm>
        </p:grpSpPr>
        <p:sp>
          <p:nvSpPr>
            <p:cNvPr id="27" name="Oval 26">
              <a:extLst>
                <a:ext uri="{FF2B5EF4-FFF2-40B4-BE49-F238E27FC236}">
                  <a16:creationId xmlns:a16="http://schemas.microsoft.com/office/drawing/2014/main" id="{6FF42A0F-FD30-D054-CD34-2FEF80EA4502}"/>
                </a:ext>
              </a:extLst>
            </p:cNvPr>
            <p:cNvSpPr/>
            <p:nvPr/>
          </p:nvSpPr>
          <p:spPr>
            <a:xfrm>
              <a:off x="5182727" y="4496370"/>
              <a:ext cx="1097280" cy="109728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Data</a:t>
              </a:r>
            </a:p>
          </p:txBody>
        </p:sp>
        <p:sp>
          <p:nvSpPr>
            <p:cNvPr id="28" name="Oval 27">
              <a:extLst>
                <a:ext uri="{FF2B5EF4-FFF2-40B4-BE49-F238E27FC236}">
                  <a16:creationId xmlns:a16="http://schemas.microsoft.com/office/drawing/2014/main" id="{5AEF916E-E162-EE10-287F-17D065045D81}"/>
                </a:ext>
              </a:extLst>
            </p:cNvPr>
            <p:cNvSpPr/>
            <p:nvPr/>
          </p:nvSpPr>
          <p:spPr>
            <a:xfrm>
              <a:off x="6160961" y="4496370"/>
              <a:ext cx="1097280" cy="109728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Tech</a:t>
              </a:r>
            </a:p>
          </p:txBody>
        </p:sp>
        <p:sp>
          <p:nvSpPr>
            <p:cNvPr id="29" name="Oval 28">
              <a:extLst>
                <a:ext uri="{FF2B5EF4-FFF2-40B4-BE49-F238E27FC236}">
                  <a16:creationId xmlns:a16="http://schemas.microsoft.com/office/drawing/2014/main" id="{8572290C-0A2A-AC7A-2442-AFF35B1DB995}"/>
                </a:ext>
              </a:extLst>
            </p:cNvPr>
            <p:cNvSpPr/>
            <p:nvPr/>
          </p:nvSpPr>
          <p:spPr>
            <a:xfrm>
              <a:off x="7140360" y="4496370"/>
              <a:ext cx="1097280" cy="109728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Digital</a:t>
              </a:r>
            </a:p>
          </p:txBody>
        </p:sp>
      </p:grpSp>
      <p:sp>
        <p:nvSpPr>
          <p:cNvPr id="30" name="TextBox 29">
            <a:extLst>
              <a:ext uri="{FF2B5EF4-FFF2-40B4-BE49-F238E27FC236}">
                <a16:creationId xmlns:a16="http://schemas.microsoft.com/office/drawing/2014/main" id="{70E28A62-49A3-C288-F114-ED91F05270FE}"/>
              </a:ext>
            </a:extLst>
          </p:cNvPr>
          <p:cNvSpPr txBox="1"/>
          <p:nvPr/>
        </p:nvSpPr>
        <p:spPr>
          <a:xfrm>
            <a:off x="4912205" y="2655579"/>
            <a:ext cx="2283542" cy="523220"/>
          </a:xfrm>
          <a:prstGeom prst="rect">
            <a:avLst/>
          </a:prstGeom>
          <a:noFill/>
        </p:spPr>
        <p:txBody>
          <a:bodyPr wrap="square" rtlCol="0">
            <a:spAutoFit/>
          </a:bodyPr>
          <a:lstStyle/>
          <a:p>
            <a:pPr algn="ctr"/>
            <a:r>
              <a:rPr lang="en-US" dirty="0">
                <a:solidFill>
                  <a:schemeClr val="accent6">
                    <a:lumMod val="50000"/>
                  </a:schemeClr>
                </a:solidFill>
              </a:rPr>
              <a:t>Business Powered </a:t>
            </a:r>
            <a:r>
              <a:rPr lang="en-US" b="1" dirty="0">
                <a:solidFill>
                  <a:schemeClr val="accent6">
                    <a:lumMod val="50000"/>
                  </a:schemeClr>
                </a:solidFill>
              </a:rPr>
              <a:t>AI Products</a:t>
            </a:r>
          </a:p>
        </p:txBody>
      </p:sp>
      <p:pic>
        <p:nvPicPr>
          <p:cNvPr id="3" name="Graphic 2" descr="Flying Money with solid fill">
            <a:extLst>
              <a:ext uri="{FF2B5EF4-FFF2-40B4-BE49-F238E27FC236}">
                <a16:creationId xmlns:a16="http://schemas.microsoft.com/office/drawing/2014/main" id="{AF54C6FA-D02B-92C3-0FBC-1463A3840C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47790" y="2013717"/>
            <a:ext cx="648000" cy="648000"/>
          </a:xfrm>
          <a:prstGeom prst="rect">
            <a:avLst/>
          </a:prstGeom>
        </p:spPr>
      </p:pic>
      <p:pic>
        <p:nvPicPr>
          <p:cNvPr id="5" name="Graphic 4" descr="Smiling face with solid fill with solid fill">
            <a:extLst>
              <a:ext uri="{FF2B5EF4-FFF2-40B4-BE49-F238E27FC236}">
                <a16:creationId xmlns:a16="http://schemas.microsoft.com/office/drawing/2014/main" id="{5D224012-685F-098B-27EE-1544FB89C0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47790" y="3234727"/>
            <a:ext cx="648000" cy="648000"/>
          </a:xfrm>
          <a:prstGeom prst="rect">
            <a:avLst/>
          </a:prstGeom>
        </p:spPr>
      </p:pic>
      <p:pic>
        <p:nvPicPr>
          <p:cNvPr id="7" name="Graphic 6" descr="Boardroom with solid fill">
            <a:extLst>
              <a:ext uri="{FF2B5EF4-FFF2-40B4-BE49-F238E27FC236}">
                <a16:creationId xmlns:a16="http://schemas.microsoft.com/office/drawing/2014/main" id="{D1452534-EDF8-D6F0-1FAC-390FCCE0666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48473" y="4355107"/>
            <a:ext cx="648000" cy="648000"/>
          </a:xfrm>
          <a:prstGeom prst="rect">
            <a:avLst/>
          </a:prstGeom>
        </p:spPr>
      </p:pic>
      <p:pic>
        <p:nvPicPr>
          <p:cNvPr id="9" name="Graphic 8" descr="Clipboard Checked with solid fill">
            <a:extLst>
              <a:ext uri="{FF2B5EF4-FFF2-40B4-BE49-F238E27FC236}">
                <a16:creationId xmlns:a16="http://schemas.microsoft.com/office/drawing/2014/main" id="{1B90E8DF-0840-33E2-C063-6F7E773119A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247790" y="5554951"/>
            <a:ext cx="649418" cy="649418"/>
          </a:xfrm>
          <a:prstGeom prst="rect">
            <a:avLst/>
          </a:prstGeom>
        </p:spPr>
      </p:pic>
      <p:sp>
        <p:nvSpPr>
          <p:cNvPr id="12" name="TextBox 11">
            <a:extLst>
              <a:ext uri="{FF2B5EF4-FFF2-40B4-BE49-F238E27FC236}">
                <a16:creationId xmlns:a16="http://schemas.microsoft.com/office/drawing/2014/main" id="{BDAD6653-43AB-98F1-11FD-AD372C71F216}"/>
              </a:ext>
            </a:extLst>
          </p:cNvPr>
          <p:cNvSpPr txBox="1"/>
          <p:nvPr/>
        </p:nvSpPr>
        <p:spPr>
          <a:xfrm>
            <a:off x="2050666" y="2133174"/>
            <a:ext cx="2858460" cy="369332"/>
          </a:xfrm>
          <a:prstGeom prst="rect">
            <a:avLst/>
          </a:prstGeom>
          <a:noFill/>
        </p:spPr>
        <p:txBody>
          <a:bodyPr wrap="square" rtlCol="0">
            <a:spAutoFit/>
          </a:bodyPr>
          <a:lstStyle/>
          <a:p>
            <a:r>
              <a:rPr lang="en-IN" b="1" dirty="0"/>
              <a:t>Affordability</a:t>
            </a:r>
          </a:p>
        </p:txBody>
      </p:sp>
      <p:sp>
        <p:nvSpPr>
          <p:cNvPr id="13" name="TextBox 12">
            <a:extLst>
              <a:ext uri="{FF2B5EF4-FFF2-40B4-BE49-F238E27FC236}">
                <a16:creationId xmlns:a16="http://schemas.microsoft.com/office/drawing/2014/main" id="{567AD2EF-9B19-F619-67DF-FF8156A95FA3}"/>
              </a:ext>
            </a:extLst>
          </p:cNvPr>
          <p:cNvSpPr txBox="1"/>
          <p:nvPr/>
        </p:nvSpPr>
        <p:spPr>
          <a:xfrm>
            <a:off x="2018120" y="3424331"/>
            <a:ext cx="2858460" cy="369332"/>
          </a:xfrm>
          <a:prstGeom prst="rect">
            <a:avLst/>
          </a:prstGeom>
          <a:noFill/>
        </p:spPr>
        <p:txBody>
          <a:bodyPr wrap="square" rtlCol="0">
            <a:spAutoFit/>
          </a:bodyPr>
          <a:lstStyle/>
          <a:p>
            <a:r>
              <a:rPr lang="en-IN" b="1" dirty="0"/>
              <a:t>Experience</a:t>
            </a:r>
          </a:p>
        </p:txBody>
      </p:sp>
      <p:sp>
        <p:nvSpPr>
          <p:cNvPr id="15" name="TextBox 14">
            <a:extLst>
              <a:ext uri="{FF2B5EF4-FFF2-40B4-BE49-F238E27FC236}">
                <a16:creationId xmlns:a16="http://schemas.microsoft.com/office/drawing/2014/main" id="{257C3CA3-AD15-AFDA-7A49-175B770E304E}"/>
              </a:ext>
            </a:extLst>
          </p:cNvPr>
          <p:cNvSpPr txBox="1"/>
          <p:nvPr/>
        </p:nvSpPr>
        <p:spPr>
          <a:xfrm>
            <a:off x="2050666" y="4465564"/>
            <a:ext cx="2858460" cy="369332"/>
          </a:xfrm>
          <a:prstGeom prst="rect">
            <a:avLst/>
          </a:prstGeom>
          <a:noFill/>
        </p:spPr>
        <p:txBody>
          <a:bodyPr wrap="square" rtlCol="0">
            <a:spAutoFit/>
          </a:bodyPr>
          <a:lstStyle/>
          <a:p>
            <a:r>
              <a:rPr lang="en-IN" b="1" dirty="0"/>
              <a:t>Equity</a:t>
            </a:r>
          </a:p>
        </p:txBody>
      </p:sp>
      <p:sp>
        <p:nvSpPr>
          <p:cNvPr id="16" name="TextBox 15">
            <a:extLst>
              <a:ext uri="{FF2B5EF4-FFF2-40B4-BE49-F238E27FC236}">
                <a16:creationId xmlns:a16="http://schemas.microsoft.com/office/drawing/2014/main" id="{EFC539BE-3DAE-C69A-8AF2-3EB847142A65}"/>
              </a:ext>
            </a:extLst>
          </p:cNvPr>
          <p:cNvSpPr txBox="1"/>
          <p:nvPr/>
        </p:nvSpPr>
        <p:spPr>
          <a:xfrm>
            <a:off x="2050666" y="5642342"/>
            <a:ext cx="2858460" cy="369332"/>
          </a:xfrm>
          <a:prstGeom prst="rect">
            <a:avLst/>
          </a:prstGeom>
          <a:noFill/>
        </p:spPr>
        <p:txBody>
          <a:bodyPr wrap="square" rtlCol="0">
            <a:spAutoFit/>
          </a:bodyPr>
          <a:lstStyle/>
          <a:p>
            <a:r>
              <a:rPr lang="en-IN" b="1" dirty="0"/>
              <a:t>Quality</a:t>
            </a:r>
          </a:p>
        </p:txBody>
      </p:sp>
      <p:sp>
        <p:nvSpPr>
          <p:cNvPr id="42" name="TextBox 41">
            <a:extLst>
              <a:ext uri="{FF2B5EF4-FFF2-40B4-BE49-F238E27FC236}">
                <a16:creationId xmlns:a16="http://schemas.microsoft.com/office/drawing/2014/main" id="{72F33CAB-A0C8-3860-1878-949734F85EBC}"/>
              </a:ext>
            </a:extLst>
          </p:cNvPr>
          <p:cNvSpPr txBox="1"/>
          <p:nvPr/>
        </p:nvSpPr>
        <p:spPr>
          <a:xfrm>
            <a:off x="8263577" y="2480497"/>
            <a:ext cx="2953709" cy="307777"/>
          </a:xfrm>
          <a:prstGeom prst="rect">
            <a:avLst/>
          </a:prstGeom>
          <a:noFill/>
        </p:spPr>
        <p:txBody>
          <a:bodyPr wrap="square" lIns="91440" tIns="45720" rIns="91440" bIns="45720" rtlCol="0" anchor="t">
            <a:spAutoFit/>
          </a:bodyPr>
          <a:lstStyle/>
          <a:p>
            <a:pPr algn="ctr"/>
            <a:r>
              <a:rPr lang="en-IN" b="1" i="1" dirty="0">
                <a:solidFill>
                  <a:schemeClr val="accent6">
                    <a:lumMod val="50000"/>
                  </a:schemeClr>
                </a:solidFill>
              </a:rPr>
              <a:t>Net Income</a:t>
            </a:r>
          </a:p>
        </p:txBody>
      </p:sp>
      <p:sp>
        <p:nvSpPr>
          <p:cNvPr id="44" name="TextBox 43">
            <a:extLst>
              <a:ext uri="{FF2B5EF4-FFF2-40B4-BE49-F238E27FC236}">
                <a16:creationId xmlns:a16="http://schemas.microsoft.com/office/drawing/2014/main" id="{5FE28104-DF75-E4E6-33D8-BADD1227C060}"/>
              </a:ext>
            </a:extLst>
          </p:cNvPr>
          <p:cNvSpPr txBox="1"/>
          <p:nvPr/>
        </p:nvSpPr>
        <p:spPr>
          <a:xfrm>
            <a:off x="8238080" y="2952603"/>
            <a:ext cx="2953709" cy="307777"/>
          </a:xfrm>
          <a:prstGeom prst="rect">
            <a:avLst/>
          </a:prstGeom>
          <a:noFill/>
        </p:spPr>
        <p:txBody>
          <a:bodyPr wrap="square" lIns="91440" tIns="45720" rIns="91440" bIns="45720" rtlCol="0" anchor="t">
            <a:spAutoFit/>
          </a:bodyPr>
          <a:lstStyle/>
          <a:p>
            <a:pPr algn="ctr"/>
            <a:r>
              <a:rPr lang="en-IN" b="1" i="1" dirty="0">
                <a:solidFill>
                  <a:schemeClr val="accent6">
                    <a:lumMod val="50000"/>
                  </a:schemeClr>
                </a:solidFill>
              </a:rPr>
              <a:t>Operating Income</a:t>
            </a:r>
          </a:p>
        </p:txBody>
      </p:sp>
      <p:sp>
        <p:nvSpPr>
          <p:cNvPr id="45" name="TextBox 44">
            <a:extLst>
              <a:ext uri="{FF2B5EF4-FFF2-40B4-BE49-F238E27FC236}">
                <a16:creationId xmlns:a16="http://schemas.microsoft.com/office/drawing/2014/main" id="{3F5EB1FD-6ECD-EFDB-7DD7-B3C54B152458}"/>
              </a:ext>
            </a:extLst>
          </p:cNvPr>
          <p:cNvSpPr txBox="1"/>
          <p:nvPr/>
        </p:nvSpPr>
        <p:spPr>
          <a:xfrm>
            <a:off x="8259729" y="3424709"/>
            <a:ext cx="2953710" cy="307777"/>
          </a:xfrm>
          <a:prstGeom prst="rect">
            <a:avLst/>
          </a:prstGeom>
          <a:noFill/>
        </p:spPr>
        <p:txBody>
          <a:bodyPr wrap="square" lIns="91440" tIns="45720" rIns="91440" bIns="45720" rtlCol="0" anchor="t">
            <a:spAutoFit/>
          </a:bodyPr>
          <a:lstStyle/>
          <a:p>
            <a:pPr algn="ctr"/>
            <a:r>
              <a:rPr lang="en-IN" b="1" i="1" dirty="0">
                <a:solidFill>
                  <a:schemeClr val="accent6">
                    <a:lumMod val="50000"/>
                  </a:schemeClr>
                </a:solidFill>
              </a:rPr>
              <a:t>Medical Loss Ratio</a:t>
            </a:r>
            <a:endParaRPr lang="en-US" dirty="0"/>
          </a:p>
        </p:txBody>
      </p:sp>
      <p:sp>
        <p:nvSpPr>
          <p:cNvPr id="46" name="TextBox 45">
            <a:extLst>
              <a:ext uri="{FF2B5EF4-FFF2-40B4-BE49-F238E27FC236}">
                <a16:creationId xmlns:a16="http://schemas.microsoft.com/office/drawing/2014/main" id="{AE584537-C63B-A9EA-2922-0F05E7075A20}"/>
              </a:ext>
            </a:extLst>
          </p:cNvPr>
          <p:cNvSpPr txBox="1"/>
          <p:nvPr/>
        </p:nvSpPr>
        <p:spPr>
          <a:xfrm>
            <a:off x="8266946" y="3896815"/>
            <a:ext cx="2943126" cy="307777"/>
          </a:xfrm>
          <a:prstGeom prst="rect">
            <a:avLst/>
          </a:prstGeom>
          <a:noFill/>
        </p:spPr>
        <p:txBody>
          <a:bodyPr wrap="square" lIns="91440" tIns="45720" rIns="91440" bIns="45720" rtlCol="0" anchor="t">
            <a:spAutoFit/>
          </a:bodyPr>
          <a:lstStyle/>
          <a:p>
            <a:pPr algn="ctr"/>
            <a:r>
              <a:rPr lang="en-IN" b="1" i="1" dirty="0">
                <a:solidFill>
                  <a:schemeClr val="accent6">
                    <a:lumMod val="50000"/>
                  </a:schemeClr>
                </a:solidFill>
              </a:rPr>
              <a:t>Membership</a:t>
            </a:r>
          </a:p>
        </p:txBody>
      </p:sp>
      <p:sp>
        <p:nvSpPr>
          <p:cNvPr id="47" name="TextBox 46">
            <a:extLst>
              <a:ext uri="{FF2B5EF4-FFF2-40B4-BE49-F238E27FC236}">
                <a16:creationId xmlns:a16="http://schemas.microsoft.com/office/drawing/2014/main" id="{443D3615-30EA-C05E-D060-A3E4F089CCE8}"/>
              </a:ext>
            </a:extLst>
          </p:cNvPr>
          <p:cNvSpPr txBox="1"/>
          <p:nvPr/>
        </p:nvSpPr>
        <p:spPr>
          <a:xfrm>
            <a:off x="8245296" y="4368921"/>
            <a:ext cx="2953710" cy="307777"/>
          </a:xfrm>
          <a:prstGeom prst="rect">
            <a:avLst/>
          </a:prstGeom>
          <a:noFill/>
        </p:spPr>
        <p:txBody>
          <a:bodyPr wrap="square" lIns="91440" tIns="45720" rIns="91440" bIns="45720" rtlCol="0" anchor="t">
            <a:spAutoFit/>
          </a:bodyPr>
          <a:lstStyle/>
          <a:p>
            <a:pPr algn="ctr"/>
            <a:r>
              <a:rPr lang="en-IN" b="1" i="1" dirty="0">
                <a:solidFill>
                  <a:schemeClr val="accent6">
                    <a:lumMod val="50000"/>
                  </a:schemeClr>
                </a:solidFill>
              </a:rPr>
              <a:t>Risk-Based Capital</a:t>
            </a:r>
          </a:p>
        </p:txBody>
      </p:sp>
      <p:sp>
        <p:nvSpPr>
          <p:cNvPr id="48" name="TextBox 47">
            <a:extLst>
              <a:ext uri="{FF2B5EF4-FFF2-40B4-BE49-F238E27FC236}">
                <a16:creationId xmlns:a16="http://schemas.microsoft.com/office/drawing/2014/main" id="{749B1A62-B0F4-6971-D533-EA10E0DEFDEE}"/>
              </a:ext>
            </a:extLst>
          </p:cNvPr>
          <p:cNvSpPr txBox="1"/>
          <p:nvPr/>
        </p:nvSpPr>
        <p:spPr>
          <a:xfrm>
            <a:off x="8241447" y="4841027"/>
            <a:ext cx="2943126" cy="307777"/>
          </a:xfrm>
          <a:prstGeom prst="rect">
            <a:avLst/>
          </a:prstGeom>
          <a:noFill/>
        </p:spPr>
        <p:txBody>
          <a:bodyPr wrap="square" lIns="91440" tIns="45720" rIns="91440" bIns="45720" rtlCol="0" anchor="t">
            <a:spAutoFit/>
          </a:bodyPr>
          <a:lstStyle/>
          <a:p>
            <a:pPr algn="ctr"/>
            <a:r>
              <a:rPr lang="en-IN" b="1" i="1" dirty="0">
                <a:solidFill>
                  <a:schemeClr val="accent6">
                    <a:lumMod val="50000"/>
                  </a:schemeClr>
                </a:solidFill>
              </a:rPr>
              <a:t>Diversified Product Sales</a:t>
            </a:r>
          </a:p>
        </p:txBody>
      </p:sp>
      <p:sp>
        <p:nvSpPr>
          <p:cNvPr id="50" name="TextBox 49">
            <a:extLst>
              <a:ext uri="{FF2B5EF4-FFF2-40B4-BE49-F238E27FC236}">
                <a16:creationId xmlns:a16="http://schemas.microsoft.com/office/drawing/2014/main" id="{B5145030-29A7-4613-B4A0-4E7CF73842D9}"/>
              </a:ext>
            </a:extLst>
          </p:cNvPr>
          <p:cNvSpPr txBox="1"/>
          <p:nvPr/>
        </p:nvSpPr>
        <p:spPr>
          <a:xfrm>
            <a:off x="8252513" y="5313132"/>
            <a:ext cx="2953709" cy="307777"/>
          </a:xfrm>
          <a:prstGeom prst="rect">
            <a:avLst/>
          </a:prstGeom>
          <a:noFill/>
        </p:spPr>
        <p:txBody>
          <a:bodyPr wrap="square" lIns="91440" tIns="45720" rIns="91440" bIns="45720" rtlCol="0" anchor="t">
            <a:spAutoFit/>
          </a:bodyPr>
          <a:lstStyle/>
          <a:p>
            <a:pPr algn="ctr"/>
            <a:r>
              <a:rPr lang="en-IN" b="1" i="1" dirty="0">
                <a:solidFill>
                  <a:schemeClr val="accent6">
                    <a:lumMod val="50000"/>
                  </a:schemeClr>
                </a:solidFill>
              </a:rPr>
              <a:t>Operational Metrics</a:t>
            </a:r>
          </a:p>
        </p:txBody>
      </p:sp>
      <p:sp>
        <p:nvSpPr>
          <p:cNvPr id="2" name="Rectangle 1">
            <a:extLst>
              <a:ext uri="{FF2B5EF4-FFF2-40B4-BE49-F238E27FC236}">
                <a16:creationId xmlns:a16="http://schemas.microsoft.com/office/drawing/2014/main" id="{5D729FFA-8BF8-9C1D-3A48-4F91A5C273C4}"/>
              </a:ext>
            </a:extLst>
          </p:cNvPr>
          <p:cNvSpPr/>
          <p:nvPr/>
        </p:nvSpPr>
        <p:spPr>
          <a:xfrm>
            <a:off x="973878" y="1725084"/>
            <a:ext cx="2952750" cy="4593585"/>
          </a:xfrm>
          <a:prstGeom prst="rect">
            <a:avLst/>
          </a:prstGeom>
          <a:noFill/>
          <a:ln w="6350">
            <a:solidFill>
              <a:srgbClr val="4472C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1332A85-89B1-0E8B-154D-338ECBF0D3DA}"/>
              </a:ext>
            </a:extLst>
          </p:cNvPr>
          <p:cNvSpPr/>
          <p:nvPr/>
        </p:nvSpPr>
        <p:spPr>
          <a:xfrm>
            <a:off x="8286961" y="1725084"/>
            <a:ext cx="2952750" cy="4593585"/>
          </a:xfrm>
          <a:prstGeom prst="rect">
            <a:avLst/>
          </a:prstGeom>
          <a:noFill/>
          <a:ln w="6350">
            <a:solidFill>
              <a:srgbClr val="4472C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37FC5037-DC11-37D3-BDC7-0FFAF7595120}"/>
              </a:ext>
            </a:extLst>
          </p:cNvPr>
          <p:cNvCxnSpPr>
            <a:cxnSpLocks/>
            <a:endCxn id="11" idx="0"/>
          </p:cNvCxnSpPr>
          <p:nvPr/>
        </p:nvCxnSpPr>
        <p:spPr>
          <a:xfrm>
            <a:off x="4140573" y="1725084"/>
            <a:ext cx="0" cy="2052665"/>
          </a:xfrm>
          <a:prstGeom prst="line">
            <a:avLst/>
          </a:prstGeom>
        </p:spPr>
        <p:style>
          <a:lnRef idx="1">
            <a:schemeClr val="accent1"/>
          </a:lnRef>
          <a:fillRef idx="0">
            <a:schemeClr val="accent1"/>
          </a:fillRef>
          <a:effectRef idx="0">
            <a:schemeClr val="accent1"/>
          </a:effectRef>
          <a:fontRef idx="minor">
            <a:schemeClr val="tx1"/>
          </a:fontRef>
        </p:style>
      </p:cxnSp>
      <p:sp>
        <p:nvSpPr>
          <p:cNvPr id="11" name="Arrow: Chevron 10">
            <a:extLst>
              <a:ext uri="{FF2B5EF4-FFF2-40B4-BE49-F238E27FC236}">
                <a16:creationId xmlns:a16="http://schemas.microsoft.com/office/drawing/2014/main" id="{E73BB95F-E641-0F57-0227-9230A3AD7179}"/>
              </a:ext>
            </a:extLst>
          </p:cNvPr>
          <p:cNvSpPr/>
          <p:nvPr/>
        </p:nvSpPr>
        <p:spPr>
          <a:xfrm>
            <a:off x="4092098" y="3777749"/>
            <a:ext cx="193900" cy="636435"/>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cxnSp>
        <p:nvCxnSpPr>
          <p:cNvPr id="14" name="Straight Connector 13">
            <a:extLst>
              <a:ext uri="{FF2B5EF4-FFF2-40B4-BE49-F238E27FC236}">
                <a16:creationId xmlns:a16="http://schemas.microsoft.com/office/drawing/2014/main" id="{B1CAD4C8-DEDC-D4A3-3923-7A6168AA6916}"/>
              </a:ext>
            </a:extLst>
          </p:cNvPr>
          <p:cNvCxnSpPr>
            <a:cxnSpLocks/>
            <a:stCxn id="11" idx="2"/>
          </p:cNvCxnSpPr>
          <p:nvPr/>
        </p:nvCxnSpPr>
        <p:spPr>
          <a:xfrm>
            <a:off x="4140573" y="4414184"/>
            <a:ext cx="0" cy="1904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B2BF0E6-BCAD-E6EA-2663-396D82A16009}"/>
              </a:ext>
            </a:extLst>
          </p:cNvPr>
          <p:cNvCxnSpPr>
            <a:cxnSpLocks/>
            <a:endCxn id="38" idx="0"/>
          </p:cNvCxnSpPr>
          <p:nvPr/>
        </p:nvCxnSpPr>
        <p:spPr>
          <a:xfrm>
            <a:off x="8088116" y="1749684"/>
            <a:ext cx="0" cy="2052665"/>
          </a:xfrm>
          <a:prstGeom prst="line">
            <a:avLst/>
          </a:prstGeom>
        </p:spPr>
        <p:style>
          <a:lnRef idx="1">
            <a:schemeClr val="accent1"/>
          </a:lnRef>
          <a:fillRef idx="0">
            <a:schemeClr val="accent1"/>
          </a:fillRef>
          <a:effectRef idx="0">
            <a:schemeClr val="accent1"/>
          </a:effectRef>
          <a:fontRef idx="minor">
            <a:schemeClr val="tx1"/>
          </a:fontRef>
        </p:style>
      </p:cxnSp>
      <p:sp>
        <p:nvSpPr>
          <p:cNvPr id="38" name="Arrow: Chevron 37">
            <a:extLst>
              <a:ext uri="{FF2B5EF4-FFF2-40B4-BE49-F238E27FC236}">
                <a16:creationId xmlns:a16="http://schemas.microsoft.com/office/drawing/2014/main" id="{7DFE9C2A-CF88-1A5D-A38B-BC7630B3EA68}"/>
              </a:ext>
            </a:extLst>
          </p:cNvPr>
          <p:cNvSpPr/>
          <p:nvPr/>
        </p:nvSpPr>
        <p:spPr>
          <a:xfrm>
            <a:off x="8039641" y="3802349"/>
            <a:ext cx="193900" cy="636435"/>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cxnSp>
        <p:nvCxnSpPr>
          <p:cNvPr id="39" name="Straight Connector 38">
            <a:extLst>
              <a:ext uri="{FF2B5EF4-FFF2-40B4-BE49-F238E27FC236}">
                <a16:creationId xmlns:a16="http://schemas.microsoft.com/office/drawing/2014/main" id="{0210B265-65EA-8C42-75CA-690DE4BB76BC}"/>
              </a:ext>
            </a:extLst>
          </p:cNvPr>
          <p:cNvCxnSpPr>
            <a:cxnSpLocks/>
            <a:stCxn id="38" idx="2"/>
          </p:cNvCxnSpPr>
          <p:nvPr/>
        </p:nvCxnSpPr>
        <p:spPr>
          <a:xfrm>
            <a:off x="8088116" y="4438784"/>
            <a:ext cx="0" cy="1904485"/>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B36E572-266D-274E-3BC9-BF5CB00363C9}"/>
              </a:ext>
            </a:extLst>
          </p:cNvPr>
          <p:cNvSpPr/>
          <p:nvPr/>
        </p:nvSpPr>
        <p:spPr>
          <a:xfrm>
            <a:off x="973878" y="1095700"/>
            <a:ext cx="2952750" cy="565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Our Corporate Strategy Pillars</a:t>
            </a:r>
          </a:p>
        </p:txBody>
      </p:sp>
      <p:sp>
        <p:nvSpPr>
          <p:cNvPr id="41" name="Rectangle 40">
            <a:extLst>
              <a:ext uri="{FF2B5EF4-FFF2-40B4-BE49-F238E27FC236}">
                <a16:creationId xmlns:a16="http://schemas.microsoft.com/office/drawing/2014/main" id="{F68E4FE0-BED6-6439-C887-96FEB4AE5254}"/>
              </a:ext>
            </a:extLst>
          </p:cNvPr>
          <p:cNvSpPr/>
          <p:nvPr/>
        </p:nvSpPr>
        <p:spPr>
          <a:xfrm>
            <a:off x="8306913" y="1096594"/>
            <a:ext cx="2952750" cy="565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Our Metrics</a:t>
            </a:r>
          </a:p>
        </p:txBody>
      </p:sp>
    </p:spTree>
    <p:extLst>
      <p:ext uri="{BB962C8B-B14F-4D97-AF65-F5344CB8AC3E}">
        <p14:creationId xmlns:p14="http://schemas.microsoft.com/office/powerpoint/2010/main" val="31265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Placeholder 2">
            <a:extLst>
              <a:ext uri="{FF2B5EF4-FFF2-40B4-BE49-F238E27FC236}">
                <a16:creationId xmlns:a16="http://schemas.microsoft.com/office/drawing/2014/main" id="{02C22B07-B5A0-200C-D1BB-14C256BAD73E}"/>
              </a:ext>
            </a:extLst>
          </p:cNvPr>
          <p:cNvSpPr txBox="1">
            <a:spLocks/>
          </p:cNvSpPr>
          <p:nvPr/>
        </p:nvSpPr>
        <p:spPr>
          <a:xfrm>
            <a:off x="927070" y="131450"/>
            <a:ext cx="10681613" cy="1017108"/>
          </a:xfrm>
          <a:prstGeom prst="rect">
            <a:avLst/>
          </a:prstGeom>
          <a:noFill/>
        </p:spPr>
        <p:txBody>
          <a:bodyPr vert="horz" lIns="91440" tIns="45720" rIns="91440" bIns="45720" rtlCol="0" anchor="ctr">
            <a:normAutofit/>
          </a:bodyPr>
          <a:lstStyle>
            <a:defPPr>
              <a:defRPr lang="fr-FR"/>
            </a:defPPr>
            <a:lvl1pPr marR="0" lvl="0" indent="0" fontAlgn="auto">
              <a:lnSpc>
                <a:spcPct val="100000"/>
              </a:lnSpc>
              <a:spcBef>
                <a:spcPts val="0"/>
              </a:spcBef>
              <a:spcAft>
                <a:spcPts val="0"/>
              </a:spcAft>
              <a:buClrTx/>
              <a:buSzTx/>
              <a:buFontTx/>
              <a:buNone/>
              <a:tabLst/>
              <a:defRPr kumimoji="0" sz="2800" b="1" i="0" u="none" strike="noStrike" cap="none" spc="0" normalizeH="0" baseline="0">
                <a:ln>
                  <a:noFill/>
                </a:ln>
                <a:solidFill>
                  <a:srgbClr val="91B94C"/>
                </a:solidFill>
                <a:effectLst/>
                <a:uLnTx/>
                <a:uFillTx/>
                <a:latin typeface="Helvetica light"/>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354">
              <a:defRPr/>
            </a:pPr>
            <a:r>
              <a:rPr lang="en-US" sz="2000" kern="1200" dirty="0">
                <a:solidFill>
                  <a:srgbClr val="FD5D3B"/>
                </a:solidFill>
                <a:latin typeface="Bebas Neue" panose="020B0606020202050201" pitchFamily="34" charset="0"/>
                <a:ea typeface="+mj-ea"/>
                <a:cs typeface="+mj-cs"/>
              </a:rPr>
              <a:t>The entire healthcare journey of a patient will be driven by AI going forward</a:t>
            </a:r>
            <a:endParaRPr lang="en-IN" sz="2000" kern="1200" dirty="0">
              <a:solidFill>
                <a:srgbClr val="FD5D3B"/>
              </a:solidFill>
              <a:latin typeface="Bebas Neue" panose="020B0606020202050201" pitchFamily="34" charset="0"/>
              <a:ea typeface="+mj-ea"/>
              <a:cs typeface="+mj-cs"/>
            </a:endParaRPr>
          </a:p>
        </p:txBody>
      </p:sp>
      <p:sp>
        <p:nvSpPr>
          <p:cNvPr id="255" name="AutoShape 5">
            <a:extLst>
              <a:ext uri="{FF2B5EF4-FFF2-40B4-BE49-F238E27FC236}">
                <a16:creationId xmlns:a16="http://schemas.microsoft.com/office/drawing/2014/main" id="{65F7DB86-C050-256A-6FDE-A370D8A2D1FF}"/>
              </a:ext>
            </a:extLst>
          </p:cNvPr>
          <p:cNvSpPr>
            <a:spLocks noChangeArrowheads="1"/>
          </p:cNvSpPr>
          <p:nvPr/>
        </p:nvSpPr>
        <p:spPr bwMode="auto">
          <a:xfrm rot="5400000">
            <a:off x="9208213" y="5706003"/>
            <a:ext cx="305690" cy="274978"/>
          </a:xfrm>
          <a:prstGeom prst="triangle">
            <a:avLst>
              <a:gd name="adj" fmla="val 50000"/>
            </a:avLst>
          </a:prstGeom>
          <a:solidFill>
            <a:srgbClr val="C0C0C0"/>
          </a:solidFill>
          <a:ln w="12700">
            <a:noFill/>
            <a:miter lim="800000"/>
            <a:headEnd/>
            <a:tailEnd/>
          </a:ln>
        </p:spPr>
        <p:txBody>
          <a:bodyPr wrap="none" anchor="ctr"/>
          <a:lstStyle/>
          <a:p>
            <a:pPr algn="ctr" fontAlgn="base">
              <a:spcBef>
                <a:spcPct val="20000"/>
              </a:spcBef>
              <a:spcAft>
                <a:spcPct val="0"/>
              </a:spcAft>
            </a:pPr>
            <a:endParaRPr lang="en-US" sz="1400" dirty="0">
              <a:solidFill>
                <a:schemeClr val="bg1"/>
              </a:solidFill>
            </a:endParaRPr>
          </a:p>
        </p:txBody>
      </p:sp>
      <p:sp>
        <p:nvSpPr>
          <p:cNvPr id="256" name="Oval 6">
            <a:extLst>
              <a:ext uri="{FF2B5EF4-FFF2-40B4-BE49-F238E27FC236}">
                <a16:creationId xmlns:a16="http://schemas.microsoft.com/office/drawing/2014/main" id="{3BEB1D5F-5893-71D6-C957-F606F0C6FD53}"/>
              </a:ext>
            </a:extLst>
          </p:cNvPr>
          <p:cNvSpPr>
            <a:spLocks noChangeArrowheads="1"/>
          </p:cNvSpPr>
          <p:nvPr/>
        </p:nvSpPr>
        <p:spPr bwMode="auto">
          <a:xfrm>
            <a:off x="1679805" y="2138444"/>
            <a:ext cx="770843" cy="684798"/>
          </a:xfrm>
          <a:prstGeom prst="ellipse">
            <a:avLst/>
          </a:prstGeom>
          <a:solidFill>
            <a:srgbClr val="C0C0C0"/>
          </a:solidFill>
          <a:ln w="12700">
            <a:noFill/>
            <a:round/>
            <a:headEnd/>
            <a:tailEnd/>
          </a:ln>
        </p:spPr>
        <p:txBody>
          <a:bodyPr wrap="none" anchor="ctr"/>
          <a:lstStyle/>
          <a:p>
            <a:pPr algn="ctr" fontAlgn="base">
              <a:spcBef>
                <a:spcPct val="20000"/>
              </a:spcBef>
              <a:spcAft>
                <a:spcPct val="0"/>
              </a:spcAft>
            </a:pPr>
            <a:endParaRPr lang="en-US" sz="1400" dirty="0">
              <a:solidFill>
                <a:schemeClr val="bg1"/>
              </a:solidFill>
            </a:endParaRPr>
          </a:p>
        </p:txBody>
      </p:sp>
      <p:sp>
        <p:nvSpPr>
          <p:cNvPr id="257" name="Freeform 9">
            <a:extLst>
              <a:ext uri="{FF2B5EF4-FFF2-40B4-BE49-F238E27FC236}">
                <a16:creationId xmlns:a16="http://schemas.microsoft.com/office/drawing/2014/main" id="{14EB224F-442F-C61B-857F-F767A87ACB29}"/>
              </a:ext>
            </a:extLst>
          </p:cNvPr>
          <p:cNvSpPr>
            <a:spLocks/>
          </p:cNvSpPr>
          <p:nvPr/>
        </p:nvSpPr>
        <p:spPr bwMode="auto">
          <a:xfrm>
            <a:off x="2123077" y="2460151"/>
            <a:ext cx="7434947" cy="3367399"/>
          </a:xfrm>
          <a:custGeom>
            <a:avLst/>
            <a:gdLst>
              <a:gd name="T0" fmla="*/ 148264 w 5139"/>
              <a:gd name="T1" fmla="*/ 36214 h 2171"/>
              <a:gd name="T2" fmla="*/ 3300027 w 5139"/>
              <a:gd name="T3" fmla="*/ 14486 h 2171"/>
              <a:gd name="T4" fmla="*/ 5501063 w 5139"/>
              <a:gd name="T5" fmla="*/ 14486 h 2171"/>
              <a:gd name="T6" fmla="*/ 6973007 w 5139"/>
              <a:gd name="T7" fmla="*/ 47803 h 2171"/>
              <a:gd name="T8" fmla="*/ 7711271 w 5139"/>
              <a:gd name="T9" fmla="*/ 304199 h 2171"/>
              <a:gd name="T10" fmla="*/ 7732670 w 5139"/>
              <a:gd name="T11" fmla="*/ 977782 h 2171"/>
              <a:gd name="T12" fmla="*/ 6977593 w 5139"/>
              <a:gd name="T13" fmla="*/ 1470295 h 2171"/>
              <a:gd name="T14" fmla="*/ 5070027 w 5139"/>
              <a:gd name="T15" fmla="*/ 1587629 h 2171"/>
              <a:gd name="T16" fmla="*/ 2699327 w 5139"/>
              <a:gd name="T17" fmla="*/ 1619497 h 2171"/>
              <a:gd name="T18" fmla="*/ 724508 w 5139"/>
              <a:gd name="T19" fmla="*/ 1704963 h 2171"/>
              <a:gd name="T20" fmla="*/ 102409 w 5139"/>
              <a:gd name="T21" fmla="*/ 2100421 h 2171"/>
              <a:gd name="T22" fmla="*/ 114637 w 5139"/>
              <a:gd name="T23" fmla="*/ 2636391 h 2171"/>
              <a:gd name="T24" fmla="*/ 735207 w 5139"/>
              <a:gd name="T25" fmla="*/ 3031850 h 2171"/>
              <a:gd name="T26" fmla="*/ 2665700 w 5139"/>
              <a:gd name="T27" fmla="*/ 3127455 h 2171"/>
              <a:gd name="T28" fmla="*/ 7564536 w 5139"/>
              <a:gd name="T29" fmla="*/ 3139044 h 21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39"/>
              <a:gd name="T46" fmla="*/ 0 h 2171"/>
              <a:gd name="T47" fmla="*/ 5139 w 5139"/>
              <a:gd name="T48" fmla="*/ 2171 h 217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39" h="2171">
                <a:moveTo>
                  <a:pt x="97" y="25"/>
                </a:moveTo>
                <a:cubicBezTo>
                  <a:pt x="439" y="23"/>
                  <a:pt x="1575" y="12"/>
                  <a:pt x="2159" y="10"/>
                </a:cubicBezTo>
                <a:cubicBezTo>
                  <a:pt x="2743" y="8"/>
                  <a:pt x="3198" y="6"/>
                  <a:pt x="3599" y="10"/>
                </a:cubicBezTo>
                <a:cubicBezTo>
                  <a:pt x="4000" y="14"/>
                  <a:pt x="4321" y="0"/>
                  <a:pt x="4562" y="33"/>
                </a:cubicBezTo>
                <a:cubicBezTo>
                  <a:pt x="4803" y="66"/>
                  <a:pt x="4962" y="103"/>
                  <a:pt x="5045" y="210"/>
                </a:cubicBezTo>
                <a:cubicBezTo>
                  <a:pt x="5128" y="317"/>
                  <a:pt x="5139" y="541"/>
                  <a:pt x="5059" y="675"/>
                </a:cubicBezTo>
                <a:cubicBezTo>
                  <a:pt x="4979" y="809"/>
                  <a:pt x="4855" y="945"/>
                  <a:pt x="4565" y="1015"/>
                </a:cubicBezTo>
                <a:cubicBezTo>
                  <a:pt x="4275" y="1085"/>
                  <a:pt x="3783" y="1079"/>
                  <a:pt x="3317" y="1096"/>
                </a:cubicBezTo>
                <a:cubicBezTo>
                  <a:pt x="2851" y="1113"/>
                  <a:pt x="2240" y="1105"/>
                  <a:pt x="1766" y="1118"/>
                </a:cubicBezTo>
                <a:cubicBezTo>
                  <a:pt x="1292" y="1131"/>
                  <a:pt x="757" y="1122"/>
                  <a:pt x="474" y="1177"/>
                </a:cubicBezTo>
                <a:cubicBezTo>
                  <a:pt x="191" y="1232"/>
                  <a:pt x="134" y="1343"/>
                  <a:pt x="67" y="1450"/>
                </a:cubicBezTo>
                <a:cubicBezTo>
                  <a:pt x="0" y="1557"/>
                  <a:pt x="6" y="1713"/>
                  <a:pt x="75" y="1820"/>
                </a:cubicBezTo>
                <a:cubicBezTo>
                  <a:pt x="144" y="1927"/>
                  <a:pt x="203" y="2037"/>
                  <a:pt x="481" y="2093"/>
                </a:cubicBezTo>
                <a:cubicBezTo>
                  <a:pt x="759" y="2149"/>
                  <a:pt x="999" y="2147"/>
                  <a:pt x="1744" y="2159"/>
                </a:cubicBezTo>
                <a:cubicBezTo>
                  <a:pt x="2489" y="2171"/>
                  <a:pt x="4281" y="2165"/>
                  <a:pt x="4949" y="2167"/>
                </a:cubicBezTo>
              </a:path>
            </a:pathLst>
          </a:custGeom>
          <a:noFill/>
          <a:ln w="152400" cap="flat" cmpd="sng">
            <a:solidFill>
              <a:srgbClr val="C0C0C0"/>
            </a:solidFill>
            <a:prstDash val="solid"/>
            <a:round/>
            <a:headEnd/>
            <a:tailEnd/>
          </a:ln>
        </p:spPr>
        <p:txBody>
          <a:bodyPr wrap="none" anchor="ctr"/>
          <a:lstStyle/>
          <a:p>
            <a:pPr fontAlgn="base">
              <a:spcBef>
                <a:spcPct val="20000"/>
              </a:spcBef>
              <a:spcAft>
                <a:spcPct val="0"/>
              </a:spcAft>
            </a:pPr>
            <a:endParaRPr lang="en-US" sz="1400" dirty="0">
              <a:solidFill>
                <a:schemeClr val="bg1"/>
              </a:solidFill>
            </a:endParaRPr>
          </a:p>
        </p:txBody>
      </p:sp>
      <p:sp>
        <p:nvSpPr>
          <p:cNvPr id="258" name="Freeform 10">
            <a:extLst>
              <a:ext uri="{FF2B5EF4-FFF2-40B4-BE49-F238E27FC236}">
                <a16:creationId xmlns:a16="http://schemas.microsoft.com/office/drawing/2014/main" id="{C22902F8-B3F2-7E37-CC43-069B28A54C72}"/>
              </a:ext>
            </a:extLst>
          </p:cNvPr>
          <p:cNvSpPr>
            <a:spLocks/>
          </p:cNvSpPr>
          <p:nvPr/>
        </p:nvSpPr>
        <p:spPr bwMode="auto">
          <a:xfrm>
            <a:off x="2123077" y="2471290"/>
            <a:ext cx="7434947" cy="3367399"/>
          </a:xfrm>
          <a:custGeom>
            <a:avLst/>
            <a:gdLst>
              <a:gd name="T0" fmla="*/ 148264 w 5139"/>
              <a:gd name="T1" fmla="*/ 36214 h 2171"/>
              <a:gd name="T2" fmla="*/ 3300027 w 5139"/>
              <a:gd name="T3" fmla="*/ 14486 h 2171"/>
              <a:gd name="T4" fmla="*/ 5501063 w 5139"/>
              <a:gd name="T5" fmla="*/ 14486 h 2171"/>
              <a:gd name="T6" fmla="*/ 6973007 w 5139"/>
              <a:gd name="T7" fmla="*/ 47803 h 2171"/>
              <a:gd name="T8" fmla="*/ 7711271 w 5139"/>
              <a:gd name="T9" fmla="*/ 304199 h 2171"/>
              <a:gd name="T10" fmla="*/ 7732670 w 5139"/>
              <a:gd name="T11" fmla="*/ 977782 h 2171"/>
              <a:gd name="T12" fmla="*/ 6977593 w 5139"/>
              <a:gd name="T13" fmla="*/ 1470294 h 2171"/>
              <a:gd name="T14" fmla="*/ 5070027 w 5139"/>
              <a:gd name="T15" fmla="*/ 1587628 h 2171"/>
              <a:gd name="T16" fmla="*/ 2699327 w 5139"/>
              <a:gd name="T17" fmla="*/ 1619497 h 2171"/>
              <a:gd name="T18" fmla="*/ 724508 w 5139"/>
              <a:gd name="T19" fmla="*/ 1704962 h 2171"/>
              <a:gd name="T20" fmla="*/ 102409 w 5139"/>
              <a:gd name="T21" fmla="*/ 2100421 h 2171"/>
              <a:gd name="T22" fmla="*/ 114637 w 5139"/>
              <a:gd name="T23" fmla="*/ 2636390 h 2171"/>
              <a:gd name="T24" fmla="*/ 735207 w 5139"/>
              <a:gd name="T25" fmla="*/ 3031849 h 2171"/>
              <a:gd name="T26" fmla="*/ 2665700 w 5139"/>
              <a:gd name="T27" fmla="*/ 3127454 h 2171"/>
              <a:gd name="T28" fmla="*/ 7564536 w 5139"/>
              <a:gd name="T29" fmla="*/ 3139043 h 21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39"/>
              <a:gd name="T46" fmla="*/ 0 h 2171"/>
              <a:gd name="T47" fmla="*/ 5139 w 5139"/>
              <a:gd name="T48" fmla="*/ 2171 h 217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39" h="2171">
                <a:moveTo>
                  <a:pt x="97" y="25"/>
                </a:moveTo>
                <a:cubicBezTo>
                  <a:pt x="439" y="23"/>
                  <a:pt x="1575" y="12"/>
                  <a:pt x="2159" y="10"/>
                </a:cubicBezTo>
                <a:cubicBezTo>
                  <a:pt x="2743" y="8"/>
                  <a:pt x="3198" y="6"/>
                  <a:pt x="3599" y="10"/>
                </a:cubicBezTo>
                <a:cubicBezTo>
                  <a:pt x="4000" y="14"/>
                  <a:pt x="4321" y="0"/>
                  <a:pt x="4562" y="33"/>
                </a:cubicBezTo>
                <a:cubicBezTo>
                  <a:pt x="4803" y="66"/>
                  <a:pt x="4962" y="103"/>
                  <a:pt x="5045" y="210"/>
                </a:cubicBezTo>
                <a:cubicBezTo>
                  <a:pt x="5128" y="317"/>
                  <a:pt x="5139" y="541"/>
                  <a:pt x="5059" y="675"/>
                </a:cubicBezTo>
                <a:cubicBezTo>
                  <a:pt x="4979" y="809"/>
                  <a:pt x="4855" y="945"/>
                  <a:pt x="4565" y="1015"/>
                </a:cubicBezTo>
                <a:cubicBezTo>
                  <a:pt x="4275" y="1085"/>
                  <a:pt x="3783" y="1079"/>
                  <a:pt x="3317" y="1096"/>
                </a:cubicBezTo>
                <a:cubicBezTo>
                  <a:pt x="2851" y="1113"/>
                  <a:pt x="2240" y="1105"/>
                  <a:pt x="1766" y="1118"/>
                </a:cubicBezTo>
                <a:cubicBezTo>
                  <a:pt x="1292" y="1131"/>
                  <a:pt x="757" y="1122"/>
                  <a:pt x="474" y="1177"/>
                </a:cubicBezTo>
                <a:cubicBezTo>
                  <a:pt x="191" y="1232"/>
                  <a:pt x="134" y="1343"/>
                  <a:pt x="67" y="1450"/>
                </a:cubicBezTo>
                <a:cubicBezTo>
                  <a:pt x="0" y="1557"/>
                  <a:pt x="6" y="1713"/>
                  <a:pt x="75" y="1820"/>
                </a:cubicBezTo>
                <a:cubicBezTo>
                  <a:pt x="144" y="1927"/>
                  <a:pt x="203" y="2037"/>
                  <a:pt x="481" y="2093"/>
                </a:cubicBezTo>
                <a:cubicBezTo>
                  <a:pt x="759" y="2149"/>
                  <a:pt x="999" y="2147"/>
                  <a:pt x="1744" y="2159"/>
                </a:cubicBezTo>
                <a:cubicBezTo>
                  <a:pt x="2489" y="2171"/>
                  <a:pt x="4281" y="2165"/>
                  <a:pt x="4949" y="2167"/>
                </a:cubicBezTo>
              </a:path>
            </a:pathLst>
          </a:custGeom>
          <a:noFill/>
          <a:ln w="76200" cap="rnd" cmpd="sng">
            <a:solidFill>
              <a:srgbClr val="808080"/>
            </a:solidFill>
            <a:prstDash val="sysDot"/>
            <a:round/>
            <a:headEnd/>
            <a:tailEnd/>
          </a:ln>
        </p:spPr>
        <p:txBody>
          <a:bodyPr wrap="none" anchor="ctr"/>
          <a:lstStyle/>
          <a:p>
            <a:pPr fontAlgn="base">
              <a:spcBef>
                <a:spcPct val="20000"/>
              </a:spcBef>
              <a:spcAft>
                <a:spcPct val="0"/>
              </a:spcAft>
            </a:pPr>
            <a:endParaRPr lang="en-US" sz="1400" dirty="0">
              <a:solidFill>
                <a:schemeClr val="bg1"/>
              </a:solidFill>
            </a:endParaRPr>
          </a:p>
        </p:txBody>
      </p:sp>
      <p:sp>
        <p:nvSpPr>
          <p:cNvPr id="259" name="Text Box 11">
            <a:extLst>
              <a:ext uri="{FF2B5EF4-FFF2-40B4-BE49-F238E27FC236}">
                <a16:creationId xmlns:a16="http://schemas.microsoft.com/office/drawing/2014/main" id="{EA329FBA-1E4D-57F1-FE52-8E2BA4C6139C}"/>
              </a:ext>
            </a:extLst>
          </p:cNvPr>
          <p:cNvSpPr txBox="1">
            <a:spLocks noChangeArrowheads="1"/>
          </p:cNvSpPr>
          <p:nvPr/>
        </p:nvSpPr>
        <p:spPr bwMode="auto">
          <a:xfrm>
            <a:off x="2030679" y="1146653"/>
            <a:ext cx="2027243" cy="1107996"/>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100" i="1" dirty="0">
                <a:solidFill>
                  <a:schemeClr val="accent2">
                    <a:lumMod val="75000"/>
                  </a:schemeClr>
                </a:solidFill>
              </a:rPr>
              <a:t>Sarah experiences frequent thirst, increased urination, unexplained weight loss, and fatigue </a:t>
            </a:r>
            <a:r>
              <a:rPr lang="en-US" sz="1100" i="1" dirty="0">
                <a:solidFill>
                  <a:schemeClr val="accent2">
                    <a:lumMod val="75000"/>
                  </a:schemeClr>
                </a:solidFill>
                <a:sym typeface="Wingdings" panose="05000000000000000000" pitchFamily="2" charset="2"/>
              </a:rPr>
              <a:t>and </a:t>
            </a:r>
            <a:r>
              <a:rPr lang="en-US" sz="1100" i="1" dirty="0">
                <a:solidFill>
                  <a:schemeClr val="accent2">
                    <a:lumMod val="75000"/>
                  </a:schemeClr>
                </a:solidFill>
              </a:rPr>
              <a:t>is alerted by her wearable device about the risk of diabetes</a:t>
            </a:r>
            <a:endParaRPr lang="en-US" sz="1100" b="1" i="1" dirty="0">
              <a:solidFill>
                <a:schemeClr val="accent2">
                  <a:lumMod val="75000"/>
                </a:schemeClr>
              </a:solidFill>
            </a:endParaRPr>
          </a:p>
        </p:txBody>
      </p:sp>
      <p:sp>
        <p:nvSpPr>
          <p:cNvPr id="277" name="Text Box 192">
            <a:extLst>
              <a:ext uri="{FF2B5EF4-FFF2-40B4-BE49-F238E27FC236}">
                <a16:creationId xmlns:a16="http://schemas.microsoft.com/office/drawing/2014/main" id="{650F1A73-0600-4F7A-038C-594C3B14699E}"/>
              </a:ext>
            </a:extLst>
          </p:cNvPr>
          <p:cNvSpPr txBox="1">
            <a:spLocks noChangeArrowheads="1"/>
          </p:cNvSpPr>
          <p:nvPr/>
        </p:nvSpPr>
        <p:spPr bwMode="auto">
          <a:xfrm>
            <a:off x="4411980" y="1515577"/>
            <a:ext cx="1771965" cy="600164"/>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100" i="1" dirty="0">
                <a:solidFill>
                  <a:schemeClr val="accent2">
                    <a:lumMod val="75000"/>
                  </a:schemeClr>
                </a:solidFill>
              </a:rPr>
              <a:t>Sarah schedules an appointment with an endocrinologist</a:t>
            </a:r>
            <a:endParaRPr lang="en-US" sz="1100" b="1" i="1" dirty="0">
              <a:solidFill>
                <a:schemeClr val="accent2">
                  <a:lumMod val="75000"/>
                </a:schemeClr>
              </a:solidFill>
            </a:endParaRPr>
          </a:p>
        </p:txBody>
      </p:sp>
      <p:sp>
        <p:nvSpPr>
          <p:cNvPr id="460" name="Text Box 15">
            <a:extLst>
              <a:ext uri="{FF2B5EF4-FFF2-40B4-BE49-F238E27FC236}">
                <a16:creationId xmlns:a16="http://schemas.microsoft.com/office/drawing/2014/main" id="{C32BF9AB-9A31-E719-1998-C6415EA50F0C}"/>
              </a:ext>
            </a:extLst>
          </p:cNvPr>
          <p:cNvSpPr txBox="1">
            <a:spLocks noChangeArrowheads="1"/>
          </p:cNvSpPr>
          <p:nvPr/>
        </p:nvSpPr>
        <p:spPr bwMode="auto">
          <a:xfrm>
            <a:off x="2144534" y="2758504"/>
            <a:ext cx="1737254" cy="900246"/>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dirty="0">
                <a:solidFill>
                  <a:schemeClr val="accent4">
                    <a:lumMod val="50000"/>
                  </a:schemeClr>
                </a:solidFill>
              </a:rPr>
              <a:t>Payer receives the alert data and leverages AI to proactively engage Sarah for diabetes risk management</a:t>
            </a:r>
          </a:p>
        </p:txBody>
      </p:sp>
      <p:sp>
        <p:nvSpPr>
          <p:cNvPr id="479" name="Text Box 15">
            <a:extLst>
              <a:ext uri="{FF2B5EF4-FFF2-40B4-BE49-F238E27FC236}">
                <a16:creationId xmlns:a16="http://schemas.microsoft.com/office/drawing/2014/main" id="{FDF19C99-6FD9-4236-015E-90CDE26C9F73}"/>
              </a:ext>
            </a:extLst>
          </p:cNvPr>
          <p:cNvSpPr txBox="1">
            <a:spLocks noChangeArrowheads="1"/>
          </p:cNvSpPr>
          <p:nvPr/>
        </p:nvSpPr>
        <p:spPr bwMode="auto">
          <a:xfrm>
            <a:off x="4136199" y="2796148"/>
            <a:ext cx="2580893" cy="577081"/>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dirty="0">
                <a:solidFill>
                  <a:schemeClr val="accent4">
                    <a:lumMod val="50000"/>
                  </a:schemeClr>
                </a:solidFill>
              </a:rPr>
              <a:t>Payer’s AI platform helps Sarah find in-network, quality-endorsed diabetes specialists</a:t>
            </a:r>
          </a:p>
        </p:txBody>
      </p:sp>
      <p:sp>
        <p:nvSpPr>
          <p:cNvPr id="509" name="Text Box 192">
            <a:extLst>
              <a:ext uri="{FF2B5EF4-FFF2-40B4-BE49-F238E27FC236}">
                <a16:creationId xmlns:a16="http://schemas.microsoft.com/office/drawing/2014/main" id="{529220FD-0BB5-82C8-FC83-DF4DC4589DE6}"/>
              </a:ext>
            </a:extLst>
          </p:cNvPr>
          <p:cNvSpPr txBox="1">
            <a:spLocks noChangeArrowheads="1"/>
          </p:cNvSpPr>
          <p:nvPr/>
        </p:nvSpPr>
        <p:spPr bwMode="auto">
          <a:xfrm>
            <a:off x="7309218" y="1383190"/>
            <a:ext cx="3130321" cy="769441"/>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100" i="1" dirty="0">
                <a:solidFill>
                  <a:schemeClr val="accent2">
                    <a:lumMod val="75000"/>
                  </a:schemeClr>
                </a:solidFill>
              </a:rPr>
              <a:t>Endocrinologist utilizes AI-assisted diagnostics and diagnoses her with Type 2 diabetes, develops a treatment plan focusing on lifestyle modifications and medication management</a:t>
            </a:r>
            <a:endParaRPr lang="en-US" sz="1100" b="1" i="1" dirty="0">
              <a:solidFill>
                <a:schemeClr val="accent2">
                  <a:lumMod val="75000"/>
                </a:schemeClr>
              </a:solidFill>
            </a:endParaRPr>
          </a:p>
        </p:txBody>
      </p:sp>
      <p:sp>
        <p:nvSpPr>
          <p:cNvPr id="510" name="Text Box 15">
            <a:extLst>
              <a:ext uri="{FF2B5EF4-FFF2-40B4-BE49-F238E27FC236}">
                <a16:creationId xmlns:a16="http://schemas.microsoft.com/office/drawing/2014/main" id="{F9A54482-039D-F3D6-5BEB-71909CC5A334}"/>
              </a:ext>
            </a:extLst>
          </p:cNvPr>
          <p:cNvSpPr txBox="1">
            <a:spLocks noChangeArrowheads="1"/>
          </p:cNvSpPr>
          <p:nvPr/>
        </p:nvSpPr>
        <p:spPr bwMode="auto">
          <a:xfrm>
            <a:off x="9035816" y="2254625"/>
            <a:ext cx="2580893" cy="577081"/>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dirty="0">
                <a:solidFill>
                  <a:schemeClr val="accent4">
                    <a:lumMod val="50000"/>
                  </a:schemeClr>
                </a:solidFill>
              </a:rPr>
              <a:t>Payer’s AI platform integrates </a:t>
            </a:r>
            <a:br>
              <a:rPr lang="en-US" sz="1050" i="1" dirty="0">
                <a:solidFill>
                  <a:schemeClr val="accent4">
                    <a:lumMod val="50000"/>
                  </a:schemeClr>
                </a:solidFill>
              </a:rPr>
            </a:br>
            <a:r>
              <a:rPr lang="en-US" sz="1050" i="1" dirty="0">
                <a:solidFill>
                  <a:schemeClr val="accent4">
                    <a:lumMod val="50000"/>
                  </a:schemeClr>
                </a:solidFill>
              </a:rPr>
              <a:t>with EHRs to support evidence-</a:t>
            </a:r>
            <a:br>
              <a:rPr lang="en-US" sz="1050" i="1" dirty="0">
                <a:solidFill>
                  <a:schemeClr val="accent4">
                    <a:lumMod val="50000"/>
                  </a:schemeClr>
                </a:solidFill>
              </a:rPr>
            </a:br>
            <a:r>
              <a:rPr lang="en-US" sz="1050" i="1" dirty="0">
                <a:solidFill>
                  <a:schemeClr val="accent4">
                    <a:lumMod val="50000"/>
                  </a:schemeClr>
                </a:solidFill>
              </a:rPr>
              <a:t>based treatment decisions</a:t>
            </a:r>
          </a:p>
        </p:txBody>
      </p:sp>
      <p:sp>
        <p:nvSpPr>
          <p:cNvPr id="511" name="Text Box 192">
            <a:extLst>
              <a:ext uri="{FF2B5EF4-FFF2-40B4-BE49-F238E27FC236}">
                <a16:creationId xmlns:a16="http://schemas.microsoft.com/office/drawing/2014/main" id="{68423106-4E80-5038-D41A-65994D9FF6BA}"/>
              </a:ext>
            </a:extLst>
          </p:cNvPr>
          <p:cNvSpPr txBox="1">
            <a:spLocks noChangeArrowheads="1"/>
          </p:cNvSpPr>
          <p:nvPr/>
        </p:nvSpPr>
        <p:spPr bwMode="auto">
          <a:xfrm>
            <a:off x="4512300" y="3382133"/>
            <a:ext cx="3178197" cy="600164"/>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100" i="1" dirty="0">
                <a:solidFill>
                  <a:schemeClr val="accent2">
                    <a:lumMod val="75000"/>
                  </a:schemeClr>
                </a:solidFill>
              </a:rPr>
              <a:t>Sarah receives educational resources, tools, personalized tips for diabetes management, and reminders helping her stay on track</a:t>
            </a:r>
            <a:endParaRPr lang="en-US" sz="1100" b="1" i="1" dirty="0">
              <a:solidFill>
                <a:schemeClr val="accent2">
                  <a:lumMod val="75000"/>
                </a:schemeClr>
              </a:solidFill>
            </a:endParaRPr>
          </a:p>
        </p:txBody>
      </p:sp>
      <p:sp>
        <p:nvSpPr>
          <p:cNvPr id="512" name="Text Box 15">
            <a:extLst>
              <a:ext uri="{FF2B5EF4-FFF2-40B4-BE49-F238E27FC236}">
                <a16:creationId xmlns:a16="http://schemas.microsoft.com/office/drawing/2014/main" id="{CA2BDC2D-5737-0E7C-F304-E95C1726239E}"/>
              </a:ext>
            </a:extLst>
          </p:cNvPr>
          <p:cNvSpPr txBox="1">
            <a:spLocks noChangeArrowheads="1"/>
          </p:cNvSpPr>
          <p:nvPr/>
        </p:nvSpPr>
        <p:spPr bwMode="auto">
          <a:xfrm>
            <a:off x="6083009" y="4352940"/>
            <a:ext cx="2580893" cy="415498"/>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dirty="0">
                <a:solidFill>
                  <a:schemeClr val="accent4">
                    <a:lumMod val="50000"/>
                  </a:schemeClr>
                </a:solidFill>
              </a:rPr>
              <a:t>Payer delivers AI driven personalized coaching for diabetes management</a:t>
            </a:r>
          </a:p>
        </p:txBody>
      </p:sp>
      <p:sp>
        <p:nvSpPr>
          <p:cNvPr id="528" name="Text Box 192">
            <a:extLst>
              <a:ext uri="{FF2B5EF4-FFF2-40B4-BE49-F238E27FC236}">
                <a16:creationId xmlns:a16="http://schemas.microsoft.com/office/drawing/2014/main" id="{8B292B29-DE53-1D90-436D-36B18EE4ABC3}"/>
              </a:ext>
            </a:extLst>
          </p:cNvPr>
          <p:cNvSpPr txBox="1">
            <a:spLocks noChangeArrowheads="1"/>
          </p:cNvSpPr>
          <p:nvPr/>
        </p:nvSpPr>
        <p:spPr bwMode="auto">
          <a:xfrm>
            <a:off x="3175015" y="4878281"/>
            <a:ext cx="2048059" cy="769441"/>
          </a:xfrm>
          <a:prstGeom prst="rect">
            <a:avLst/>
          </a:prstGeom>
          <a:noFill/>
          <a:ln w="12700">
            <a:noFill/>
            <a:miter lim="800000"/>
            <a:headEnd/>
            <a:tailEnd/>
          </a:ln>
        </p:spPr>
        <p:txBody>
          <a:bodyPr wrap="square">
            <a:spAutoFit/>
          </a:bodyPr>
          <a:lstStyle>
            <a:defPPr>
              <a:defRPr lang="fr-FR"/>
            </a:defPPr>
            <a:lvl1pPr algn="ctr" fontAlgn="base">
              <a:spcBef>
                <a:spcPct val="20000"/>
              </a:spcBef>
              <a:spcAft>
                <a:spcPct val="0"/>
              </a:spcAft>
              <a:defRPr sz="1100" i="1">
                <a:solidFill>
                  <a:schemeClr val="accent6">
                    <a:lumMod val="75000"/>
                  </a:schemeClr>
                </a:solidFill>
              </a:defRPr>
            </a:lvl1pPr>
          </a:lstStyle>
          <a:p>
            <a:r>
              <a:rPr lang="en-US" dirty="0">
                <a:solidFill>
                  <a:schemeClr val="accent2">
                    <a:lumMod val="75000"/>
                  </a:schemeClr>
                </a:solidFill>
              </a:rPr>
              <a:t>Sarah uses AI-enabled devices to track blood sugar levels, physical activity, and health metrics</a:t>
            </a:r>
          </a:p>
        </p:txBody>
      </p:sp>
      <p:sp>
        <p:nvSpPr>
          <p:cNvPr id="529" name="Text Box 15">
            <a:extLst>
              <a:ext uri="{FF2B5EF4-FFF2-40B4-BE49-F238E27FC236}">
                <a16:creationId xmlns:a16="http://schemas.microsoft.com/office/drawing/2014/main" id="{2EB5F6F9-106D-503A-6816-37CC8D485DB4}"/>
              </a:ext>
            </a:extLst>
          </p:cNvPr>
          <p:cNvSpPr txBox="1">
            <a:spLocks noChangeArrowheads="1"/>
          </p:cNvSpPr>
          <p:nvPr/>
        </p:nvSpPr>
        <p:spPr bwMode="auto">
          <a:xfrm>
            <a:off x="3761259" y="6212114"/>
            <a:ext cx="2580893" cy="577081"/>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dirty="0">
                <a:solidFill>
                  <a:schemeClr val="accent4">
                    <a:lumMod val="50000"/>
                  </a:schemeClr>
                </a:solidFill>
              </a:rPr>
              <a:t>Payer’s algorithms monitor Sarah's progress and provide reminders for follow-up care</a:t>
            </a:r>
          </a:p>
        </p:txBody>
      </p:sp>
      <p:pic>
        <p:nvPicPr>
          <p:cNvPr id="553" name="Picture 552" descr="Business woman using phone">
            <a:extLst>
              <a:ext uri="{FF2B5EF4-FFF2-40B4-BE49-F238E27FC236}">
                <a16:creationId xmlns:a16="http://schemas.microsoft.com/office/drawing/2014/main" id="{C58DDD06-5043-C540-F94D-D974668F00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1752" y="1991930"/>
            <a:ext cx="281684" cy="1042614"/>
          </a:xfrm>
          <a:prstGeom prst="rect">
            <a:avLst/>
          </a:prstGeom>
        </p:spPr>
      </p:pic>
      <p:pic>
        <p:nvPicPr>
          <p:cNvPr id="555" name="Picture 554" descr="Woman using notepad">
            <a:extLst>
              <a:ext uri="{FF2B5EF4-FFF2-40B4-BE49-F238E27FC236}">
                <a16:creationId xmlns:a16="http://schemas.microsoft.com/office/drawing/2014/main" id="{A38E85B8-A0CA-98AF-BB59-F21DAB655F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9160" y="2163770"/>
            <a:ext cx="229278" cy="734506"/>
          </a:xfrm>
          <a:prstGeom prst="rect">
            <a:avLst/>
          </a:prstGeom>
        </p:spPr>
      </p:pic>
      <p:pic>
        <p:nvPicPr>
          <p:cNvPr id="556" name="Picture 555" descr="Business woman using phone">
            <a:extLst>
              <a:ext uri="{FF2B5EF4-FFF2-40B4-BE49-F238E27FC236}">
                <a16:creationId xmlns:a16="http://schemas.microsoft.com/office/drawing/2014/main" id="{F445EA14-A3E2-D9DF-7D57-4059E2E9A8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190" y="2059329"/>
            <a:ext cx="210477" cy="779052"/>
          </a:xfrm>
          <a:prstGeom prst="rect">
            <a:avLst/>
          </a:prstGeom>
        </p:spPr>
      </p:pic>
      <p:pic>
        <p:nvPicPr>
          <p:cNvPr id="557" name="Picture 556" descr="Business woman using phone">
            <a:extLst>
              <a:ext uri="{FF2B5EF4-FFF2-40B4-BE49-F238E27FC236}">
                <a16:creationId xmlns:a16="http://schemas.microsoft.com/office/drawing/2014/main" id="{0BCE6131-576F-49DC-502B-87A15F712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3902" y="2153640"/>
            <a:ext cx="210477" cy="779052"/>
          </a:xfrm>
          <a:prstGeom prst="rect">
            <a:avLst/>
          </a:prstGeom>
        </p:spPr>
      </p:pic>
      <p:pic>
        <p:nvPicPr>
          <p:cNvPr id="558" name="Picture 557" descr="Business woman using phone">
            <a:extLst>
              <a:ext uri="{FF2B5EF4-FFF2-40B4-BE49-F238E27FC236}">
                <a16:creationId xmlns:a16="http://schemas.microsoft.com/office/drawing/2014/main" id="{69DD5306-4376-8155-7F65-6A191A3D32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440" y="3963414"/>
            <a:ext cx="210477" cy="779052"/>
          </a:xfrm>
          <a:prstGeom prst="rect">
            <a:avLst/>
          </a:prstGeom>
        </p:spPr>
      </p:pic>
      <p:pic>
        <p:nvPicPr>
          <p:cNvPr id="559" name="Picture 558" descr="Business woman using phone">
            <a:extLst>
              <a:ext uri="{FF2B5EF4-FFF2-40B4-BE49-F238E27FC236}">
                <a16:creationId xmlns:a16="http://schemas.microsoft.com/office/drawing/2014/main" id="{7A531841-4F2C-7890-3525-BFEEE7B424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6468" y="5444212"/>
            <a:ext cx="210477" cy="779052"/>
          </a:xfrm>
          <a:prstGeom prst="rect">
            <a:avLst/>
          </a:prstGeom>
        </p:spPr>
      </p:pic>
      <p:grpSp>
        <p:nvGrpSpPr>
          <p:cNvPr id="9" name="Group 8">
            <a:extLst>
              <a:ext uri="{FF2B5EF4-FFF2-40B4-BE49-F238E27FC236}">
                <a16:creationId xmlns:a16="http://schemas.microsoft.com/office/drawing/2014/main" id="{1F2EEBA2-5BB8-970F-AC8B-8C703815FAB9}"/>
              </a:ext>
            </a:extLst>
          </p:cNvPr>
          <p:cNvGrpSpPr/>
          <p:nvPr/>
        </p:nvGrpSpPr>
        <p:grpSpPr>
          <a:xfrm>
            <a:off x="281033" y="6167943"/>
            <a:ext cx="2396490" cy="561022"/>
            <a:chOff x="9829443" y="6213372"/>
            <a:chExt cx="2362557" cy="561022"/>
          </a:xfrm>
        </p:grpSpPr>
        <p:sp>
          <p:nvSpPr>
            <p:cNvPr id="4" name="TextBox 3">
              <a:extLst>
                <a:ext uri="{FF2B5EF4-FFF2-40B4-BE49-F238E27FC236}">
                  <a16:creationId xmlns:a16="http://schemas.microsoft.com/office/drawing/2014/main" id="{90EC872A-6D16-D41B-20CC-A42C3486B5AB}"/>
                </a:ext>
              </a:extLst>
            </p:cNvPr>
            <p:cNvSpPr txBox="1"/>
            <p:nvPr/>
          </p:nvSpPr>
          <p:spPr>
            <a:xfrm>
              <a:off x="9829443" y="6252404"/>
              <a:ext cx="285750" cy="216000"/>
            </a:xfrm>
            <a:prstGeom prst="rect">
              <a:avLst/>
            </a:prstGeom>
            <a:solidFill>
              <a:schemeClr val="tx1"/>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BF325EB6-E948-2B4B-0FE5-F137A0D0129A}"/>
                </a:ext>
              </a:extLst>
            </p:cNvPr>
            <p:cNvSpPr txBox="1"/>
            <p:nvPr/>
          </p:nvSpPr>
          <p:spPr>
            <a:xfrm>
              <a:off x="10115193" y="6213372"/>
              <a:ext cx="2076807" cy="246221"/>
            </a:xfrm>
            <a:prstGeom prst="rect">
              <a:avLst/>
            </a:prstGeom>
            <a:noFill/>
          </p:spPr>
          <p:txBody>
            <a:bodyPr wrap="square" rtlCol="0">
              <a:spAutoFit/>
            </a:bodyPr>
            <a:lstStyle/>
            <a:p>
              <a:r>
                <a:rPr lang="en-IN" sz="1000" dirty="0"/>
                <a:t>Patient and Provider Touchpoints</a:t>
              </a:r>
            </a:p>
          </p:txBody>
        </p:sp>
        <p:sp>
          <p:nvSpPr>
            <p:cNvPr id="6" name="TextBox 5">
              <a:extLst>
                <a:ext uri="{FF2B5EF4-FFF2-40B4-BE49-F238E27FC236}">
                  <a16:creationId xmlns:a16="http://schemas.microsoft.com/office/drawing/2014/main" id="{B759A0FB-2B62-47CA-09AC-0C5316BC65E9}"/>
                </a:ext>
              </a:extLst>
            </p:cNvPr>
            <p:cNvSpPr txBox="1"/>
            <p:nvPr/>
          </p:nvSpPr>
          <p:spPr>
            <a:xfrm>
              <a:off x="9829799" y="6560339"/>
              <a:ext cx="285393" cy="214055"/>
            </a:xfrm>
            <a:prstGeom prst="rect">
              <a:avLst/>
            </a:prstGeom>
            <a:solidFill>
              <a:srgbClr val="C00000"/>
            </a:solidFill>
            <a:ln>
              <a:solidFill>
                <a:srgbClr val="C00000"/>
              </a:solidFill>
            </a:ln>
          </p:spPr>
          <p:txBody>
            <a:bodyPr wrap="square" rtlCol="0">
              <a:spAutoFit/>
            </a:bodyPr>
            <a:lstStyle/>
            <a:p>
              <a:endParaRPr lang="en-IN" dirty="0"/>
            </a:p>
          </p:txBody>
        </p:sp>
        <p:sp>
          <p:nvSpPr>
            <p:cNvPr id="7" name="TextBox 6">
              <a:extLst>
                <a:ext uri="{FF2B5EF4-FFF2-40B4-BE49-F238E27FC236}">
                  <a16:creationId xmlns:a16="http://schemas.microsoft.com/office/drawing/2014/main" id="{7E927127-8707-8D48-8CBF-7636618165E4}"/>
                </a:ext>
              </a:extLst>
            </p:cNvPr>
            <p:cNvSpPr txBox="1"/>
            <p:nvPr/>
          </p:nvSpPr>
          <p:spPr>
            <a:xfrm>
              <a:off x="10115193" y="6510552"/>
              <a:ext cx="1989177" cy="246221"/>
            </a:xfrm>
            <a:prstGeom prst="rect">
              <a:avLst/>
            </a:prstGeom>
            <a:noFill/>
          </p:spPr>
          <p:txBody>
            <a:bodyPr wrap="square" rtlCol="0">
              <a:spAutoFit/>
            </a:bodyPr>
            <a:lstStyle/>
            <a:p>
              <a:r>
                <a:rPr lang="en-IN" sz="1000" dirty="0"/>
                <a:t>Patient and Payer Touchpoints</a:t>
              </a:r>
            </a:p>
          </p:txBody>
        </p:sp>
      </p:grpSp>
    </p:spTree>
    <p:extLst>
      <p:ext uri="{BB962C8B-B14F-4D97-AF65-F5344CB8AC3E}">
        <p14:creationId xmlns:p14="http://schemas.microsoft.com/office/powerpoint/2010/main" val="1151929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015266" y="152957"/>
            <a:ext cx="10907486" cy="952469"/>
          </a:xfrm>
          <a:prstGeom prst="rect">
            <a:avLst/>
          </a:prstGeom>
          <a:noFill/>
        </p:spPr>
        <p:txBody>
          <a:bodyPr vert="horz" lIns="91440" tIns="45720" rIns="91440" bIns="45720" rtlCol="0" anchor="ctr">
            <a:normAutofit/>
          </a:bodyPr>
          <a:lstStyle>
            <a:defPPr>
              <a:defRPr lang="fr-FR"/>
            </a:defPPr>
            <a:lvl1pPr marR="0" lvl="0" indent="0" fontAlgn="auto">
              <a:lnSpc>
                <a:spcPct val="100000"/>
              </a:lnSpc>
              <a:spcBef>
                <a:spcPts val="0"/>
              </a:spcBef>
              <a:spcAft>
                <a:spcPts val="0"/>
              </a:spcAft>
              <a:buClrTx/>
              <a:buSzTx/>
              <a:buFontTx/>
              <a:buNone/>
              <a:tabLst/>
              <a:defRPr kumimoji="0" sz="2800" b="1" i="0" u="none" strike="noStrike" cap="none" spc="0" normalizeH="0" baseline="0">
                <a:ln>
                  <a:noFill/>
                </a:ln>
                <a:solidFill>
                  <a:srgbClr val="91B94C"/>
                </a:solidFill>
                <a:effectLst/>
                <a:uLnTx/>
                <a:uFillTx/>
                <a:latin typeface="Helvetica light"/>
              </a:defRPr>
            </a:lvl1pPr>
          </a:lstStyle>
          <a:p>
            <a:pPr defTabSz="914354">
              <a:defRPr/>
            </a:pPr>
            <a:r>
              <a:rPr lang="en-US" sz="2000" kern="1200" dirty="0">
                <a:solidFill>
                  <a:srgbClr val="FD5D3B"/>
                </a:solidFill>
                <a:latin typeface="Bebas Neue" panose="020B0606020202050201" pitchFamily="34" charset="0"/>
                <a:ea typeface="+mj-ea"/>
                <a:cs typeface="+mj-cs"/>
              </a:rPr>
              <a:t>Our AI Strategy – Considerations, Capabilities, Challenges</a:t>
            </a:r>
            <a:endParaRPr lang="en-IN" sz="2000" kern="1200" dirty="0">
              <a:solidFill>
                <a:srgbClr val="FD5D3B"/>
              </a:solidFill>
              <a:latin typeface="Bebas Neue" panose="020B0606020202050201" pitchFamily="34" charset="0"/>
              <a:ea typeface="+mj-ea"/>
              <a:cs typeface="+mj-cs"/>
            </a:endParaRPr>
          </a:p>
        </p:txBody>
      </p:sp>
      <p:sp>
        <p:nvSpPr>
          <p:cNvPr id="8" name="Rectangle 7">
            <a:extLst>
              <a:ext uri="{FF2B5EF4-FFF2-40B4-BE49-F238E27FC236}">
                <a16:creationId xmlns:a16="http://schemas.microsoft.com/office/drawing/2014/main" id="{3E4C97B3-6A84-3886-9BBE-0498C4AF7F14}"/>
              </a:ext>
            </a:extLst>
          </p:cNvPr>
          <p:cNvSpPr/>
          <p:nvPr/>
        </p:nvSpPr>
        <p:spPr>
          <a:xfrm>
            <a:off x="628650" y="2780498"/>
            <a:ext cx="1978747" cy="1773742"/>
          </a:xfrm>
          <a:prstGeom prst="rect">
            <a:avLst/>
          </a:prstGeom>
          <a:ln>
            <a:noFill/>
          </a:ln>
        </p:spPr>
        <p:style>
          <a:lnRef idx="2">
            <a:schemeClr val="accent2"/>
          </a:lnRef>
          <a:fillRef idx="1">
            <a:schemeClr val="lt1"/>
          </a:fillRef>
          <a:effectRef idx="0">
            <a:schemeClr val="accent2"/>
          </a:effectRef>
          <a:fontRef idx="minor">
            <a:schemeClr val="dk1"/>
          </a:fontRef>
        </p:style>
        <p:txBody>
          <a:bodyPr spcFirstLastPara="0" vert="horz" wrap="square" lIns="424620" tIns="424638" rIns="424620" bIns="424638" numCol="1" spcCol="1270" anchor="ctr" anchorCtr="0">
            <a:noAutofit/>
          </a:bodyPr>
          <a:lstStyle/>
          <a:p>
            <a:pPr marL="0" lvl="0" indent="0" algn="ctr" defTabSz="1644650">
              <a:lnSpc>
                <a:spcPct val="90000"/>
              </a:lnSpc>
              <a:spcBef>
                <a:spcPct val="0"/>
              </a:spcBef>
              <a:spcAft>
                <a:spcPct val="35000"/>
              </a:spcAft>
              <a:buNone/>
            </a:pPr>
            <a:r>
              <a:rPr lang="en-IN" sz="2000" b="1" kern="1200" dirty="0"/>
              <a:t>AI Strategy</a:t>
            </a:r>
          </a:p>
        </p:txBody>
      </p:sp>
      <p:sp>
        <p:nvSpPr>
          <p:cNvPr id="9" name="Block Arc 8">
            <a:extLst>
              <a:ext uri="{FF2B5EF4-FFF2-40B4-BE49-F238E27FC236}">
                <a16:creationId xmlns:a16="http://schemas.microsoft.com/office/drawing/2014/main" id="{D5EB17B3-3E3A-3BFB-9730-FD11FD16855D}"/>
              </a:ext>
            </a:extLst>
          </p:cNvPr>
          <p:cNvSpPr/>
          <p:nvPr/>
        </p:nvSpPr>
        <p:spPr>
          <a:xfrm>
            <a:off x="-2271891" y="1002070"/>
            <a:ext cx="5198064" cy="5418667"/>
          </a:xfrm>
          <a:prstGeom prst="blockArc">
            <a:avLst>
              <a:gd name="adj1" fmla="val 17527788"/>
              <a:gd name="adj2" fmla="val 4119114"/>
              <a:gd name="adj3" fmla="val 5750"/>
            </a:avLst>
          </a:prstGeom>
          <a:solidFill>
            <a:schemeClr val="accent6">
              <a:lumMod val="60000"/>
              <a:lumOff val="40000"/>
            </a:schemeClr>
          </a:solidFill>
          <a:ln>
            <a:noFill/>
          </a:ln>
        </p:spPr>
        <p:style>
          <a:lnRef idx="2">
            <a:schemeClr val="accent2">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13" name="Freeform: Shape 12">
            <a:extLst>
              <a:ext uri="{FF2B5EF4-FFF2-40B4-BE49-F238E27FC236}">
                <a16:creationId xmlns:a16="http://schemas.microsoft.com/office/drawing/2014/main" id="{C75D8399-1BE8-D917-7EEB-7A174C536E12}"/>
              </a:ext>
            </a:extLst>
          </p:cNvPr>
          <p:cNvSpPr/>
          <p:nvPr/>
        </p:nvSpPr>
        <p:spPr>
          <a:xfrm>
            <a:off x="4765598" y="3010991"/>
            <a:ext cx="1849022" cy="1337327"/>
          </a:xfrm>
          <a:custGeom>
            <a:avLst/>
            <a:gdLst>
              <a:gd name="connsiteX0" fmla="*/ 0 w 1849022"/>
              <a:gd name="connsiteY0" fmla="*/ 0 h 1337327"/>
              <a:gd name="connsiteX1" fmla="*/ 1849022 w 1849022"/>
              <a:gd name="connsiteY1" fmla="*/ 0 h 1337327"/>
              <a:gd name="connsiteX2" fmla="*/ 1849022 w 1849022"/>
              <a:gd name="connsiteY2" fmla="*/ 1337327 h 1337327"/>
              <a:gd name="connsiteX3" fmla="*/ 0 w 1849022"/>
              <a:gd name="connsiteY3" fmla="*/ 1337327 h 1337327"/>
              <a:gd name="connsiteX4" fmla="*/ 0 w 1849022"/>
              <a:gd name="connsiteY4" fmla="*/ 0 h 133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9022" h="1337327">
                <a:moveTo>
                  <a:pt x="0" y="0"/>
                </a:moveTo>
                <a:lnTo>
                  <a:pt x="1849022" y="0"/>
                </a:lnTo>
                <a:lnTo>
                  <a:pt x="1849022" y="1337327"/>
                </a:lnTo>
                <a:lnTo>
                  <a:pt x="0" y="133732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160" tIns="10160" rIns="10160" bIns="10160" numCol="1" spcCol="1270" anchor="ctr" anchorCtr="0">
            <a:noAutofit/>
          </a:bodyPr>
          <a:lstStyle/>
          <a:p>
            <a:pPr marL="0" lvl="0" indent="0" algn="l" defTabSz="355600">
              <a:lnSpc>
                <a:spcPct val="90000"/>
              </a:lnSpc>
              <a:spcBef>
                <a:spcPct val="0"/>
              </a:spcBef>
              <a:spcAft>
                <a:spcPct val="10000"/>
              </a:spcAft>
              <a:buNone/>
            </a:pPr>
            <a:endParaRPr lang="en-IN" sz="800" kern="1200" dirty="0"/>
          </a:p>
        </p:txBody>
      </p:sp>
      <p:sp>
        <p:nvSpPr>
          <p:cNvPr id="15" name="Freeform: Shape 14">
            <a:extLst>
              <a:ext uri="{FF2B5EF4-FFF2-40B4-BE49-F238E27FC236}">
                <a16:creationId xmlns:a16="http://schemas.microsoft.com/office/drawing/2014/main" id="{C5CE699F-E078-024A-0B47-9A7B0902F15E}"/>
              </a:ext>
            </a:extLst>
          </p:cNvPr>
          <p:cNvSpPr/>
          <p:nvPr/>
        </p:nvSpPr>
        <p:spPr>
          <a:xfrm>
            <a:off x="4223989" y="4613832"/>
            <a:ext cx="1849022" cy="1337327"/>
          </a:xfrm>
          <a:custGeom>
            <a:avLst/>
            <a:gdLst>
              <a:gd name="connsiteX0" fmla="*/ 0 w 1849022"/>
              <a:gd name="connsiteY0" fmla="*/ 0 h 1337327"/>
              <a:gd name="connsiteX1" fmla="*/ 1849022 w 1849022"/>
              <a:gd name="connsiteY1" fmla="*/ 0 h 1337327"/>
              <a:gd name="connsiteX2" fmla="*/ 1849022 w 1849022"/>
              <a:gd name="connsiteY2" fmla="*/ 1337327 h 1337327"/>
              <a:gd name="connsiteX3" fmla="*/ 0 w 1849022"/>
              <a:gd name="connsiteY3" fmla="*/ 1337327 h 1337327"/>
              <a:gd name="connsiteX4" fmla="*/ 0 w 1849022"/>
              <a:gd name="connsiteY4" fmla="*/ 0 h 133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9022" h="1337327">
                <a:moveTo>
                  <a:pt x="0" y="0"/>
                </a:moveTo>
                <a:lnTo>
                  <a:pt x="1849022" y="0"/>
                </a:lnTo>
                <a:lnTo>
                  <a:pt x="1849022" y="1337327"/>
                </a:lnTo>
                <a:lnTo>
                  <a:pt x="0" y="133732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160" tIns="10160" rIns="10160" bIns="10160" numCol="1" spcCol="1270" anchor="ctr" anchorCtr="0">
            <a:noAutofit/>
          </a:bodyPr>
          <a:lstStyle/>
          <a:p>
            <a:pPr marL="0" lvl="0" indent="0" algn="l" defTabSz="355600">
              <a:lnSpc>
                <a:spcPct val="90000"/>
              </a:lnSpc>
              <a:spcBef>
                <a:spcPct val="0"/>
              </a:spcBef>
              <a:spcAft>
                <a:spcPct val="10000"/>
              </a:spcAft>
              <a:buNone/>
            </a:pPr>
            <a:endParaRPr lang="en-IN" sz="800" kern="1200" dirty="0"/>
          </a:p>
        </p:txBody>
      </p:sp>
      <p:sp>
        <p:nvSpPr>
          <p:cNvPr id="16" name="TextBox 15">
            <a:extLst>
              <a:ext uri="{FF2B5EF4-FFF2-40B4-BE49-F238E27FC236}">
                <a16:creationId xmlns:a16="http://schemas.microsoft.com/office/drawing/2014/main" id="{E645C5E6-1E3E-2A53-A136-C9002315725F}"/>
              </a:ext>
            </a:extLst>
          </p:cNvPr>
          <p:cNvSpPr txBox="1"/>
          <p:nvPr/>
        </p:nvSpPr>
        <p:spPr>
          <a:xfrm>
            <a:off x="3829051" y="870430"/>
            <a:ext cx="6663690" cy="1384995"/>
          </a:xfrm>
          <a:prstGeom prst="rect">
            <a:avLst/>
          </a:prstGeom>
          <a:noFill/>
        </p:spPr>
        <p:txBody>
          <a:bodyPr wrap="square" rtlCol="0">
            <a:spAutoFit/>
          </a:bodyPr>
          <a:lstStyle/>
          <a:p>
            <a:pPr algn="l"/>
            <a:r>
              <a:rPr lang="en-US" b="1" i="0" u="sng" dirty="0">
                <a:solidFill>
                  <a:schemeClr val="accent5">
                    <a:lumMod val="25000"/>
                  </a:schemeClr>
                </a:solidFill>
                <a:effectLst/>
                <a:latin typeface="Söhne"/>
              </a:rPr>
              <a:t>Considerations</a:t>
            </a:r>
            <a:r>
              <a:rPr lang="en-US" b="0" i="0" dirty="0">
                <a:solidFill>
                  <a:schemeClr val="accent5">
                    <a:lumMod val="25000"/>
                  </a:schemeClr>
                </a:solidFill>
                <a:effectLst/>
                <a:latin typeface="Söhne"/>
              </a:rPr>
              <a:t> </a:t>
            </a:r>
          </a:p>
          <a:p>
            <a:pPr algn="l"/>
            <a:endParaRPr lang="en-US" b="0" i="0" dirty="0">
              <a:solidFill>
                <a:schemeClr val="accent5">
                  <a:lumMod val="25000"/>
                </a:schemeClr>
              </a:solidFill>
              <a:effectLst/>
              <a:latin typeface="Söhne"/>
            </a:endParaRPr>
          </a:p>
          <a:p>
            <a:pPr algn="l">
              <a:buFont typeface="+mj-lt"/>
              <a:buAutoNum type="arabicPeriod"/>
            </a:pPr>
            <a:r>
              <a:rPr lang="en-US" b="0" i="0" dirty="0">
                <a:solidFill>
                  <a:schemeClr val="accent5">
                    <a:lumMod val="25000"/>
                  </a:schemeClr>
                </a:solidFill>
                <a:effectLst/>
                <a:latin typeface="Söhne"/>
              </a:rPr>
              <a:t> AI must create a </a:t>
            </a:r>
            <a:r>
              <a:rPr lang="en-US" b="1" i="0" dirty="0">
                <a:solidFill>
                  <a:schemeClr val="accent5">
                    <a:lumMod val="25000"/>
                  </a:schemeClr>
                </a:solidFill>
                <a:effectLst/>
                <a:latin typeface="Söhne"/>
              </a:rPr>
              <a:t>competitive advantage </a:t>
            </a:r>
            <a:r>
              <a:rPr lang="en-US" b="0" i="0" dirty="0">
                <a:solidFill>
                  <a:schemeClr val="accent5">
                    <a:lumMod val="25000"/>
                  </a:schemeClr>
                </a:solidFill>
                <a:effectLst/>
                <a:latin typeface="Söhne"/>
              </a:rPr>
              <a:t>for us</a:t>
            </a:r>
          </a:p>
          <a:p>
            <a:pPr algn="l">
              <a:buFont typeface="+mj-lt"/>
              <a:buAutoNum type="arabicPeriod"/>
            </a:pPr>
            <a:r>
              <a:rPr lang="en-US" b="0" i="0" dirty="0">
                <a:solidFill>
                  <a:schemeClr val="accent5">
                    <a:lumMod val="25000"/>
                  </a:schemeClr>
                </a:solidFill>
                <a:effectLst/>
                <a:latin typeface="Söhne"/>
              </a:rPr>
              <a:t> Invest in cutting-edge technologies </a:t>
            </a:r>
            <a:r>
              <a:rPr lang="en-US" b="1" dirty="0">
                <a:solidFill>
                  <a:schemeClr val="accent5">
                    <a:lumMod val="25000"/>
                  </a:schemeClr>
                </a:solidFill>
                <a:latin typeface="Söhne"/>
              </a:rPr>
              <a:t>aligned with business outcomes</a:t>
            </a:r>
          </a:p>
          <a:p>
            <a:pPr algn="l">
              <a:buFont typeface="+mj-lt"/>
              <a:buAutoNum type="arabicPeriod"/>
            </a:pPr>
            <a:r>
              <a:rPr lang="en-US" b="0" i="0" dirty="0">
                <a:solidFill>
                  <a:schemeClr val="accent5">
                    <a:lumMod val="25000"/>
                  </a:schemeClr>
                </a:solidFill>
                <a:effectLst/>
                <a:latin typeface="Söhne"/>
              </a:rPr>
              <a:t> AI is transformative, </a:t>
            </a:r>
            <a:r>
              <a:rPr lang="en-US" b="1" dirty="0">
                <a:solidFill>
                  <a:schemeClr val="accent5">
                    <a:lumMod val="25000"/>
                  </a:schemeClr>
                </a:solidFill>
                <a:latin typeface="Söhne"/>
              </a:rPr>
              <a:t>rewiring decision making and operations</a:t>
            </a:r>
          </a:p>
          <a:p>
            <a:pPr algn="l">
              <a:buFont typeface="+mj-lt"/>
              <a:buAutoNum type="arabicPeriod"/>
            </a:pPr>
            <a:r>
              <a:rPr lang="en-US" b="0" i="0" dirty="0">
                <a:solidFill>
                  <a:schemeClr val="accent5">
                    <a:lumMod val="25000"/>
                  </a:schemeClr>
                </a:solidFill>
                <a:effectLst/>
                <a:latin typeface="Söhne"/>
              </a:rPr>
              <a:t> Invest in </a:t>
            </a:r>
            <a:r>
              <a:rPr lang="en-US" b="1" dirty="0">
                <a:solidFill>
                  <a:schemeClr val="accent5">
                    <a:lumMod val="25000"/>
                  </a:schemeClr>
                </a:solidFill>
                <a:latin typeface="Söhne"/>
              </a:rPr>
              <a:t>human capabilities </a:t>
            </a:r>
            <a:r>
              <a:rPr lang="en-US" b="0" i="0" dirty="0">
                <a:solidFill>
                  <a:schemeClr val="accent5">
                    <a:lumMod val="25000"/>
                  </a:schemeClr>
                </a:solidFill>
                <a:effectLst/>
                <a:latin typeface="Söhne"/>
              </a:rPr>
              <a:t>to integrate AI and </a:t>
            </a:r>
            <a:r>
              <a:rPr lang="en-US" b="1" dirty="0">
                <a:solidFill>
                  <a:schemeClr val="accent5">
                    <a:lumMod val="25000"/>
                  </a:schemeClr>
                </a:solidFill>
                <a:latin typeface="Söhne"/>
              </a:rPr>
              <a:t>drive market behaviors</a:t>
            </a:r>
          </a:p>
        </p:txBody>
      </p:sp>
      <p:sp>
        <p:nvSpPr>
          <p:cNvPr id="17" name="TextBox 16">
            <a:extLst>
              <a:ext uri="{FF2B5EF4-FFF2-40B4-BE49-F238E27FC236}">
                <a16:creationId xmlns:a16="http://schemas.microsoft.com/office/drawing/2014/main" id="{FBDBB37D-7DEC-46C5-DFE0-32CCC6915E4A}"/>
              </a:ext>
            </a:extLst>
          </p:cNvPr>
          <p:cNvSpPr txBox="1"/>
          <p:nvPr/>
        </p:nvSpPr>
        <p:spPr>
          <a:xfrm>
            <a:off x="4653116" y="2880222"/>
            <a:ext cx="5839626" cy="1815882"/>
          </a:xfrm>
          <a:prstGeom prst="rect">
            <a:avLst/>
          </a:prstGeom>
          <a:noFill/>
        </p:spPr>
        <p:txBody>
          <a:bodyPr wrap="square" rtlCol="0">
            <a:spAutoFit/>
          </a:bodyPr>
          <a:lstStyle/>
          <a:p>
            <a:pPr algn="l"/>
            <a:r>
              <a:rPr lang="en-US" b="1" i="0" u="sng" dirty="0">
                <a:solidFill>
                  <a:schemeClr val="accent5">
                    <a:lumMod val="25000"/>
                  </a:schemeClr>
                </a:solidFill>
                <a:effectLst/>
                <a:latin typeface="Söhne"/>
              </a:rPr>
              <a:t>Capabilities</a:t>
            </a:r>
            <a:r>
              <a:rPr lang="en-US" b="0" i="0" dirty="0">
                <a:solidFill>
                  <a:schemeClr val="accent5">
                    <a:lumMod val="25000"/>
                  </a:schemeClr>
                </a:solidFill>
                <a:effectLst/>
                <a:latin typeface="Söhne"/>
              </a:rPr>
              <a:t> </a:t>
            </a:r>
          </a:p>
          <a:p>
            <a:pPr algn="l"/>
            <a:endParaRPr lang="en-US" b="0" i="0" dirty="0">
              <a:solidFill>
                <a:schemeClr val="accent5">
                  <a:lumMod val="25000"/>
                </a:schemeClr>
              </a:solidFill>
              <a:effectLst/>
              <a:latin typeface="Söhne"/>
            </a:endParaRPr>
          </a:p>
          <a:p>
            <a:pPr algn="l"/>
            <a:r>
              <a:rPr lang="en-US" b="0" i="0" dirty="0">
                <a:solidFill>
                  <a:schemeClr val="accent5">
                    <a:lumMod val="25000"/>
                  </a:schemeClr>
                </a:solidFill>
                <a:effectLst/>
                <a:latin typeface="Söhne"/>
              </a:rPr>
              <a:t>1. Business-focused </a:t>
            </a:r>
            <a:r>
              <a:rPr lang="en-US" b="1" dirty="0">
                <a:solidFill>
                  <a:schemeClr val="accent5">
                    <a:lumMod val="25000"/>
                  </a:schemeClr>
                </a:solidFill>
                <a:latin typeface="Söhne"/>
              </a:rPr>
              <a:t>AI product management</a:t>
            </a:r>
          </a:p>
          <a:p>
            <a:pPr algn="l"/>
            <a:r>
              <a:rPr lang="en-US" b="0" i="0" dirty="0">
                <a:solidFill>
                  <a:schemeClr val="accent5">
                    <a:lumMod val="25000"/>
                  </a:schemeClr>
                </a:solidFill>
                <a:effectLst/>
                <a:latin typeface="Söhne"/>
              </a:rPr>
              <a:t>2. </a:t>
            </a:r>
            <a:r>
              <a:rPr lang="en-US" b="1" dirty="0">
                <a:solidFill>
                  <a:schemeClr val="accent5">
                    <a:lumMod val="25000"/>
                  </a:schemeClr>
                </a:solidFill>
                <a:latin typeface="Söhne"/>
              </a:rPr>
              <a:t>Next-gen tech stack and partnership </a:t>
            </a:r>
            <a:r>
              <a:rPr lang="en-US" b="0" i="0" dirty="0">
                <a:solidFill>
                  <a:schemeClr val="accent5">
                    <a:lumMod val="25000"/>
                  </a:schemeClr>
                </a:solidFill>
                <a:effectLst/>
                <a:latin typeface="Söhne"/>
              </a:rPr>
              <a:t>ecosystem</a:t>
            </a:r>
          </a:p>
          <a:p>
            <a:pPr algn="l"/>
            <a:r>
              <a:rPr lang="en-US" b="0" i="0" dirty="0">
                <a:solidFill>
                  <a:schemeClr val="accent5">
                    <a:lumMod val="25000"/>
                  </a:schemeClr>
                </a:solidFill>
                <a:effectLst/>
                <a:latin typeface="Söhne"/>
              </a:rPr>
              <a:t>3. Investment in </a:t>
            </a:r>
            <a:r>
              <a:rPr lang="en-US" b="1" dirty="0">
                <a:solidFill>
                  <a:schemeClr val="accent5">
                    <a:lumMod val="25000"/>
                  </a:schemeClr>
                </a:solidFill>
                <a:latin typeface="Söhne"/>
              </a:rPr>
              <a:t>data and AI governance</a:t>
            </a:r>
          </a:p>
          <a:p>
            <a:pPr algn="l"/>
            <a:r>
              <a:rPr lang="en-US" b="0" i="0" dirty="0">
                <a:solidFill>
                  <a:schemeClr val="accent5">
                    <a:lumMod val="25000"/>
                  </a:schemeClr>
                </a:solidFill>
                <a:effectLst/>
                <a:latin typeface="Söhne"/>
              </a:rPr>
              <a:t>4. Redesigned </a:t>
            </a:r>
            <a:r>
              <a:rPr lang="en-US" b="1" dirty="0">
                <a:solidFill>
                  <a:schemeClr val="accent5">
                    <a:lumMod val="25000"/>
                  </a:schemeClr>
                </a:solidFill>
                <a:latin typeface="Söhne"/>
              </a:rPr>
              <a:t>learning and talent development </a:t>
            </a:r>
            <a:r>
              <a:rPr lang="en-US" b="0" i="0" dirty="0">
                <a:solidFill>
                  <a:schemeClr val="accent5">
                    <a:lumMod val="25000"/>
                  </a:schemeClr>
                </a:solidFill>
                <a:effectLst/>
                <a:latin typeface="Söhne"/>
              </a:rPr>
              <a:t>approach</a:t>
            </a:r>
          </a:p>
          <a:p>
            <a:pPr algn="l"/>
            <a:r>
              <a:rPr lang="en-US" dirty="0">
                <a:solidFill>
                  <a:schemeClr val="accent5">
                    <a:lumMod val="25000"/>
                  </a:schemeClr>
                </a:solidFill>
                <a:latin typeface="Söhne"/>
              </a:rPr>
              <a:t>5. Updated SOPs for </a:t>
            </a:r>
            <a:r>
              <a:rPr lang="en-US" b="1" dirty="0">
                <a:solidFill>
                  <a:schemeClr val="accent5">
                    <a:lumMod val="25000"/>
                  </a:schemeClr>
                </a:solidFill>
                <a:latin typeface="Söhne"/>
              </a:rPr>
              <a:t>responsible AI</a:t>
            </a:r>
            <a:r>
              <a:rPr lang="en-US" dirty="0">
                <a:solidFill>
                  <a:schemeClr val="accent5">
                    <a:lumMod val="25000"/>
                  </a:schemeClr>
                </a:solidFill>
                <a:latin typeface="Söhne"/>
              </a:rPr>
              <a:t> usage</a:t>
            </a:r>
          </a:p>
          <a:p>
            <a:pPr algn="l"/>
            <a:r>
              <a:rPr lang="en-US" b="0" i="0" dirty="0">
                <a:solidFill>
                  <a:schemeClr val="accent5">
                    <a:lumMod val="25000"/>
                  </a:schemeClr>
                </a:solidFill>
                <a:effectLst/>
                <a:latin typeface="Söhne"/>
              </a:rPr>
              <a:t>6. Evaluations to</a:t>
            </a:r>
            <a:r>
              <a:rPr lang="en-US" dirty="0">
                <a:solidFill>
                  <a:schemeClr val="accent5">
                    <a:lumMod val="25000"/>
                  </a:schemeClr>
                </a:solidFill>
                <a:latin typeface="Söhne"/>
              </a:rPr>
              <a:t> </a:t>
            </a:r>
            <a:r>
              <a:rPr lang="en-US" b="1" dirty="0">
                <a:solidFill>
                  <a:schemeClr val="accent5">
                    <a:lumMod val="25000"/>
                  </a:schemeClr>
                </a:solidFill>
                <a:latin typeface="Söhne"/>
              </a:rPr>
              <a:t>monitor impact</a:t>
            </a:r>
            <a:r>
              <a:rPr lang="en-US" dirty="0">
                <a:solidFill>
                  <a:schemeClr val="accent5">
                    <a:lumMod val="25000"/>
                  </a:schemeClr>
                </a:solidFill>
                <a:latin typeface="Söhne"/>
              </a:rPr>
              <a:t> of AI</a:t>
            </a:r>
            <a:endParaRPr lang="en-US" b="0" i="0" dirty="0">
              <a:solidFill>
                <a:schemeClr val="accent5">
                  <a:lumMod val="25000"/>
                </a:schemeClr>
              </a:solidFill>
              <a:effectLst/>
              <a:latin typeface="Söhne"/>
            </a:endParaRPr>
          </a:p>
        </p:txBody>
      </p:sp>
      <p:sp>
        <p:nvSpPr>
          <p:cNvPr id="18" name="TextBox 17">
            <a:extLst>
              <a:ext uri="{FF2B5EF4-FFF2-40B4-BE49-F238E27FC236}">
                <a16:creationId xmlns:a16="http://schemas.microsoft.com/office/drawing/2014/main" id="{2403C7E4-2F30-1BA9-70F7-BB417A1E7083}"/>
              </a:ext>
            </a:extLst>
          </p:cNvPr>
          <p:cNvSpPr txBox="1"/>
          <p:nvPr/>
        </p:nvSpPr>
        <p:spPr>
          <a:xfrm>
            <a:off x="3929686" y="5256928"/>
            <a:ext cx="6563056" cy="1169551"/>
          </a:xfrm>
          <a:prstGeom prst="rect">
            <a:avLst/>
          </a:prstGeom>
          <a:noFill/>
        </p:spPr>
        <p:txBody>
          <a:bodyPr wrap="square" rtlCol="0">
            <a:spAutoFit/>
          </a:bodyPr>
          <a:lstStyle/>
          <a:p>
            <a:pPr algn="l"/>
            <a:r>
              <a:rPr lang="en-US" b="1" i="0" u="sng" dirty="0">
                <a:solidFill>
                  <a:schemeClr val="accent5">
                    <a:lumMod val="25000"/>
                  </a:schemeClr>
                </a:solidFill>
                <a:effectLst/>
                <a:latin typeface="Söhne"/>
              </a:rPr>
              <a:t>Challenges</a:t>
            </a:r>
            <a:r>
              <a:rPr lang="en-US" b="0" i="0" dirty="0">
                <a:solidFill>
                  <a:schemeClr val="accent5">
                    <a:lumMod val="25000"/>
                  </a:schemeClr>
                </a:solidFill>
                <a:effectLst/>
                <a:latin typeface="Söhne"/>
              </a:rPr>
              <a:t> </a:t>
            </a:r>
          </a:p>
          <a:p>
            <a:pPr algn="l"/>
            <a:endParaRPr lang="en-US" b="0" i="0" dirty="0">
              <a:solidFill>
                <a:schemeClr val="accent5">
                  <a:lumMod val="25000"/>
                </a:schemeClr>
              </a:solidFill>
              <a:effectLst/>
              <a:latin typeface="Söhne"/>
            </a:endParaRPr>
          </a:p>
          <a:p>
            <a:pPr algn="l">
              <a:buClr>
                <a:schemeClr val="accent6">
                  <a:lumMod val="75000"/>
                </a:schemeClr>
              </a:buClr>
              <a:buFont typeface="+mj-lt"/>
              <a:buAutoNum type="arabicPeriod"/>
            </a:pPr>
            <a:r>
              <a:rPr lang="en-US" b="1" dirty="0">
                <a:solidFill>
                  <a:schemeClr val="accent5">
                    <a:lumMod val="25000"/>
                  </a:schemeClr>
                </a:solidFill>
                <a:latin typeface="Söhne"/>
              </a:rPr>
              <a:t> Leadership alignment and incentives </a:t>
            </a:r>
            <a:r>
              <a:rPr lang="en-US" b="0" i="0" dirty="0">
                <a:solidFill>
                  <a:schemeClr val="accent5">
                    <a:lumMod val="25000"/>
                  </a:schemeClr>
                </a:solidFill>
                <a:effectLst/>
                <a:latin typeface="Söhne"/>
              </a:rPr>
              <a:t>for strategy execution.</a:t>
            </a:r>
          </a:p>
          <a:p>
            <a:pPr algn="l">
              <a:buClr>
                <a:schemeClr val="accent6">
                  <a:lumMod val="75000"/>
                </a:schemeClr>
              </a:buClr>
              <a:buFont typeface="+mj-lt"/>
              <a:buAutoNum type="arabicPeriod"/>
            </a:pPr>
            <a:r>
              <a:rPr lang="en-US" b="1" dirty="0">
                <a:solidFill>
                  <a:schemeClr val="accent5">
                    <a:lumMod val="25000"/>
                  </a:schemeClr>
                </a:solidFill>
                <a:latin typeface="Söhne"/>
              </a:rPr>
              <a:t> Balancing speed </a:t>
            </a:r>
            <a:r>
              <a:rPr lang="en-US" b="0" i="0" dirty="0">
                <a:solidFill>
                  <a:schemeClr val="accent5">
                    <a:lumMod val="25000"/>
                  </a:schemeClr>
                </a:solidFill>
                <a:effectLst/>
                <a:latin typeface="Söhne"/>
              </a:rPr>
              <a:t>to value with perfection.</a:t>
            </a:r>
          </a:p>
          <a:p>
            <a:pPr algn="l">
              <a:buClr>
                <a:schemeClr val="accent6">
                  <a:lumMod val="75000"/>
                </a:schemeClr>
              </a:buClr>
              <a:buFont typeface="+mj-lt"/>
              <a:buAutoNum type="arabicPeriod"/>
            </a:pPr>
            <a:r>
              <a:rPr lang="en-US" b="1" dirty="0">
                <a:solidFill>
                  <a:schemeClr val="accent5">
                    <a:lumMod val="25000"/>
                  </a:schemeClr>
                </a:solidFill>
                <a:latin typeface="Söhne"/>
              </a:rPr>
              <a:t> Aligning skill development and resource allocation </a:t>
            </a:r>
            <a:r>
              <a:rPr lang="en-US" b="0" i="0" dirty="0">
                <a:solidFill>
                  <a:schemeClr val="accent5">
                    <a:lumMod val="25000"/>
                  </a:schemeClr>
                </a:solidFill>
                <a:effectLst/>
                <a:latin typeface="Söhne"/>
              </a:rPr>
              <a:t>with aspirations</a:t>
            </a:r>
          </a:p>
        </p:txBody>
      </p:sp>
      <p:sp>
        <p:nvSpPr>
          <p:cNvPr id="4" name="Oval 3">
            <a:extLst>
              <a:ext uri="{FF2B5EF4-FFF2-40B4-BE49-F238E27FC236}">
                <a16:creationId xmlns:a16="http://schemas.microsoft.com/office/drawing/2014/main" id="{CA5167B8-518B-9A1B-2DDC-54DF09B35D6E}"/>
              </a:ext>
            </a:extLst>
          </p:cNvPr>
          <p:cNvSpPr/>
          <p:nvPr/>
        </p:nvSpPr>
        <p:spPr>
          <a:xfrm>
            <a:off x="2926173" y="3004239"/>
            <a:ext cx="1297816" cy="1238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Graphic 2" descr="Group brainstorm outline">
            <a:extLst>
              <a:ext uri="{FF2B5EF4-FFF2-40B4-BE49-F238E27FC236}">
                <a16:creationId xmlns:a16="http://schemas.microsoft.com/office/drawing/2014/main" id="{6009AA23-535F-686C-4545-FF135EA142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17881" y="3172443"/>
            <a:ext cx="914400" cy="914400"/>
          </a:xfrm>
          <a:prstGeom prst="rect">
            <a:avLst/>
          </a:prstGeom>
        </p:spPr>
      </p:pic>
      <p:sp>
        <p:nvSpPr>
          <p:cNvPr id="5" name="Oval 4">
            <a:extLst>
              <a:ext uri="{FF2B5EF4-FFF2-40B4-BE49-F238E27FC236}">
                <a16:creationId xmlns:a16="http://schemas.microsoft.com/office/drawing/2014/main" id="{159EC237-BFAA-4952-34D2-94BE29EEBAFB}"/>
              </a:ext>
            </a:extLst>
          </p:cNvPr>
          <p:cNvSpPr/>
          <p:nvPr/>
        </p:nvSpPr>
        <p:spPr>
          <a:xfrm>
            <a:off x="2327083" y="4991183"/>
            <a:ext cx="1297816" cy="1238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Oval 5">
            <a:extLst>
              <a:ext uri="{FF2B5EF4-FFF2-40B4-BE49-F238E27FC236}">
                <a16:creationId xmlns:a16="http://schemas.microsoft.com/office/drawing/2014/main" id="{F1A938B6-DF1E-2AA5-8ED7-87A6C9420085}"/>
              </a:ext>
            </a:extLst>
          </p:cNvPr>
          <p:cNvSpPr/>
          <p:nvPr/>
        </p:nvSpPr>
        <p:spPr>
          <a:xfrm>
            <a:off x="2208685" y="1017296"/>
            <a:ext cx="1297816" cy="1238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0" name="Graphic 19" descr="Playbook outline">
            <a:extLst>
              <a:ext uri="{FF2B5EF4-FFF2-40B4-BE49-F238E27FC236}">
                <a16:creationId xmlns:a16="http://schemas.microsoft.com/office/drawing/2014/main" id="{16313F6B-5142-A1DC-92CF-4605DB1A5E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13529" y="5167710"/>
            <a:ext cx="914400" cy="914400"/>
          </a:xfrm>
          <a:prstGeom prst="rect">
            <a:avLst/>
          </a:prstGeom>
        </p:spPr>
      </p:pic>
      <p:pic>
        <p:nvPicPr>
          <p:cNvPr id="22" name="Graphic 21" descr="Checklist outline">
            <a:extLst>
              <a:ext uri="{FF2B5EF4-FFF2-40B4-BE49-F238E27FC236}">
                <a16:creationId xmlns:a16="http://schemas.microsoft.com/office/drawing/2014/main" id="{DDEEDD02-5316-987D-ECB3-88B80223BB5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18044" y="1190427"/>
            <a:ext cx="914400" cy="914400"/>
          </a:xfrm>
          <a:prstGeom prst="rect">
            <a:avLst/>
          </a:prstGeom>
        </p:spPr>
      </p:pic>
    </p:spTree>
    <p:extLst>
      <p:ext uri="{BB962C8B-B14F-4D97-AF65-F5344CB8AC3E}">
        <p14:creationId xmlns:p14="http://schemas.microsoft.com/office/powerpoint/2010/main" val="4196993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9CF32AD-3F51-A69F-4B8F-5CEBE2C897AD}"/>
              </a:ext>
            </a:extLst>
          </p:cNvPr>
          <p:cNvCxnSpPr>
            <a:cxnSpLocks/>
          </p:cNvCxnSpPr>
          <p:nvPr/>
        </p:nvCxnSpPr>
        <p:spPr>
          <a:xfrm flipV="1">
            <a:off x="1876134" y="2253957"/>
            <a:ext cx="2160000" cy="874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hlinkClick r:id="" action="ppaction://noaction"/>
            <a:extLst>
              <a:ext uri="{FF2B5EF4-FFF2-40B4-BE49-F238E27FC236}">
                <a16:creationId xmlns:a16="http://schemas.microsoft.com/office/drawing/2014/main" id="{3AA5BD71-F1BF-F0C2-22C1-EBD434AD769D}"/>
              </a:ext>
            </a:extLst>
          </p:cNvPr>
          <p:cNvSpPr/>
          <p:nvPr/>
        </p:nvSpPr>
        <p:spPr bwMode="auto">
          <a:xfrm>
            <a:off x="7410222" y="1411103"/>
            <a:ext cx="2314800" cy="374400"/>
          </a:xfrm>
          <a:prstGeom prst="rect">
            <a:avLst/>
          </a:prstGeom>
          <a:solidFill>
            <a:schemeClr val="tx1"/>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dirty="0">
                <a:solidFill>
                  <a:srgbClr val="FFFFFF"/>
                </a:solidFill>
              </a:rPr>
              <a:t>SCALE</a:t>
            </a:r>
          </a:p>
        </p:txBody>
      </p:sp>
      <p:sp>
        <p:nvSpPr>
          <p:cNvPr id="4" name="Rectangle 3">
            <a:hlinkClick r:id="" action="ppaction://noaction"/>
            <a:extLst>
              <a:ext uri="{FF2B5EF4-FFF2-40B4-BE49-F238E27FC236}">
                <a16:creationId xmlns:a16="http://schemas.microsoft.com/office/drawing/2014/main" id="{42021B8E-9FA6-D3AD-CE50-DB6CDC6CE25F}"/>
              </a:ext>
            </a:extLst>
          </p:cNvPr>
          <p:cNvSpPr/>
          <p:nvPr/>
        </p:nvSpPr>
        <p:spPr bwMode="auto">
          <a:xfrm>
            <a:off x="1770812" y="1399294"/>
            <a:ext cx="2313565" cy="373646"/>
          </a:xfrm>
          <a:prstGeom prst="rect">
            <a:avLst/>
          </a:prstGeom>
          <a:solidFill>
            <a:schemeClr val="tx1"/>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dirty="0">
                <a:solidFill>
                  <a:srgbClr val="FFFFFF"/>
                </a:solidFill>
              </a:rPr>
              <a:t>SMART</a:t>
            </a:r>
          </a:p>
        </p:txBody>
      </p:sp>
      <p:sp>
        <p:nvSpPr>
          <p:cNvPr id="8" name="Rectangle 7">
            <a:hlinkClick r:id="" action="ppaction://noaction"/>
            <a:extLst>
              <a:ext uri="{FF2B5EF4-FFF2-40B4-BE49-F238E27FC236}">
                <a16:creationId xmlns:a16="http://schemas.microsoft.com/office/drawing/2014/main" id="{6CB40A13-2C2D-BF92-3597-9F66C361470D}"/>
              </a:ext>
            </a:extLst>
          </p:cNvPr>
          <p:cNvSpPr/>
          <p:nvPr/>
        </p:nvSpPr>
        <p:spPr bwMode="auto">
          <a:xfrm>
            <a:off x="4409594" y="5050103"/>
            <a:ext cx="2314800" cy="374400"/>
          </a:xfrm>
          <a:prstGeom prst="rect">
            <a:avLst/>
          </a:prstGeom>
          <a:solidFill>
            <a:schemeClr val="tx1"/>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dirty="0">
                <a:solidFill>
                  <a:srgbClr val="FFFFFF"/>
                </a:solidFill>
              </a:rPr>
              <a:t>SAFE</a:t>
            </a:r>
          </a:p>
        </p:txBody>
      </p:sp>
      <p:sp>
        <p:nvSpPr>
          <p:cNvPr id="9" name="TextBox 8">
            <a:extLst>
              <a:ext uri="{FF2B5EF4-FFF2-40B4-BE49-F238E27FC236}">
                <a16:creationId xmlns:a16="http://schemas.microsoft.com/office/drawing/2014/main" id="{62FD9955-A001-1B3D-204D-4011308A3AAF}"/>
              </a:ext>
            </a:extLst>
          </p:cNvPr>
          <p:cNvSpPr txBox="1"/>
          <p:nvPr/>
        </p:nvSpPr>
        <p:spPr>
          <a:xfrm>
            <a:off x="869798" y="1950686"/>
            <a:ext cx="901014" cy="781752"/>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Data for </a:t>
            </a:r>
            <a:endParaRPr lang="en-US" dirty="0">
              <a:solidFill>
                <a:schemeClr val="accent6">
                  <a:lumMod val="50000"/>
                </a:schemeClr>
              </a:solidFill>
            </a:endParaRPr>
          </a:p>
          <a:p>
            <a:pPr algn="ctr">
              <a:spcBef>
                <a:spcPct val="20000"/>
              </a:spcBef>
              <a:spcAft>
                <a:spcPct val="0"/>
              </a:spcAft>
            </a:pPr>
            <a:r>
              <a:rPr lang="en-US" i="1" dirty="0">
                <a:solidFill>
                  <a:schemeClr val="accent6">
                    <a:lumMod val="50000"/>
                  </a:schemeClr>
                </a:solidFill>
              </a:rPr>
              <a:t>business analysis</a:t>
            </a:r>
            <a:endParaRPr lang="en-US" dirty="0">
              <a:solidFill>
                <a:schemeClr val="accent6">
                  <a:lumMod val="50000"/>
                </a:schemeClr>
              </a:solidFill>
            </a:endParaRPr>
          </a:p>
        </p:txBody>
      </p:sp>
      <p:sp>
        <p:nvSpPr>
          <p:cNvPr id="10" name="TextBox 9">
            <a:extLst>
              <a:ext uri="{FF2B5EF4-FFF2-40B4-BE49-F238E27FC236}">
                <a16:creationId xmlns:a16="http://schemas.microsoft.com/office/drawing/2014/main" id="{0320A0AA-4080-1782-93CC-AE082CCDAD52}"/>
              </a:ext>
            </a:extLst>
          </p:cNvPr>
          <p:cNvSpPr txBox="1"/>
          <p:nvPr/>
        </p:nvSpPr>
        <p:spPr>
          <a:xfrm>
            <a:off x="6068351" y="1904642"/>
            <a:ext cx="1336273" cy="738664"/>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Basic online self-study content</a:t>
            </a:r>
          </a:p>
        </p:txBody>
      </p:sp>
      <p:sp>
        <p:nvSpPr>
          <p:cNvPr id="12" name="TextBox 11">
            <a:extLst>
              <a:ext uri="{FF2B5EF4-FFF2-40B4-BE49-F238E27FC236}">
                <a16:creationId xmlns:a16="http://schemas.microsoft.com/office/drawing/2014/main" id="{46F87849-6DFB-371C-8F6F-3EB5251202CD}"/>
              </a:ext>
            </a:extLst>
          </p:cNvPr>
          <p:cNvSpPr txBox="1"/>
          <p:nvPr/>
        </p:nvSpPr>
        <p:spPr>
          <a:xfrm>
            <a:off x="1257388" y="2944387"/>
            <a:ext cx="781919" cy="781752"/>
          </a:xfrm>
          <a:prstGeom prst="rect">
            <a:avLst/>
          </a:prstGeom>
          <a:noFill/>
        </p:spPr>
        <p:txBody>
          <a:bodyPr wrap="square" lIns="0" tIns="45720" rIns="0" bIns="45720" rtlCol="0" anchor="t">
            <a:spAutoFit/>
          </a:bodyPr>
          <a:lstStyle/>
          <a:p>
            <a:pPr algn="r">
              <a:spcBef>
                <a:spcPct val="20000"/>
              </a:spcBef>
              <a:spcAft>
                <a:spcPct val="0"/>
              </a:spcAft>
            </a:pPr>
            <a:r>
              <a:rPr lang="en-US" i="1" dirty="0">
                <a:solidFill>
                  <a:schemeClr val="bg1"/>
                </a:solidFill>
              </a:rPr>
              <a:t>Human </a:t>
            </a:r>
          </a:p>
          <a:p>
            <a:pPr algn="r">
              <a:spcBef>
                <a:spcPct val="20000"/>
              </a:spcBef>
              <a:spcAft>
                <a:spcPct val="0"/>
              </a:spcAft>
            </a:pPr>
            <a:r>
              <a:rPr lang="en-US" i="1" dirty="0">
                <a:solidFill>
                  <a:schemeClr val="bg1"/>
                </a:solidFill>
              </a:rPr>
              <a:t>Judgement only </a:t>
            </a:r>
            <a:endParaRPr lang="en-US" dirty="0">
              <a:solidFill>
                <a:schemeClr val="bg1"/>
              </a:solidFill>
            </a:endParaRPr>
          </a:p>
        </p:txBody>
      </p:sp>
      <p:sp>
        <p:nvSpPr>
          <p:cNvPr id="16" name="TextBox 15">
            <a:extLst>
              <a:ext uri="{FF2B5EF4-FFF2-40B4-BE49-F238E27FC236}">
                <a16:creationId xmlns:a16="http://schemas.microsoft.com/office/drawing/2014/main" id="{1D3EEE40-D3C1-6E23-C79C-D8DDFDF851E9}"/>
              </a:ext>
            </a:extLst>
          </p:cNvPr>
          <p:cNvSpPr txBox="1"/>
          <p:nvPr/>
        </p:nvSpPr>
        <p:spPr>
          <a:xfrm>
            <a:off x="9725023" y="1900724"/>
            <a:ext cx="1475006" cy="738664"/>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Persona based learning paths and content</a:t>
            </a:r>
            <a:endParaRPr lang="en-US" dirty="0">
              <a:solidFill>
                <a:schemeClr val="accent6">
                  <a:lumMod val="50000"/>
                </a:schemeClr>
              </a:solidFill>
            </a:endParaRPr>
          </a:p>
        </p:txBody>
      </p:sp>
      <p:sp>
        <p:nvSpPr>
          <p:cNvPr id="18" name="TextBox 17">
            <a:extLst>
              <a:ext uri="{FF2B5EF4-FFF2-40B4-BE49-F238E27FC236}">
                <a16:creationId xmlns:a16="http://schemas.microsoft.com/office/drawing/2014/main" id="{5D1E8F27-1B2B-60F7-CF31-75E76A10107D}"/>
              </a:ext>
            </a:extLst>
          </p:cNvPr>
          <p:cNvSpPr txBox="1"/>
          <p:nvPr/>
        </p:nvSpPr>
        <p:spPr>
          <a:xfrm>
            <a:off x="4206505" y="2942666"/>
            <a:ext cx="1092871" cy="566309"/>
          </a:xfrm>
          <a:prstGeom prst="rect">
            <a:avLst/>
          </a:prstGeom>
          <a:noFill/>
        </p:spPr>
        <p:txBody>
          <a:bodyPr wrap="square" lIns="0" tIns="45720" rIns="0" bIns="45720" rtlCol="0" anchor="t">
            <a:spAutoFit/>
          </a:bodyPr>
          <a:lstStyle/>
          <a:p>
            <a:pPr>
              <a:spcBef>
                <a:spcPct val="20000"/>
              </a:spcBef>
              <a:spcAft>
                <a:spcPct val="0"/>
              </a:spcAft>
            </a:pPr>
            <a:r>
              <a:rPr lang="en-US" i="1" dirty="0">
                <a:solidFill>
                  <a:schemeClr val="accent6">
                    <a:lumMod val="50000"/>
                  </a:schemeClr>
                </a:solidFill>
              </a:rPr>
              <a:t>Autonomous </a:t>
            </a:r>
          </a:p>
          <a:p>
            <a:pPr>
              <a:spcBef>
                <a:spcPct val="20000"/>
              </a:spcBef>
              <a:spcAft>
                <a:spcPct val="0"/>
              </a:spcAft>
            </a:pPr>
            <a:r>
              <a:rPr lang="en-US" i="1" dirty="0">
                <a:solidFill>
                  <a:schemeClr val="accent6">
                    <a:lumMod val="50000"/>
                  </a:schemeClr>
                </a:solidFill>
              </a:rPr>
              <a:t>processes</a:t>
            </a:r>
            <a:endParaRPr lang="en-US" dirty="0">
              <a:solidFill>
                <a:schemeClr val="accent6">
                  <a:lumMod val="50000"/>
                </a:schemeClr>
              </a:solidFill>
            </a:endParaRPr>
          </a:p>
        </p:txBody>
      </p:sp>
      <p:sp>
        <p:nvSpPr>
          <p:cNvPr id="23" name="Isosceles Triangle 22">
            <a:extLst>
              <a:ext uri="{FF2B5EF4-FFF2-40B4-BE49-F238E27FC236}">
                <a16:creationId xmlns:a16="http://schemas.microsoft.com/office/drawing/2014/main" id="{A9F65A82-E6D4-2068-C823-213CFFBFB093}"/>
              </a:ext>
            </a:extLst>
          </p:cNvPr>
          <p:cNvSpPr/>
          <p:nvPr/>
        </p:nvSpPr>
        <p:spPr>
          <a:xfrm>
            <a:off x="2948761" y="2194871"/>
            <a:ext cx="201283" cy="20128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Isosceles Triangle 23">
            <a:extLst>
              <a:ext uri="{FF2B5EF4-FFF2-40B4-BE49-F238E27FC236}">
                <a16:creationId xmlns:a16="http://schemas.microsoft.com/office/drawing/2014/main" id="{17FAF153-C502-E619-FFA2-3B2EC9046A4D}"/>
              </a:ext>
            </a:extLst>
          </p:cNvPr>
          <p:cNvSpPr/>
          <p:nvPr/>
        </p:nvSpPr>
        <p:spPr>
          <a:xfrm>
            <a:off x="2835962" y="3237829"/>
            <a:ext cx="201283" cy="20128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Isosceles Triangle 24">
            <a:extLst>
              <a:ext uri="{FF2B5EF4-FFF2-40B4-BE49-F238E27FC236}">
                <a16:creationId xmlns:a16="http://schemas.microsoft.com/office/drawing/2014/main" id="{1980EF2C-13EF-3A1F-C6DA-D8894B75D645}"/>
              </a:ext>
            </a:extLst>
          </p:cNvPr>
          <p:cNvSpPr/>
          <p:nvPr/>
        </p:nvSpPr>
        <p:spPr>
          <a:xfrm>
            <a:off x="8240187" y="2183304"/>
            <a:ext cx="201283" cy="20128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 Placeholder 2">
            <a:extLst>
              <a:ext uri="{FF2B5EF4-FFF2-40B4-BE49-F238E27FC236}">
                <a16:creationId xmlns:a16="http://schemas.microsoft.com/office/drawing/2014/main" id="{02C22B07-B5A0-200C-D1BB-14C256BAD73E}"/>
              </a:ext>
            </a:extLst>
          </p:cNvPr>
          <p:cNvSpPr txBox="1">
            <a:spLocks/>
          </p:cNvSpPr>
          <p:nvPr/>
        </p:nvSpPr>
        <p:spPr>
          <a:xfrm>
            <a:off x="927070" y="196764"/>
            <a:ext cx="10681613" cy="1017108"/>
          </a:xfrm>
          <a:prstGeom prst="rect">
            <a:avLst/>
          </a:prstGeom>
          <a:noFill/>
        </p:spPr>
        <p:txBody>
          <a:bodyPr vert="horz" lIns="91440" tIns="45720" rIns="91440" bIns="45720" rtlCol="0" anchor="ctr">
            <a:normAutofit/>
          </a:bodyPr>
          <a:lstStyle>
            <a:defPPr>
              <a:defRPr lang="fr-FR"/>
            </a:defPPr>
            <a:lvl1pPr marR="0" lvl="0" indent="0" fontAlgn="auto">
              <a:lnSpc>
                <a:spcPct val="100000"/>
              </a:lnSpc>
              <a:spcBef>
                <a:spcPts val="0"/>
              </a:spcBef>
              <a:spcAft>
                <a:spcPts val="0"/>
              </a:spcAft>
              <a:buClrTx/>
              <a:buSzTx/>
              <a:buFontTx/>
              <a:buNone/>
              <a:tabLst/>
              <a:defRPr kumimoji="0" sz="2800" b="1" i="0" u="none" strike="noStrike" cap="none" spc="0" normalizeH="0" baseline="0">
                <a:ln>
                  <a:noFill/>
                </a:ln>
                <a:solidFill>
                  <a:srgbClr val="91B94C"/>
                </a:solidFill>
                <a:effectLst/>
                <a:uLnTx/>
                <a:uFillTx/>
                <a:latin typeface="Helvetica light"/>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354">
              <a:defRPr/>
            </a:pPr>
            <a:r>
              <a:rPr lang="en-US" sz="2000" kern="1200" dirty="0">
                <a:solidFill>
                  <a:srgbClr val="FD5D3B"/>
                </a:solidFill>
                <a:latin typeface="Bebas Neue" panose="020B0606020202050201" pitchFamily="34" charset="0"/>
                <a:ea typeface="+mj-ea"/>
                <a:cs typeface="+mj-cs"/>
              </a:rPr>
              <a:t>Our AI strategy must incorporate the 3 Big S - Smart, Scale, &amp; Safe to achieve long-term success</a:t>
            </a:r>
            <a:endParaRPr lang="en-IN" sz="2000" kern="1200" dirty="0">
              <a:solidFill>
                <a:srgbClr val="FD5D3B"/>
              </a:solidFill>
              <a:latin typeface="Bebas Neue" panose="020B0606020202050201" pitchFamily="34" charset="0"/>
              <a:ea typeface="+mj-ea"/>
              <a:cs typeface="+mj-cs"/>
            </a:endParaRPr>
          </a:p>
        </p:txBody>
      </p:sp>
      <p:grpSp>
        <p:nvGrpSpPr>
          <p:cNvPr id="62" name="Group 61">
            <a:extLst>
              <a:ext uri="{FF2B5EF4-FFF2-40B4-BE49-F238E27FC236}">
                <a16:creationId xmlns:a16="http://schemas.microsoft.com/office/drawing/2014/main" id="{2BDB65C3-BB4E-1D92-6CAB-912BA02383EE}"/>
              </a:ext>
            </a:extLst>
          </p:cNvPr>
          <p:cNvGrpSpPr/>
          <p:nvPr/>
        </p:nvGrpSpPr>
        <p:grpSpPr>
          <a:xfrm>
            <a:off x="823412" y="6539487"/>
            <a:ext cx="3597046" cy="261610"/>
            <a:chOff x="1293051" y="6523862"/>
            <a:chExt cx="3597046" cy="261610"/>
          </a:xfrm>
        </p:grpSpPr>
        <p:sp>
          <p:nvSpPr>
            <p:cNvPr id="5" name="Isosceles Triangle 4">
              <a:extLst>
                <a:ext uri="{FF2B5EF4-FFF2-40B4-BE49-F238E27FC236}">
                  <a16:creationId xmlns:a16="http://schemas.microsoft.com/office/drawing/2014/main" id="{86529C6E-2ABE-18DE-C8FC-39C70D8BE5D4}"/>
                </a:ext>
              </a:extLst>
            </p:cNvPr>
            <p:cNvSpPr/>
            <p:nvPr/>
          </p:nvSpPr>
          <p:spPr>
            <a:xfrm>
              <a:off x="1293051" y="6568950"/>
              <a:ext cx="264281" cy="197387"/>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7BB17FC4-A940-2E83-AD26-D6F18E5E1BCA}"/>
                </a:ext>
              </a:extLst>
            </p:cNvPr>
            <p:cNvSpPr txBox="1"/>
            <p:nvPr/>
          </p:nvSpPr>
          <p:spPr>
            <a:xfrm>
              <a:off x="1612053" y="6523862"/>
              <a:ext cx="3278044" cy="261610"/>
            </a:xfrm>
            <a:prstGeom prst="rect">
              <a:avLst/>
            </a:prstGeom>
            <a:noFill/>
          </p:spPr>
          <p:txBody>
            <a:bodyPr wrap="square" lIns="0" tIns="45720" rIns="0" bIns="45720" rtlCol="0" anchor="t">
              <a:spAutoFit/>
            </a:bodyPr>
            <a:lstStyle/>
            <a:p>
              <a:pPr>
                <a:spcBef>
                  <a:spcPct val="20000"/>
                </a:spcBef>
                <a:spcAft>
                  <a:spcPct val="0"/>
                </a:spcAft>
              </a:pPr>
              <a:r>
                <a:rPr lang="en-US" sz="1100" i="1" dirty="0">
                  <a:solidFill>
                    <a:schemeClr val="accent6">
                      <a:lumMod val="50000"/>
                    </a:schemeClr>
                  </a:solidFill>
                </a:rPr>
                <a:t>Shows where we want to be on the spectrum</a:t>
              </a:r>
            </a:p>
          </p:txBody>
        </p:sp>
      </p:grpSp>
      <p:sp>
        <p:nvSpPr>
          <p:cNvPr id="7" name="TextBox 6">
            <a:extLst>
              <a:ext uri="{FF2B5EF4-FFF2-40B4-BE49-F238E27FC236}">
                <a16:creationId xmlns:a16="http://schemas.microsoft.com/office/drawing/2014/main" id="{984077B2-4E0E-7EB6-9DE5-41F0192F256B}"/>
              </a:ext>
            </a:extLst>
          </p:cNvPr>
          <p:cNvSpPr txBox="1"/>
          <p:nvPr/>
        </p:nvSpPr>
        <p:spPr>
          <a:xfrm>
            <a:off x="903585" y="2944638"/>
            <a:ext cx="882000" cy="781752"/>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Human </a:t>
            </a:r>
          </a:p>
          <a:p>
            <a:pPr algn="ctr">
              <a:spcBef>
                <a:spcPct val="20000"/>
              </a:spcBef>
              <a:spcAft>
                <a:spcPct val="0"/>
              </a:spcAft>
            </a:pPr>
            <a:r>
              <a:rPr lang="en-US" i="1" dirty="0">
                <a:solidFill>
                  <a:schemeClr val="accent6">
                    <a:lumMod val="50000"/>
                  </a:schemeClr>
                </a:solidFill>
              </a:rPr>
              <a:t>Judgement only </a:t>
            </a:r>
            <a:endParaRPr lang="en-US" dirty="0">
              <a:solidFill>
                <a:schemeClr val="accent6">
                  <a:lumMod val="50000"/>
                </a:schemeClr>
              </a:solidFill>
            </a:endParaRPr>
          </a:p>
        </p:txBody>
      </p:sp>
      <p:sp>
        <p:nvSpPr>
          <p:cNvPr id="33" name="TextBox 32">
            <a:extLst>
              <a:ext uri="{FF2B5EF4-FFF2-40B4-BE49-F238E27FC236}">
                <a16:creationId xmlns:a16="http://schemas.microsoft.com/office/drawing/2014/main" id="{58A4D4C1-7C17-964D-2E16-3E2CB1BEE323}"/>
              </a:ext>
            </a:extLst>
          </p:cNvPr>
          <p:cNvSpPr txBox="1"/>
          <p:nvPr/>
        </p:nvSpPr>
        <p:spPr>
          <a:xfrm>
            <a:off x="4091211" y="1946581"/>
            <a:ext cx="1017550" cy="523220"/>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Intelligent workflows</a:t>
            </a:r>
          </a:p>
        </p:txBody>
      </p:sp>
      <p:cxnSp>
        <p:nvCxnSpPr>
          <p:cNvPr id="42" name="Straight Connector 41">
            <a:extLst>
              <a:ext uri="{FF2B5EF4-FFF2-40B4-BE49-F238E27FC236}">
                <a16:creationId xmlns:a16="http://schemas.microsoft.com/office/drawing/2014/main" id="{3BFC6F5E-569F-4EEB-83A2-A10DA3DA7036}"/>
              </a:ext>
            </a:extLst>
          </p:cNvPr>
          <p:cNvCxnSpPr>
            <a:cxnSpLocks/>
          </p:cNvCxnSpPr>
          <p:nvPr/>
        </p:nvCxnSpPr>
        <p:spPr>
          <a:xfrm flipV="1">
            <a:off x="1872165" y="3323402"/>
            <a:ext cx="2160000" cy="874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62CEA76-556A-C385-4D24-B2338AAAEB0A}"/>
              </a:ext>
            </a:extLst>
          </p:cNvPr>
          <p:cNvCxnSpPr>
            <a:cxnSpLocks/>
          </p:cNvCxnSpPr>
          <p:nvPr/>
        </p:nvCxnSpPr>
        <p:spPr>
          <a:xfrm flipV="1">
            <a:off x="7477383" y="2258327"/>
            <a:ext cx="2160000" cy="874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A14839B5-1499-1688-9008-719D94DD955D}"/>
              </a:ext>
            </a:extLst>
          </p:cNvPr>
          <p:cNvSpPr txBox="1"/>
          <p:nvPr/>
        </p:nvSpPr>
        <p:spPr>
          <a:xfrm>
            <a:off x="6183295" y="2946360"/>
            <a:ext cx="1221329" cy="523220"/>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Ad hoc vendors</a:t>
            </a:r>
          </a:p>
        </p:txBody>
      </p:sp>
      <p:sp>
        <p:nvSpPr>
          <p:cNvPr id="45" name="TextBox 44">
            <a:extLst>
              <a:ext uri="{FF2B5EF4-FFF2-40B4-BE49-F238E27FC236}">
                <a16:creationId xmlns:a16="http://schemas.microsoft.com/office/drawing/2014/main" id="{B0708528-1F4D-E38F-D4DE-F47B410385E4}"/>
              </a:ext>
            </a:extLst>
          </p:cNvPr>
          <p:cNvSpPr txBox="1"/>
          <p:nvPr/>
        </p:nvSpPr>
        <p:spPr>
          <a:xfrm>
            <a:off x="9768301" y="2942442"/>
            <a:ext cx="1431726" cy="738664"/>
          </a:xfrm>
          <a:prstGeom prst="rect">
            <a:avLst/>
          </a:prstGeom>
          <a:noFill/>
        </p:spPr>
        <p:txBody>
          <a:bodyPr wrap="square" lIns="0" tIns="45720" rIns="0" bIns="45720" rtlCol="0" anchor="t">
            <a:spAutoFit/>
          </a:bodyPr>
          <a:lstStyle/>
          <a:p>
            <a:pPr algn="ctr">
              <a:spcBef>
                <a:spcPct val="20000"/>
              </a:spcBef>
              <a:spcAft>
                <a:spcPct val="0"/>
              </a:spcAft>
            </a:pPr>
            <a:r>
              <a:rPr lang="en-US" dirty="0">
                <a:solidFill>
                  <a:schemeClr val="accent6">
                    <a:lumMod val="50000"/>
                  </a:schemeClr>
                </a:solidFill>
              </a:rPr>
              <a:t>Strategic partnership ecosystem</a:t>
            </a:r>
          </a:p>
        </p:txBody>
      </p:sp>
      <p:sp>
        <p:nvSpPr>
          <p:cNvPr id="46" name="Isosceles Triangle 45">
            <a:extLst>
              <a:ext uri="{FF2B5EF4-FFF2-40B4-BE49-F238E27FC236}">
                <a16:creationId xmlns:a16="http://schemas.microsoft.com/office/drawing/2014/main" id="{36468777-F782-B0BA-163C-B5B295D1B447}"/>
              </a:ext>
            </a:extLst>
          </p:cNvPr>
          <p:cNvSpPr/>
          <p:nvPr/>
        </p:nvSpPr>
        <p:spPr>
          <a:xfrm>
            <a:off x="8907306" y="3062521"/>
            <a:ext cx="201283" cy="20128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7" name="Straight Connector 46">
            <a:extLst>
              <a:ext uri="{FF2B5EF4-FFF2-40B4-BE49-F238E27FC236}">
                <a16:creationId xmlns:a16="http://schemas.microsoft.com/office/drawing/2014/main" id="{AE5DD1B0-FE54-19EB-307F-39403BCEC68E}"/>
              </a:ext>
            </a:extLst>
          </p:cNvPr>
          <p:cNvCxnSpPr>
            <a:cxnSpLocks/>
          </p:cNvCxnSpPr>
          <p:nvPr/>
        </p:nvCxnSpPr>
        <p:spPr>
          <a:xfrm flipV="1">
            <a:off x="7477382" y="3199309"/>
            <a:ext cx="2160000" cy="874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E346EE69-3100-22D0-379E-205983984F9D}"/>
              </a:ext>
            </a:extLst>
          </p:cNvPr>
          <p:cNvSpPr txBox="1"/>
          <p:nvPr/>
        </p:nvSpPr>
        <p:spPr>
          <a:xfrm>
            <a:off x="6183295" y="3733776"/>
            <a:ext cx="1260031" cy="1040285"/>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Reactive use</a:t>
            </a:r>
            <a:endParaRPr lang="en-US" dirty="0">
              <a:solidFill>
                <a:schemeClr val="accent6">
                  <a:lumMod val="50000"/>
                </a:schemeClr>
              </a:solidFill>
            </a:endParaRPr>
          </a:p>
          <a:p>
            <a:pPr algn="ctr">
              <a:spcBef>
                <a:spcPct val="20000"/>
              </a:spcBef>
              <a:spcAft>
                <a:spcPct val="0"/>
              </a:spcAft>
            </a:pPr>
            <a:r>
              <a:rPr lang="en-US" i="1" dirty="0">
                <a:solidFill>
                  <a:schemeClr val="accent6">
                    <a:lumMod val="50000"/>
                  </a:schemeClr>
                </a:solidFill>
              </a:rPr>
              <a:t>Case implementation</a:t>
            </a:r>
          </a:p>
          <a:p>
            <a:pPr algn="ctr">
              <a:spcBef>
                <a:spcPct val="20000"/>
              </a:spcBef>
              <a:spcAft>
                <a:spcPct val="0"/>
              </a:spcAft>
            </a:pPr>
            <a:endParaRPr lang="en-US" i="1" dirty="0">
              <a:solidFill>
                <a:schemeClr val="accent6">
                  <a:lumMod val="50000"/>
                </a:schemeClr>
              </a:solidFill>
            </a:endParaRPr>
          </a:p>
        </p:txBody>
      </p:sp>
      <p:sp>
        <p:nvSpPr>
          <p:cNvPr id="49" name="TextBox 48">
            <a:extLst>
              <a:ext uri="{FF2B5EF4-FFF2-40B4-BE49-F238E27FC236}">
                <a16:creationId xmlns:a16="http://schemas.microsoft.com/office/drawing/2014/main" id="{4EE69461-181C-6B2C-BE3B-19C89C2E9437}"/>
              </a:ext>
            </a:extLst>
          </p:cNvPr>
          <p:cNvSpPr txBox="1"/>
          <p:nvPr/>
        </p:nvSpPr>
        <p:spPr>
          <a:xfrm>
            <a:off x="9768301" y="3966831"/>
            <a:ext cx="1431726" cy="523220"/>
          </a:xfrm>
          <a:prstGeom prst="rect">
            <a:avLst/>
          </a:prstGeom>
          <a:noFill/>
        </p:spPr>
        <p:txBody>
          <a:bodyPr wrap="square" lIns="0" tIns="45720" rIns="0" bIns="45720" rtlCol="0" anchor="t">
            <a:spAutoFit/>
          </a:bodyPr>
          <a:lstStyle/>
          <a:p>
            <a:pPr algn="ctr">
              <a:spcBef>
                <a:spcPct val="20000"/>
              </a:spcBef>
              <a:spcAft>
                <a:spcPct val="0"/>
              </a:spcAft>
            </a:pPr>
            <a:r>
              <a:rPr lang="en-US" dirty="0">
                <a:solidFill>
                  <a:schemeClr val="accent6">
                    <a:lumMod val="50000"/>
                  </a:schemeClr>
                </a:solidFill>
              </a:rPr>
              <a:t>AI  product management</a:t>
            </a:r>
          </a:p>
        </p:txBody>
      </p:sp>
      <p:sp>
        <p:nvSpPr>
          <p:cNvPr id="50" name="Isosceles Triangle 49">
            <a:extLst>
              <a:ext uri="{FF2B5EF4-FFF2-40B4-BE49-F238E27FC236}">
                <a16:creationId xmlns:a16="http://schemas.microsoft.com/office/drawing/2014/main" id="{4560FF63-005D-C8F3-CB0C-8C97DD6242B9}"/>
              </a:ext>
            </a:extLst>
          </p:cNvPr>
          <p:cNvSpPr/>
          <p:nvPr/>
        </p:nvSpPr>
        <p:spPr>
          <a:xfrm>
            <a:off x="8907307" y="4142665"/>
            <a:ext cx="201283" cy="20128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 name="Straight Connector 50">
            <a:extLst>
              <a:ext uri="{FF2B5EF4-FFF2-40B4-BE49-F238E27FC236}">
                <a16:creationId xmlns:a16="http://schemas.microsoft.com/office/drawing/2014/main" id="{FD64F574-763B-29C5-B07E-36A3F9016439}"/>
              </a:ext>
            </a:extLst>
          </p:cNvPr>
          <p:cNvCxnSpPr>
            <a:cxnSpLocks/>
          </p:cNvCxnSpPr>
          <p:nvPr/>
        </p:nvCxnSpPr>
        <p:spPr>
          <a:xfrm flipV="1">
            <a:off x="7503184" y="4219700"/>
            <a:ext cx="2160000" cy="874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E8AD9D6-EE6B-2EA0-2D0F-1E12C8EFC70A}"/>
              </a:ext>
            </a:extLst>
          </p:cNvPr>
          <p:cNvSpPr txBox="1"/>
          <p:nvPr/>
        </p:nvSpPr>
        <p:spPr>
          <a:xfrm>
            <a:off x="3254324" y="5542291"/>
            <a:ext cx="1175475" cy="997196"/>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Data governance for compliance</a:t>
            </a:r>
          </a:p>
          <a:p>
            <a:pPr algn="ctr">
              <a:spcBef>
                <a:spcPct val="20000"/>
              </a:spcBef>
              <a:spcAft>
                <a:spcPct val="0"/>
              </a:spcAft>
            </a:pPr>
            <a:endParaRPr lang="en-US" i="1" dirty="0">
              <a:solidFill>
                <a:schemeClr val="accent6">
                  <a:lumMod val="50000"/>
                </a:schemeClr>
              </a:solidFill>
            </a:endParaRPr>
          </a:p>
        </p:txBody>
      </p:sp>
      <p:sp>
        <p:nvSpPr>
          <p:cNvPr id="53" name="TextBox 52">
            <a:extLst>
              <a:ext uri="{FF2B5EF4-FFF2-40B4-BE49-F238E27FC236}">
                <a16:creationId xmlns:a16="http://schemas.microsoft.com/office/drawing/2014/main" id="{7CCF86F3-4F47-383F-1492-BBD3898CFB59}"/>
              </a:ext>
            </a:extLst>
          </p:cNvPr>
          <p:cNvSpPr txBox="1"/>
          <p:nvPr/>
        </p:nvSpPr>
        <p:spPr>
          <a:xfrm>
            <a:off x="6724394" y="5546815"/>
            <a:ext cx="1673430" cy="997196"/>
          </a:xfrm>
          <a:prstGeom prst="rect">
            <a:avLst/>
          </a:prstGeom>
          <a:noFill/>
        </p:spPr>
        <p:txBody>
          <a:bodyPr wrap="square" lIns="0" tIns="45720" rIns="0" bIns="45720" rtlCol="0" anchor="t">
            <a:spAutoFit/>
          </a:bodyPr>
          <a:lstStyle/>
          <a:p>
            <a:pPr algn="ctr">
              <a:spcBef>
                <a:spcPct val="20000"/>
              </a:spcBef>
              <a:spcAft>
                <a:spcPct val="0"/>
              </a:spcAft>
            </a:pPr>
            <a:r>
              <a:rPr lang="en-US" i="1" dirty="0">
                <a:solidFill>
                  <a:schemeClr val="accent6">
                    <a:lumMod val="50000"/>
                  </a:schemeClr>
                </a:solidFill>
              </a:rPr>
              <a:t>Ethical and Explainable AI based model validation</a:t>
            </a:r>
          </a:p>
          <a:p>
            <a:pPr algn="ctr">
              <a:spcBef>
                <a:spcPct val="20000"/>
              </a:spcBef>
              <a:spcAft>
                <a:spcPct val="0"/>
              </a:spcAft>
            </a:pPr>
            <a:endParaRPr lang="en-US" dirty="0">
              <a:solidFill>
                <a:schemeClr val="accent6">
                  <a:lumMod val="50000"/>
                </a:schemeClr>
              </a:solidFill>
            </a:endParaRPr>
          </a:p>
        </p:txBody>
      </p:sp>
      <p:sp>
        <p:nvSpPr>
          <p:cNvPr id="54" name="Isosceles Triangle 53">
            <a:extLst>
              <a:ext uri="{FF2B5EF4-FFF2-40B4-BE49-F238E27FC236}">
                <a16:creationId xmlns:a16="http://schemas.microsoft.com/office/drawing/2014/main" id="{127306FD-D0D6-6D3A-8FDD-16C9E65135A3}"/>
              </a:ext>
            </a:extLst>
          </p:cNvPr>
          <p:cNvSpPr/>
          <p:nvPr/>
        </p:nvSpPr>
        <p:spPr>
          <a:xfrm>
            <a:off x="5894010" y="5820953"/>
            <a:ext cx="201283" cy="20128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5" name="Straight Connector 54">
            <a:extLst>
              <a:ext uri="{FF2B5EF4-FFF2-40B4-BE49-F238E27FC236}">
                <a16:creationId xmlns:a16="http://schemas.microsoft.com/office/drawing/2014/main" id="{C8FEDD7F-8F73-2DD6-7AA7-770D66A825A4}"/>
              </a:ext>
            </a:extLst>
          </p:cNvPr>
          <p:cNvCxnSpPr>
            <a:cxnSpLocks/>
          </p:cNvCxnSpPr>
          <p:nvPr/>
        </p:nvCxnSpPr>
        <p:spPr>
          <a:xfrm flipV="1">
            <a:off x="4502556" y="5907406"/>
            <a:ext cx="2160000" cy="874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5FB27F84-3CEC-3E93-3DFE-CDB9D1C6E3A0}"/>
              </a:ext>
            </a:extLst>
          </p:cNvPr>
          <p:cNvSpPr/>
          <p:nvPr/>
        </p:nvSpPr>
        <p:spPr>
          <a:xfrm>
            <a:off x="1382695" y="1433498"/>
            <a:ext cx="352093" cy="32178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1</a:t>
            </a:r>
          </a:p>
        </p:txBody>
      </p:sp>
      <p:sp>
        <p:nvSpPr>
          <p:cNvPr id="57" name="Oval 56">
            <a:extLst>
              <a:ext uri="{FF2B5EF4-FFF2-40B4-BE49-F238E27FC236}">
                <a16:creationId xmlns:a16="http://schemas.microsoft.com/office/drawing/2014/main" id="{84CE1D83-A862-B2F2-4A62-AE267A0B1950}"/>
              </a:ext>
            </a:extLst>
          </p:cNvPr>
          <p:cNvSpPr/>
          <p:nvPr/>
        </p:nvSpPr>
        <p:spPr>
          <a:xfrm>
            <a:off x="7036384" y="1411103"/>
            <a:ext cx="328926" cy="33944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2</a:t>
            </a:r>
          </a:p>
        </p:txBody>
      </p:sp>
      <p:sp>
        <p:nvSpPr>
          <p:cNvPr id="58" name="Oval 57">
            <a:extLst>
              <a:ext uri="{FF2B5EF4-FFF2-40B4-BE49-F238E27FC236}">
                <a16:creationId xmlns:a16="http://schemas.microsoft.com/office/drawing/2014/main" id="{EFCF133C-6A28-5BBF-3825-240EE5732246}"/>
              </a:ext>
            </a:extLst>
          </p:cNvPr>
          <p:cNvSpPr/>
          <p:nvPr/>
        </p:nvSpPr>
        <p:spPr>
          <a:xfrm>
            <a:off x="4032165" y="5085061"/>
            <a:ext cx="328926" cy="33944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3</a:t>
            </a:r>
          </a:p>
        </p:txBody>
      </p:sp>
      <p:sp>
        <p:nvSpPr>
          <p:cNvPr id="63" name="Rectangle 62">
            <a:extLst>
              <a:ext uri="{FF2B5EF4-FFF2-40B4-BE49-F238E27FC236}">
                <a16:creationId xmlns:a16="http://schemas.microsoft.com/office/drawing/2014/main" id="{AF44D537-241F-5BC5-4AF0-5F3AA7DAB0F4}"/>
              </a:ext>
            </a:extLst>
          </p:cNvPr>
          <p:cNvSpPr/>
          <p:nvPr/>
        </p:nvSpPr>
        <p:spPr>
          <a:xfrm>
            <a:off x="742950" y="1213872"/>
            <a:ext cx="10865733" cy="530999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Tree>
    <p:extLst>
      <p:ext uri="{BB962C8B-B14F-4D97-AF65-F5344CB8AC3E}">
        <p14:creationId xmlns:p14="http://schemas.microsoft.com/office/powerpoint/2010/main" val="2687891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C9E2A-62EB-7ECB-C3B2-927AB44EEF1E}"/>
              </a:ext>
            </a:extLst>
          </p:cNvPr>
          <p:cNvSpPr>
            <a:spLocks noGrp="1"/>
          </p:cNvSpPr>
          <p:nvPr>
            <p:ph type="title"/>
          </p:nvPr>
        </p:nvSpPr>
        <p:spPr/>
        <p:txBody>
          <a:bodyPr/>
          <a:lstStyle/>
          <a:p>
            <a:r>
              <a:rPr lang="en-IN" dirty="0"/>
              <a:t>Appendix</a:t>
            </a:r>
          </a:p>
        </p:txBody>
      </p:sp>
    </p:spTree>
    <p:extLst>
      <p:ext uri="{BB962C8B-B14F-4D97-AF65-F5344CB8AC3E}">
        <p14:creationId xmlns:p14="http://schemas.microsoft.com/office/powerpoint/2010/main" val="1761390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 name="Oval 7">
            <a:extLst>
              <a:ext uri="{FF2B5EF4-FFF2-40B4-BE49-F238E27FC236}">
                <a16:creationId xmlns:a16="http://schemas.microsoft.com/office/drawing/2014/main" id="{F3F884E1-3F6E-1832-E917-523826B83CC2}"/>
              </a:ext>
            </a:extLst>
          </p:cNvPr>
          <p:cNvSpPr/>
          <p:nvPr/>
        </p:nvSpPr>
        <p:spPr>
          <a:xfrm>
            <a:off x="1621971" y="1849151"/>
            <a:ext cx="3385458" cy="3245363"/>
          </a:xfrm>
          <a:prstGeom prst="ellipse">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9" name="Oval 48">
            <a:extLst>
              <a:ext uri="{FF2B5EF4-FFF2-40B4-BE49-F238E27FC236}">
                <a16:creationId xmlns:a16="http://schemas.microsoft.com/office/drawing/2014/main" id="{D2AC09B3-C754-D671-B7F4-83E6F3795865}"/>
              </a:ext>
            </a:extLst>
          </p:cNvPr>
          <p:cNvSpPr/>
          <p:nvPr/>
        </p:nvSpPr>
        <p:spPr>
          <a:xfrm>
            <a:off x="2715560" y="4513809"/>
            <a:ext cx="166680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4" name="Oval 53">
            <a:extLst>
              <a:ext uri="{FF2B5EF4-FFF2-40B4-BE49-F238E27FC236}">
                <a16:creationId xmlns:a16="http://schemas.microsoft.com/office/drawing/2014/main" id="{BB5A2D21-9F07-A80C-BB6F-0A5CE9274E68}"/>
              </a:ext>
            </a:extLst>
          </p:cNvPr>
          <p:cNvSpPr/>
          <p:nvPr/>
        </p:nvSpPr>
        <p:spPr>
          <a:xfrm>
            <a:off x="701486" y="3715301"/>
            <a:ext cx="166680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5" name="Oval 54">
            <a:extLst>
              <a:ext uri="{FF2B5EF4-FFF2-40B4-BE49-F238E27FC236}">
                <a16:creationId xmlns:a16="http://schemas.microsoft.com/office/drawing/2014/main" id="{8F4ED53C-B3BD-8EEB-E475-27063C64E821}"/>
              </a:ext>
            </a:extLst>
          </p:cNvPr>
          <p:cNvSpPr/>
          <p:nvPr/>
        </p:nvSpPr>
        <p:spPr>
          <a:xfrm>
            <a:off x="788571" y="1440320"/>
            <a:ext cx="166680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8" name="Oval 47">
            <a:extLst>
              <a:ext uri="{FF2B5EF4-FFF2-40B4-BE49-F238E27FC236}">
                <a16:creationId xmlns:a16="http://schemas.microsoft.com/office/drawing/2014/main" id="{68012F66-4B86-B1F6-CD40-CE42ACF3A031}"/>
              </a:ext>
            </a:extLst>
          </p:cNvPr>
          <p:cNvSpPr/>
          <p:nvPr/>
        </p:nvSpPr>
        <p:spPr>
          <a:xfrm>
            <a:off x="4249153" y="2955951"/>
            <a:ext cx="166680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6" name="Oval 45">
            <a:extLst>
              <a:ext uri="{FF2B5EF4-FFF2-40B4-BE49-F238E27FC236}">
                <a16:creationId xmlns:a16="http://schemas.microsoft.com/office/drawing/2014/main" id="{0CA4A3C5-7B3C-79DA-7273-6D4CB1C214C3}"/>
              </a:ext>
            </a:extLst>
          </p:cNvPr>
          <p:cNvSpPr/>
          <p:nvPr/>
        </p:nvSpPr>
        <p:spPr>
          <a:xfrm>
            <a:off x="3270205" y="1234961"/>
            <a:ext cx="166579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71463" indent="-42863"/>
            <a:r>
              <a:rPr lang="en-US" sz="2000" dirty="0"/>
              <a:t>Consumers are driving innovation and development in the AI space Creating a drag effect on enterprise ai</a:t>
            </a:r>
            <a:endParaRPr lang="en-IN" sz="2000" dirty="0"/>
          </a:p>
        </p:txBody>
      </p:sp>
      <p:sp>
        <p:nvSpPr>
          <p:cNvPr id="1029" name="TextBox 1028">
            <a:extLst>
              <a:ext uri="{FF2B5EF4-FFF2-40B4-BE49-F238E27FC236}">
                <a16:creationId xmlns:a16="http://schemas.microsoft.com/office/drawing/2014/main" id="{A94C9E31-775A-9E2B-BE17-F9B353C99F53}"/>
              </a:ext>
            </a:extLst>
          </p:cNvPr>
          <p:cNvSpPr txBox="1"/>
          <p:nvPr/>
        </p:nvSpPr>
        <p:spPr>
          <a:xfrm>
            <a:off x="1945965" y="3004072"/>
            <a:ext cx="1303421" cy="584775"/>
          </a:xfrm>
          <a:prstGeom prst="rect">
            <a:avLst/>
          </a:prstGeom>
          <a:noFill/>
        </p:spPr>
        <p:txBody>
          <a:bodyPr wrap="square" rtlCol="0">
            <a:spAutoFit/>
          </a:bodyPr>
          <a:lstStyle/>
          <a:p>
            <a:r>
              <a:rPr lang="en-IN" sz="1600" dirty="0">
                <a:solidFill>
                  <a:schemeClr val="bg1"/>
                </a:solidFill>
              </a:rPr>
              <a:t>Enterprise AI</a:t>
            </a:r>
          </a:p>
        </p:txBody>
      </p:sp>
      <p:pic>
        <p:nvPicPr>
          <p:cNvPr id="12" name="Graphic 11" descr="Food Safety with solid fill">
            <a:extLst>
              <a:ext uri="{FF2B5EF4-FFF2-40B4-BE49-F238E27FC236}">
                <a16:creationId xmlns:a16="http://schemas.microsoft.com/office/drawing/2014/main" id="{ABC3AF75-4042-5759-D1A0-17985D1D3D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771" y="1785582"/>
            <a:ext cx="914400" cy="914400"/>
          </a:xfrm>
          <a:prstGeom prst="rect">
            <a:avLst/>
          </a:prstGeom>
        </p:spPr>
      </p:pic>
      <p:pic>
        <p:nvPicPr>
          <p:cNvPr id="15" name="Graphic 14" descr="Money with solid fill">
            <a:extLst>
              <a:ext uri="{FF2B5EF4-FFF2-40B4-BE49-F238E27FC236}">
                <a16:creationId xmlns:a16="http://schemas.microsoft.com/office/drawing/2014/main" id="{C01294FA-879F-7A9A-AF76-0C01DA9FD4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71546" y="1508741"/>
            <a:ext cx="914400" cy="914400"/>
          </a:xfrm>
          <a:prstGeom prst="rect">
            <a:avLst/>
          </a:prstGeom>
        </p:spPr>
      </p:pic>
      <p:pic>
        <p:nvPicPr>
          <p:cNvPr id="24" name="Graphic 23" descr="Ecommerce with solid fill">
            <a:extLst>
              <a:ext uri="{FF2B5EF4-FFF2-40B4-BE49-F238E27FC236}">
                <a16:creationId xmlns:a16="http://schemas.microsoft.com/office/drawing/2014/main" id="{BC02DCDE-24CD-A3E8-CD8F-6F00F302647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5360" y="4078704"/>
            <a:ext cx="914400" cy="914400"/>
          </a:xfrm>
          <a:prstGeom prst="rect">
            <a:avLst/>
          </a:prstGeom>
        </p:spPr>
      </p:pic>
      <p:pic>
        <p:nvPicPr>
          <p:cNvPr id="40" name="Graphic 39" descr="Care with solid fill">
            <a:extLst>
              <a:ext uri="{FF2B5EF4-FFF2-40B4-BE49-F238E27FC236}">
                <a16:creationId xmlns:a16="http://schemas.microsoft.com/office/drawing/2014/main" id="{67C7DE70-0CB0-E60E-4C70-B27B800E8FF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99640" y="3366085"/>
            <a:ext cx="914400" cy="914400"/>
          </a:xfrm>
          <a:prstGeom prst="rect">
            <a:avLst/>
          </a:prstGeom>
        </p:spPr>
      </p:pic>
      <p:pic>
        <p:nvPicPr>
          <p:cNvPr id="57" name="Graphic 56" descr="Airplane with solid fill">
            <a:extLst>
              <a:ext uri="{FF2B5EF4-FFF2-40B4-BE49-F238E27FC236}">
                <a16:creationId xmlns:a16="http://schemas.microsoft.com/office/drawing/2014/main" id="{2DBC8BC1-A1B9-38F2-957D-FBA2C066CC8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099943" y="4893915"/>
            <a:ext cx="914400" cy="914400"/>
          </a:xfrm>
          <a:prstGeom prst="rect">
            <a:avLst/>
          </a:prstGeom>
        </p:spPr>
      </p:pic>
      <p:sp>
        <p:nvSpPr>
          <p:cNvPr id="1026" name="Oval 1025">
            <a:extLst>
              <a:ext uri="{FF2B5EF4-FFF2-40B4-BE49-F238E27FC236}">
                <a16:creationId xmlns:a16="http://schemas.microsoft.com/office/drawing/2014/main" id="{01C9C34F-FDCC-850F-CB11-6D5C17879B4E}"/>
              </a:ext>
            </a:extLst>
          </p:cNvPr>
          <p:cNvSpPr/>
          <p:nvPr/>
        </p:nvSpPr>
        <p:spPr>
          <a:xfrm>
            <a:off x="2668086" y="2930741"/>
            <a:ext cx="1320878" cy="1249373"/>
          </a:xfrm>
          <a:prstGeom prst="ellipse">
            <a:avLst/>
          </a:prstGeom>
          <a:solidFill>
            <a:schemeClr val="tx1">
              <a:lumMod val="20000"/>
              <a:lumOff val="80000"/>
            </a:schemeClr>
          </a:solid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30" name="Graphic 1029" descr="Female Profile outline">
            <a:extLst>
              <a:ext uri="{FF2B5EF4-FFF2-40B4-BE49-F238E27FC236}">
                <a16:creationId xmlns:a16="http://schemas.microsoft.com/office/drawing/2014/main" id="{F5D574A2-4B54-F1AD-79DE-D90A9DBC813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83429" y="3072362"/>
            <a:ext cx="914400" cy="914400"/>
          </a:xfrm>
          <a:prstGeom prst="rect">
            <a:avLst/>
          </a:prstGeom>
        </p:spPr>
      </p:pic>
      <p:sp>
        <p:nvSpPr>
          <p:cNvPr id="1033" name="TextBox 1032">
            <a:extLst>
              <a:ext uri="{FF2B5EF4-FFF2-40B4-BE49-F238E27FC236}">
                <a16:creationId xmlns:a16="http://schemas.microsoft.com/office/drawing/2014/main" id="{A2EDD9B7-0F7A-AC14-79BD-8B6DAE724B1C}"/>
              </a:ext>
            </a:extLst>
          </p:cNvPr>
          <p:cNvSpPr txBox="1"/>
          <p:nvPr/>
        </p:nvSpPr>
        <p:spPr>
          <a:xfrm>
            <a:off x="2368286" y="4173698"/>
            <a:ext cx="2014074" cy="338554"/>
          </a:xfrm>
          <a:prstGeom prst="rect">
            <a:avLst/>
          </a:prstGeom>
          <a:noFill/>
        </p:spPr>
        <p:txBody>
          <a:bodyPr wrap="square" rtlCol="0">
            <a:spAutoFit/>
          </a:bodyPr>
          <a:lstStyle/>
          <a:p>
            <a:pPr algn="ctr"/>
            <a:r>
              <a:rPr lang="en-IN" sz="1600" b="1" dirty="0"/>
              <a:t>Consumer AI</a:t>
            </a:r>
          </a:p>
        </p:txBody>
      </p:sp>
      <p:pic>
        <p:nvPicPr>
          <p:cNvPr id="1064" name="Graphic 1063" descr="Food Safety with solid fill">
            <a:extLst>
              <a:ext uri="{FF2B5EF4-FFF2-40B4-BE49-F238E27FC236}">
                <a16:creationId xmlns:a16="http://schemas.microsoft.com/office/drawing/2014/main" id="{F89FCE88-0923-C254-828B-185B281255F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970937" y="1256220"/>
            <a:ext cx="914400" cy="914400"/>
          </a:xfrm>
          <a:prstGeom prst="rect">
            <a:avLst/>
          </a:prstGeom>
        </p:spPr>
      </p:pic>
      <p:pic>
        <p:nvPicPr>
          <p:cNvPr id="1065" name="Graphic 1064" descr="Money with solid fill">
            <a:extLst>
              <a:ext uri="{FF2B5EF4-FFF2-40B4-BE49-F238E27FC236}">
                <a16:creationId xmlns:a16="http://schemas.microsoft.com/office/drawing/2014/main" id="{3E0C9E2A-E5A8-845B-D7EB-22B5A161D67D}"/>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934418" y="2317101"/>
            <a:ext cx="914400" cy="914400"/>
          </a:xfrm>
          <a:prstGeom prst="rect">
            <a:avLst/>
          </a:prstGeom>
        </p:spPr>
      </p:pic>
      <p:pic>
        <p:nvPicPr>
          <p:cNvPr id="1066" name="Graphic 1065" descr="Care with solid fill">
            <a:extLst>
              <a:ext uri="{FF2B5EF4-FFF2-40B4-BE49-F238E27FC236}">
                <a16:creationId xmlns:a16="http://schemas.microsoft.com/office/drawing/2014/main" id="{B6C5A6B4-E9B0-B53C-B401-6B52780AF61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81642" y="3438948"/>
            <a:ext cx="914400" cy="914400"/>
          </a:xfrm>
          <a:prstGeom prst="rect">
            <a:avLst/>
          </a:prstGeom>
        </p:spPr>
      </p:pic>
      <p:pic>
        <p:nvPicPr>
          <p:cNvPr id="1067" name="Graphic 1066" descr="Airplane with solid fill">
            <a:extLst>
              <a:ext uri="{FF2B5EF4-FFF2-40B4-BE49-F238E27FC236}">
                <a16:creationId xmlns:a16="http://schemas.microsoft.com/office/drawing/2014/main" id="{56F7E200-3FC3-7340-7500-E34B5FBCCB8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970937" y="4516489"/>
            <a:ext cx="914400" cy="914400"/>
          </a:xfrm>
          <a:prstGeom prst="rect">
            <a:avLst/>
          </a:prstGeom>
        </p:spPr>
      </p:pic>
      <p:pic>
        <p:nvPicPr>
          <p:cNvPr id="1068" name="Graphic 1067" descr="Ecommerce with solid fill">
            <a:extLst>
              <a:ext uri="{FF2B5EF4-FFF2-40B4-BE49-F238E27FC236}">
                <a16:creationId xmlns:a16="http://schemas.microsoft.com/office/drawing/2014/main" id="{3BB29800-3AF4-CD73-B1EC-81783F2D2B48}"/>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992346" y="5690288"/>
            <a:ext cx="914400" cy="914400"/>
          </a:xfrm>
          <a:prstGeom prst="rect">
            <a:avLst/>
          </a:prstGeom>
        </p:spPr>
      </p:pic>
      <p:sp>
        <p:nvSpPr>
          <p:cNvPr id="1069" name="TextBox 1068">
            <a:extLst>
              <a:ext uri="{FF2B5EF4-FFF2-40B4-BE49-F238E27FC236}">
                <a16:creationId xmlns:a16="http://schemas.microsoft.com/office/drawing/2014/main" id="{A415F0E7-CD7C-0109-06D9-A98B43E23CF8}"/>
              </a:ext>
            </a:extLst>
          </p:cNvPr>
          <p:cNvSpPr txBox="1"/>
          <p:nvPr/>
        </p:nvSpPr>
        <p:spPr>
          <a:xfrm>
            <a:off x="7892361" y="1390843"/>
            <a:ext cx="3878396" cy="738664"/>
          </a:xfrm>
          <a:prstGeom prst="rect">
            <a:avLst/>
          </a:prstGeom>
          <a:noFill/>
        </p:spPr>
        <p:txBody>
          <a:bodyPr wrap="square" rtlCol="0">
            <a:spAutoFit/>
          </a:bodyPr>
          <a:lstStyle/>
          <a:p>
            <a:r>
              <a:rPr lang="en-US" dirty="0"/>
              <a:t>Starbucks' AI-powered inventory management system helped the company save $50 million in food waste costs in 2018</a:t>
            </a:r>
            <a:endParaRPr lang="en-IN" dirty="0"/>
          </a:p>
        </p:txBody>
      </p:sp>
      <p:sp>
        <p:nvSpPr>
          <p:cNvPr id="1070" name="TextBox 1069">
            <a:extLst>
              <a:ext uri="{FF2B5EF4-FFF2-40B4-BE49-F238E27FC236}">
                <a16:creationId xmlns:a16="http://schemas.microsoft.com/office/drawing/2014/main" id="{857F4172-68CE-6C84-8CED-FA520F6901F5}"/>
              </a:ext>
            </a:extLst>
          </p:cNvPr>
          <p:cNvSpPr txBox="1"/>
          <p:nvPr/>
        </p:nvSpPr>
        <p:spPr>
          <a:xfrm>
            <a:off x="7892361" y="2404969"/>
            <a:ext cx="3878396" cy="738664"/>
          </a:xfrm>
          <a:prstGeom prst="rect">
            <a:avLst/>
          </a:prstGeom>
          <a:noFill/>
        </p:spPr>
        <p:txBody>
          <a:bodyPr wrap="square" rtlCol="0">
            <a:spAutoFit/>
          </a:bodyPr>
          <a:lstStyle/>
          <a:p>
            <a:r>
              <a:rPr lang="en-US" dirty="0"/>
              <a:t>Capital One's AI-powered fraud detection system helped the company save $200 million in 2019</a:t>
            </a:r>
            <a:endParaRPr lang="en-IN" dirty="0"/>
          </a:p>
        </p:txBody>
      </p:sp>
      <p:sp>
        <p:nvSpPr>
          <p:cNvPr id="1071" name="TextBox 1070">
            <a:extLst>
              <a:ext uri="{FF2B5EF4-FFF2-40B4-BE49-F238E27FC236}">
                <a16:creationId xmlns:a16="http://schemas.microsoft.com/office/drawing/2014/main" id="{86F1519B-75C9-8727-67A9-20125C972E28}"/>
              </a:ext>
            </a:extLst>
          </p:cNvPr>
          <p:cNvSpPr txBox="1"/>
          <p:nvPr/>
        </p:nvSpPr>
        <p:spPr>
          <a:xfrm>
            <a:off x="7906746" y="3419095"/>
            <a:ext cx="3878396" cy="954107"/>
          </a:xfrm>
          <a:prstGeom prst="rect">
            <a:avLst/>
          </a:prstGeom>
          <a:noFill/>
        </p:spPr>
        <p:txBody>
          <a:bodyPr wrap="square" rtlCol="0">
            <a:spAutoFit/>
          </a:bodyPr>
          <a:lstStyle/>
          <a:p>
            <a:r>
              <a:rPr lang="en-US" dirty="0"/>
              <a:t>UK's National Health Service (NHS), Babylon's AI-powered chatbot triage system helped reduce the number of patients seeking care at emergency departments by 40%</a:t>
            </a:r>
            <a:endParaRPr lang="en-IN" dirty="0"/>
          </a:p>
        </p:txBody>
      </p:sp>
      <p:sp>
        <p:nvSpPr>
          <p:cNvPr id="1072" name="TextBox 1071">
            <a:extLst>
              <a:ext uri="{FF2B5EF4-FFF2-40B4-BE49-F238E27FC236}">
                <a16:creationId xmlns:a16="http://schemas.microsoft.com/office/drawing/2014/main" id="{2C349E3E-174E-C548-587C-469968FBCF8C}"/>
              </a:ext>
            </a:extLst>
          </p:cNvPr>
          <p:cNvSpPr txBox="1"/>
          <p:nvPr/>
        </p:nvSpPr>
        <p:spPr>
          <a:xfrm>
            <a:off x="7906746" y="4648664"/>
            <a:ext cx="3878396" cy="738664"/>
          </a:xfrm>
          <a:prstGeom prst="rect">
            <a:avLst/>
          </a:prstGeom>
          <a:noFill/>
        </p:spPr>
        <p:txBody>
          <a:bodyPr wrap="square" rtlCol="0">
            <a:spAutoFit/>
          </a:bodyPr>
          <a:lstStyle/>
          <a:p>
            <a:r>
              <a:rPr lang="en-US" dirty="0"/>
              <a:t>Hilton's chatbot implementation helped the company save $700,000 per year in customer support costs</a:t>
            </a:r>
            <a:endParaRPr lang="en-IN" dirty="0"/>
          </a:p>
        </p:txBody>
      </p:sp>
      <p:sp>
        <p:nvSpPr>
          <p:cNvPr id="1073" name="TextBox 1072">
            <a:extLst>
              <a:ext uri="{FF2B5EF4-FFF2-40B4-BE49-F238E27FC236}">
                <a16:creationId xmlns:a16="http://schemas.microsoft.com/office/drawing/2014/main" id="{12028D65-1A0B-7AEE-1312-8CCC82DB8560}"/>
              </a:ext>
            </a:extLst>
          </p:cNvPr>
          <p:cNvSpPr txBox="1"/>
          <p:nvPr/>
        </p:nvSpPr>
        <p:spPr>
          <a:xfrm>
            <a:off x="7920781" y="5662790"/>
            <a:ext cx="3878396" cy="738664"/>
          </a:xfrm>
          <a:prstGeom prst="rect">
            <a:avLst/>
          </a:prstGeom>
          <a:noFill/>
        </p:spPr>
        <p:txBody>
          <a:bodyPr wrap="square" rtlCol="0">
            <a:spAutoFit/>
          </a:bodyPr>
          <a:lstStyle/>
          <a:p>
            <a:r>
              <a:rPr lang="en-US" dirty="0"/>
              <a:t>Amazon's recommendation engine is estimated to generate 35% of the company's revenue</a:t>
            </a:r>
            <a:endParaRPr lang="en-IN" dirty="0"/>
          </a:p>
        </p:txBody>
      </p:sp>
      <p:sp>
        <p:nvSpPr>
          <p:cNvPr id="2" name="TextBox 1">
            <a:extLst>
              <a:ext uri="{FF2B5EF4-FFF2-40B4-BE49-F238E27FC236}">
                <a16:creationId xmlns:a16="http://schemas.microsoft.com/office/drawing/2014/main" id="{ECF81832-776A-EC0F-17A7-BDA7A4B0A4C7}"/>
              </a:ext>
            </a:extLst>
          </p:cNvPr>
          <p:cNvSpPr txBox="1"/>
          <p:nvPr/>
        </p:nvSpPr>
        <p:spPr>
          <a:xfrm>
            <a:off x="4511701" y="4590620"/>
            <a:ext cx="3878396" cy="261610"/>
          </a:xfrm>
          <a:prstGeom prst="rect">
            <a:avLst/>
          </a:prstGeom>
          <a:noFill/>
        </p:spPr>
        <p:txBody>
          <a:bodyPr wrap="square" rtlCol="0">
            <a:spAutoFit/>
          </a:bodyPr>
          <a:lstStyle/>
          <a:p>
            <a:r>
              <a:rPr lang="en-US" sz="1100" dirty="0"/>
              <a:t>Preventive Care</a:t>
            </a:r>
            <a:endParaRPr lang="en-IN" sz="1100" dirty="0"/>
          </a:p>
        </p:txBody>
      </p:sp>
      <p:sp>
        <p:nvSpPr>
          <p:cNvPr id="3" name="TextBox 2">
            <a:extLst>
              <a:ext uri="{FF2B5EF4-FFF2-40B4-BE49-F238E27FC236}">
                <a16:creationId xmlns:a16="http://schemas.microsoft.com/office/drawing/2014/main" id="{D116604E-0424-1E08-723D-C2601540EF4D}"/>
              </a:ext>
            </a:extLst>
          </p:cNvPr>
          <p:cNvSpPr txBox="1"/>
          <p:nvPr/>
        </p:nvSpPr>
        <p:spPr>
          <a:xfrm>
            <a:off x="2401730" y="6180394"/>
            <a:ext cx="3878396" cy="261610"/>
          </a:xfrm>
          <a:prstGeom prst="rect">
            <a:avLst/>
          </a:prstGeom>
          <a:noFill/>
        </p:spPr>
        <p:txBody>
          <a:bodyPr wrap="square" rtlCol="0">
            <a:spAutoFit/>
          </a:bodyPr>
          <a:lstStyle/>
          <a:p>
            <a:r>
              <a:rPr lang="en-US" sz="1100" dirty="0"/>
              <a:t>Quick redressal &amp; cheaper travel</a:t>
            </a:r>
            <a:endParaRPr lang="en-IN" sz="1100" dirty="0"/>
          </a:p>
        </p:txBody>
      </p:sp>
      <p:sp>
        <p:nvSpPr>
          <p:cNvPr id="5" name="TextBox 4">
            <a:extLst>
              <a:ext uri="{FF2B5EF4-FFF2-40B4-BE49-F238E27FC236}">
                <a16:creationId xmlns:a16="http://schemas.microsoft.com/office/drawing/2014/main" id="{A15E5B1C-BE72-1294-7421-39C254EFE474}"/>
              </a:ext>
            </a:extLst>
          </p:cNvPr>
          <p:cNvSpPr txBox="1"/>
          <p:nvPr/>
        </p:nvSpPr>
        <p:spPr>
          <a:xfrm>
            <a:off x="312639" y="5385556"/>
            <a:ext cx="3878396" cy="261610"/>
          </a:xfrm>
          <a:prstGeom prst="rect">
            <a:avLst/>
          </a:prstGeom>
          <a:noFill/>
        </p:spPr>
        <p:txBody>
          <a:bodyPr wrap="square" rtlCol="0">
            <a:spAutoFit/>
          </a:bodyPr>
          <a:lstStyle/>
          <a:p>
            <a:r>
              <a:rPr lang="en-US" sz="1100" dirty="0"/>
              <a:t>Personalized Recommendations</a:t>
            </a:r>
            <a:endParaRPr lang="en-IN" sz="1100" dirty="0"/>
          </a:p>
        </p:txBody>
      </p:sp>
      <p:sp>
        <p:nvSpPr>
          <p:cNvPr id="6" name="TextBox 5">
            <a:extLst>
              <a:ext uri="{FF2B5EF4-FFF2-40B4-BE49-F238E27FC236}">
                <a16:creationId xmlns:a16="http://schemas.microsoft.com/office/drawing/2014/main" id="{BAF961ED-26AD-8679-57C7-B9823E49AEFA}"/>
              </a:ext>
            </a:extLst>
          </p:cNvPr>
          <p:cNvSpPr txBox="1"/>
          <p:nvPr/>
        </p:nvSpPr>
        <p:spPr>
          <a:xfrm>
            <a:off x="150708" y="3033297"/>
            <a:ext cx="3878396" cy="430887"/>
          </a:xfrm>
          <a:prstGeom prst="rect">
            <a:avLst/>
          </a:prstGeom>
          <a:noFill/>
        </p:spPr>
        <p:txBody>
          <a:bodyPr wrap="square" rtlCol="0">
            <a:spAutoFit/>
          </a:bodyPr>
          <a:lstStyle/>
          <a:p>
            <a:r>
              <a:rPr lang="en-US" sz="1100" dirty="0"/>
              <a:t>Waste prevention &amp; </a:t>
            </a:r>
            <a:br>
              <a:rPr lang="en-US" sz="1100" dirty="0"/>
            </a:br>
            <a:r>
              <a:rPr lang="en-US" sz="1100" dirty="0"/>
              <a:t>quicker delivery</a:t>
            </a:r>
            <a:endParaRPr lang="en-IN" sz="1100" dirty="0"/>
          </a:p>
        </p:txBody>
      </p:sp>
      <p:sp>
        <p:nvSpPr>
          <p:cNvPr id="7" name="TextBox 6">
            <a:extLst>
              <a:ext uri="{FF2B5EF4-FFF2-40B4-BE49-F238E27FC236}">
                <a16:creationId xmlns:a16="http://schemas.microsoft.com/office/drawing/2014/main" id="{D5E7C403-C04D-D11F-5AE2-99D1334C4AE5}"/>
              </a:ext>
            </a:extLst>
          </p:cNvPr>
          <p:cNvSpPr txBox="1"/>
          <p:nvPr/>
        </p:nvSpPr>
        <p:spPr>
          <a:xfrm>
            <a:off x="4869605" y="2346925"/>
            <a:ext cx="3878396" cy="430887"/>
          </a:xfrm>
          <a:prstGeom prst="rect">
            <a:avLst/>
          </a:prstGeom>
          <a:noFill/>
        </p:spPr>
        <p:txBody>
          <a:bodyPr wrap="square" rtlCol="0">
            <a:spAutoFit/>
          </a:bodyPr>
          <a:lstStyle/>
          <a:p>
            <a:r>
              <a:rPr lang="en-US" sz="1100" dirty="0"/>
              <a:t>Fraud reduction &amp;</a:t>
            </a:r>
            <a:br>
              <a:rPr lang="en-US" sz="1100" dirty="0"/>
            </a:br>
            <a:r>
              <a:rPr lang="en-US" sz="1100" dirty="0"/>
              <a:t>tailored recommendations</a:t>
            </a:r>
            <a:endParaRPr lang="en-IN" sz="1100" dirty="0"/>
          </a:p>
        </p:txBody>
      </p:sp>
    </p:spTree>
    <p:extLst>
      <p:ext uri="{BB962C8B-B14F-4D97-AF65-F5344CB8AC3E}">
        <p14:creationId xmlns:p14="http://schemas.microsoft.com/office/powerpoint/2010/main" val="2959823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graphicFrame>
        <p:nvGraphicFramePr>
          <p:cNvPr id="27" name="Diagram 26">
            <a:extLst>
              <a:ext uri="{FF2B5EF4-FFF2-40B4-BE49-F238E27FC236}">
                <a16:creationId xmlns:a16="http://schemas.microsoft.com/office/drawing/2014/main" id="{ACFE52AC-436D-FB69-3127-CF3ECB30943B}"/>
              </a:ext>
            </a:extLst>
          </p:cNvPr>
          <p:cNvGraphicFramePr/>
          <p:nvPr/>
        </p:nvGraphicFramePr>
        <p:xfrm>
          <a:off x="157007" y="99844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payers are struggling to Create a Today forward approach while modernizing the legacy systems, But they also need to actively plan for Future-Back Approach</a:t>
            </a:r>
            <a:endParaRPr lang="en-IN" dirty="0"/>
          </a:p>
        </p:txBody>
      </p:sp>
      <p:pic>
        <p:nvPicPr>
          <p:cNvPr id="12" name="Graphic 11" descr="Person eating with solid fill">
            <a:extLst>
              <a:ext uri="{FF2B5EF4-FFF2-40B4-BE49-F238E27FC236}">
                <a16:creationId xmlns:a16="http://schemas.microsoft.com/office/drawing/2014/main" id="{EEE1FF1F-69A5-444F-EFDB-89B5DEF164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18190" y="1838552"/>
            <a:ext cx="749968" cy="749968"/>
          </a:xfrm>
          <a:prstGeom prst="rect">
            <a:avLst/>
          </a:prstGeom>
        </p:spPr>
      </p:pic>
      <p:sp>
        <p:nvSpPr>
          <p:cNvPr id="13" name="TextBox 12">
            <a:extLst>
              <a:ext uri="{FF2B5EF4-FFF2-40B4-BE49-F238E27FC236}">
                <a16:creationId xmlns:a16="http://schemas.microsoft.com/office/drawing/2014/main" id="{350D5977-C503-F391-FA1A-37EA79FA3D67}"/>
              </a:ext>
            </a:extLst>
          </p:cNvPr>
          <p:cNvSpPr txBox="1"/>
          <p:nvPr/>
        </p:nvSpPr>
        <p:spPr>
          <a:xfrm>
            <a:off x="5851300" y="1817256"/>
            <a:ext cx="2430379" cy="738664"/>
          </a:xfrm>
          <a:prstGeom prst="rect">
            <a:avLst/>
          </a:prstGeom>
          <a:noFill/>
        </p:spPr>
        <p:txBody>
          <a:bodyPr wrap="square" rtlCol="0">
            <a:spAutoFit/>
          </a:bodyPr>
          <a:lstStyle/>
          <a:p>
            <a:r>
              <a:rPr lang="en-US" dirty="0">
                <a:solidFill>
                  <a:schemeClr val="bg1"/>
                </a:solidFill>
              </a:rPr>
              <a:t>Physician uses AI to recommend personalized treatment plan</a:t>
            </a:r>
            <a:endParaRPr lang="en-IN" dirty="0">
              <a:solidFill>
                <a:schemeClr val="bg1"/>
              </a:solidFill>
            </a:endParaRPr>
          </a:p>
        </p:txBody>
      </p:sp>
      <p:sp>
        <p:nvSpPr>
          <p:cNvPr id="16" name="TextBox 15">
            <a:extLst>
              <a:ext uri="{FF2B5EF4-FFF2-40B4-BE49-F238E27FC236}">
                <a16:creationId xmlns:a16="http://schemas.microsoft.com/office/drawing/2014/main" id="{7E54F87C-61F0-548A-1E29-E289E2974849}"/>
              </a:ext>
            </a:extLst>
          </p:cNvPr>
          <p:cNvSpPr txBox="1"/>
          <p:nvPr/>
        </p:nvSpPr>
        <p:spPr>
          <a:xfrm>
            <a:off x="5493174" y="1530775"/>
            <a:ext cx="1873919" cy="307777"/>
          </a:xfrm>
          <a:prstGeom prst="rect">
            <a:avLst/>
          </a:prstGeom>
          <a:noFill/>
        </p:spPr>
        <p:txBody>
          <a:bodyPr wrap="square">
            <a:spAutoFit/>
          </a:bodyPr>
          <a:lstStyle/>
          <a:p>
            <a:pPr lvl="0"/>
            <a:r>
              <a:rPr lang="en-IN" sz="1400" b="1" i="1" dirty="0">
                <a:solidFill>
                  <a:schemeClr val="tx2">
                    <a:lumMod val="90000"/>
                  </a:schemeClr>
                </a:solidFill>
              </a:rPr>
              <a:t>Personalized Care</a:t>
            </a:r>
          </a:p>
        </p:txBody>
      </p:sp>
      <p:sp>
        <p:nvSpPr>
          <p:cNvPr id="21" name="TextBox 20">
            <a:extLst>
              <a:ext uri="{FF2B5EF4-FFF2-40B4-BE49-F238E27FC236}">
                <a16:creationId xmlns:a16="http://schemas.microsoft.com/office/drawing/2014/main" id="{18348814-B2D9-8A89-8177-98C31EE21487}"/>
              </a:ext>
            </a:extLst>
          </p:cNvPr>
          <p:cNvSpPr txBox="1"/>
          <p:nvPr/>
        </p:nvSpPr>
        <p:spPr>
          <a:xfrm>
            <a:off x="5818537" y="3152534"/>
            <a:ext cx="2456892" cy="1169551"/>
          </a:xfrm>
          <a:prstGeom prst="rect">
            <a:avLst/>
          </a:prstGeom>
          <a:noFill/>
        </p:spPr>
        <p:txBody>
          <a:bodyPr wrap="square" rtlCol="0">
            <a:spAutoFit/>
          </a:bodyPr>
          <a:lstStyle/>
          <a:p>
            <a:r>
              <a:rPr lang="en-US" dirty="0">
                <a:solidFill>
                  <a:schemeClr val="bg1"/>
                </a:solidFill>
              </a:rPr>
              <a:t>Bots answer common questions, schedule appointments, and provide personalized recommendations</a:t>
            </a:r>
            <a:endParaRPr lang="en-IN" dirty="0">
              <a:solidFill>
                <a:schemeClr val="bg1"/>
              </a:solidFill>
            </a:endParaRPr>
          </a:p>
        </p:txBody>
      </p:sp>
      <p:sp>
        <p:nvSpPr>
          <p:cNvPr id="23" name="TextBox 22">
            <a:extLst>
              <a:ext uri="{FF2B5EF4-FFF2-40B4-BE49-F238E27FC236}">
                <a16:creationId xmlns:a16="http://schemas.microsoft.com/office/drawing/2014/main" id="{B7121DCA-BC0D-AECA-F9EB-78F9C25990C4}"/>
              </a:ext>
            </a:extLst>
          </p:cNvPr>
          <p:cNvSpPr txBox="1"/>
          <p:nvPr/>
        </p:nvSpPr>
        <p:spPr>
          <a:xfrm>
            <a:off x="5403353" y="2829528"/>
            <a:ext cx="2586401" cy="307777"/>
          </a:xfrm>
          <a:prstGeom prst="rect">
            <a:avLst/>
          </a:prstGeom>
          <a:noFill/>
        </p:spPr>
        <p:txBody>
          <a:bodyPr wrap="square">
            <a:spAutoFit/>
          </a:bodyPr>
          <a:lstStyle/>
          <a:p>
            <a:pPr lvl="0"/>
            <a:r>
              <a:rPr lang="en-IN" sz="1400" b="1" i="1" dirty="0">
                <a:solidFill>
                  <a:schemeClr val="tx2">
                    <a:lumMod val="90000"/>
                  </a:schemeClr>
                </a:solidFill>
              </a:rPr>
              <a:t>Virtual Assistants</a:t>
            </a:r>
          </a:p>
        </p:txBody>
      </p:sp>
      <p:pic>
        <p:nvPicPr>
          <p:cNvPr id="24" name="Graphic 23" descr="Remote work with solid fill">
            <a:extLst>
              <a:ext uri="{FF2B5EF4-FFF2-40B4-BE49-F238E27FC236}">
                <a16:creationId xmlns:a16="http://schemas.microsoft.com/office/drawing/2014/main" id="{7D0FAA46-FF31-02FD-55F5-38F4BA63B87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96951" y="3313983"/>
            <a:ext cx="601449" cy="591244"/>
          </a:xfrm>
          <a:prstGeom prst="rect">
            <a:avLst/>
          </a:prstGeom>
        </p:spPr>
      </p:pic>
      <p:sp>
        <p:nvSpPr>
          <p:cNvPr id="28" name="TextBox 27">
            <a:extLst>
              <a:ext uri="{FF2B5EF4-FFF2-40B4-BE49-F238E27FC236}">
                <a16:creationId xmlns:a16="http://schemas.microsoft.com/office/drawing/2014/main" id="{B426568B-86C8-FD2C-43A7-4A7D170B36D6}"/>
              </a:ext>
            </a:extLst>
          </p:cNvPr>
          <p:cNvSpPr txBox="1"/>
          <p:nvPr/>
        </p:nvSpPr>
        <p:spPr>
          <a:xfrm>
            <a:off x="5791741" y="4880024"/>
            <a:ext cx="2728905" cy="738664"/>
          </a:xfrm>
          <a:prstGeom prst="rect">
            <a:avLst/>
          </a:prstGeom>
          <a:noFill/>
        </p:spPr>
        <p:txBody>
          <a:bodyPr wrap="square" rtlCol="0">
            <a:spAutoFit/>
          </a:bodyPr>
          <a:lstStyle/>
          <a:p>
            <a:r>
              <a:rPr lang="en-US" dirty="0">
                <a:solidFill>
                  <a:schemeClr val="bg1"/>
                </a:solidFill>
              </a:rPr>
              <a:t>Patient is alerted of risks of possible complications to take preventive action</a:t>
            </a:r>
            <a:endParaRPr lang="en-IN" dirty="0">
              <a:solidFill>
                <a:schemeClr val="bg1"/>
              </a:solidFill>
            </a:endParaRPr>
          </a:p>
        </p:txBody>
      </p:sp>
      <p:sp>
        <p:nvSpPr>
          <p:cNvPr id="29" name="TextBox 28">
            <a:extLst>
              <a:ext uri="{FF2B5EF4-FFF2-40B4-BE49-F238E27FC236}">
                <a16:creationId xmlns:a16="http://schemas.microsoft.com/office/drawing/2014/main" id="{8060FDEA-8532-1BB8-04DA-C95374E8FA87}"/>
              </a:ext>
            </a:extLst>
          </p:cNvPr>
          <p:cNvSpPr txBox="1"/>
          <p:nvPr/>
        </p:nvSpPr>
        <p:spPr>
          <a:xfrm>
            <a:off x="5403353" y="4541790"/>
            <a:ext cx="2586401" cy="307777"/>
          </a:xfrm>
          <a:prstGeom prst="rect">
            <a:avLst/>
          </a:prstGeom>
          <a:noFill/>
        </p:spPr>
        <p:txBody>
          <a:bodyPr wrap="square">
            <a:spAutoFit/>
          </a:bodyPr>
          <a:lstStyle/>
          <a:p>
            <a:pPr lvl="0"/>
            <a:r>
              <a:rPr lang="en-IN" sz="1400" b="1" i="1" dirty="0">
                <a:solidFill>
                  <a:schemeClr val="tx2">
                    <a:lumMod val="90000"/>
                  </a:schemeClr>
                </a:solidFill>
              </a:rPr>
              <a:t>Prevention focus</a:t>
            </a:r>
          </a:p>
        </p:txBody>
      </p:sp>
      <p:pic>
        <p:nvPicPr>
          <p:cNvPr id="31" name="Graphic 30" descr="Future with solid fill">
            <a:extLst>
              <a:ext uri="{FF2B5EF4-FFF2-40B4-BE49-F238E27FC236}">
                <a16:creationId xmlns:a16="http://schemas.microsoft.com/office/drawing/2014/main" id="{9B5FFA51-8138-FB6A-F26F-65586C71A9C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96951" y="4974238"/>
            <a:ext cx="511892" cy="511892"/>
          </a:xfrm>
          <a:prstGeom prst="rect">
            <a:avLst/>
          </a:prstGeom>
        </p:spPr>
      </p:pic>
      <p:sp>
        <p:nvSpPr>
          <p:cNvPr id="30" name="TextBox 29">
            <a:extLst>
              <a:ext uri="{FF2B5EF4-FFF2-40B4-BE49-F238E27FC236}">
                <a16:creationId xmlns:a16="http://schemas.microsoft.com/office/drawing/2014/main" id="{AAC98307-6D0A-2194-6A8B-E2778E90585D}"/>
              </a:ext>
            </a:extLst>
          </p:cNvPr>
          <p:cNvSpPr txBox="1"/>
          <p:nvPr/>
        </p:nvSpPr>
        <p:spPr>
          <a:xfrm>
            <a:off x="1251994" y="1488904"/>
            <a:ext cx="2816613" cy="523220"/>
          </a:xfrm>
          <a:prstGeom prst="rect">
            <a:avLst/>
          </a:prstGeom>
          <a:noFill/>
        </p:spPr>
        <p:txBody>
          <a:bodyPr wrap="square">
            <a:spAutoFit/>
          </a:bodyPr>
          <a:lstStyle/>
          <a:p>
            <a:pPr lvl="0"/>
            <a:r>
              <a:rPr lang="en-IN" b="1" i="1" dirty="0">
                <a:solidFill>
                  <a:schemeClr val="tx2">
                    <a:lumMod val="90000"/>
                  </a:schemeClr>
                </a:solidFill>
              </a:rPr>
              <a:t>Experience &amp; trial and error-based care</a:t>
            </a:r>
            <a:endParaRPr lang="en-IN" sz="1400" b="1" i="1" dirty="0">
              <a:solidFill>
                <a:schemeClr val="tx2">
                  <a:lumMod val="90000"/>
                </a:schemeClr>
              </a:solidFill>
            </a:endParaRPr>
          </a:p>
        </p:txBody>
      </p:sp>
      <p:sp>
        <p:nvSpPr>
          <p:cNvPr id="32" name="TextBox 31">
            <a:extLst>
              <a:ext uri="{FF2B5EF4-FFF2-40B4-BE49-F238E27FC236}">
                <a16:creationId xmlns:a16="http://schemas.microsoft.com/office/drawing/2014/main" id="{A4FF1734-CE01-DCF2-0C12-FBFEE8BEE4C8}"/>
              </a:ext>
            </a:extLst>
          </p:cNvPr>
          <p:cNvSpPr txBox="1"/>
          <p:nvPr/>
        </p:nvSpPr>
        <p:spPr>
          <a:xfrm>
            <a:off x="1251994" y="2818177"/>
            <a:ext cx="2586401" cy="523220"/>
          </a:xfrm>
          <a:prstGeom prst="rect">
            <a:avLst/>
          </a:prstGeom>
          <a:noFill/>
        </p:spPr>
        <p:txBody>
          <a:bodyPr wrap="square">
            <a:spAutoFit/>
          </a:bodyPr>
          <a:lstStyle/>
          <a:p>
            <a:pPr lvl="0"/>
            <a:r>
              <a:rPr lang="en-IN" sz="1400" b="1" i="1" dirty="0">
                <a:solidFill>
                  <a:schemeClr val="tx2">
                    <a:lumMod val="90000"/>
                  </a:schemeClr>
                </a:solidFill>
              </a:rPr>
              <a:t>Complex Phone Menus with long wait times</a:t>
            </a:r>
          </a:p>
        </p:txBody>
      </p:sp>
      <p:sp>
        <p:nvSpPr>
          <p:cNvPr id="35" name="TextBox 34">
            <a:extLst>
              <a:ext uri="{FF2B5EF4-FFF2-40B4-BE49-F238E27FC236}">
                <a16:creationId xmlns:a16="http://schemas.microsoft.com/office/drawing/2014/main" id="{CB410E22-8E74-AB9C-B525-9058355B18DB}"/>
              </a:ext>
            </a:extLst>
          </p:cNvPr>
          <p:cNvSpPr txBox="1"/>
          <p:nvPr/>
        </p:nvSpPr>
        <p:spPr>
          <a:xfrm>
            <a:off x="1277890" y="4577152"/>
            <a:ext cx="2586401" cy="307777"/>
          </a:xfrm>
          <a:prstGeom prst="rect">
            <a:avLst/>
          </a:prstGeom>
          <a:noFill/>
        </p:spPr>
        <p:txBody>
          <a:bodyPr wrap="square">
            <a:spAutoFit/>
          </a:bodyPr>
          <a:lstStyle/>
          <a:p>
            <a:pPr lvl="0"/>
            <a:r>
              <a:rPr lang="en-IN" sz="1400" b="1" i="1" dirty="0">
                <a:solidFill>
                  <a:schemeClr val="tx2">
                    <a:lumMod val="90000"/>
                  </a:schemeClr>
                </a:solidFill>
              </a:rPr>
              <a:t>Cure focus</a:t>
            </a:r>
          </a:p>
        </p:txBody>
      </p:sp>
      <p:pic>
        <p:nvPicPr>
          <p:cNvPr id="41" name="Graphic 40" descr="Ui Ux with solid fill">
            <a:extLst>
              <a:ext uri="{FF2B5EF4-FFF2-40B4-BE49-F238E27FC236}">
                <a16:creationId xmlns:a16="http://schemas.microsoft.com/office/drawing/2014/main" id="{778D4FD0-D285-F832-86EC-33534DF9E5F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83575" y="2192868"/>
            <a:ext cx="499420" cy="499420"/>
          </a:xfrm>
          <a:prstGeom prst="rect">
            <a:avLst/>
          </a:prstGeom>
        </p:spPr>
      </p:pic>
      <p:pic>
        <p:nvPicPr>
          <p:cNvPr id="44" name="Graphic 43" descr="Telephone with solid fill">
            <a:extLst>
              <a:ext uri="{FF2B5EF4-FFF2-40B4-BE49-F238E27FC236}">
                <a16:creationId xmlns:a16="http://schemas.microsoft.com/office/drawing/2014/main" id="{6C13525D-9059-7F17-C908-F94E5E79761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14051" y="3591088"/>
            <a:ext cx="591244" cy="591244"/>
          </a:xfrm>
          <a:prstGeom prst="rect">
            <a:avLst/>
          </a:prstGeom>
        </p:spPr>
      </p:pic>
      <p:pic>
        <p:nvPicPr>
          <p:cNvPr id="48" name="Graphic 47" descr="Adhesive Bandage with solid fill">
            <a:extLst>
              <a:ext uri="{FF2B5EF4-FFF2-40B4-BE49-F238E27FC236}">
                <a16:creationId xmlns:a16="http://schemas.microsoft.com/office/drawing/2014/main" id="{D9EDAD19-EE40-A45A-E27B-62E5FB8180D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81519" y="5067749"/>
            <a:ext cx="523220" cy="523220"/>
          </a:xfrm>
          <a:prstGeom prst="rect">
            <a:avLst/>
          </a:prstGeom>
        </p:spPr>
      </p:pic>
      <p:sp>
        <p:nvSpPr>
          <p:cNvPr id="53" name="TextBox 52">
            <a:extLst>
              <a:ext uri="{FF2B5EF4-FFF2-40B4-BE49-F238E27FC236}">
                <a16:creationId xmlns:a16="http://schemas.microsoft.com/office/drawing/2014/main" id="{7AACBF43-116B-F0D9-D301-94DC369D8950}"/>
              </a:ext>
            </a:extLst>
          </p:cNvPr>
          <p:cNvSpPr txBox="1"/>
          <p:nvPr/>
        </p:nvSpPr>
        <p:spPr>
          <a:xfrm>
            <a:off x="1520649" y="4974238"/>
            <a:ext cx="2728905" cy="738664"/>
          </a:xfrm>
          <a:prstGeom prst="rect">
            <a:avLst/>
          </a:prstGeom>
          <a:noFill/>
        </p:spPr>
        <p:txBody>
          <a:bodyPr wrap="square" rtlCol="0">
            <a:spAutoFit/>
          </a:bodyPr>
          <a:lstStyle/>
          <a:p>
            <a:r>
              <a:rPr lang="en-US" dirty="0">
                <a:solidFill>
                  <a:schemeClr val="bg1"/>
                </a:solidFill>
              </a:rPr>
              <a:t>Patients wait until they </a:t>
            </a:r>
            <a:br>
              <a:rPr lang="en-US" dirty="0">
                <a:solidFill>
                  <a:schemeClr val="bg1"/>
                </a:solidFill>
              </a:rPr>
            </a:br>
            <a:r>
              <a:rPr lang="en-US" dirty="0">
                <a:solidFill>
                  <a:schemeClr val="bg1"/>
                </a:solidFill>
              </a:rPr>
              <a:t>develop symptoms before seeking medical care</a:t>
            </a:r>
            <a:endParaRPr lang="en-IN" dirty="0">
              <a:solidFill>
                <a:schemeClr val="bg1"/>
              </a:solidFill>
            </a:endParaRPr>
          </a:p>
        </p:txBody>
      </p:sp>
      <p:sp>
        <p:nvSpPr>
          <p:cNvPr id="54" name="TextBox 53">
            <a:extLst>
              <a:ext uri="{FF2B5EF4-FFF2-40B4-BE49-F238E27FC236}">
                <a16:creationId xmlns:a16="http://schemas.microsoft.com/office/drawing/2014/main" id="{8A563E1D-1B3E-E374-3B2C-2941E930D6FE}"/>
              </a:ext>
            </a:extLst>
          </p:cNvPr>
          <p:cNvSpPr txBox="1"/>
          <p:nvPr/>
        </p:nvSpPr>
        <p:spPr>
          <a:xfrm>
            <a:off x="1477975" y="3441269"/>
            <a:ext cx="2728905" cy="954107"/>
          </a:xfrm>
          <a:prstGeom prst="rect">
            <a:avLst/>
          </a:prstGeom>
          <a:noFill/>
        </p:spPr>
        <p:txBody>
          <a:bodyPr wrap="square" rtlCol="0">
            <a:spAutoFit/>
          </a:bodyPr>
          <a:lstStyle/>
          <a:p>
            <a:r>
              <a:rPr lang="en-US" dirty="0">
                <a:solidFill>
                  <a:schemeClr val="bg1"/>
                </a:solidFill>
              </a:rPr>
              <a:t>Frustration, long wait times, </a:t>
            </a:r>
            <a:br>
              <a:rPr lang="en-US" dirty="0">
                <a:solidFill>
                  <a:schemeClr val="bg1"/>
                </a:solidFill>
              </a:rPr>
            </a:br>
            <a:r>
              <a:rPr lang="en-US" dirty="0">
                <a:solidFill>
                  <a:schemeClr val="bg1"/>
                </a:solidFill>
              </a:rPr>
              <a:t>and delays in receiving care </a:t>
            </a:r>
            <a:br>
              <a:rPr lang="en-US" dirty="0">
                <a:solidFill>
                  <a:schemeClr val="bg1"/>
                </a:solidFill>
              </a:rPr>
            </a:br>
            <a:r>
              <a:rPr lang="en-US" dirty="0">
                <a:solidFill>
                  <a:schemeClr val="bg1"/>
                </a:solidFill>
              </a:rPr>
              <a:t>due to complex query redressal </a:t>
            </a:r>
            <a:br>
              <a:rPr lang="en-US" dirty="0">
                <a:solidFill>
                  <a:schemeClr val="bg1"/>
                </a:solidFill>
              </a:rPr>
            </a:br>
            <a:r>
              <a:rPr lang="en-US" dirty="0">
                <a:solidFill>
                  <a:schemeClr val="bg1"/>
                </a:solidFill>
              </a:rPr>
              <a:t>systems</a:t>
            </a:r>
            <a:endParaRPr lang="en-IN" dirty="0">
              <a:solidFill>
                <a:schemeClr val="bg1"/>
              </a:solidFill>
            </a:endParaRPr>
          </a:p>
        </p:txBody>
      </p:sp>
      <p:sp>
        <p:nvSpPr>
          <p:cNvPr id="57" name="TextBox 56">
            <a:extLst>
              <a:ext uri="{FF2B5EF4-FFF2-40B4-BE49-F238E27FC236}">
                <a16:creationId xmlns:a16="http://schemas.microsoft.com/office/drawing/2014/main" id="{DF49A07E-416F-6E0F-C022-122AFA23C665}"/>
              </a:ext>
            </a:extLst>
          </p:cNvPr>
          <p:cNvSpPr txBox="1"/>
          <p:nvPr/>
        </p:nvSpPr>
        <p:spPr>
          <a:xfrm>
            <a:off x="1443719" y="2021518"/>
            <a:ext cx="2728905" cy="738664"/>
          </a:xfrm>
          <a:prstGeom prst="rect">
            <a:avLst/>
          </a:prstGeom>
          <a:noFill/>
        </p:spPr>
        <p:txBody>
          <a:bodyPr wrap="square" rtlCol="0">
            <a:spAutoFit/>
          </a:bodyPr>
          <a:lstStyle/>
          <a:p>
            <a:r>
              <a:rPr lang="en-US" dirty="0">
                <a:solidFill>
                  <a:schemeClr val="bg1"/>
                </a:solidFill>
              </a:rPr>
              <a:t>Unnecessary treatments, higher costs, and lower patient satisfaction</a:t>
            </a:r>
            <a:endParaRPr lang="en-IN" dirty="0">
              <a:solidFill>
                <a:schemeClr val="bg1"/>
              </a:solidFill>
            </a:endParaRPr>
          </a:p>
        </p:txBody>
      </p:sp>
      <p:sp>
        <p:nvSpPr>
          <p:cNvPr id="58" name="TextBox 57">
            <a:extLst>
              <a:ext uri="{FF2B5EF4-FFF2-40B4-BE49-F238E27FC236}">
                <a16:creationId xmlns:a16="http://schemas.microsoft.com/office/drawing/2014/main" id="{07FEAE97-5169-E67C-6094-F83EDE9E3B3E}"/>
              </a:ext>
            </a:extLst>
          </p:cNvPr>
          <p:cNvSpPr txBox="1"/>
          <p:nvPr/>
        </p:nvSpPr>
        <p:spPr>
          <a:xfrm>
            <a:off x="9372057" y="1790595"/>
            <a:ext cx="2745156" cy="3785652"/>
          </a:xfrm>
          <a:prstGeom prst="rect">
            <a:avLst/>
          </a:prstGeom>
          <a:noFill/>
        </p:spPr>
        <p:txBody>
          <a:bodyPr wrap="square" rtlCol="0">
            <a:spAutoFit/>
          </a:bodyPr>
          <a:lstStyle/>
          <a:p>
            <a:r>
              <a:rPr lang="en-IN" sz="1800" dirty="0">
                <a:solidFill>
                  <a:srgbClr val="0070C0"/>
                </a:solidFill>
              </a:rPr>
              <a:t>KPIs to track</a:t>
            </a:r>
          </a:p>
          <a:p>
            <a:endParaRPr lang="en-IN" sz="1800" dirty="0">
              <a:solidFill>
                <a:srgbClr val="0070C0"/>
              </a:solidFill>
            </a:endParaRPr>
          </a:p>
          <a:p>
            <a:r>
              <a:rPr lang="en-IN" sz="1200" b="1" u="sng" dirty="0">
                <a:solidFill>
                  <a:srgbClr val="0070C0"/>
                </a:solidFill>
              </a:rPr>
              <a:t>Cost Savings</a:t>
            </a:r>
            <a:r>
              <a:rPr lang="en-IN" sz="1200" i="1" dirty="0">
                <a:solidFill>
                  <a:srgbClr val="0070C0"/>
                </a:solidFill>
              </a:rPr>
              <a:t>: </a:t>
            </a:r>
            <a:r>
              <a:rPr lang="en-US" sz="1200" i="1" dirty="0">
                <a:solidFill>
                  <a:schemeClr val="bg2"/>
                </a:solidFill>
              </a:rPr>
              <a:t>percentage reduction in hospital readmissions, the average cost per member per month, and the percentage of claims denied</a:t>
            </a:r>
          </a:p>
          <a:p>
            <a:pPr marL="342900" indent="-342900">
              <a:buAutoNum type="arabicPeriod"/>
            </a:pPr>
            <a:endParaRPr lang="en-US" sz="1200" i="1" dirty="0">
              <a:solidFill>
                <a:srgbClr val="0070C0"/>
              </a:solidFill>
            </a:endParaRPr>
          </a:p>
          <a:p>
            <a:r>
              <a:rPr lang="en-US" sz="1200" b="1" u="sng" dirty="0">
                <a:solidFill>
                  <a:srgbClr val="0070C0"/>
                </a:solidFill>
              </a:rPr>
              <a:t>Member Satisfaction</a:t>
            </a:r>
            <a:r>
              <a:rPr lang="en-US" sz="1200" b="1" dirty="0">
                <a:solidFill>
                  <a:srgbClr val="0070C0"/>
                </a:solidFill>
              </a:rPr>
              <a:t>:</a:t>
            </a:r>
            <a:r>
              <a:rPr lang="en-US" sz="1200" i="1" dirty="0">
                <a:solidFill>
                  <a:srgbClr val="0070C0"/>
                </a:solidFill>
              </a:rPr>
              <a:t> </a:t>
            </a:r>
            <a:r>
              <a:rPr lang="en-US" sz="1200" i="1" dirty="0">
                <a:solidFill>
                  <a:schemeClr val="bg2"/>
                </a:solidFill>
              </a:rPr>
              <a:t>member satisfaction scores, the number of complaints received, and the percentage of members who renew their policies</a:t>
            </a:r>
          </a:p>
          <a:p>
            <a:pPr marL="342900" indent="-342900">
              <a:buAutoNum type="arabicPeriod"/>
            </a:pPr>
            <a:endParaRPr lang="en-US" sz="1200" i="1" dirty="0">
              <a:solidFill>
                <a:srgbClr val="0070C0"/>
              </a:solidFill>
            </a:endParaRPr>
          </a:p>
          <a:p>
            <a:r>
              <a:rPr lang="en-US" sz="1200" b="1" u="sng" dirty="0">
                <a:solidFill>
                  <a:srgbClr val="0070C0"/>
                </a:solidFill>
              </a:rPr>
              <a:t>Quality of Care:</a:t>
            </a:r>
            <a:r>
              <a:rPr lang="en-US" sz="1200" i="1" dirty="0">
                <a:solidFill>
                  <a:srgbClr val="0070C0"/>
                </a:solidFill>
              </a:rPr>
              <a:t> </a:t>
            </a:r>
            <a:r>
              <a:rPr lang="en-US" sz="1200" i="1" dirty="0">
                <a:solidFill>
                  <a:schemeClr val="bg2"/>
                </a:solidFill>
              </a:rPr>
              <a:t>percentage of members who receive preventive care, the average length of hospital stay, and the percentage of members who receive care within a certain timeframe</a:t>
            </a:r>
            <a:endParaRPr lang="en-IN" sz="1200" i="1" dirty="0">
              <a:solidFill>
                <a:schemeClr val="bg2"/>
              </a:solidFill>
            </a:endParaRPr>
          </a:p>
        </p:txBody>
      </p:sp>
      <p:pic>
        <p:nvPicPr>
          <p:cNvPr id="60" name="Graphic 59" descr="Dollar with solid fill">
            <a:extLst>
              <a:ext uri="{FF2B5EF4-FFF2-40B4-BE49-F238E27FC236}">
                <a16:creationId xmlns:a16="http://schemas.microsoft.com/office/drawing/2014/main" id="{7DDF060D-B620-0643-659C-A6BFC105531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519480" y="2269653"/>
            <a:ext cx="914400" cy="914400"/>
          </a:xfrm>
          <a:prstGeom prst="rect">
            <a:avLst/>
          </a:prstGeom>
        </p:spPr>
      </p:pic>
      <p:pic>
        <p:nvPicPr>
          <p:cNvPr id="62" name="Graphic 61" descr="Rating Star with solid fill">
            <a:extLst>
              <a:ext uri="{FF2B5EF4-FFF2-40B4-BE49-F238E27FC236}">
                <a16:creationId xmlns:a16="http://schemas.microsoft.com/office/drawing/2014/main" id="{90D0D8CC-BD5A-51CE-F240-7E7D62152472}"/>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633393" y="3370134"/>
            <a:ext cx="738664" cy="738664"/>
          </a:xfrm>
          <a:prstGeom prst="rect">
            <a:avLst/>
          </a:prstGeom>
        </p:spPr>
      </p:pic>
      <p:pic>
        <p:nvPicPr>
          <p:cNvPr id="833" name="Graphic 832" descr="Clipboard Checked with solid fill">
            <a:extLst>
              <a:ext uri="{FF2B5EF4-FFF2-40B4-BE49-F238E27FC236}">
                <a16:creationId xmlns:a16="http://schemas.microsoft.com/office/drawing/2014/main" id="{BEC8A37B-0534-5010-D04C-D2BC01F98BB9}"/>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536688" y="4455259"/>
            <a:ext cx="914400" cy="914400"/>
          </a:xfrm>
          <a:prstGeom prst="rect">
            <a:avLst/>
          </a:prstGeom>
        </p:spPr>
      </p:pic>
    </p:spTree>
    <p:extLst>
      <p:ext uri="{BB962C8B-B14F-4D97-AF65-F5344CB8AC3E}">
        <p14:creationId xmlns:p14="http://schemas.microsoft.com/office/powerpoint/2010/main" val="3347484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Payers who are Embracing AI are Gaining a Competitive Edge While Those Resisting it are Falling Behind</a:t>
            </a:r>
            <a:endParaRPr lang="en-IN" dirty="0"/>
          </a:p>
        </p:txBody>
      </p:sp>
      <p:graphicFrame>
        <p:nvGraphicFramePr>
          <p:cNvPr id="37" name="Diagram 36">
            <a:extLst>
              <a:ext uri="{FF2B5EF4-FFF2-40B4-BE49-F238E27FC236}">
                <a16:creationId xmlns:a16="http://schemas.microsoft.com/office/drawing/2014/main" id="{4302B54A-D22A-66FD-D3B7-C52ECABE24C3}"/>
              </a:ext>
            </a:extLst>
          </p:cNvPr>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4" name="Picture 6" descr="Cigna PNG Transparent Images, Pictures, Photos | PNG Arts">
            <a:extLst>
              <a:ext uri="{FF2B5EF4-FFF2-40B4-BE49-F238E27FC236}">
                <a16:creationId xmlns:a16="http://schemas.microsoft.com/office/drawing/2014/main" id="{EE3313E0-744E-9BAC-C022-1D020203FF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2043" y="3570514"/>
            <a:ext cx="2094242" cy="117905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UnitedHealth Group Logo PNG Transparent &amp; SVG Vector - Freebie Supply">
            <a:extLst>
              <a:ext uri="{FF2B5EF4-FFF2-40B4-BE49-F238E27FC236}">
                <a16:creationId xmlns:a16="http://schemas.microsoft.com/office/drawing/2014/main" id="{D1E844A2-ADFA-C570-BBD5-828600348C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5086" y="3359943"/>
            <a:ext cx="16002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nthem – Logos Download">
            <a:extLst>
              <a:ext uri="{FF2B5EF4-FFF2-40B4-BE49-F238E27FC236}">
                <a16:creationId xmlns:a16="http://schemas.microsoft.com/office/drawing/2014/main" id="{64EA1020-5E58-FE93-F3A8-3867B78AF6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5086" y="2412320"/>
            <a:ext cx="1700479" cy="50505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etna-Logo-PNG-Transparent-2 - National Academy of Medicine">
            <a:extLst>
              <a:ext uri="{FF2B5EF4-FFF2-40B4-BE49-F238E27FC236}">
                <a16:creationId xmlns:a16="http://schemas.microsoft.com/office/drawing/2014/main" id="{4281E763-A640-0CA5-318D-057048DD1F6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78486" y="2464480"/>
            <a:ext cx="1559732" cy="452891"/>
          </a:xfrm>
          <a:prstGeom prst="rect">
            <a:avLst/>
          </a:prstGeom>
          <a:noFill/>
          <a:extLst>
            <a:ext uri="{909E8E84-426E-40DD-AFC4-6F175D3DCCD1}">
              <a14:hiddenFill xmlns:a14="http://schemas.microsoft.com/office/drawing/2010/main">
                <a:solidFill>
                  <a:srgbClr val="FFFFFF"/>
                </a:solidFill>
              </a14:hiddenFill>
            </a:ext>
          </a:extLst>
        </p:spPr>
      </p:pic>
      <p:sp>
        <p:nvSpPr>
          <p:cNvPr id="2119" name="Rectangle 2118">
            <a:extLst>
              <a:ext uri="{FF2B5EF4-FFF2-40B4-BE49-F238E27FC236}">
                <a16:creationId xmlns:a16="http://schemas.microsoft.com/office/drawing/2014/main" id="{DD2FD6D7-8A1D-71CA-496E-19D9FB2F7D20}"/>
              </a:ext>
            </a:extLst>
          </p:cNvPr>
          <p:cNvSpPr/>
          <p:nvPr/>
        </p:nvSpPr>
        <p:spPr>
          <a:xfrm>
            <a:off x="31750" y="6270625"/>
            <a:ext cx="12181416" cy="56091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00"/>
                </a:solidFill>
                <a:latin typeface="Arial"/>
              </a:rPr>
              <a:t>While use of AI has multiple advantages, not using AI can have significant business impact - Blue Cross NC lost the State Health Plan Account after 40 years to Aetna, which could have been </a:t>
            </a:r>
            <a:r>
              <a:rPr lang="en-US" b="1" dirty="0">
                <a:solidFill>
                  <a:srgbClr val="000000"/>
                </a:solidFill>
                <a:latin typeface="Arial"/>
              </a:rPr>
              <a:t>potentially avoided</a:t>
            </a:r>
            <a:r>
              <a:rPr lang="en-US" sz="1400" b="1" dirty="0">
                <a:solidFill>
                  <a:srgbClr val="000000"/>
                </a:solidFill>
                <a:latin typeface="Arial"/>
              </a:rPr>
              <a:t> by leveraging price transparency data and analytics</a:t>
            </a:r>
            <a:r>
              <a:rPr lang="en-US" sz="1400" b="1" dirty="0">
                <a:solidFill>
                  <a:srgbClr val="000000"/>
                </a:solidFill>
                <a:latin typeface="Arial"/>
                <a:ea typeface="Arial"/>
                <a:cs typeface="Arial"/>
              </a:rPr>
              <a:t>​</a:t>
            </a:r>
            <a:endParaRPr lang="en-US" b="1" dirty="0">
              <a:solidFill>
                <a:srgbClr val="000000"/>
              </a:solidFill>
              <a:cs typeface="Arial"/>
            </a:endParaRPr>
          </a:p>
        </p:txBody>
      </p:sp>
    </p:spTree>
    <p:extLst>
      <p:ext uri="{BB962C8B-B14F-4D97-AF65-F5344CB8AC3E}">
        <p14:creationId xmlns:p14="http://schemas.microsoft.com/office/powerpoint/2010/main" val="2231085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AI will act as a bridge between firm’s existing data capabilities and consumer’s digital experiences</a:t>
            </a:r>
            <a:endParaRPr lang="en-IN" dirty="0"/>
          </a:p>
        </p:txBody>
      </p:sp>
      <p:graphicFrame>
        <p:nvGraphicFramePr>
          <p:cNvPr id="2" name="Diagram 1">
            <a:extLst>
              <a:ext uri="{FF2B5EF4-FFF2-40B4-BE49-F238E27FC236}">
                <a16:creationId xmlns:a16="http://schemas.microsoft.com/office/drawing/2014/main" id="{7CD8DD3A-651E-FD51-AA3A-413E2F2AFD45}"/>
              </a:ext>
            </a:extLst>
          </p:cNvPr>
          <p:cNvGraphicFramePr/>
          <p:nvPr/>
        </p:nvGraphicFramePr>
        <p:xfrm>
          <a:off x="2325914" y="62594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raphic 5" descr="Artificial Intelligence with solid fill">
            <a:extLst>
              <a:ext uri="{FF2B5EF4-FFF2-40B4-BE49-F238E27FC236}">
                <a16:creationId xmlns:a16="http://schemas.microsoft.com/office/drawing/2014/main" id="{1E893696-5E92-E936-2F3F-6804EF2D6C7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50083" y="2453829"/>
            <a:ext cx="914400" cy="914400"/>
          </a:xfrm>
          <a:prstGeom prst="rect">
            <a:avLst/>
          </a:prstGeom>
        </p:spPr>
      </p:pic>
      <p:sp>
        <p:nvSpPr>
          <p:cNvPr id="7" name="TextBox 6">
            <a:extLst>
              <a:ext uri="{FF2B5EF4-FFF2-40B4-BE49-F238E27FC236}">
                <a16:creationId xmlns:a16="http://schemas.microsoft.com/office/drawing/2014/main" id="{2B4B4DBA-8AC2-26CE-EED8-1AC726B47CF2}"/>
              </a:ext>
            </a:extLst>
          </p:cNvPr>
          <p:cNvSpPr txBox="1"/>
          <p:nvPr/>
        </p:nvSpPr>
        <p:spPr>
          <a:xfrm>
            <a:off x="5445359" y="3336483"/>
            <a:ext cx="1559797" cy="523220"/>
          </a:xfrm>
          <a:prstGeom prst="rect">
            <a:avLst/>
          </a:prstGeom>
          <a:noFill/>
        </p:spPr>
        <p:txBody>
          <a:bodyPr wrap="square" rtlCol="0">
            <a:spAutoFit/>
          </a:bodyPr>
          <a:lstStyle/>
          <a:p>
            <a:pPr algn="ctr"/>
            <a:r>
              <a:rPr lang="en-IN" dirty="0"/>
              <a:t>Artificial Intelligence</a:t>
            </a:r>
          </a:p>
        </p:txBody>
      </p:sp>
      <p:pic>
        <p:nvPicPr>
          <p:cNvPr id="9" name="Graphic 8" descr="Statistics outline">
            <a:extLst>
              <a:ext uri="{FF2B5EF4-FFF2-40B4-BE49-F238E27FC236}">
                <a16:creationId xmlns:a16="http://schemas.microsoft.com/office/drawing/2014/main" id="{2BD4AC43-CA51-F795-3648-A6BD6B75B7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069772" y="1894113"/>
            <a:ext cx="914400" cy="914400"/>
          </a:xfrm>
          <a:prstGeom prst="rect">
            <a:avLst/>
          </a:prstGeom>
        </p:spPr>
      </p:pic>
      <p:pic>
        <p:nvPicPr>
          <p:cNvPr id="11" name="Graphic 10" descr="Priorities with solid fill">
            <a:extLst>
              <a:ext uri="{FF2B5EF4-FFF2-40B4-BE49-F238E27FC236}">
                <a16:creationId xmlns:a16="http://schemas.microsoft.com/office/drawing/2014/main" id="{678C2A02-9B93-2F69-059D-689D2D84C8D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53535" y="2878073"/>
            <a:ext cx="914400" cy="914400"/>
          </a:xfrm>
          <a:prstGeom prst="rect">
            <a:avLst/>
          </a:prstGeom>
        </p:spPr>
      </p:pic>
      <p:pic>
        <p:nvPicPr>
          <p:cNvPr id="13" name="Graphic 12" descr="Processor with solid fill">
            <a:extLst>
              <a:ext uri="{FF2B5EF4-FFF2-40B4-BE49-F238E27FC236}">
                <a16:creationId xmlns:a16="http://schemas.microsoft.com/office/drawing/2014/main" id="{E93AA448-5976-CAED-4045-65135F5A350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069772" y="3859703"/>
            <a:ext cx="914400" cy="914400"/>
          </a:xfrm>
          <a:prstGeom prst="rect">
            <a:avLst/>
          </a:prstGeom>
        </p:spPr>
      </p:pic>
      <p:pic>
        <p:nvPicPr>
          <p:cNvPr id="15" name="Graphic 14" descr="Group of people with solid fill">
            <a:extLst>
              <a:ext uri="{FF2B5EF4-FFF2-40B4-BE49-F238E27FC236}">
                <a16:creationId xmlns:a16="http://schemas.microsoft.com/office/drawing/2014/main" id="{740F0149-6564-2118-D03A-96B02B93469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943858" y="1328421"/>
            <a:ext cx="914400" cy="914400"/>
          </a:xfrm>
          <a:prstGeom prst="rect">
            <a:avLst/>
          </a:prstGeom>
        </p:spPr>
      </p:pic>
      <p:sp>
        <p:nvSpPr>
          <p:cNvPr id="2098" name="TextBox 2097">
            <a:extLst>
              <a:ext uri="{FF2B5EF4-FFF2-40B4-BE49-F238E27FC236}">
                <a16:creationId xmlns:a16="http://schemas.microsoft.com/office/drawing/2014/main" id="{36E535DE-F5A3-23D3-59DC-3E8A2104BE42}"/>
              </a:ext>
            </a:extLst>
          </p:cNvPr>
          <p:cNvSpPr txBox="1"/>
          <p:nvPr/>
        </p:nvSpPr>
        <p:spPr>
          <a:xfrm>
            <a:off x="3971441" y="2195593"/>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Data</a:t>
            </a:r>
          </a:p>
        </p:txBody>
      </p:sp>
      <p:pic>
        <p:nvPicPr>
          <p:cNvPr id="5" name="Graphic 4" descr="Care with solid fill">
            <a:extLst>
              <a:ext uri="{FF2B5EF4-FFF2-40B4-BE49-F238E27FC236}">
                <a16:creationId xmlns:a16="http://schemas.microsoft.com/office/drawing/2014/main" id="{F16F67BF-064A-E176-FDFB-17E0D762E88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943858" y="2420873"/>
            <a:ext cx="914400" cy="914400"/>
          </a:xfrm>
          <a:prstGeom prst="rect">
            <a:avLst/>
          </a:prstGeom>
        </p:spPr>
      </p:pic>
      <p:sp>
        <p:nvSpPr>
          <p:cNvPr id="2099" name="TextBox 2098">
            <a:extLst>
              <a:ext uri="{FF2B5EF4-FFF2-40B4-BE49-F238E27FC236}">
                <a16:creationId xmlns:a16="http://schemas.microsoft.com/office/drawing/2014/main" id="{E8F002DE-3A45-DFF4-6AD5-2571A5CDCCFE}"/>
              </a:ext>
            </a:extLst>
          </p:cNvPr>
          <p:cNvSpPr txBox="1"/>
          <p:nvPr/>
        </p:nvSpPr>
        <p:spPr>
          <a:xfrm>
            <a:off x="3997271" y="3125490"/>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p>
        </p:txBody>
      </p:sp>
      <p:pic>
        <p:nvPicPr>
          <p:cNvPr id="10" name="Graphic 9" descr="Address Book with solid fill">
            <a:extLst>
              <a:ext uri="{FF2B5EF4-FFF2-40B4-BE49-F238E27FC236}">
                <a16:creationId xmlns:a16="http://schemas.microsoft.com/office/drawing/2014/main" id="{20334271-A4DD-FA5D-3484-EFD6EAB09DF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43858" y="3448933"/>
            <a:ext cx="914400" cy="914400"/>
          </a:xfrm>
          <a:prstGeom prst="rect">
            <a:avLst/>
          </a:prstGeom>
        </p:spPr>
      </p:pic>
      <p:sp>
        <p:nvSpPr>
          <p:cNvPr id="2109" name="TextBox 2108">
            <a:extLst>
              <a:ext uri="{FF2B5EF4-FFF2-40B4-BE49-F238E27FC236}">
                <a16:creationId xmlns:a16="http://schemas.microsoft.com/office/drawing/2014/main" id="{5056268A-AB38-D5D9-E538-44B26B726EB3}"/>
              </a:ext>
            </a:extLst>
          </p:cNvPr>
          <p:cNvSpPr txBox="1"/>
          <p:nvPr/>
        </p:nvSpPr>
        <p:spPr>
          <a:xfrm>
            <a:off x="3971440" y="3125491"/>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p>
        </p:txBody>
      </p:sp>
      <p:sp>
        <p:nvSpPr>
          <p:cNvPr id="16" name="TextBox 15">
            <a:extLst>
              <a:ext uri="{FF2B5EF4-FFF2-40B4-BE49-F238E27FC236}">
                <a16:creationId xmlns:a16="http://schemas.microsoft.com/office/drawing/2014/main" id="{EE1A3B9E-3644-7FD3-717D-43E3EC4CB79B}"/>
              </a:ext>
            </a:extLst>
          </p:cNvPr>
          <p:cNvSpPr txBox="1"/>
          <p:nvPr/>
        </p:nvSpPr>
        <p:spPr>
          <a:xfrm>
            <a:off x="7858258" y="1646238"/>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Sales Force</a:t>
            </a:r>
          </a:p>
        </p:txBody>
      </p:sp>
      <p:sp>
        <p:nvSpPr>
          <p:cNvPr id="17" name="TextBox 16">
            <a:extLst>
              <a:ext uri="{FF2B5EF4-FFF2-40B4-BE49-F238E27FC236}">
                <a16:creationId xmlns:a16="http://schemas.microsoft.com/office/drawing/2014/main" id="{66EB9F61-8142-7A59-7ACE-5503A0C1B426}"/>
              </a:ext>
            </a:extLst>
          </p:cNvPr>
          <p:cNvSpPr txBox="1"/>
          <p:nvPr/>
        </p:nvSpPr>
        <p:spPr>
          <a:xfrm>
            <a:off x="7866194" y="2741125"/>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Care Management</a:t>
            </a:r>
          </a:p>
        </p:txBody>
      </p:sp>
      <p:sp>
        <p:nvSpPr>
          <p:cNvPr id="18" name="TextBox 17">
            <a:extLst>
              <a:ext uri="{FF2B5EF4-FFF2-40B4-BE49-F238E27FC236}">
                <a16:creationId xmlns:a16="http://schemas.microsoft.com/office/drawing/2014/main" id="{968213BB-0624-0D05-7AF8-0CE6CF82424D}"/>
              </a:ext>
            </a:extLst>
          </p:cNvPr>
          <p:cNvSpPr txBox="1"/>
          <p:nvPr/>
        </p:nvSpPr>
        <p:spPr>
          <a:xfrm>
            <a:off x="7866194" y="3674842"/>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Contact Centre</a:t>
            </a:r>
          </a:p>
        </p:txBody>
      </p:sp>
      <p:sp>
        <p:nvSpPr>
          <p:cNvPr id="19" name="TextBox 18">
            <a:extLst>
              <a:ext uri="{FF2B5EF4-FFF2-40B4-BE49-F238E27FC236}">
                <a16:creationId xmlns:a16="http://schemas.microsoft.com/office/drawing/2014/main" id="{7DC98105-5E96-094D-9EBD-60B67D62CCA3}"/>
              </a:ext>
            </a:extLst>
          </p:cNvPr>
          <p:cNvSpPr txBox="1"/>
          <p:nvPr/>
        </p:nvSpPr>
        <p:spPr>
          <a:xfrm>
            <a:off x="7891106" y="4762760"/>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Virtual Care</a:t>
            </a:r>
          </a:p>
        </p:txBody>
      </p:sp>
      <p:sp>
        <p:nvSpPr>
          <p:cNvPr id="20" name="TextBox 19">
            <a:extLst>
              <a:ext uri="{FF2B5EF4-FFF2-40B4-BE49-F238E27FC236}">
                <a16:creationId xmlns:a16="http://schemas.microsoft.com/office/drawing/2014/main" id="{F679ABA1-95CA-03FA-5B23-231BD0ADBD5F}"/>
              </a:ext>
            </a:extLst>
          </p:cNvPr>
          <p:cNvSpPr txBox="1"/>
          <p:nvPr/>
        </p:nvSpPr>
        <p:spPr>
          <a:xfrm>
            <a:off x="3963077" y="3192720"/>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Tech Stack</a:t>
            </a:r>
          </a:p>
        </p:txBody>
      </p:sp>
      <p:sp>
        <p:nvSpPr>
          <p:cNvPr id="21" name="TextBox 20">
            <a:extLst>
              <a:ext uri="{FF2B5EF4-FFF2-40B4-BE49-F238E27FC236}">
                <a16:creationId xmlns:a16="http://schemas.microsoft.com/office/drawing/2014/main" id="{2B571C0C-2FF3-BAA3-E2CB-4C7A53A614F4}"/>
              </a:ext>
            </a:extLst>
          </p:cNvPr>
          <p:cNvSpPr txBox="1"/>
          <p:nvPr/>
        </p:nvSpPr>
        <p:spPr>
          <a:xfrm>
            <a:off x="4005207" y="4163014"/>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API</a:t>
            </a:r>
          </a:p>
        </p:txBody>
      </p:sp>
      <p:pic>
        <p:nvPicPr>
          <p:cNvPr id="2155" name="Graphic 2155" descr="Laptop with solid fill">
            <a:extLst>
              <a:ext uri="{FF2B5EF4-FFF2-40B4-BE49-F238E27FC236}">
                <a16:creationId xmlns:a16="http://schemas.microsoft.com/office/drawing/2014/main" id="{F8CC36E9-88BD-3F88-2A39-B9C88F82A65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072393" y="4366647"/>
            <a:ext cx="914400" cy="914400"/>
          </a:xfrm>
          <a:prstGeom prst="rect">
            <a:avLst/>
          </a:prstGeom>
        </p:spPr>
      </p:pic>
      <p:sp>
        <p:nvSpPr>
          <p:cNvPr id="22" name="TextBox 21">
            <a:extLst>
              <a:ext uri="{FF2B5EF4-FFF2-40B4-BE49-F238E27FC236}">
                <a16:creationId xmlns:a16="http://schemas.microsoft.com/office/drawing/2014/main" id="{7FA0BDF8-26C1-5F75-A9EE-8301F45F25EF}"/>
              </a:ext>
            </a:extLst>
          </p:cNvPr>
          <p:cNvSpPr txBox="1"/>
          <p:nvPr/>
        </p:nvSpPr>
        <p:spPr>
          <a:xfrm>
            <a:off x="632268" y="3214853"/>
            <a:ext cx="1827993" cy="523220"/>
          </a:xfrm>
          <a:prstGeom prst="rect">
            <a:avLst/>
          </a:prstGeom>
          <a:noFill/>
        </p:spPr>
        <p:txBody>
          <a:bodyPr wrap="square" rtlCol="0">
            <a:spAutoFit/>
          </a:bodyPr>
          <a:lstStyle/>
          <a:p>
            <a:r>
              <a:rPr lang="en-IN" b="1" dirty="0"/>
              <a:t>Data &amp; Enterprise Systems</a:t>
            </a:r>
          </a:p>
        </p:txBody>
      </p:sp>
      <p:sp>
        <p:nvSpPr>
          <p:cNvPr id="23" name="TextBox 22">
            <a:extLst>
              <a:ext uri="{FF2B5EF4-FFF2-40B4-BE49-F238E27FC236}">
                <a16:creationId xmlns:a16="http://schemas.microsoft.com/office/drawing/2014/main" id="{BFAA3A1F-7D93-78E2-662A-7413CB153441}"/>
              </a:ext>
            </a:extLst>
          </p:cNvPr>
          <p:cNvSpPr txBox="1"/>
          <p:nvPr/>
        </p:nvSpPr>
        <p:spPr>
          <a:xfrm>
            <a:off x="10479745" y="3214853"/>
            <a:ext cx="1827993" cy="523220"/>
          </a:xfrm>
          <a:prstGeom prst="rect">
            <a:avLst/>
          </a:prstGeom>
          <a:noFill/>
        </p:spPr>
        <p:txBody>
          <a:bodyPr wrap="square" rtlCol="0">
            <a:spAutoFit/>
          </a:bodyPr>
          <a:lstStyle/>
          <a:p>
            <a:r>
              <a:rPr lang="en-IN" b="1" dirty="0"/>
              <a:t>Consumer </a:t>
            </a:r>
            <a:br>
              <a:rPr lang="en-IN" b="1" dirty="0"/>
            </a:br>
            <a:r>
              <a:rPr lang="en-IN" b="1" dirty="0"/>
              <a:t>Experience</a:t>
            </a:r>
          </a:p>
        </p:txBody>
      </p:sp>
    </p:spTree>
    <p:extLst>
      <p:ext uri="{BB962C8B-B14F-4D97-AF65-F5344CB8AC3E}">
        <p14:creationId xmlns:p14="http://schemas.microsoft.com/office/powerpoint/2010/main" val="3984354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14" name="Oval 13">
            <a:extLst>
              <a:ext uri="{FF2B5EF4-FFF2-40B4-BE49-F238E27FC236}">
                <a16:creationId xmlns:a16="http://schemas.microsoft.com/office/drawing/2014/main" id="{3E9604EE-B4A4-4100-3316-FDD7E3C1EB7D}"/>
              </a:ext>
            </a:extLst>
          </p:cNvPr>
          <p:cNvSpPr>
            <a:spLocks/>
          </p:cNvSpPr>
          <p:nvPr/>
        </p:nvSpPr>
        <p:spPr bwMode="auto">
          <a:xfrm>
            <a:off x="5567877" y="4500297"/>
            <a:ext cx="1133554" cy="1133555"/>
          </a:xfrm>
          <a:prstGeom prst="ellipse">
            <a:avLst/>
          </a:prstGeom>
          <a:solidFill>
            <a:schemeClr val="accent3">
              <a:lumMod val="50000"/>
            </a:schemeClr>
          </a:solidFill>
          <a:ln w="152400">
            <a:solidFill>
              <a:schemeClr val="accent4">
                <a:lumMod val="50000"/>
              </a:schemeClr>
            </a:solidFill>
            <a:headEnd type="none" w="med" len="med"/>
            <a:tailEnd type="none" w="med" len="me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noAutofit/>
          </a:bodyPr>
          <a:lstStyle/>
          <a:p>
            <a:pPr>
              <a:spcBef>
                <a:spcPct val="20000"/>
              </a:spcBef>
            </a:pPr>
            <a:endParaRPr lang="en-US" sz="1400" dirty="0">
              <a:ln>
                <a:solidFill>
                  <a:srgbClr val="A41128"/>
                </a:solidFill>
              </a:ln>
              <a:solidFill>
                <a:srgbClr val="000000"/>
              </a:solidFill>
            </a:endParaRPr>
          </a:p>
        </p:txBody>
      </p:sp>
      <p:sp>
        <p:nvSpPr>
          <p:cNvPr id="15" name="Oval 14">
            <a:extLst>
              <a:ext uri="{FF2B5EF4-FFF2-40B4-BE49-F238E27FC236}">
                <a16:creationId xmlns:a16="http://schemas.microsoft.com/office/drawing/2014/main" id="{E7EB7037-EFEA-312C-D3DA-831AA80B84EC}"/>
              </a:ext>
            </a:extLst>
          </p:cNvPr>
          <p:cNvSpPr/>
          <p:nvPr/>
        </p:nvSpPr>
        <p:spPr bwMode="auto">
          <a:xfrm>
            <a:off x="5634623" y="4567044"/>
            <a:ext cx="1000061" cy="1000062"/>
          </a:xfrm>
          <a:prstGeom prst="ellipse">
            <a:avLst/>
          </a:prstGeom>
          <a:solidFill>
            <a:schemeClr val="accent6">
              <a:lumMod val="60000"/>
              <a:lumOff val="40000"/>
            </a:schemeClr>
          </a:solidFill>
          <a:ln w="76200" cmpd="sng">
            <a:solidFill>
              <a:schemeClr val="bg1"/>
            </a:solidFill>
            <a:headEnd type="none" w="med" len="med"/>
            <a:tailEnd type="none" w="med" len="med"/>
          </a:ln>
          <a:effectLst>
            <a:outerShdw blurRad="254000" dir="10800000" sx="102000" sy="102000" rotWithShape="0">
              <a:srgbClr val="000000">
                <a:alpha val="35000"/>
              </a:srgbClr>
            </a:outerShdw>
          </a:effectLst>
        </p:spPr>
        <p:style>
          <a:lnRef idx="1">
            <a:schemeClr val="dk1"/>
          </a:lnRef>
          <a:fillRef idx="3">
            <a:schemeClr val="dk1"/>
          </a:fillRef>
          <a:effectRef idx="2">
            <a:schemeClr val="dk1"/>
          </a:effectRef>
          <a:fontRef idx="minor">
            <a:schemeClr val="lt1"/>
          </a:fontRef>
        </p:style>
        <p:txBody>
          <a:bodyPr vert="horz" wrap="none" lIns="91440" tIns="45720" rIns="91440" bIns="45720" numCol="1" rtlCol="0" anchor="ctr" anchorCtr="0" compatLnSpc="1">
            <a:prstTxWarp prst="textNoShape">
              <a:avLst/>
            </a:prstTxWarp>
          </a:bodyPr>
          <a:lstStyle/>
          <a:p>
            <a:pPr algn="ctr" fontAlgn="base">
              <a:spcBef>
                <a:spcPct val="20000"/>
              </a:spcBef>
              <a:spcAft>
                <a:spcPct val="0"/>
              </a:spcAft>
            </a:pPr>
            <a:r>
              <a:rPr lang="en-US" sz="1600" b="1" dirty="0">
                <a:solidFill>
                  <a:srgbClr val="53565A"/>
                </a:solidFill>
              </a:rPr>
              <a:t>AI</a:t>
            </a:r>
          </a:p>
        </p:txBody>
      </p:sp>
      <p:sp>
        <p:nvSpPr>
          <p:cNvPr id="2" name="Regular Pentagon 53">
            <a:extLst>
              <a:ext uri="{FF2B5EF4-FFF2-40B4-BE49-F238E27FC236}">
                <a16:creationId xmlns:a16="http://schemas.microsoft.com/office/drawing/2014/main" id="{FAEC91C8-DE8A-7D0D-8E25-0A6B7B28F4EE}"/>
              </a:ext>
            </a:extLst>
          </p:cNvPr>
          <p:cNvSpPr/>
          <p:nvPr/>
        </p:nvSpPr>
        <p:spPr bwMode="auto">
          <a:xfrm>
            <a:off x="5523780" y="3214284"/>
            <a:ext cx="1230187" cy="1171606"/>
          </a:xfrm>
          <a:prstGeom prst="pentagon">
            <a:avLst/>
          </a:prstGeom>
          <a:solidFill>
            <a:schemeClr val="tx1">
              <a:lumMod val="60000"/>
              <a:lumOff val="40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dirty="0">
              <a:solidFill>
                <a:srgbClr val="FFFFFF"/>
              </a:solidFill>
            </a:endParaRPr>
          </a:p>
        </p:txBody>
      </p:sp>
      <p:sp>
        <p:nvSpPr>
          <p:cNvPr id="3" name="Oval 2">
            <a:extLst>
              <a:ext uri="{FF2B5EF4-FFF2-40B4-BE49-F238E27FC236}">
                <a16:creationId xmlns:a16="http://schemas.microsoft.com/office/drawing/2014/main" id="{0779D184-7C85-95B9-A1AF-33B1446F7588}"/>
              </a:ext>
            </a:extLst>
          </p:cNvPr>
          <p:cNvSpPr/>
          <p:nvPr/>
        </p:nvSpPr>
        <p:spPr bwMode="auto">
          <a:xfrm>
            <a:off x="5779550" y="3496074"/>
            <a:ext cx="771525" cy="771525"/>
          </a:xfrm>
          <a:prstGeom prst="ellipse">
            <a:avLst/>
          </a:prstGeom>
          <a:solidFill>
            <a:schemeClr val="bg1"/>
          </a:solidFill>
          <a:ln w="38100" cap="flat" cmpd="sng" algn="ctr">
            <a:solidFill>
              <a:schemeClr val="bg2">
                <a:lumMod val="75000"/>
              </a:schemeClr>
            </a:solid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dirty="0">
              <a:solidFill>
                <a:srgbClr val="53565A"/>
              </a:solidFill>
            </a:endParaRPr>
          </a:p>
        </p:txBody>
      </p:sp>
      <p:sp>
        <p:nvSpPr>
          <p:cNvPr id="4" name="Regular Pentagon 52">
            <a:extLst>
              <a:ext uri="{FF2B5EF4-FFF2-40B4-BE49-F238E27FC236}">
                <a16:creationId xmlns:a16="http://schemas.microsoft.com/office/drawing/2014/main" id="{EE859627-1DA6-2777-CD16-A249975FE633}"/>
              </a:ext>
            </a:extLst>
          </p:cNvPr>
          <p:cNvSpPr/>
          <p:nvPr/>
        </p:nvSpPr>
        <p:spPr bwMode="auto">
          <a:xfrm>
            <a:off x="4374684" y="3998824"/>
            <a:ext cx="1230187" cy="1171606"/>
          </a:xfrm>
          <a:prstGeom prst="pentagon">
            <a:avLst/>
          </a:prstGeom>
          <a:gradFill>
            <a:gsLst>
              <a:gs pos="35000">
                <a:schemeClr val="accent3"/>
              </a:gs>
              <a:gs pos="100000">
                <a:schemeClr val="accent3">
                  <a:lumMod val="60000"/>
                  <a:lumOff val="40000"/>
                </a:schemeClr>
              </a:gs>
            </a:gsLst>
            <a:lin ang="0" scaled="1"/>
          </a:gra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20000"/>
              </a:spcBef>
              <a:spcAft>
                <a:spcPts val="600"/>
              </a:spcAft>
            </a:pPr>
            <a:endParaRPr lang="en-US" sz="1600" b="1" dirty="0">
              <a:solidFill>
                <a:srgbClr val="FFFFFF"/>
              </a:solidFill>
            </a:endParaRPr>
          </a:p>
        </p:txBody>
      </p:sp>
      <p:cxnSp>
        <p:nvCxnSpPr>
          <p:cNvPr id="5" name="Straight Connector 4">
            <a:extLst>
              <a:ext uri="{FF2B5EF4-FFF2-40B4-BE49-F238E27FC236}">
                <a16:creationId xmlns:a16="http://schemas.microsoft.com/office/drawing/2014/main" id="{54FBBF50-A9C4-9676-FDEF-ED12582F5EF3}"/>
              </a:ext>
            </a:extLst>
          </p:cNvPr>
          <p:cNvCxnSpPr/>
          <p:nvPr/>
        </p:nvCxnSpPr>
        <p:spPr>
          <a:xfrm>
            <a:off x="4374649" y="2721254"/>
            <a:ext cx="2042" cy="1744763"/>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Rectangle 5">
            <a:hlinkClick r:id="" action="ppaction://noaction"/>
            <a:extLst>
              <a:ext uri="{FF2B5EF4-FFF2-40B4-BE49-F238E27FC236}">
                <a16:creationId xmlns:a16="http://schemas.microsoft.com/office/drawing/2014/main" id="{E88ECD0F-08B8-9346-2E04-EC712B205B68}"/>
              </a:ext>
            </a:extLst>
          </p:cNvPr>
          <p:cNvSpPr/>
          <p:nvPr/>
        </p:nvSpPr>
        <p:spPr bwMode="auto">
          <a:xfrm>
            <a:off x="4722926" y="993112"/>
            <a:ext cx="2717243" cy="365760"/>
          </a:xfrm>
          <a:prstGeom prst="rect">
            <a:avLst/>
          </a:prstGeom>
          <a:solidFill>
            <a:schemeClr val="tx1">
              <a:lumMod val="60000"/>
              <a:lumOff val="40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dirty="0">
                <a:solidFill>
                  <a:srgbClr val="FFFFFF"/>
                </a:solidFill>
              </a:rPr>
              <a:t>SCALE</a:t>
            </a:r>
          </a:p>
        </p:txBody>
      </p:sp>
      <p:sp>
        <p:nvSpPr>
          <p:cNvPr id="7" name="Rectangle 6">
            <a:hlinkClick r:id="" action="ppaction://noaction"/>
            <a:extLst>
              <a:ext uri="{FF2B5EF4-FFF2-40B4-BE49-F238E27FC236}">
                <a16:creationId xmlns:a16="http://schemas.microsoft.com/office/drawing/2014/main" id="{23F73A3B-C6AA-0D01-5C43-38D1BE1BAC3C}"/>
              </a:ext>
            </a:extLst>
          </p:cNvPr>
          <p:cNvSpPr/>
          <p:nvPr/>
        </p:nvSpPr>
        <p:spPr bwMode="auto">
          <a:xfrm>
            <a:off x="1943223" y="2625627"/>
            <a:ext cx="2445656" cy="363063"/>
          </a:xfrm>
          <a:prstGeom prst="rect">
            <a:avLst/>
          </a:prstGeom>
          <a:gradFill>
            <a:gsLst>
              <a:gs pos="35000">
                <a:schemeClr val="accent3"/>
              </a:gs>
              <a:gs pos="100000">
                <a:schemeClr val="accent3">
                  <a:lumMod val="60000"/>
                  <a:lumOff val="40000"/>
                </a:schemeClr>
              </a:gs>
            </a:gsLst>
            <a:lin ang="0" scaled="1"/>
          </a:gra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dirty="0">
                <a:solidFill>
                  <a:srgbClr val="FFFFFF"/>
                </a:solidFill>
              </a:rPr>
              <a:t>SMART</a:t>
            </a:r>
          </a:p>
        </p:txBody>
      </p:sp>
      <p:sp>
        <p:nvSpPr>
          <p:cNvPr id="8" name="Rectangle 7">
            <a:hlinkClick r:id="" action="ppaction://noaction"/>
            <a:extLst>
              <a:ext uri="{FF2B5EF4-FFF2-40B4-BE49-F238E27FC236}">
                <a16:creationId xmlns:a16="http://schemas.microsoft.com/office/drawing/2014/main" id="{49FDB0C7-EAB6-025C-10B1-104D6CE9782E}"/>
              </a:ext>
            </a:extLst>
          </p:cNvPr>
          <p:cNvSpPr/>
          <p:nvPr/>
        </p:nvSpPr>
        <p:spPr bwMode="auto">
          <a:xfrm>
            <a:off x="7887922" y="2608692"/>
            <a:ext cx="2442651" cy="365760"/>
          </a:xfrm>
          <a:prstGeom prst="rect">
            <a:avLst/>
          </a:prstGeom>
          <a:solidFill>
            <a:schemeClr val="tx1">
              <a:lumMod val="75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dirty="0">
                <a:solidFill>
                  <a:srgbClr val="FFFFFF"/>
                </a:solidFill>
              </a:rPr>
              <a:t>SAFE</a:t>
            </a:r>
          </a:p>
        </p:txBody>
      </p:sp>
      <p:cxnSp>
        <p:nvCxnSpPr>
          <p:cNvPr id="9" name="Straight Connector 8">
            <a:extLst>
              <a:ext uri="{FF2B5EF4-FFF2-40B4-BE49-F238E27FC236}">
                <a16:creationId xmlns:a16="http://schemas.microsoft.com/office/drawing/2014/main" id="{EBA1B11A-7D83-5EEB-D414-D2283936668E}"/>
              </a:ext>
            </a:extLst>
          </p:cNvPr>
          <p:cNvCxnSpPr/>
          <p:nvPr/>
        </p:nvCxnSpPr>
        <p:spPr>
          <a:xfrm flipH="1">
            <a:off x="7879689" y="2608693"/>
            <a:ext cx="8233" cy="1818635"/>
          </a:xfrm>
          <a:prstGeom prst="line">
            <a:avLst/>
          </a:prstGeom>
          <a:ln w="2857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gular Pentagon 24">
            <a:extLst>
              <a:ext uri="{FF2B5EF4-FFF2-40B4-BE49-F238E27FC236}">
                <a16:creationId xmlns:a16="http://schemas.microsoft.com/office/drawing/2014/main" id="{54A18F2B-2621-9D37-1E50-9E32F306F3B7}"/>
              </a:ext>
            </a:extLst>
          </p:cNvPr>
          <p:cNvSpPr/>
          <p:nvPr/>
        </p:nvSpPr>
        <p:spPr bwMode="auto">
          <a:xfrm>
            <a:off x="6674512" y="3933008"/>
            <a:ext cx="1230187" cy="1171606"/>
          </a:xfrm>
          <a:prstGeom prst="pentagon">
            <a:avLst/>
          </a:prstGeom>
          <a:solidFill>
            <a:schemeClr val="tx1">
              <a:lumMod val="75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dirty="0">
              <a:solidFill>
                <a:srgbClr val="FFFFFF"/>
              </a:solidFill>
            </a:endParaRPr>
          </a:p>
        </p:txBody>
      </p:sp>
      <p:sp>
        <p:nvSpPr>
          <p:cNvPr id="11" name="TextBox 10">
            <a:extLst>
              <a:ext uri="{FF2B5EF4-FFF2-40B4-BE49-F238E27FC236}">
                <a16:creationId xmlns:a16="http://schemas.microsoft.com/office/drawing/2014/main" id="{A768E1D9-79D5-A658-B535-4D78F95FD3DD}"/>
              </a:ext>
            </a:extLst>
          </p:cNvPr>
          <p:cNvSpPr txBox="1"/>
          <p:nvPr/>
        </p:nvSpPr>
        <p:spPr>
          <a:xfrm>
            <a:off x="1966591" y="3021738"/>
            <a:ext cx="2354554" cy="1169551"/>
          </a:xfrm>
          <a:prstGeom prst="rect">
            <a:avLst/>
          </a:prstGeom>
          <a:noFill/>
        </p:spPr>
        <p:txBody>
          <a:bodyPr wrap="square" lIns="0" rIns="0" rtlCol="0">
            <a:spAutoFit/>
          </a:bodyPr>
          <a:lstStyle/>
          <a:p>
            <a:pPr fontAlgn="base">
              <a:spcBef>
                <a:spcPct val="20000"/>
              </a:spcBef>
              <a:spcAft>
                <a:spcPct val="0"/>
              </a:spcAft>
            </a:pPr>
            <a:r>
              <a:rPr lang="en-US" sz="1400" i="1" dirty="0">
                <a:solidFill>
                  <a:srgbClr val="FFFFFF">
                    <a:lumMod val="50000"/>
                  </a:srgbClr>
                </a:solidFill>
              </a:rPr>
              <a:t>Analyze large amounts of data, identify patterns, and make accurate predictions to improve healthcare outcomes and manage costs</a:t>
            </a:r>
          </a:p>
        </p:txBody>
      </p:sp>
      <p:sp>
        <p:nvSpPr>
          <p:cNvPr id="12" name="TextBox 11">
            <a:extLst>
              <a:ext uri="{FF2B5EF4-FFF2-40B4-BE49-F238E27FC236}">
                <a16:creationId xmlns:a16="http://schemas.microsoft.com/office/drawing/2014/main" id="{22C6C1C2-9E25-0139-BF9E-8BA1073705A0}"/>
              </a:ext>
            </a:extLst>
          </p:cNvPr>
          <p:cNvSpPr txBox="1"/>
          <p:nvPr/>
        </p:nvSpPr>
        <p:spPr>
          <a:xfrm>
            <a:off x="4753685" y="1401655"/>
            <a:ext cx="2686485" cy="1169551"/>
          </a:xfrm>
          <a:prstGeom prst="rect">
            <a:avLst/>
          </a:prstGeom>
          <a:noFill/>
        </p:spPr>
        <p:txBody>
          <a:bodyPr wrap="square" lIns="0" rIns="0" rtlCol="0">
            <a:spAutoFit/>
          </a:bodyPr>
          <a:lstStyle>
            <a:defPPr>
              <a:defRPr lang="en-CA"/>
            </a:defPPr>
            <a:lvl1pPr marL="285750" indent="-285750">
              <a:buFont typeface="Arial" panose="020B0604020202020204" pitchFamily="34" charset="0"/>
              <a:buChar char="•"/>
              <a:defRPr>
                <a:solidFill>
                  <a:schemeClr val="bg1">
                    <a:lumMod val="50000"/>
                  </a:schemeClr>
                </a:solidFill>
              </a:defRPr>
            </a:lvl1pPr>
          </a:lstStyle>
          <a:p>
            <a:pPr marL="0" indent="0" fontAlgn="base">
              <a:spcBef>
                <a:spcPct val="20000"/>
              </a:spcBef>
              <a:spcAft>
                <a:spcPct val="0"/>
              </a:spcAft>
              <a:buNone/>
            </a:pPr>
            <a:r>
              <a:rPr lang="en-US" sz="1400" i="1" dirty="0">
                <a:solidFill>
                  <a:srgbClr val="FFFFFF">
                    <a:lumMod val="50000"/>
                  </a:srgbClr>
                </a:solidFill>
              </a:rPr>
              <a:t>Manage claims processing, customer service, and providing personalized recommendations and support to members on a large scale</a:t>
            </a:r>
          </a:p>
        </p:txBody>
      </p:sp>
      <p:sp>
        <p:nvSpPr>
          <p:cNvPr id="16" name="Oval 15">
            <a:extLst>
              <a:ext uri="{FF2B5EF4-FFF2-40B4-BE49-F238E27FC236}">
                <a16:creationId xmlns:a16="http://schemas.microsoft.com/office/drawing/2014/main" id="{AFC61992-F7F2-7B8E-3356-28D25BAD04BF}"/>
              </a:ext>
            </a:extLst>
          </p:cNvPr>
          <p:cNvSpPr/>
          <p:nvPr/>
        </p:nvSpPr>
        <p:spPr bwMode="auto">
          <a:xfrm>
            <a:off x="6896100" y="4199199"/>
            <a:ext cx="771525" cy="771525"/>
          </a:xfrm>
          <a:prstGeom prst="ellipse">
            <a:avLst/>
          </a:prstGeom>
          <a:solidFill>
            <a:schemeClr val="bg1"/>
          </a:solidFill>
          <a:ln w="38100" cap="flat" cmpd="sng" algn="ctr">
            <a:solidFill>
              <a:schemeClr val="accent6"/>
            </a:solid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dirty="0">
              <a:solidFill>
                <a:srgbClr val="53565A"/>
              </a:solidFill>
            </a:endParaRPr>
          </a:p>
        </p:txBody>
      </p:sp>
      <p:sp>
        <p:nvSpPr>
          <p:cNvPr id="17" name="Oval 16">
            <a:extLst>
              <a:ext uri="{FF2B5EF4-FFF2-40B4-BE49-F238E27FC236}">
                <a16:creationId xmlns:a16="http://schemas.microsoft.com/office/drawing/2014/main" id="{5DCF0071-436F-55D0-3F08-F8EB44B3A0BD}"/>
              </a:ext>
            </a:extLst>
          </p:cNvPr>
          <p:cNvSpPr/>
          <p:nvPr/>
        </p:nvSpPr>
        <p:spPr bwMode="auto">
          <a:xfrm>
            <a:off x="4595503" y="4231166"/>
            <a:ext cx="771525" cy="771525"/>
          </a:xfrm>
          <a:prstGeom prst="ellipse">
            <a:avLst/>
          </a:prstGeom>
          <a:solidFill>
            <a:schemeClr val="bg1"/>
          </a:solidFill>
          <a:ln w="38100" cap="flat" cmpd="sng" algn="ctr">
            <a:solidFill>
              <a:schemeClr val="accent3"/>
            </a:solid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dirty="0">
              <a:solidFill>
                <a:srgbClr val="53565A"/>
              </a:solidFill>
            </a:endParaRPr>
          </a:p>
        </p:txBody>
      </p:sp>
      <p:sp>
        <p:nvSpPr>
          <p:cNvPr id="18" name="TextBox 17">
            <a:extLst>
              <a:ext uri="{FF2B5EF4-FFF2-40B4-BE49-F238E27FC236}">
                <a16:creationId xmlns:a16="http://schemas.microsoft.com/office/drawing/2014/main" id="{D9C906C8-82C2-48D2-2536-F67EE7F2EE09}"/>
              </a:ext>
            </a:extLst>
          </p:cNvPr>
          <p:cNvSpPr txBox="1"/>
          <p:nvPr/>
        </p:nvSpPr>
        <p:spPr>
          <a:xfrm>
            <a:off x="8006397" y="3021738"/>
            <a:ext cx="2335085" cy="954107"/>
          </a:xfrm>
          <a:prstGeom prst="rect">
            <a:avLst/>
          </a:prstGeom>
          <a:noFill/>
        </p:spPr>
        <p:txBody>
          <a:bodyPr wrap="square" lIns="0" rIns="0" rtlCol="0">
            <a:spAutoFit/>
          </a:bodyPr>
          <a:lstStyle/>
          <a:p>
            <a:pPr fontAlgn="base">
              <a:spcBef>
                <a:spcPct val="20000"/>
              </a:spcBef>
              <a:spcAft>
                <a:spcPct val="0"/>
              </a:spcAft>
            </a:pPr>
            <a:r>
              <a:rPr lang="en-US" sz="1400" i="1" dirty="0">
                <a:solidFill>
                  <a:srgbClr val="FFFFFF">
                    <a:lumMod val="50000"/>
                  </a:srgbClr>
                </a:solidFill>
              </a:rPr>
              <a:t>Technology is transparent, explainable, and compliant with regulations to build trust across stakeholders</a:t>
            </a:r>
          </a:p>
        </p:txBody>
      </p:sp>
      <p:sp>
        <p:nvSpPr>
          <p:cNvPr id="25" name="Text Placeholder 2">
            <a:extLst>
              <a:ext uri="{FF2B5EF4-FFF2-40B4-BE49-F238E27FC236}">
                <a16:creationId xmlns:a16="http://schemas.microsoft.com/office/drawing/2014/main" id="{0A2E4B0E-37BB-77D7-A117-2543EB88577B}"/>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The ai strategy has to Incorporate the Three Big S - SMART, SCALE, and SAFE - to Achieve Long-Term Success</a:t>
            </a:r>
            <a:endParaRPr lang="en-IN" dirty="0"/>
          </a:p>
        </p:txBody>
      </p:sp>
      <p:pic>
        <p:nvPicPr>
          <p:cNvPr id="27" name="Graphic 26" descr="Brain in head with solid fill">
            <a:extLst>
              <a:ext uri="{FF2B5EF4-FFF2-40B4-BE49-F238E27FC236}">
                <a16:creationId xmlns:a16="http://schemas.microsoft.com/office/drawing/2014/main" id="{BC052B9D-6F84-4A0D-D5FB-7953AA568B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9008" y="4284923"/>
            <a:ext cx="664029" cy="664029"/>
          </a:xfrm>
          <a:prstGeom prst="rect">
            <a:avLst/>
          </a:prstGeom>
        </p:spPr>
      </p:pic>
      <p:pic>
        <p:nvPicPr>
          <p:cNvPr id="29" name="Graphic 28" descr="Maximize with solid fill">
            <a:extLst>
              <a:ext uri="{FF2B5EF4-FFF2-40B4-BE49-F238E27FC236}">
                <a16:creationId xmlns:a16="http://schemas.microsoft.com/office/drawing/2014/main" id="{244F68E9-9C56-8F7F-C21E-4510C6D617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39132" y="3666224"/>
            <a:ext cx="457200" cy="457200"/>
          </a:xfrm>
          <a:prstGeom prst="rect">
            <a:avLst/>
          </a:prstGeom>
        </p:spPr>
      </p:pic>
      <p:pic>
        <p:nvPicPr>
          <p:cNvPr id="31" name="Graphic 30" descr="Shield Tick with solid fill">
            <a:extLst>
              <a:ext uri="{FF2B5EF4-FFF2-40B4-BE49-F238E27FC236}">
                <a16:creationId xmlns:a16="http://schemas.microsoft.com/office/drawing/2014/main" id="{5B05213A-1827-57D2-F412-E7089123153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82572" y="4289958"/>
            <a:ext cx="614068" cy="614068"/>
          </a:xfrm>
          <a:prstGeom prst="rect">
            <a:avLst/>
          </a:prstGeom>
        </p:spPr>
      </p:pic>
      <p:sp>
        <p:nvSpPr>
          <p:cNvPr id="13" name="Arrow: Left-Right 12">
            <a:extLst>
              <a:ext uri="{FF2B5EF4-FFF2-40B4-BE49-F238E27FC236}">
                <a16:creationId xmlns:a16="http://schemas.microsoft.com/office/drawing/2014/main" id="{08E8B3AE-C40A-F963-1882-40165B4DB4C9}"/>
              </a:ext>
            </a:extLst>
          </p:cNvPr>
          <p:cNvSpPr/>
          <p:nvPr/>
        </p:nvSpPr>
        <p:spPr>
          <a:xfrm>
            <a:off x="1839609" y="5786499"/>
            <a:ext cx="8490964" cy="48923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Multiple payers have deployed such AI systems</a:t>
            </a:r>
          </a:p>
        </p:txBody>
      </p:sp>
      <p:sp>
        <p:nvSpPr>
          <p:cNvPr id="21" name="TextBox 20">
            <a:extLst>
              <a:ext uri="{FF2B5EF4-FFF2-40B4-BE49-F238E27FC236}">
                <a16:creationId xmlns:a16="http://schemas.microsoft.com/office/drawing/2014/main" id="{3CBD2A04-532D-B87A-3EE3-8FE519BED070}"/>
              </a:ext>
            </a:extLst>
          </p:cNvPr>
          <p:cNvSpPr txBox="1"/>
          <p:nvPr/>
        </p:nvSpPr>
        <p:spPr>
          <a:xfrm>
            <a:off x="2235043" y="6274490"/>
            <a:ext cx="1817649" cy="307777"/>
          </a:xfrm>
          <a:prstGeom prst="rect">
            <a:avLst/>
          </a:prstGeom>
          <a:noFill/>
        </p:spPr>
        <p:txBody>
          <a:bodyPr wrap="square" rtlCol="0">
            <a:spAutoFit/>
          </a:bodyPr>
          <a:lstStyle/>
          <a:p>
            <a:r>
              <a:rPr lang="en-IN" b="1" dirty="0"/>
              <a:t>UHG’s Optum IQ</a:t>
            </a:r>
          </a:p>
        </p:txBody>
      </p:sp>
      <p:sp>
        <p:nvSpPr>
          <p:cNvPr id="22" name="TextBox 21">
            <a:extLst>
              <a:ext uri="{FF2B5EF4-FFF2-40B4-BE49-F238E27FC236}">
                <a16:creationId xmlns:a16="http://schemas.microsoft.com/office/drawing/2014/main" id="{7D7212ED-AF67-0376-9D4F-8D8DDDBAB459}"/>
              </a:ext>
            </a:extLst>
          </p:cNvPr>
          <p:cNvSpPr txBox="1"/>
          <p:nvPr/>
        </p:nvSpPr>
        <p:spPr>
          <a:xfrm>
            <a:off x="5181957" y="6277537"/>
            <a:ext cx="1966709" cy="307777"/>
          </a:xfrm>
          <a:prstGeom prst="rect">
            <a:avLst/>
          </a:prstGeom>
          <a:noFill/>
        </p:spPr>
        <p:txBody>
          <a:bodyPr wrap="square" rtlCol="0">
            <a:spAutoFit/>
          </a:bodyPr>
          <a:lstStyle/>
          <a:p>
            <a:r>
              <a:rPr lang="en-IN" b="1" dirty="0"/>
              <a:t>Anthem’s Health OS</a:t>
            </a:r>
          </a:p>
        </p:txBody>
      </p:sp>
      <p:sp>
        <p:nvSpPr>
          <p:cNvPr id="23" name="TextBox 22">
            <a:extLst>
              <a:ext uri="{FF2B5EF4-FFF2-40B4-BE49-F238E27FC236}">
                <a16:creationId xmlns:a16="http://schemas.microsoft.com/office/drawing/2014/main" id="{489EE9B9-46FD-4D21-34F0-39F99CE31771}"/>
              </a:ext>
            </a:extLst>
          </p:cNvPr>
          <p:cNvSpPr txBox="1"/>
          <p:nvPr/>
        </p:nvSpPr>
        <p:spPr>
          <a:xfrm>
            <a:off x="7904699" y="6226687"/>
            <a:ext cx="2243391" cy="523220"/>
          </a:xfrm>
          <a:prstGeom prst="rect">
            <a:avLst/>
          </a:prstGeom>
          <a:noFill/>
        </p:spPr>
        <p:txBody>
          <a:bodyPr wrap="square" rtlCol="0">
            <a:spAutoFit/>
          </a:bodyPr>
          <a:lstStyle/>
          <a:p>
            <a:r>
              <a:rPr lang="en-IN" b="1" dirty="0"/>
              <a:t>Humana’s Personalized Concierge</a:t>
            </a:r>
          </a:p>
        </p:txBody>
      </p:sp>
    </p:spTree>
    <p:extLst>
      <p:ext uri="{BB962C8B-B14F-4D97-AF65-F5344CB8AC3E}">
        <p14:creationId xmlns:p14="http://schemas.microsoft.com/office/powerpoint/2010/main" val="2907458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5" name="Freeform 110">
            <a:extLst>
              <a:ext uri="{FF2B5EF4-FFF2-40B4-BE49-F238E27FC236}">
                <a16:creationId xmlns:a16="http://schemas.microsoft.com/office/drawing/2014/main" id="{F9F99422-5B76-004B-D453-AA8ECC76F988}"/>
              </a:ext>
            </a:extLst>
          </p:cNvPr>
          <p:cNvSpPr>
            <a:spLocks/>
          </p:cNvSpPr>
          <p:nvPr/>
        </p:nvSpPr>
        <p:spPr bwMode="auto">
          <a:xfrm>
            <a:off x="2104696" y="2650128"/>
            <a:ext cx="3620944" cy="2137354"/>
          </a:xfrm>
          <a:custGeom>
            <a:avLst/>
            <a:gdLst>
              <a:gd name="T0" fmla="*/ 572 w 572"/>
              <a:gd name="T1" fmla="*/ 336 h 337"/>
              <a:gd name="T2" fmla="*/ 108 w 572"/>
              <a:gd name="T3" fmla="*/ 0 h 337"/>
              <a:gd name="T4" fmla="*/ 0 w 572"/>
              <a:gd name="T5" fmla="*/ 337 h 337"/>
              <a:gd name="T6" fmla="*/ 572 w 572"/>
              <a:gd name="T7" fmla="*/ 336 h 337"/>
            </a:gdLst>
            <a:ahLst/>
            <a:cxnLst>
              <a:cxn ang="0">
                <a:pos x="T0" y="T1"/>
              </a:cxn>
              <a:cxn ang="0">
                <a:pos x="T2" y="T3"/>
              </a:cxn>
              <a:cxn ang="0">
                <a:pos x="T4" y="T5"/>
              </a:cxn>
              <a:cxn ang="0">
                <a:pos x="T6" y="T7"/>
              </a:cxn>
            </a:cxnLst>
            <a:rect l="0" t="0" r="r" b="b"/>
            <a:pathLst>
              <a:path w="572" h="337">
                <a:moveTo>
                  <a:pt x="572" y="336"/>
                </a:moveTo>
                <a:cubicBezTo>
                  <a:pt x="108" y="0"/>
                  <a:pt x="108" y="0"/>
                  <a:pt x="108" y="0"/>
                </a:cubicBezTo>
                <a:cubicBezTo>
                  <a:pt x="39" y="98"/>
                  <a:pt x="1" y="215"/>
                  <a:pt x="0" y="337"/>
                </a:cubicBezTo>
                <a:lnTo>
                  <a:pt x="572" y="336"/>
                </a:lnTo>
                <a:close/>
              </a:path>
            </a:pathLst>
          </a:custGeom>
          <a:solidFill>
            <a:schemeClr val="accent3">
              <a:lumMod val="75000"/>
            </a:schemeClr>
          </a:solidFill>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TextBox 51">
            <a:extLst>
              <a:ext uri="{FF2B5EF4-FFF2-40B4-BE49-F238E27FC236}">
                <a16:creationId xmlns:a16="http://schemas.microsoft.com/office/drawing/2014/main" id="{3BAE80F6-7F83-9AF5-38F5-644733BBD595}"/>
              </a:ext>
            </a:extLst>
          </p:cNvPr>
          <p:cNvSpPr txBox="1"/>
          <p:nvPr/>
        </p:nvSpPr>
        <p:spPr>
          <a:xfrm>
            <a:off x="2654709" y="3653894"/>
            <a:ext cx="1786331" cy="1119537"/>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bg1"/>
                </a:solidFill>
                <a:effectLst/>
                <a:uLnTx/>
                <a:uFillTx/>
                <a:latin typeface="Arial" charset="0"/>
                <a:ea typeface="+mn-ea"/>
                <a:cs typeface="+mn-cs"/>
              </a:rPr>
              <a:t>Automating Tasks</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bg1"/>
                </a:solidFill>
                <a:effectLst/>
                <a:uLnTx/>
                <a:uFillTx/>
                <a:latin typeface="Arial" charset="0"/>
                <a:ea typeface="+mn-ea"/>
                <a:cs typeface="+mn-cs"/>
              </a:rPr>
              <a:t>Improving Fraud Detection</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chemeClr val="bg1"/>
                </a:solidFill>
                <a:effectLst/>
                <a:uLnTx/>
                <a:uFillTx/>
                <a:latin typeface="Arial" charset="0"/>
                <a:ea typeface="+mn-ea"/>
                <a:cs typeface="+mn-cs"/>
              </a:rPr>
              <a:t>Enhancing quality and improving efficiency</a:t>
            </a:r>
          </a:p>
        </p:txBody>
      </p:sp>
      <p:sp>
        <p:nvSpPr>
          <p:cNvPr id="12" name="Freeform 104">
            <a:extLst>
              <a:ext uri="{FF2B5EF4-FFF2-40B4-BE49-F238E27FC236}">
                <a16:creationId xmlns:a16="http://schemas.microsoft.com/office/drawing/2014/main" id="{8BC78128-4AA2-5791-AF04-B3D137F4BC84}"/>
              </a:ext>
            </a:extLst>
          </p:cNvPr>
          <p:cNvSpPr>
            <a:spLocks/>
          </p:cNvSpPr>
          <p:nvPr/>
        </p:nvSpPr>
        <p:spPr bwMode="auto">
          <a:xfrm>
            <a:off x="2900792" y="1203126"/>
            <a:ext cx="2931103" cy="3450648"/>
          </a:xfrm>
          <a:custGeom>
            <a:avLst/>
            <a:gdLst>
              <a:gd name="T0" fmla="*/ 0 w 463"/>
              <a:gd name="T1" fmla="*/ 207 h 544"/>
              <a:gd name="T2" fmla="*/ 463 w 463"/>
              <a:gd name="T3" fmla="*/ 544 h 544"/>
              <a:gd name="T4" fmla="*/ 286 w 463"/>
              <a:gd name="T5" fmla="*/ 0 h 544"/>
              <a:gd name="T6" fmla="*/ 0 w 463"/>
              <a:gd name="T7" fmla="*/ 207 h 544"/>
            </a:gdLst>
            <a:ahLst/>
            <a:cxnLst>
              <a:cxn ang="0">
                <a:pos x="T0" y="T1"/>
              </a:cxn>
              <a:cxn ang="0">
                <a:pos x="T2" y="T3"/>
              </a:cxn>
              <a:cxn ang="0">
                <a:pos x="T4" y="T5"/>
              </a:cxn>
              <a:cxn ang="0">
                <a:pos x="T6" y="T7"/>
              </a:cxn>
            </a:cxnLst>
            <a:rect l="0" t="0" r="r" b="b"/>
            <a:pathLst>
              <a:path w="463" h="544">
                <a:moveTo>
                  <a:pt x="0" y="207"/>
                </a:moveTo>
                <a:cubicBezTo>
                  <a:pt x="463" y="544"/>
                  <a:pt x="463" y="544"/>
                  <a:pt x="463" y="544"/>
                </a:cubicBezTo>
                <a:cubicBezTo>
                  <a:pt x="286" y="0"/>
                  <a:pt x="286" y="0"/>
                  <a:pt x="286" y="0"/>
                </a:cubicBezTo>
                <a:cubicBezTo>
                  <a:pt x="171" y="38"/>
                  <a:pt x="72" y="109"/>
                  <a:pt x="0" y="207"/>
                </a:cubicBezTo>
                <a:close/>
              </a:path>
            </a:pathLst>
          </a:custGeo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13" name="Group 12">
            <a:extLst>
              <a:ext uri="{FF2B5EF4-FFF2-40B4-BE49-F238E27FC236}">
                <a16:creationId xmlns:a16="http://schemas.microsoft.com/office/drawing/2014/main" id="{26722A4D-EB4E-7DEA-6F32-17EEF8BBF163}"/>
              </a:ext>
            </a:extLst>
          </p:cNvPr>
          <p:cNvGrpSpPr/>
          <p:nvPr/>
        </p:nvGrpSpPr>
        <p:grpSpPr>
          <a:xfrm>
            <a:off x="3260154" y="1228251"/>
            <a:ext cx="1065553" cy="1065553"/>
            <a:chOff x="1735355" y="1902893"/>
            <a:chExt cx="1035170" cy="1035170"/>
          </a:xfrm>
        </p:grpSpPr>
        <p:sp>
          <p:nvSpPr>
            <p:cNvPr id="16" name="Oval 15">
              <a:extLst>
                <a:ext uri="{FF2B5EF4-FFF2-40B4-BE49-F238E27FC236}">
                  <a16:creationId xmlns:a16="http://schemas.microsoft.com/office/drawing/2014/main" id="{00AF7AC4-A02A-EE3E-0706-7CB2DAE36D95}"/>
                </a:ext>
              </a:extLst>
            </p:cNvPr>
            <p:cNvSpPr/>
            <p:nvPr/>
          </p:nvSpPr>
          <p:spPr bwMode="auto">
            <a:xfrm>
              <a:off x="173535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53565A"/>
                </a:solidFill>
                <a:effectLst/>
                <a:uLnTx/>
                <a:uFillTx/>
                <a:latin typeface="Arial" charset="0"/>
                <a:ea typeface="+mn-ea"/>
                <a:cs typeface="+mn-cs"/>
              </a:endParaRPr>
            </a:p>
          </p:txBody>
        </p:sp>
        <p:sp>
          <p:nvSpPr>
            <p:cNvPr id="17" name="Oval 16">
              <a:extLst>
                <a:ext uri="{FF2B5EF4-FFF2-40B4-BE49-F238E27FC236}">
                  <a16:creationId xmlns:a16="http://schemas.microsoft.com/office/drawing/2014/main" id="{2EA791FD-D529-F971-0276-6CBE3BC1B9EF}"/>
                </a:ext>
              </a:extLst>
            </p:cNvPr>
            <p:cNvSpPr/>
            <p:nvPr/>
          </p:nvSpPr>
          <p:spPr bwMode="auto">
            <a:xfrm>
              <a:off x="1735355" y="1902893"/>
              <a:ext cx="1035170" cy="1035170"/>
            </a:xfrm>
            <a:prstGeom prst="ellipse">
              <a:avLst/>
            </a:prstGeom>
            <a:solidFill>
              <a:schemeClr val="bg1"/>
            </a:solidFill>
            <a:ln w="25400">
              <a:solidFill>
                <a:schemeClr val="accent2"/>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14" name="TextBox 47">
            <a:extLst>
              <a:ext uri="{FF2B5EF4-FFF2-40B4-BE49-F238E27FC236}">
                <a16:creationId xmlns:a16="http://schemas.microsoft.com/office/drawing/2014/main" id="{CBF0C9DF-28AC-33AF-EE82-9FB52B191128}"/>
              </a:ext>
            </a:extLst>
          </p:cNvPr>
          <p:cNvSpPr txBox="1"/>
          <p:nvPr/>
        </p:nvSpPr>
        <p:spPr>
          <a:xfrm>
            <a:off x="3380797" y="1557894"/>
            <a:ext cx="824265" cy="406265"/>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kumimoji="0" lang="en-US" sz="1200" b="1" i="0" u="none" strike="noStrike" kern="1200" cap="none" spc="0" normalizeH="0" baseline="0" noProof="0" dirty="0">
                <a:ln>
                  <a:noFill/>
                </a:ln>
                <a:solidFill>
                  <a:srgbClr val="86C8BC"/>
                </a:solidFill>
                <a:effectLst/>
                <a:uLnTx/>
                <a:uFillTx/>
                <a:latin typeface="Arial" charset="0"/>
                <a:ea typeface="+mn-ea"/>
                <a:cs typeface="+mn-cs"/>
              </a:rPr>
              <a:t>Revenue</a:t>
            </a:r>
            <a:br>
              <a:rPr kumimoji="0" lang="en-US" sz="1200" b="1" i="0" u="none" strike="noStrike" kern="1200" cap="none" spc="0" normalizeH="0" baseline="0" noProof="0" dirty="0">
                <a:ln>
                  <a:noFill/>
                </a:ln>
                <a:solidFill>
                  <a:srgbClr val="86C8BC"/>
                </a:solidFill>
                <a:effectLst/>
                <a:uLnTx/>
                <a:uFillTx/>
                <a:latin typeface="Arial" charset="0"/>
                <a:ea typeface="+mn-ea"/>
                <a:cs typeface="+mn-cs"/>
              </a:rPr>
            </a:br>
            <a:r>
              <a:rPr kumimoji="0" lang="en-US" sz="1200" b="1" i="0" u="none" strike="noStrike" kern="1200" cap="none" spc="0" normalizeH="0" baseline="0" noProof="0" dirty="0">
                <a:ln>
                  <a:noFill/>
                </a:ln>
                <a:solidFill>
                  <a:srgbClr val="86C8BC"/>
                </a:solidFill>
                <a:effectLst/>
                <a:uLnTx/>
                <a:uFillTx/>
                <a:latin typeface="Arial" charset="0"/>
                <a:ea typeface="+mn-ea"/>
                <a:cs typeface="+mn-cs"/>
              </a:rPr>
              <a:t>Growth</a:t>
            </a:r>
          </a:p>
        </p:txBody>
      </p:sp>
      <p:sp>
        <p:nvSpPr>
          <p:cNvPr id="15" name="TextBox 52">
            <a:extLst>
              <a:ext uri="{FF2B5EF4-FFF2-40B4-BE49-F238E27FC236}">
                <a16:creationId xmlns:a16="http://schemas.microsoft.com/office/drawing/2014/main" id="{53960DBA-29BC-6F0C-F50E-774414926286}"/>
              </a:ext>
            </a:extLst>
          </p:cNvPr>
          <p:cNvSpPr txBox="1"/>
          <p:nvPr/>
        </p:nvSpPr>
        <p:spPr>
          <a:xfrm>
            <a:off x="3352911" y="2449171"/>
            <a:ext cx="1979556" cy="261610"/>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dirty="0">
                <a:solidFill>
                  <a:srgbClr val="FFFFFF"/>
                </a:solidFill>
              </a:rPr>
              <a:t>New Lead Generation</a:t>
            </a:r>
          </a:p>
        </p:txBody>
      </p:sp>
      <p:sp>
        <p:nvSpPr>
          <p:cNvPr id="19" name="Freeform 98">
            <a:extLst>
              <a:ext uri="{FF2B5EF4-FFF2-40B4-BE49-F238E27FC236}">
                <a16:creationId xmlns:a16="http://schemas.microsoft.com/office/drawing/2014/main" id="{0FECAA6F-29FA-04E3-B4FE-4930161EECEE}"/>
              </a:ext>
            </a:extLst>
          </p:cNvPr>
          <p:cNvSpPr>
            <a:spLocks/>
          </p:cNvSpPr>
          <p:nvPr/>
        </p:nvSpPr>
        <p:spPr bwMode="auto">
          <a:xfrm>
            <a:off x="4932141" y="974725"/>
            <a:ext cx="2239818" cy="3623830"/>
          </a:xfrm>
          <a:custGeom>
            <a:avLst/>
            <a:gdLst>
              <a:gd name="T0" fmla="*/ 354 w 354"/>
              <a:gd name="T1" fmla="*/ 27 h 571"/>
              <a:gd name="T2" fmla="*/ 177 w 354"/>
              <a:gd name="T3" fmla="*/ 0 h 571"/>
              <a:gd name="T4" fmla="*/ 0 w 354"/>
              <a:gd name="T5" fmla="*/ 27 h 571"/>
              <a:gd name="T6" fmla="*/ 177 w 354"/>
              <a:gd name="T7" fmla="*/ 571 h 571"/>
              <a:gd name="T8" fmla="*/ 354 w 354"/>
              <a:gd name="T9" fmla="*/ 27 h 571"/>
            </a:gdLst>
            <a:ahLst/>
            <a:cxnLst>
              <a:cxn ang="0">
                <a:pos x="T0" y="T1"/>
              </a:cxn>
              <a:cxn ang="0">
                <a:pos x="T2" y="T3"/>
              </a:cxn>
              <a:cxn ang="0">
                <a:pos x="T4" y="T5"/>
              </a:cxn>
              <a:cxn ang="0">
                <a:pos x="T6" y="T7"/>
              </a:cxn>
              <a:cxn ang="0">
                <a:pos x="T8" y="T9"/>
              </a:cxn>
            </a:cxnLst>
            <a:rect l="0" t="0" r="r" b="b"/>
            <a:pathLst>
              <a:path w="354" h="571">
                <a:moveTo>
                  <a:pt x="354" y="27"/>
                </a:moveTo>
                <a:cubicBezTo>
                  <a:pt x="297" y="9"/>
                  <a:pt x="238" y="0"/>
                  <a:pt x="177" y="0"/>
                </a:cubicBezTo>
                <a:cubicBezTo>
                  <a:pt x="117" y="0"/>
                  <a:pt x="57" y="9"/>
                  <a:pt x="0" y="27"/>
                </a:cubicBezTo>
                <a:cubicBezTo>
                  <a:pt x="177" y="571"/>
                  <a:pt x="177" y="571"/>
                  <a:pt x="177" y="571"/>
                </a:cubicBezTo>
                <a:lnTo>
                  <a:pt x="354" y="27"/>
                </a:lnTo>
                <a:close/>
              </a:path>
            </a:pathLst>
          </a:custGeom>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sp>
        <p:nvSpPr>
          <p:cNvPr id="22" name="TextBox 53">
            <a:extLst>
              <a:ext uri="{FF2B5EF4-FFF2-40B4-BE49-F238E27FC236}">
                <a16:creationId xmlns:a16="http://schemas.microsoft.com/office/drawing/2014/main" id="{F86AABC7-6E67-3C1E-19DC-EF4780713DB8}"/>
              </a:ext>
            </a:extLst>
          </p:cNvPr>
          <p:cNvSpPr txBox="1"/>
          <p:nvPr/>
        </p:nvSpPr>
        <p:spPr>
          <a:xfrm>
            <a:off x="5250737" y="1701291"/>
            <a:ext cx="1490473" cy="1407308"/>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FFFFFF"/>
                </a:solidFill>
                <a:effectLst/>
                <a:uLnTx/>
                <a:uFillTx/>
                <a:latin typeface="Arial" charset="0"/>
                <a:ea typeface="+mn-ea"/>
                <a:cs typeface="+mn-cs"/>
              </a:rPr>
              <a:t>Providing personalized recommendation</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FFFFFF"/>
                </a:solidFill>
                <a:effectLst/>
                <a:uLnTx/>
                <a:uFillTx/>
                <a:latin typeface="Arial" charset="0"/>
                <a:ea typeface="+mn-ea"/>
                <a:cs typeface="+mn-cs"/>
              </a:rPr>
              <a:t>Faster claims processing</a:t>
            </a:r>
            <a:endParaRPr lang="en-US" sz="1100" dirty="0">
              <a:solidFill>
                <a:srgbClr val="FFFFFF"/>
              </a:solidFill>
            </a:endParaRP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FFFFFF"/>
                </a:solidFill>
                <a:effectLst/>
                <a:uLnTx/>
                <a:uFillTx/>
                <a:latin typeface="Arial" charset="0"/>
                <a:ea typeface="+mn-ea"/>
                <a:cs typeface="+mn-cs"/>
              </a:rPr>
              <a:t>Proactive risk prevention</a:t>
            </a:r>
          </a:p>
        </p:txBody>
      </p:sp>
      <p:grpSp>
        <p:nvGrpSpPr>
          <p:cNvPr id="25" name="Group 24">
            <a:extLst>
              <a:ext uri="{FF2B5EF4-FFF2-40B4-BE49-F238E27FC236}">
                <a16:creationId xmlns:a16="http://schemas.microsoft.com/office/drawing/2014/main" id="{62C9415E-D5FE-DFCB-0998-6B49D22391C3}"/>
              </a:ext>
            </a:extLst>
          </p:cNvPr>
          <p:cNvGrpSpPr/>
          <p:nvPr/>
        </p:nvGrpSpPr>
        <p:grpSpPr>
          <a:xfrm>
            <a:off x="6282672" y="1195910"/>
            <a:ext cx="2929659" cy="3457864"/>
            <a:chOff x="4656138" y="1798848"/>
            <a:chExt cx="3222625" cy="3803650"/>
          </a:xfrm>
        </p:grpSpPr>
        <p:sp>
          <p:nvSpPr>
            <p:cNvPr id="26" name="Freeform 92">
              <a:extLst>
                <a:ext uri="{FF2B5EF4-FFF2-40B4-BE49-F238E27FC236}">
                  <a16:creationId xmlns:a16="http://schemas.microsoft.com/office/drawing/2014/main" id="{884E5C45-C197-3159-5ABD-C8A4A0F8F826}"/>
                </a:ext>
              </a:extLst>
            </p:cNvPr>
            <p:cNvSpPr>
              <a:spLocks/>
            </p:cNvSpPr>
            <p:nvPr/>
          </p:nvSpPr>
          <p:spPr bwMode="auto">
            <a:xfrm>
              <a:off x="4656138" y="1798848"/>
              <a:ext cx="3222625" cy="3803650"/>
            </a:xfrm>
            <a:custGeom>
              <a:avLst/>
              <a:gdLst>
                <a:gd name="T0" fmla="*/ 176 w 463"/>
                <a:gd name="T1" fmla="*/ 0 h 545"/>
                <a:gd name="T2" fmla="*/ 0 w 463"/>
                <a:gd name="T3" fmla="*/ 545 h 545"/>
                <a:gd name="T4" fmla="*/ 463 w 463"/>
                <a:gd name="T5" fmla="*/ 208 h 545"/>
                <a:gd name="T6" fmla="*/ 176 w 463"/>
                <a:gd name="T7" fmla="*/ 0 h 545"/>
              </a:gdLst>
              <a:ahLst/>
              <a:cxnLst>
                <a:cxn ang="0">
                  <a:pos x="T0" y="T1"/>
                </a:cxn>
                <a:cxn ang="0">
                  <a:pos x="T2" y="T3"/>
                </a:cxn>
                <a:cxn ang="0">
                  <a:pos x="T4" y="T5"/>
                </a:cxn>
                <a:cxn ang="0">
                  <a:pos x="T6" y="T7"/>
                </a:cxn>
              </a:cxnLst>
              <a:rect l="0" t="0" r="r" b="b"/>
              <a:pathLst>
                <a:path w="463" h="545">
                  <a:moveTo>
                    <a:pt x="176" y="0"/>
                  </a:moveTo>
                  <a:cubicBezTo>
                    <a:pt x="0" y="545"/>
                    <a:pt x="0" y="545"/>
                    <a:pt x="0" y="545"/>
                  </a:cubicBezTo>
                  <a:cubicBezTo>
                    <a:pt x="463" y="208"/>
                    <a:pt x="463" y="208"/>
                    <a:pt x="463" y="208"/>
                  </a:cubicBezTo>
                  <a:cubicBezTo>
                    <a:pt x="391" y="110"/>
                    <a:pt x="292" y="39"/>
                    <a:pt x="176" y="0"/>
                  </a:cubicBezTo>
                  <a:close/>
                </a:path>
              </a:pathLst>
            </a:custGeom>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27" name="Group 26">
              <a:extLst>
                <a:ext uri="{FF2B5EF4-FFF2-40B4-BE49-F238E27FC236}">
                  <a16:creationId xmlns:a16="http://schemas.microsoft.com/office/drawing/2014/main" id="{8A2A55E7-7680-4FE1-8932-8CE5B0782C50}"/>
                </a:ext>
              </a:extLst>
            </p:cNvPr>
            <p:cNvGrpSpPr/>
            <p:nvPr/>
          </p:nvGrpSpPr>
          <p:grpSpPr>
            <a:xfrm>
              <a:off x="6456926" y="1834424"/>
              <a:ext cx="1172108" cy="1172108"/>
              <a:chOff x="6522185" y="1902893"/>
              <a:chExt cx="1035170" cy="1035170"/>
            </a:xfrm>
          </p:grpSpPr>
          <p:sp>
            <p:nvSpPr>
              <p:cNvPr id="30" name="Oval 29">
                <a:extLst>
                  <a:ext uri="{FF2B5EF4-FFF2-40B4-BE49-F238E27FC236}">
                    <a16:creationId xmlns:a16="http://schemas.microsoft.com/office/drawing/2014/main" id="{256548B8-7C89-AB9F-ED7C-792F6B22D425}"/>
                  </a:ext>
                </a:extLst>
              </p:cNvPr>
              <p:cNvSpPr/>
              <p:nvPr/>
            </p:nvSpPr>
            <p:spPr bwMode="auto">
              <a:xfrm>
                <a:off x="652218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53565A"/>
                  </a:solidFill>
                  <a:effectLst/>
                  <a:uLnTx/>
                  <a:uFillTx/>
                  <a:latin typeface="Arial" charset="0"/>
                  <a:ea typeface="+mn-ea"/>
                  <a:cs typeface="+mn-cs"/>
                </a:endParaRPr>
              </a:p>
            </p:txBody>
          </p:sp>
          <p:sp>
            <p:nvSpPr>
              <p:cNvPr id="31" name="Oval 30">
                <a:extLst>
                  <a:ext uri="{FF2B5EF4-FFF2-40B4-BE49-F238E27FC236}">
                    <a16:creationId xmlns:a16="http://schemas.microsoft.com/office/drawing/2014/main" id="{35D29C8C-5CE3-A48A-82EB-65FEA3C60752}"/>
                  </a:ext>
                </a:extLst>
              </p:cNvPr>
              <p:cNvSpPr/>
              <p:nvPr/>
            </p:nvSpPr>
            <p:spPr bwMode="auto">
              <a:xfrm>
                <a:off x="6522185" y="1902893"/>
                <a:ext cx="1035170" cy="1035170"/>
              </a:xfrm>
              <a:prstGeom prst="ellipse">
                <a:avLst/>
              </a:prstGeom>
              <a:solidFill>
                <a:schemeClr val="bg1"/>
              </a:solidFill>
              <a:ln w="25400">
                <a:solidFill>
                  <a:schemeClr val="accent3"/>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28" name="TextBox 49">
              <a:extLst>
                <a:ext uri="{FF2B5EF4-FFF2-40B4-BE49-F238E27FC236}">
                  <a16:creationId xmlns:a16="http://schemas.microsoft.com/office/drawing/2014/main" id="{57C39064-9C87-DA1C-E4B4-7F32DE482E85}"/>
                </a:ext>
              </a:extLst>
            </p:cNvPr>
            <p:cNvSpPr txBox="1"/>
            <p:nvPr/>
          </p:nvSpPr>
          <p:spPr>
            <a:xfrm>
              <a:off x="6461797" y="2283365"/>
              <a:ext cx="1162370" cy="274229"/>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kumimoji="0" lang="en-US" sz="1200" b="1" i="0" u="none" strike="noStrike" kern="1200" cap="none" spc="0" normalizeH="0" baseline="0" noProof="0" dirty="0">
                  <a:ln>
                    <a:noFill/>
                  </a:ln>
                  <a:solidFill>
                    <a:srgbClr val="86C8BC"/>
                  </a:solidFill>
                  <a:effectLst/>
                  <a:uLnTx/>
                  <a:uFillTx/>
                  <a:latin typeface="Arial" charset="0"/>
                  <a:ea typeface="+mn-ea"/>
                  <a:cs typeface="+mn-cs"/>
                </a:rPr>
                <a:t>Compliance</a:t>
              </a:r>
            </a:p>
          </p:txBody>
        </p:sp>
      </p:grpSp>
      <p:sp>
        <p:nvSpPr>
          <p:cNvPr id="33" name="Freeform 86">
            <a:extLst>
              <a:ext uri="{FF2B5EF4-FFF2-40B4-BE49-F238E27FC236}">
                <a16:creationId xmlns:a16="http://schemas.microsoft.com/office/drawing/2014/main" id="{4D27A456-3F31-A1D6-BCAD-425DEC593E9D}"/>
              </a:ext>
            </a:extLst>
          </p:cNvPr>
          <p:cNvSpPr>
            <a:spLocks/>
          </p:cNvSpPr>
          <p:nvPr/>
        </p:nvSpPr>
        <p:spPr bwMode="auto">
          <a:xfrm>
            <a:off x="6380463" y="2652008"/>
            <a:ext cx="3615171" cy="2131580"/>
          </a:xfrm>
          <a:custGeom>
            <a:avLst/>
            <a:gdLst>
              <a:gd name="T0" fmla="*/ 463 w 571"/>
              <a:gd name="T1" fmla="*/ 0 h 336"/>
              <a:gd name="T2" fmla="*/ 0 w 571"/>
              <a:gd name="T3" fmla="*/ 336 h 336"/>
              <a:gd name="T4" fmla="*/ 571 w 571"/>
              <a:gd name="T5" fmla="*/ 336 h 336"/>
              <a:gd name="T6" fmla="*/ 463 w 571"/>
              <a:gd name="T7" fmla="*/ 0 h 336"/>
            </a:gdLst>
            <a:ahLst/>
            <a:cxnLst>
              <a:cxn ang="0">
                <a:pos x="T0" y="T1"/>
              </a:cxn>
              <a:cxn ang="0">
                <a:pos x="T2" y="T3"/>
              </a:cxn>
              <a:cxn ang="0">
                <a:pos x="T4" y="T5"/>
              </a:cxn>
              <a:cxn ang="0">
                <a:pos x="T6" y="T7"/>
              </a:cxn>
            </a:cxnLst>
            <a:rect l="0" t="0" r="r" b="b"/>
            <a:pathLst>
              <a:path w="571" h="336">
                <a:moveTo>
                  <a:pt x="463" y="0"/>
                </a:moveTo>
                <a:cubicBezTo>
                  <a:pt x="0" y="336"/>
                  <a:pt x="0" y="336"/>
                  <a:pt x="0" y="336"/>
                </a:cubicBezTo>
                <a:cubicBezTo>
                  <a:pt x="571" y="336"/>
                  <a:pt x="571" y="336"/>
                  <a:pt x="571" y="336"/>
                </a:cubicBezTo>
                <a:cubicBezTo>
                  <a:pt x="570" y="214"/>
                  <a:pt x="533" y="98"/>
                  <a:pt x="463" y="0"/>
                </a:cubicBezTo>
                <a:close/>
              </a:path>
            </a:pathLst>
          </a:custGeom>
          <a:solidFill>
            <a:schemeClr val="accent1">
              <a:lumMod val="75000"/>
            </a:schemeClr>
          </a:solidFill>
          <a:ln>
            <a:solidFill>
              <a:schemeClr val="accent1">
                <a:lumMod val="75000"/>
              </a:schemeClr>
            </a:solidFill>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sp>
        <p:nvSpPr>
          <p:cNvPr id="36" name="TextBox 55">
            <a:extLst>
              <a:ext uri="{FF2B5EF4-FFF2-40B4-BE49-F238E27FC236}">
                <a16:creationId xmlns:a16="http://schemas.microsoft.com/office/drawing/2014/main" id="{933F38F4-99C7-0BCE-0AFB-3855733D89DA}"/>
              </a:ext>
            </a:extLst>
          </p:cNvPr>
          <p:cNvSpPr txBox="1"/>
          <p:nvPr/>
        </p:nvSpPr>
        <p:spPr>
          <a:xfrm>
            <a:off x="7780991" y="3514959"/>
            <a:ext cx="1653022" cy="1341906"/>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charset="0"/>
                <a:ea typeface="+mn-ea"/>
                <a:cs typeface="+mn-cs"/>
              </a:rPr>
              <a:t>Creating new features &amp; functionalities</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lang="en-US" sz="1200" dirty="0">
                <a:solidFill>
                  <a:srgbClr val="FFFFFF"/>
                </a:solidFill>
              </a:rPr>
              <a:t>Discovering new opportunities</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Arial" charset="0"/>
                <a:ea typeface="+mn-ea"/>
                <a:cs typeface="+mn-cs"/>
              </a:rPr>
              <a:t>Accelerating R&amp;D</a:t>
            </a:r>
          </a:p>
        </p:txBody>
      </p:sp>
      <p:sp>
        <p:nvSpPr>
          <p:cNvPr id="40" name="Oval 39">
            <a:extLst>
              <a:ext uri="{FF2B5EF4-FFF2-40B4-BE49-F238E27FC236}">
                <a16:creationId xmlns:a16="http://schemas.microsoft.com/office/drawing/2014/main" id="{1D517DCD-1019-FE64-2ECC-E7FE1A6AA4A9}"/>
              </a:ext>
            </a:extLst>
          </p:cNvPr>
          <p:cNvSpPr/>
          <p:nvPr/>
        </p:nvSpPr>
        <p:spPr>
          <a:xfrm>
            <a:off x="4681260" y="3096259"/>
            <a:ext cx="2772320" cy="234467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28" name="Picture 4" descr="Machine Learning Images - Free Download on Freepik">
            <a:extLst>
              <a:ext uri="{FF2B5EF4-FFF2-40B4-BE49-F238E27FC236}">
                <a16:creationId xmlns:a16="http://schemas.microsoft.com/office/drawing/2014/main" id="{6016D2CE-2085-4B40-5B52-CAE4B9611B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549" t="13822" r="3399" b="26870"/>
          <a:stretch/>
        </p:blipFill>
        <p:spPr bwMode="auto">
          <a:xfrm>
            <a:off x="4882789" y="3717260"/>
            <a:ext cx="2348048" cy="1090678"/>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52">
            <a:extLst>
              <a:ext uri="{FF2B5EF4-FFF2-40B4-BE49-F238E27FC236}">
                <a16:creationId xmlns:a16="http://schemas.microsoft.com/office/drawing/2014/main" id="{FCD76A49-486D-D4A2-8BD1-5F01C3ED2F12}"/>
              </a:ext>
            </a:extLst>
          </p:cNvPr>
          <p:cNvSpPr txBox="1"/>
          <p:nvPr/>
        </p:nvSpPr>
        <p:spPr>
          <a:xfrm>
            <a:off x="3590790" y="2687820"/>
            <a:ext cx="1979556" cy="430887"/>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dirty="0">
                <a:solidFill>
                  <a:srgbClr val="FFFFFF"/>
                </a:solidFill>
              </a:rPr>
              <a:t>Cross Selling &amp; </a:t>
            </a:r>
            <a:br>
              <a:rPr lang="en-US" sz="1100" dirty="0">
                <a:solidFill>
                  <a:srgbClr val="FFFFFF"/>
                </a:solidFill>
              </a:rPr>
            </a:br>
            <a:r>
              <a:rPr lang="en-US" sz="1100" dirty="0">
                <a:solidFill>
                  <a:srgbClr val="FFFFFF"/>
                </a:solidFill>
              </a:rPr>
              <a:t>Upselling</a:t>
            </a:r>
          </a:p>
        </p:txBody>
      </p:sp>
      <p:sp>
        <p:nvSpPr>
          <p:cNvPr id="43" name="TextBox 52">
            <a:extLst>
              <a:ext uri="{FF2B5EF4-FFF2-40B4-BE49-F238E27FC236}">
                <a16:creationId xmlns:a16="http://schemas.microsoft.com/office/drawing/2014/main" id="{C2EBABC3-7873-F389-C396-6CBBC6A1E7EA}"/>
              </a:ext>
            </a:extLst>
          </p:cNvPr>
          <p:cNvSpPr txBox="1"/>
          <p:nvPr/>
        </p:nvSpPr>
        <p:spPr>
          <a:xfrm>
            <a:off x="3907360" y="3068110"/>
            <a:ext cx="1979556" cy="430887"/>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dirty="0">
                <a:solidFill>
                  <a:srgbClr val="FFFFFF"/>
                </a:solidFill>
              </a:rPr>
              <a:t>Optimizing Price &amp;</a:t>
            </a:r>
            <a:br>
              <a:rPr lang="en-US" sz="1100" dirty="0">
                <a:solidFill>
                  <a:srgbClr val="FFFFFF"/>
                </a:solidFill>
              </a:rPr>
            </a:br>
            <a:r>
              <a:rPr lang="en-US" sz="1100" dirty="0">
                <a:solidFill>
                  <a:srgbClr val="FFFFFF"/>
                </a:solidFill>
              </a:rPr>
              <a:t>Discounts</a:t>
            </a:r>
          </a:p>
        </p:txBody>
      </p:sp>
      <p:sp>
        <p:nvSpPr>
          <p:cNvPr id="44" name="TextBox 52">
            <a:extLst>
              <a:ext uri="{FF2B5EF4-FFF2-40B4-BE49-F238E27FC236}">
                <a16:creationId xmlns:a16="http://schemas.microsoft.com/office/drawing/2014/main" id="{59268254-0456-2328-CFF8-3F23BE67F57A}"/>
              </a:ext>
            </a:extLst>
          </p:cNvPr>
          <p:cNvSpPr txBox="1"/>
          <p:nvPr/>
        </p:nvSpPr>
        <p:spPr>
          <a:xfrm>
            <a:off x="7136966" y="2340001"/>
            <a:ext cx="1979556" cy="261610"/>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dirty="0">
                <a:solidFill>
                  <a:schemeClr val="bg2">
                    <a:lumMod val="95000"/>
                    <a:lumOff val="5000"/>
                  </a:schemeClr>
                </a:solidFill>
              </a:rPr>
              <a:t>Auditing data usage</a:t>
            </a:r>
          </a:p>
        </p:txBody>
      </p:sp>
      <p:sp>
        <p:nvSpPr>
          <p:cNvPr id="45" name="TextBox 52">
            <a:extLst>
              <a:ext uri="{FF2B5EF4-FFF2-40B4-BE49-F238E27FC236}">
                <a16:creationId xmlns:a16="http://schemas.microsoft.com/office/drawing/2014/main" id="{B9CA8301-AF19-6785-7B3A-34DF5E2CFEBE}"/>
              </a:ext>
            </a:extLst>
          </p:cNvPr>
          <p:cNvSpPr txBox="1"/>
          <p:nvPr/>
        </p:nvSpPr>
        <p:spPr>
          <a:xfrm>
            <a:off x="6995453" y="2590375"/>
            <a:ext cx="1979556" cy="261610"/>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dirty="0">
                <a:solidFill>
                  <a:schemeClr val="bg2">
                    <a:lumMod val="95000"/>
                    <a:lumOff val="5000"/>
                  </a:schemeClr>
                </a:solidFill>
              </a:rPr>
              <a:t>Encryption Enhancement</a:t>
            </a:r>
          </a:p>
        </p:txBody>
      </p:sp>
      <p:sp>
        <p:nvSpPr>
          <p:cNvPr id="46" name="TextBox 52">
            <a:extLst>
              <a:ext uri="{FF2B5EF4-FFF2-40B4-BE49-F238E27FC236}">
                <a16:creationId xmlns:a16="http://schemas.microsoft.com/office/drawing/2014/main" id="{DA30C274-CC42-9088-A2FE-E7BE10E6C168}"/>
              </a:ext>
            </a:extLst>
          </p:cNvPr>
          <p:cNvSpPr txBox="1"/>
          <p:nvPr/>
        </p:nvSpPr>
        <p:spPr>
          <a:xfrm>
            <a:off x="6864825" y="2840745"/>
            <a:ext cx="1979556" cy="430887"/>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dirty="0">
                <a:solidFill>
                  <a:schemeClr val="bg2">
                    <a:lumMod val="95000"/>
                    <a:lumOff val="5000"/>
                  </a:schemeClr>
                </a:solidFill>
              </a:rPr>
              <a:t>Access control </a:t>
            </a:r>
            <a:br>
              <a:rPr lang="en-US" sz="1100" dirty="0">
                <a:solidFill>
                  <a:schemeClr val="bg2">
                    <a:lumMod val="95000"/>
                    <a:lumOff val="5000"/>
                  </a:schemeClr>
                </a:solidFill>
              </a:rPr>
            </a:br>
            <a:r>
              <a:rPr lang="en-US" sz="1100" dirty="0">
                <a:solidFill>
                  <a:schemeClr val="bg2">
                    <a:lumMod val="95000"/>
                    <a:lumOff val="5000"/>
                  </a:schemeClr>
                </a:solidFill>
              </a:rPr>
              <a:t>monitoring</a:t>
            </a:r>
          </a:p>
        </p:txBody>
      </p:sp>
      <p:grpSp>
        <p:nvGrpSpPr>
          <p:cNvPr id="47" name="Group 46">
            <a:extLst>
              <a:ext uri="{FF2B5EF4-FFF2-40B4-BE49-F238E27FC236}">
                <a16:creationId xmlns:a16="http://schemas.microsoft.com/office/drawing/2014/main" id="{F0BE4A4D-A9CB-A104-97E9-E1EA988258E5}"/>
              </a:ext>
            </a:extLst>
          </p:cNvPr>
          <p:cNvGrpSpPr/>
          <p:nvPr/>
        </p:nvGrpSpPr>
        <p:grpSpPr>
          <a:xfrm>
            <a:off x="1676850" y="3275229"/>
            <a:ext cx="1065553" cy="1065553"/>
            <a:chOff x="1735355" y="1902893"/>
            <a:chExt cx="1035170" cy="1035170"/>
          </a:xfrm>
        </p:grpSpPr>
        <p:sp>
          <p:nvSpPr>
            <p:cNvPr id="48" name="Oval 47">
              <a:extLst>
                <a:ext uri="{FF2B5EF4-FFF2-40B4-BE49-F238E27FC236}">
                  <a16:creationId xmlns:a16="http://schemas.microsoft.com/office/drawing/2014/main" id="{FDE52E09-8656-4AB1-ECCE-4762799FFD56}"/>
                </a:ext>
              </a:extLst>
            </p:cNvPr>
            <p:cNvSpPr/>
            <p:nvPr/>
          </p:nvSpPr>
          <p:spPr bwMode="auto">
            <a:xfrm>
              <a:off x="173535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53565A"/>
                </a:solidFill>
                <a:effectLst/>
                <a:uLnTx/>
                <a:uFillTx/>
                <a:latin typeface="Arial" charset="0"/>
                <a:ea typeface="+mn-ea"/>
                <a:cs typeface="+mn-cs"/>
              </a:endParaRPr>
            </a:p>
          </p:txBody>
        </p:sp>
        <p:sp>
          <p:nvSpPr>
            <p:cNvPr id="49" name="Oval 48">
              <a:extLst>
                <a:ext uri="{FF2B5EF4-FFF2-40B4-BE49-F238E27FC236}">
                  <a16:creationId xmlns:a16="http://schemas.microsoft.com/office/drawing/2014/main" id="{2740C28E-C7D3-EE26-1B60-E4DD392979CE}"/>
                </a:ext>
              </a:extLst>
            </p:cNvPr>
            <p:cNvSpPr/>
            <p:nvPr/>
          </p:nvSpPr>
          <p:spPr bwMode="auto">
            <a:xfrm>
              <a:off x="1735355" y="1902893"/>
              <a:ext cx="1035170" cy="1035170"/>
            </a:xfrm>
            <a:prstGeom prst="ellipse">
              <a:avLst/>
            </a:prstGeom>
            <a:solidFill>
              <a:schemeClr val="bg1"/>
            </a:solidFill>
            <a:ln w="25400">
              <a:solidFill>
                <a:schemeClr val="accent2"/>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50" name="TextBox 47">
            <a:extLst>
              <a:ext uri="{FF2B5EF4-FFF2-40B4-BE49-F238E27FC236}">
                <a16:creationId xmlns:a16="http://schemas.microsoft.com/office/drawing/2014/main" id="{07CB9021-0B93-C54B-0015-F2612EBAACA5}"/>
              </a:ext>
            </a:extLst>
          </p:cNvPr>
          <p:cNvSpPr txBox="1"/>
          <p:nvPr/>
        </p:nvSpPr>
        <p:spPr>
          <a:xfrm>
            <a:off x="1737326" y="3604872"/>
            <a:ext cx="938078" cy="406265"/>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lang="en-US" sz="1200" b="1" dirty="0">
                <a:solidFill>
                  <a:srgbClr val="86C8BC"/>
                </a:solidFill>
              </a:rPr>
              <a:t>Cost</a:t>
            </a:r>
            <a:br>
              <a:rPr lang="en-US" sz="1200" b="1" dirty="0">
                <a:solidFill>
                  <a:srgbClr val="86C8BC"/>
                </a:solidFill>
              </a:rPr>
            </a:br>
            <a:r>
              <a:rPr lang="en-US" sz="1200" b="1" dirty="0">
                <a:solidFill>
                  <a:srgbClr val="86C8BC"/>
                </a:solidFill>
              </a:rPr>
              <a:t>Reduction</a:t>
            </a:r>
            <a:endParaRPr kumimoji="0" lang="en-US" sz="1200" b="1" i="0" u="none" strike="noStrike" kern="1200" cap="none" spc="0" normalizeH="0" baseline="0" noProof="0" dirty="0">
              <a:ln>
                <a:noFill/>
              </a:ln>
              <a:solidFill>
                <a:srgbClr val="86C8BC"/>
              </a:solidFill>
              <a:effectLst/>
              <a:uLnTx/>
              <a:uFillTx/>
              <a:latin typeface="Arial" charset="0"/>
              <a:ea typeface="+mn-ea"/>
              <a:cs typeface="+mn-cs"/>
            </a:endParaRPr>
          </a:p>
        </p:txBody>
      </p:sp>
      <p:grpSp>
        <p:nvGrpSpPr>
          <p:cNvPr id="51" name="Group 50">
            <a:extLst>
              <a:ext uri="{FF2B5EF4-FFF2-40B4-BE49-F238E27FC236}">
                <a16:creationId xmlns:a16="http://schemas.microsoft.com/office/drawing/2014/main" id="{090131A3-5996-BA1E-2E3C-8E04AD3439E3}"/>
              </a:ext>
            </a:extLst>
          </p:cNvPr>
          <p:cNvGrpSpPr/>
          <p:nvPr/>
        </p:nvGrpSpPr>
        <p:grpSpPr>
          <a:xfrm>
            <a:off x="9335946" y="3230394"/>
            <a:ext cx="1065553" cy="1065553"/>
            <a:chOff x="1735355" y="1902893"/>
            <a:chExt cx="1035170" cy="1035170"/>
          </a:xfrm>
        </p:grpSpPr>
        <p:sp>
          <p:nvSpPr>
            <p:cNvPr id="52" name="Oval 51">
              <a:extLst>
                <a:ext uri="{FF2B5EF4-FFF2-40B4-BE49-F238E27FC236}">
                  <a16:creationId xmlns:a16="http://schemas.microsoft.com/office/drawing/2014/main" id="{6F5D1E58-37C4-A884-8615-416E8A35A88F}"/>
                </a:ext>
              </a:extLst>
            </p:cNvPr>
            <p:cNvSpPr/>
            <p:nvPr/>
          </p:nvSpPr>
          <p:spPr bwMode="auto">
            <a:xfrm>
              <a:off x="173535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53565A"/>
                </a:solidFill>
                <a:effectLst/>
                <a:uLnTx/>
                <a:uFillTx/>
                <a:latin typeface="Arial" charset="0"/>
                <a:ea typeface="+mn-ea"/>
                <a:cs typeface="+mn-cs"/>
              </a:endParaRPr>
            </a:p>
          </p:txBody>
        </p:sp>
        <p:sp>
          <p:nvSpPr>
            <p:cNvPr id="53" name="Oval 52">
              <a:extLst>
                <a:ext uri="{FF2B5EF4-FFF2-40B4-BE49-F238E27FC236}">
                  <a16:creationId xmlns:a16="http://schemas.microsoft.com/office/drawing/2014/main" id="{09242542-71DB-C8C2-D993-4FFCD7D02F3D}"/>
                </a:ext>
              </a:extLst>
            </p:cNvPr>
            <p:cNvSpPr/>
            <p:nvPr/>
          </p:nvSpPr>
          <p:spPr bwMode="auto">
            <a:xfrm>
              <a:off x="1735355" y="1902893"/>
              <a:ext cx="1035170" cy="1035170"/>
            </a:xfrm>
            <a:prstGeom prst="ellipse">
              <a:avLst/>
            </a:prstGeom>
            <a:solidFill>
              <a:schemeClr val="bg1"/>
            </a:solidFill>
            <a:ln w="25400">
              <a:solidFill>
                <a:schemeClr val="accent2"/>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54" name="TextBox 47">
            <a:extLst>
              <a:ext uri="{FF2B5EF4-FFF2-40B4-BE49-F238E27FC236}">
                <a16:creationId xmlns:a16="http://schemas.microsoft.com/office/drawing/2014/main" id="{9905E76F-EFEB-4776-FEF3-5FDDFEAED2C2}"/>
              </a:ext>
            </a:extLst>
          </p:cNvPr>
          <p:cNvSpPr txBox="1"/>
          <p:nvPr/>
        </p:nvSpPr>
        <p:spPr>
          <a:xfrm>
            <a:off x="9420391" y="3638520"/>
            <a:ext cx="965329" cy="249299"/>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lang="en-US" sz="1200" b="1" dirty="0">
                <a:solidFill>
                  <a:srgbClr val="86C8BC"/>
                </a:solidFill>
              </a:rPr>
              <a:t>Innovation</a:t>
            </a:r>
            <a:endParaRPr kumimoji="0" lang="en-US" sz="1200" b="1" i="0" u="none" strike="noStrike" kern="1200" cap="none" spc="0" normalizeH="0" baseline="0" noProof="0" dirty="0">
              <a:ln>
                <a:noFill/>
              </a:ln>
              <a:solidFill>
                <a:srgbClr val="86C8BC"/>
              </a:solidFill>
              <a:effectLst/>
              <a:uLnTx/>
              <a:uFillTx/>
              <a:latin typeface="Arial" charset="0"/>
              <a:ea typeface="+mn-ea"/>
              <a:cs typeface="+mn-cs"/>
            </a:endParaRPr>
          </a:p>
        </p:txBody>
      </p:sp>
      <p:grpSp>
        <p:nvGrpSpPr>
          <p:cNvPr id="61" name="Group 60">
            <a:extLst>
              <a:ext uri="{FF2B5EF4-FFF2-40B4-BE49-F238E27FC236}">
                <a16:creationId xmlns:a16="http://schemas.microsoft.com/office/drawing/2014/main" id="{EFAF316F-40B7-09AE-E1CC-63BCE545913D}"/>
              </a:ext>
            </a:extLst>
          </p:cNvPr>
          <p:cNvGrpSpPr/>
          <p:nvPr/>
        </p:nvGrpSpPr>
        <p:grpSpPr>
          <a:xfrm>
            <a:off x="5524510" y="601150"/>
            <a:ext cx="1065553" cy="1065553"/>
            <a:chOff x="1735355" y="1902893"/>
            <a:chExt cx="1035170" cy="1035170"/>
          </a:xfrm>
        </p:grpSpPr>
        <p:sp>
          <p:nvSpPr>
            <p:cNvPr id="62" name="Oval 61">
              <a:extLst>
                <a:ext uri="{FF2B5EF4-FFF2-40B4-BE49-F238E27FC236}">
                  <a16:creationId xmlns:a16="http://schemas.microsoft.com/office/drawing/2014/main" id="{5CA4D888-5B9A-B594-7E87-3F9FEC29A725}"/>
                </a:ext>
              </a:extLst>
            </p:cNvPr>
            <p:cNvSpPr/>
            <p:nvPr/>
          </p:nvSpPr>
          <p:spPr bwMode="auto">
            <a:xfrm>
              <a:off x="173535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53565A"/>
                </a:solidFill>
                <a:effectLst/>
                <a:uLnTx/>
                <a:uFillTx/>
                <a:latin typeface="Arial" charset="0"/>
                <a:ea typeface="+mn-ea"/>
                <a:cs typeface="+mn-cs"/>
              </a:endParaRPr>
            </a:p>
          </p:txBody>
        </p:sp>
        <p:sp>
          <p:nvSpPr>
            <p:cNvPr id="63" name="Oval 62">
              <a:extLst>
                <a:ext uri="{FF2B5EF4-FFF2-40B4-BE49-F238E27FC236}">
                  <a16:creationId xmlns:a16="http://schemas.microsoft.com/office/drawing/2014/main" id="{7FA6D8B3-F604-8AD0-EFD0-BE24A64A4A68}"/>
                </a:ext>
              </a:extLst>
            </p:cNvPr>
            <p:cNvSpPr/>
            <p:nvPr/>
          </p:nvSpPr>
          <p:spPr bwMode="auto">
            <a:xfrm>
              <a:off x="1735355" y="1902893"/>
              <a:ext cx="1035170" cy="1035170"/>
            </a:xfrm>
            <a:prstGeom prst="ellipse">
              <a:avLst/>
            </a:prstGeom>
            <a:solidFill>
              <a:schemeClr val="bg1"/>
            </a:solidFill>
            <a:ln w="25400">
              <a:solidFill>
                <a:schemeClr val="accent2"/>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Arial"/>
                <a:ea typeface="+mn-ea"/>
                <a:cs typeface="+mn-cs"/>
              </a:endParaRPr>
            </a:p>
          </p:txBody>
        </p:sp>
      </p:grpSp>
      <p:sp>
        <p:nvSpPr>
          <p:cNvPr id="1024" name="TextBox 47">
            <a:extLst>
              <a:ext uri="{FF2B5EF4-FFF2-40B4-BE49-F238E27FC236}">
                <a16:creationId xmlns:a16="http://schemas.microsoft.com/office/drawing/2014/main" id="{A946E60E-1581-60B9-8CF4-A24AF5AA10C0}"/>
              </a:ext>
            </a:extLst>
          </p:cNvPr>
          <p:cNvSpPr txBox="1"/>
          <p:nvPr/>
        </p:nvSpPr>
        <p:spPr>
          <a:xfrm>
            <a:off x="5533356" y="945921"/>
            <a:ext cx="1056701" cy="406265"/>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kumimoji="0" lang="en-US" sz="1200" b="1" i="0" u="none" strike="noStrike" kern="1200" cap="none" spc="0" normalizeH="0" baseline="0" noProof="0" dirty="0">
                <a:ln>
                  <a:noFill/>
                </a:ln>
                <a:solidFill>
                  <a:srgbClr val="86C8BC"/>
                </a:solidFill>
                <a:effectLst/>
                <a:uLnTx/>
                <a:uFillTx/>
                <a:latin typeface="Arial" charset="0"/>
                <a:ea typeface="+mn-ea"/>
                <a:cs typeface="+mn-cs"/>
              </a:rPr>
              <a:t>Customer</a:t>
            </a:r>
            <a:br>
              <a:rPr kumimoji="0" lang="en-US" sz="1200" b="1" i="0" u="none" strike="noStrike" kern="1200" cap="none" spc="0" normalizeH="0" baseline="0" noProof="0" dirty="0">
                <a:ln>
                  <a:noFill/>
                </a:ln>
                <a:solidFill>
                  <a:srgbClr val="86C8BC"/>
                </a:solidFill>
                <a:effectLst/>
                <a:uLnTx/>
                <a:uFillTx/>
                <a:latin typeface="Arial" charset="0"/>
                <a:ea typeface="+mn-ea"/>
                <a:cs typeface="+mn-cs"/>
              </a:rPr>
            </a:br>
            <a:r>
              <a:rPr kumimoji="0" lang="en-US" sz="1200" b="1" i="0" u="none" strike="noStrike" kern="1200" cap="none" spc="0" normalizeH="0" baseline="0" noProof="0" dirty="0">
                <a:ln>
                  <a:noFill/>
                </a:ln>
                <a:solidFill>
                  <a:srgbClr val="86C8BC"/>
                </a:solidFill>
                <a:effectLst/>
                <a:uLnTx/>
                <a:uFillTx/>
                <a:latin typeface="Arial" charset="0"/>
                <a:ea typeface="+mn-ea"/>
                <a:cs typeface="+mn-cs"/>
              </a:rPr>
              <a:t>Satisfaction</a:t>
            </a:r>
          </a:p>
        </p:txBody>
      </p:sp>
      <p:sp>
        <p:nvSpPr>
          <p:cNvPr id="1025" name="Trapezoid 1024">
            <a:extLst>
              <a:ext uri="{FF2B5EF4-FFF2-40B4-BE49-F238E27FC236}">
                <a16:creationId xmlns:a16="http://schemas.microsoft.com/office/drawing/2014/main" id="{26549E15-A846-F0B9-0CF1-B5CD0D64A9B5}"/>
              </a:ext>
            </a:extLst>
          </p:cNvPr>
          <p:cNvSpPr/>
          <p:nvPr/>
        </p:nvSpPr>
        <p:spPr bwMode="auto">
          <a:xfrm>
            <a:off x="1478634" y="4883053"/>
            <a:ext cx="9144000" cy="1235203"/>
          </a:xfrm>
          <a:prstGeom prst="trapezoid">
            <a:avLst/>
          </a:prstGeom>
          <a:solidFill>
            <a:schemeClr val="accent4">
              <a:lumMod val="75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400"/>
              </a:spcAft>
            </a:pPr>
            <a:r>
              <a:rPr lang="en-US" sz="1800" b="1" dirty="0">
                <a:solidFill>
                  <a:schemeClr val="bg1"/>
                </a:solidFill>
              </a:rPr>
              <a:t>Supporting Foundation</a:t>
            </a:r>
            <a:r>
              <a:rPr lang="en-US" sz="1600" dirty="0">
                <a:solidFill>
                  <a:schemeClr val="bg1"/>
                </a:solidFill>
              </a:rPr>
              <a:t> </a:t>
            </a:r>
            <a:br>
              <a:rPr lang="en-US" sz="1600" dirty="0">
                <a:solidFill>
                  <a:schemeClr val="bg1"/>
                </a:solidFill>
              </a:rPr>
            </a:br>
            <a:r>
              <a:rPr lang="en-US" sz="1600" dirty="0">
                <a:solidFill>
                  <a:schemeClr val="bg1"/>
                </a:solidFill>
              </a:rPr>
              <a:t>Implement chatbot, computer vision, and natural language processing for customer service and policy generation. Use machine and deep learning to personalize marketing, predict customer loyalty, and optimize pricing for revenue maximization.</a:t>
            </a:r>
          </a:p>
        </p:txBody>
      </p:sp>
      <p:sp>
        <p:nvSpPr>
          <p:cNvPr id="1030" name="TextBox 1029">
            <a:extLst>
              <a:ext uri="{FF2B5EF4-FFF2-40B4-BE49-F238E27FC236}">
                <a16:creationId xmlns:a16="http://schemas.microsoft.com/office/drawing/2014/main" id="{017C47CA-CD3B-71EA-99BC-27F6B9E4685A}"/>
              </a:ext>
            </a:extLst>
          </p:cNvPr>
          <p:cNvSpPr txBox="1"/>
          <p:nvPr/>
        </p:nvSpPr>
        <p:spPr>
          <a:xfrm>
            <a:off x="0" y="5996226"/>
            <a:ext cx="6908644" cy="861774"/>
          </a:xfrm>
          <a:prstGeom prst="rect">
            <a:avLst/>
          </a:prstGeom>
          <a:noFill/>
        </p:spPr>
        <p:txBody>
          <a:bodyPr wrap="square" rtlCol="0">
            <a:spAutoFit/>
          </a:bodyPr>
          <a:lstStyle/>
          <a:p>
            <a:r>
              <a:rPr lang="en-IN" sz="1000" i="1" dirty="0"/>
              <a:t>Sources: </a:t>
            </a:r>
            <a:br>
              <a:rPr lang="en-IN" sz="1000" i="1" dirty="0"/>
            </a:br>
            <a:r>
              <a:rPr lang="en-IN" sz="1000" i="1" dirty="0"/>
              <a:t>1.</a:t>
            </a:r>
            <a:r>
              <a:rPr lang="en-US" sz="1000" i="1" dirty="0">
                <a:hlinkClick r:id="rId4"/>
              </a:rPr>
              <a:t> How insurers can win the race to AI maturity | Insurance Blog | Accenture</a:t>
            </a:r>
            <a:endParaRPr lang="en-US" sz="1000" i="1" dirty="0"/>
          </a:p>
          <a:p>
            <a:r>
              <a:rPr lang="en-US" sz="1000" i="1" dirty="0"/>
              <a:t>2. </a:t>
            </a:r>
            <a:r>
              <a:rPr lang="en-US" sz="1000" i="1" dirty="0">
                <a:hlinkClick r:id="rId5"/>
              </a:rPr>
              <a:t>Insurance 2030—The impact of AI on the future of insurance | McKinsey</a:t>
            </a:r>
            <a:endParaRPr lang="en-US" sz="1000" i="1" dirty="0"/>
          </a:p>
          <a:p>
            <a:r>
              <a:rPr lang="en-US" sz="1000" i="1" dirty="0"/>
              <a:t>3. </a:t>
            </a:r>
            <a:r>
              <a:rPr lang="en-US" sz="1000" i="1" dirty="0">
                <a:hlinkClick r:id="rId6"/>
              </a:rPr>
              <a:t>The Case for AI Insurance (hbr.org)</a:t>
            </a:r>
            <a:endParaRPr lang="en-US" sz="1000" i="1" dirty="0"/>
          </a:p>
          <a:p>
            <a:r>
              <a:rPr lang="en-IN" sz="1000" i="1" dirty="0"/>
              <a:t>4. </a:t>
            </a:r>
            <a:r>
              <a:rPr lang="en-US" sz="1000" i="1" dirty="0">
                <a:hlinkClick r:id="rId7"/>
              </a:rPr>
              <a:t>AI in Insurance Sector. How Is Artificial Intelligence Transforming the Insurance Industry? (nexocode.com)</a:t>
            </a:r>
            <a:endParaRPr lang="en-IN" sz="1000" i="1" dirty="0"/>
          </a:p>
        </p:txBody>
      </p:sp>
      <p:sp>
        <p:nvSpPr>
          <p:cNvPr id="1032" name="Text Placeholder 2">
            <a:extLst>
              <a:ext uri="{FF2B5EF4-FFF2-40B4-BE49-F238E27FC236}">
                <a16:creationId xmlns:a16="http://schemas.microsoft.com/office/drawing/2014/main" id="{2F360F62-62F7-8CD2-8299-231AD597EFAD}"/>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Integrating AI into Corporate Strategy for BCBS MA: Enhancing Customer Experience, Streamlining Processes, and Driving Revenue Growth</a:t>
            </a:r>
            <a:endParaRPr lang="en-IN" dirty="0"/>
          </a:p>
        </p:txBody>
      </p:sp>
    </p:spTree>
    <p:extLst>
      <p:ext uri="{BB962C8B-B14F-4D97-AF65-F5344CB8AC3E}">
        <p14:creationId xmlns:p14="http://schemas.microsoft.com/office/powerpoint/2010/main" val="4163105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21E93A83-0401-07FB-D173-2061A4436130}"/>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AI's Three Ways of Relevance to Business: Driving, Going, and Integrating - How Payers like BCBS MA Can Benefit from AI</a:t>
            </a:r>
            <a:endParaRPr lang="en-IN" dirty="0"/>
          </a:p>
        </p:txBody>
      </p:sp>
      <p:graphicFrame>
        <p:nvGraphicFramePr>
          <p:cNvPr id="952" name="Diagram 951">
            <a:extLst>
              <a:ext uri="{FF2B5EF4-FFF2-40B4-BE49-F238E27FC236}">
                <a16:creationId xmlns:a16="http://schemas.microsoft.com/office/drawing/2014/main" id="{63EB51FA-11C9-E0E5-3E9D-CAB1347DB3CB}"/>
              </a:ext>
            </a:extLst>
          </p:cNvPr>
          <p:cNvGraphicFramePr/>
          <p:nvPr/>
        </p:nvGraphicFramePr>
        <p:xfrm>
          <a:off x="3124200" y="891485"/>
          <a:ext cx="6477000" cy="439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53" name="TextBox 952">
            <a:extLst>
              <a:ext uri="{FF2B5EF4-FFF2-40B4-BE49-F238E27FC236}">
                <a16:creationId xmlns:a16="http://schemas.microsoft.com/office/drawing/2014/main" id="{3622D028-BAED-EE65-FDBF-EA4585A7EA1C}"/>
              </a:ext>
            </a:extLst>
          </p:cNvPr>
          <p:cNvSpPr txBox="1"/>
          <p:nvPr/>
        </p:nvSpPr>
        <p:spPr>
          <a:xfrm>
            <a:off x="7857958" y="2300914"/>
            <a:ext cx="3163737" cy="2256172"/>
          </a:xfrm>
          <a:prstGeom prst="rect">
            <a:avLst/>
          </a:prstGeom>
          <a:noFill/>
        </p:spPr>
        <p:txBody>
          <a:bodyPr wrap="square" tIns="90000" bIns="90000" rtlCol="0" anchor="t">
            <a:spAutoFit/>
          </a:bodyPr>
          <a:lstStyle/>
          <a:p>
            <a:pPr marL="285750" indent="-285750" fontAlgn="base">
              <a:spcAft>
                <a:spcPts val="600"/>
              </a:spcAft>
              <a:buClr>
                <a:srgbClr val="6E2B62"/>
              </a:buClr>
              <a:buSzPct val="150000"/>
              <a:buFont typeface="Arial" panose="020B0604020202020204" pitchFamily="34" charset="0"/>
              <a:buChar char="•"/>
              <a:defRPr/>
            </a:pPr>
            <a:r>
              <a:rPr lang="en-US" sz="1400" dirty="0">
                <a:solidFill>
                  <a:srgbClr val="53565A"/>
                </a:solidFill>
              </a:rPr>
              <a:t>Enhancing decision making</a:t>
            </a:r>
          </a:p>
          <a:p>
            <a:pPr marL="285750" indent="-285750" fontAlgn="base">
              <a:spcAft>
                <a:spcPts val="600"/>
              </a:spcAft>
              <a:buClr>
                <a:srgbClr val="6E2B62"/>
              </a:buClr>
              <a:buSzPct val="150000"/>
              <a:buFont typeface="Arial" panose="020B0604020202020204" pitchFamily="34" charset="0"/>
              <a:buChar char="•"/>
              <a:defRPr/>
            </a:pPr>
            <a:r>
              <a:rPr lang="en-US" dirty="0">
                <a:solidFill>
                  <a:srgbClr val="53565A"/>
                </a:solidFill>
              </a:rPr>
              <a:t>Enhancing collaboration</a:t>
            </a:r>
            <a:endParaRPr lang="en-US" sz="1400" dirty="0">
              <a:solidFill>
                <a:srgbClr val="53565A"/>
              </a:solidFill>
            </a:endParaRPr>
          </a:p>
          <a:p>
            <a:pPr marL="285750" indent="-285750" fontAlgn="base">
              <a:spcAft>
                <a:spcPts val="600"/>
              </a:spcAft>
              <a:buClr>
                <a:srgbClr val="6E2B62"/>
              </a:buClr>
              <a:buSzPct val="150000"/>
              <a:buFont typeface="Arial" panose="020B0604020202020204" pitchFamily="34" charset="0"/>
              <a:buChar char="•"/>
              <a:defRPr/>
            </a:pPr>
            <a:r>
              <a:rPr lang="en-US" sz="1400" dirty="0">
                <a:solidFill>
                  <a:srgbClr val="53565A"/>
                </a:solidFill>
              </a:rPr>
              <a:t>Enhancing creativity and learning</a:t>
            </a:r>
          </a:p>
          <a:p>
            <a:pPr marL="285750" indent="-285750" fontAlgn="base">
              <a:spcAft>
                <a:spcPts val="600"/>
              </a:spcAft>
              <a:buClr>
                <a:srgbClr val="6E2B62"/>
              </a:buClr>
              <a:buSzPct val="150000"/>
              <a:buFont typeface="Arial" panose="020B0604020202020204" pitchFamily="34" charset="0"/>
              <a:buChar char="•"/>
              <a:defRPr/>
            </a:pPr>
            <a:endParaRPr lang="en-US" dirty="0">
              <a:solidFill>
                <a:srgbClr val="53565A"/>
              </a:solidFill>
            </a:endParaRPr>
          </a:p>
          <a:p>
            <a:pPr fontAlgn="base">
              <a:spcBef>
                <a:spcPct val="20000"/>
              </a:spcBef>
              <a:spcAft>
                <a:spcPts val="600"/>
              </a:spcAft>
              <a:buClr>
                <a:srgbClr val="6E2B62"/>
              </a:buClr>
              <a:buSzPct val="150000"/>
              <a:defRPr/>
            </a:pPr>
            <a:r>
              <a:rPr lang="en-US" i="1" dirty="0">
                <a:solidFill>
                  <a:schemeClr val="accent2">
                    <a:lumMod val="75000"/>
                  </a:schemeClr>
                </a:solidFill>
              </a:rPr>
              <a:t>Example - Firms can use AI to enhance workforce capabilities and support strategic decisions based on data insights and forecasts</a:t>
            </a:r>
          </a:p>
        </p:txBody>
      </p:sp>
      <p:sp>
        <p:nvSpPr>
          <p:cNvPr id="954" name="TextBox 953">
            <a:extLst>
              <a:ext uri="{FF2B5EF4-FFF2-40B4-BE49-F238E27FC236}">
                <a16:creationId xmlns:a16="http://schemas.microsoft.com/office/drawing/2014/main" id="{9345F972-1CD0-0D0E-3054-D44FDA62A91A}"/>
              </a:ext>
            </a:extLst>
          </p:cNvPr>
          <p:cNvSpPr txBox="1"/>
          <p:nvPr/>
        </p:nvSpPr>
        <p:spPr>
          <a:xfrm>
            <a:off x="1627282" y="863790"/>
            <a:ext cx="3519533" cy="2308494"/>
          </a:xfrm>
          <a:prstGeom prst="rect">
            <a:avLst/>
          </a:prstGeom>
          <a:noFill/>
        </p:spPr>
        <p:txBody>
          <a:bodyPr wrap="square" tIns="90000" bIns="90000" rtlCol="0" anchor="t">
            <a:spAutoFit/>
          </a:bodyPr>
          <a:lstStyle/>
          <a:p>
            <a:pPr marL="285750" indent="-285750" fontAlgn="base">
              <a:spcBef>
                <a:spcPct val="20000"/>
              </a:spcBef>
              <a:spcAft>
                <a:spcPct val="0"/>
              </a:spcAft>
              <a:buClr>
                <a:srgbClr val="6E2B62"/>
              </a:buClr>
              <a:buFont typeface="Arial" panose="020B0604020202020204" pitchFamily="34" charset="0"/>
              <a:buChar char="•"/>
            </a:pPr>
            <a:endParaRPr lang="en-US" sz="1400" i="1" dirty="0">
              <a:solidFill>
                <a:srgbClr val="000000">
                  <a:lumMod val="75000"/>
                  <a:lumOff val="25000"/>
                </a:srgbClr>
              </a:solidFill>
            </a:endParaRPr>
          </a:p>
          <a:p>
            <a:pPr marL="285750" indent="-285750" fontAlgn="base">
              <a:spcBef>
                <a:spcPct val="20000"/>
              </a:spcBef>
              <a:spcAft>
                <a:spcPts val="600"/>
              </a:spcAft>
              <a:buClr>
                <a:srgbClr val="6E2B62"/>
              </a:buClr>
              <a:buSzPct val="150000"/>
              <a:buFont typeface="Arial" panose="020B0604020202020204" pitchFamily="34" charset="0"/>
              <a:buChar char="•"/>
            </a:pPr>
            <a:r>
              <a:rPr lang="en-US" altLang="en-US" sz="1400" dirty="0">
                <a:solidFill>
                  <a:srgbClr val="53565A"/>
                </a:solidFill>
              </a:rPr>
              <a:t>Improving operations</a:t>
            </a:r>
          </a:p>
          <a:p>
            <a:pPr marL="285750" indent="-285750" fontAlgn="base">
              <a:spcBef>
                <a:spcPct val="20000"/>
              </a:spcBef>
              <a:spcAft>
                <a:spcPts val="600"/>
              </a:spcAft>
              <a:buClr>
                <a:srgbClr val="6E2B62"/>
              </a:buClr>
              <a:buSzPct val="150000"/>
              <a:buFont typeface="Arial" panose="020B0604020202020204" pitchFamily="34" charset="0"/>
              <a:buChar char="•"/>
            </a:pPr>
            <a:r>
              <a:rPr lang="en-US" altLang="en-US" sz="1400" dirty="0">
                <a:solidFill>
                  <a:srgbClr val="53565A"/>
                </a:solidFill>
              </a:rPr>
              <a:t>Enhancing efficiency &amp; productivity</a:t>
            </a:r>
          </a:p>
          <a:p>
            <a:pPr marL="285750" indent="-285750" fontAlgn="base">
              <a:spcBef>
                <a:spcPct val="20000"/>
              </a:spcBef>
              <a:spcAft>
                <a:spcPts val="600"/>
              </a:spcAft>
              <a:buClr>
                <a:srgbClr val="6E2B62"/>
              </a:buClr>
              <a:buSzPct val="150000"/>
              <a:buFont typeface="Arial" panose="020B0604020202020204" pitchFamily="34" charset="0"/>
              <a:buChar char="•"/>
            </a:pPr>
            <a:r>
              <a:rPr lang="en-US" altLang="en-US" dirty="0">
                <a:solidFill>
                  <a:srgbClr val="53565A"/>
                </a:solidFill>
              </a:rPr>
              <a:t>Improving customer satisfaction</a:t>
            </a:r>
          </a:p>
          <a:p>
            <a:pPr fontAlgn="base">
              <a:spcBef>
                <a:spcPct val="20000"/>
              </a:spcBef>
              <a:spcAft>
                <a:spcPts val="600"/>
              </a:spcAft>
              <a:buClr>
                <a:srgbClr val="6E2B62"/>
              </a:buClr>
              <a:buSzPct val="150000"/>
            </a:pPr>
            <a:r>
              <a:rPr lang="en-US" altLang="en-US" i="1" dirty="0">
                <a:solidFill>
                  <a:schemeClr val="accent2">
                    <a:lumMod val="75000"/>
                  </a:schemeClr>
                </a:solidFill>
              </a:rPr>
              <a:t>Example - AI can optimize firm’s pricing, claims management, recommendations, customer service, and reduce costs and risks</a:t>
            </a:r>
          </a:p>
        </p:txBody>
      </p:sp>
      <p:sp>
        <p:nvSpPr>
          <p:cNvPr id="955" name="TextBox 954">
            <a:extLst>
              <a:ext uri="{FF2B5EF4-FFF2-40B4-BE49-F238E27FC236}">
                <a16:creationId xmlns:a16="http://schemas.microsoft.com/office/drawing/2014/main" id="{13D5B4FE-A551-046F-C19B-46C29C32B5DC}"/>
              </a:ext>
            </a:extLst>
          </p:cNvPr>
          <p:cNvSpPr txBox="1"/>
          <p:nvPr/>
        </p:nvSpPr>
        <p:spPr>
          <a:xfrm>
            <a:off x="1627281" y="3553812"/>
            <a:ext cx="3519534" cy="2240783"/>
          </a:xfrm>
          <a:prstGeom prst="rect">
            <a:avLst/>
          </a:prstGeom>
          <a:noFill/>
        </p:spPr>
        <p:txBody>
          <a:bodyPr wrap="square" tIns="90000" bIns="90000" rtlCol="0" anchor="t">
            <a:spAutoFit/>
          </a:bodyPr>
          <a:lstStyle/>
          <a:p>
            <a:pPr marL="285750" indent="-285750" fontAlgn="base">
              <a:spcBef>
                <a:spcPct val="20000"/>
              </a:spcBef>
              <a:spcAft>
                <a:spcPts val="600"/>
              </a:spcAft>
              <a:buClr>
                <a:srgbClr val="6E2B62"/>
              </a:buClr>
              <a:buSzPct val="150000"/>
              <a:buFont typeface="Arial" panose="020B0604020202020204" pitchFamily="34" charset="0"/>
              <a:buChar char="•"/>
            </a:pPr>
            <a:r>
              <a:rPr lang="en-US" dirty="0">
                <a:solidFill>
                  <a:srgbClr val="53565A"/>
                </a:solidFill>
              </a:rPr>
              <a:t>Using AI to create new </a:t>
            </a:r>
            <a:br>
              <a:rPr lang="en-US" dirty="0">
                <a:solidFill>
                  <a:srgbClr val="53565A"/>
                </a:solidFill>
              </a:rPr>
            </a:br>
            <a:r>
              <a:rPr lang="en-US" dirty="0">
                <a:solidFill>
                  <a:srgbClr val="53565A"/>
                </a:solidFill>
              </a:rPr>
              <a:t>sources of value and </a:t>
            </a:r>
            <a:br>
              <a:rPr lang="en-US" dirty="0">
                <a:solidFill>
                  <a:srgbClr val="53565A"/>
                </a:solidFill>
              </a:rPr>
            </a:br>
            <a:r>
              <a:rPr lang="en-US" dirty="0">
                <a:solidFill>
                  <a:srgbClr val="53565A"/>
                </a:solidFill>
              </a:rPr>
              <a:t>competitive advantage </a:t>
            </a:r>
            <a:br>
              <a:rPr lang="en-US" dirty="0">
                <a:solidFill>
                  <a:srgbClr val="53565A"/>
                </a:solidFill>
              </a:rPr>
            </a:br>
            <a:r>
              <a:rPr lang="en-US" dirty="0">
                <a:solidFill>
                  <a:srgbClr val="53565A"/>
                </a:solidFill>
              </a:rPr>
              <a:t>such as new products</a:t>
            </a:r>
            <a:r>
              <a:rPr lang="en-US" dirty="0">
                <a:solidFill>
                  <a:srgbClr val="000000">
                    <a:lumMod val="75000"/>
                    <a:lumOff val="25000"/>
                  </a:srgbClr>
                </a:solidFill>
              </a:rPr>
              <a:t>,</a:t>
            </a:r>
            <a:br>
              <a:rPr lang="en-US" dirty="0">
                <a:solidFill>
                  <a:srgbClr val="000000">
                    <a:lumMod val="75000"/>
                    <a:lumOff val="25000"/>
                  </a:srgbClr>
                </a:solidFill>
              </a:rPr>
            </a:br>
            <a:r>
              <a:rPr lang="en-US" dirty="0">
                <a:solidFill>
                  <a:srgbClr val="000000">
                    <a:lumMod val="75000"/>
                    <a:lumOff val="25000"/>
                  </a:srgbClr>
                </a:solidFill>
              </a:rPr>
              <a:t>services, markets or business</a:t>
            </a:r>
            <a:br>
              <a:rPr lang="en-US" dirty="0">
                <a:solidFill>
                  <a:srgbClr val="000000">
                    <a:lumMod val="75000"/>
                    <a:lumOff val="25000"/>
                  </a:srgbClr>
                </a:solidFill>
              </a:rPr>
            </a:br>
            <a:r>
              <a:rPr lang="en-US" dirty="0">
                <a:solidFill>
                  <a:srgbClr val="000000">
                    <a:lumMod val="75000"/>
                    <a:lumOff val="25000"/>
                  </a:srgbClr>
                </a:solidFill>
              </a:rPr>
              <a:t>models</a:t>
            </a:r>
          </a:p>
          <a:p>
            <a:pPr fontAlgn="base">
              <a:spcBef>
                <a:spcPct val="20000"/>
              </a:spcBef>
              <a:spcAft>
                <a:spcPts val="600"/>
              </a:spcAft>
              <a:buClr>
                <a:srgbClr val="6E2B62"/>
              </a:buClr>
              <a:buSzPct val="150000"/>
            </a:pPr>
            <a:r>
              <a:rPr lang="en-US" altLang="en-US" sz="1400" i="1" dirty="0">
                <a:solidFill>
                  <a:schemeClr val="accent2">
                    <a:lumMod val="75000"/>
                  </a:schemeClr>
                </a:solidFill>
              </a:rPr>
              <a:t>Example - AI can personalize preventive care programs based on member health risks and preferences for firms</a:t>
            </a:r>
          </a:p>
        </p:txBody>
      </p:sp>
      <p:cxnSp>
        <p:nvCxnSpPr>
          <p:cNvPr id="957" name="Straight Arrow Connector 956">
            <a:extLst>
              <a:ext uri="{FF2B5EF4-FFF2-40B4-BE49-F238E27FC236}">
                <a16:creationId xmlns:a16="http://schemas.microsoft.com/office/drawing/2014/main" id="{8E8ADA7E-53A6-BA9A-F86A-15533064A931}"/>
              </a:ext>
            </a:extLst>
          </p:cNvPr>
          <p:cNvCxnSpPr>
            <a:cxnSpLocks/>
          </p:cNvCxnSpPr>
          <p:nvPr/>
        </p:nvCxnSpPr>
        <p:spPr>
          <a:xfrm>
            <a:off x="4876799" y="1698171"/>
            <a:ext cx="892628" cy="0"/>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cxnSp>
        <p:nvCxnSpPr>
          <p:cNvPr id="963" name="Straight Arrow Connector 962">
            <a:extLst>
              <a:ext uri="{FF2B5EF4-FFF2-40B4-BE49-F238E27FC236}">
                <a16:creationId xmlns:a16="http://schemas.microsoft.com/office/drawing/2014/main" id="{1FFCF489-134E-997C-9BEF-B898DB8C1A25}"/>
              </a:ext>
            </a:extLst>
          </p:cNvPr>
          <p:cNvCxnSpPr>
            <a:cxnSpLocks/>
          </p:cNvCxnSpPr>
          <p:nvPr/>
        </p:nvCxnSpPr>
        <p:spPr>
          <a:xfrm>
            <a:off x="4764801" y="4719022"/>
            <a:ext cx="1026398" cy="0"/>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cxnSp>
        <p:nvCxnSpPr>
          <p:cNvPr id="967" name="Straight Arrow Connector 966">
            <a:extLst>
              <a:ext uri="{FF2B5EF4-FFF2-40B4-BE49-F238E27FC236}">
                <a16:creationId xmlns:a16="http://schemas.microsoft.com/office/drawing/2014/main" id="{30F57E56-CE83-8134-C2C6-E2521077928B}"/>
              </a:ext>
            </a:extLst>
          </p:cNvPr>
          <p:cNvCxnSpPr>
            <a:cxnSpLocks/>
          </p:cNvCxnSpPr>
          <p:nvPr/>
        </p:nvCxnSpPr>
        <p:spPr>
          <a:xfrm flipH="1">
            <a:off x="7097483" y="3172284"/>
            <a:ext cx="751117" cy="0"/>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sp>
        <p:nvSpPr>
          <p:cNvPr id="969" name="TextBox 968">
            <a:extLst>
              <a:ext uri="{FF2B5EF4-FFF2-40B4-BE49-F238E27FC236}">
                <a16:creationId xmlns:a16="http://schemas.microsoft.com/office/drawing/2014/main" id="{21046AC9-C0C4-95B2-83D9-CCC0C677B89C}"/>
              </a:ext>
            </a:extLst>
          </p:cNvPr>
          <p:cNvSpPr txBox="1"/>
          <p:nvPr/>
        </p:nvSpPr>
        <p:spPr>
          <a:xfrm>
            <a:off x="0" y="6126858"/>
            <a:ext cx="6908644" cy="707886"/>
          </a:xfrm>
          <a:prstGeom prst="rect">
            <a:avLst/>
          </a:prstGeom>
          <a:noFill/>
        </p:spPr>
        <p:txBody>
          <a:bodyPr wrap="square" rtlCol="0">
            <a:spAutoFit/>
          </a:bodyPr>
          <a:lstStyle/>
          <a:p>
            <a:r>
              <a:rPr lang="en-IN" sz="1000" i="1" dirty="0"/>
              <a:t>Sources: </a:t>
            </a:r>
            <a:br>
              <a:rPr lang="en-IN" sz="1000" i="1" dirty="0"/>
            </a:br>
            <a:r>
              <a:rPr lang="en-IN" sz="1000" i="1" dirty="0"/>
              <a:t>1.</a:t>
            </a:r>
            <a:r>
              <a:rPr lang="en-US" sz="1000" i="1" dirty="0">
                <a:hlinkClick r:id="rId8"/>
              </a:rPr>
              <a:t> </a:t>
            </a:r>
            <a:r>
              <a:rPr lang="en-US" sz="1000" i="1" dirty="0">
                <a:hlinkClick r:id="rId9"/>
              </a:rPr>
              <a:t>How BCBS Massachusetts is using AI to fight fraud (beckerspayer.com)</a:t>
            </a:r>
            <a:endParaRPr lang="en-US" sz="1000" i="1" dirty="0"/>
          </a:p>
          <a:p>
            <a:r>
              <a:rPr lang="en-US" sz="1000" i="1" dirty="0"/>
              <a:t>2. </a:t>
            </a:r>
            <a:r>
              <a:rPr lang="en-US" sz="1000" i="1" dirty="0">
                <a:hlinkClick r:id="rId10"/>
              </a:rPr>
              <a:t>BCBS of Massachusetts trims 8 days from prior auth time in AI pilot (beckerspayer.com)</a:t>
            </a:r>
            <a:endParaRPr lang="en-US" sz="1000" i="1" dirty="0"/>
          </a:p>
          <a:p>
            <a:r>
              <a:rPr lang="en-US" sz="1000" i="1" dirty="0"/>
              <a:t>3. </a:t>
            </a:r>
            <a:r>
              <a:rPr lang="en-US" sz="1000" i="1" dirty="0">
                <a:hlinkClick r:id="rId11"/>
              </a:rPr>
              <a:t>BCBS of MA has new value-based contracts with equity metrics (fiercehealthcare.com)</a:t>
            </a:r>
            <a:endParaRPr lang="en-US" sz="1000" i="1" dirty="0"/>
          </a:p>
        </p:txBody>
      </p:sp>
    </p:spTree>
    <p:extLst>
      <p:ext uri="{BB962C8B-B14F-4D97-AF65-F5344CB8AC3E}">
        <p14:creationId xmlns:p14="http://schemas.microsoft.com/office/powerpoint/2010/main" val="2487028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AI is poised to transform consumer’s experience of interacting with the healthcare system</a:t>
            </a:r>
            <a:endParaRPr lang="en-IN" dirty="0"/>
          </a:p>
        </p:txBody>
      </p:sp>
      <p:pic>
        <p:nvPicPr>
          <p:cNvPr id="5" name="Picture 4" descr="Young businessman tablet">
            <a:extLst>
              <a:ext uri="{FF2B5EF4-FFF2-40B4-BE49-F238E27FC236}">
                <a16:creationId xmlns:a16="http://schemas.microsoft.com/office/drawing/2014/main" id="{02525D4A-F021-A1EA-A009-0F9A523A51B5}"/>
              </a:ext>
            </a:extLst>
          </p:cNvPr>
          <p:cNvPicPr>
            <a:picLocks noChangeAspect="1"/>
          </p:cNvPicPr>
          <p:nvPr/>
        </p:nvPicPr>
        <p:blipFill>
          <a:blip r:embed="rId3"/>
          <a:stretch>
            <a:fillRect/>
          </a:stretch>
        </p:blipFill>
        <p:spPr>
          <a:xfrm>
            <a:off x="4937624" y="859036"/>
            <a:ext cx="1774899" cy="5671762"/>
          </a:xfrm>
          <a:prstGeom prst="rect">
            <a:avLst/>
          </a:prstGeom>
        </p:spPr>
      </p:pic>
      <p:cxnSp>
        <p:nvCxnSpPr>
          <p:cNvPr id="10" name="Straight Connector 9">
            <a:extLst>
              <a:ext uri="{FF2B5EF4-FFF2-40B4-BE49-F238E27FC236}">
                <a16:creationId xmlns:a16="http://schemas.microsoft.com/office/drawing/2014/main" id="{C960E062-B961-7B2D-391C-A337C3B390E6}"/>
              </a:ext>
            </a:extLst>
          </p:cNvPr>
          <p:cNvCxnSpPr>
            <a:cxnSpLocks/>
          </p:cNvCxnSpPr>
          <p:nvPr/>
        </p:nvCxnSpPr>
        <p:spPr>
          <a:xfrm flipH="1" flipV="1">
            <a:off x="3079603" y="1436628"/>
            <a:ext cx="1748560" cy="1032201"/>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2" name="Graphic 11" descr="Person eating with solid fill">
            <a:extLst>
              <a:ext uri="{FF2B5EF4-FFF2-40B4-BE49-F238E27FC236}">
                <a16:creationId xmlns:a16="http://schemas.microsoft.com/office/drawing/2014/main" id="{EEE1FF1F-69A5-444F-EFDB-89B5DEF164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5824" y="1331741"/>
            <a:ext cx="749968" cy="749968"/>
          </a:xfrm>
          <a:prstGeom prst="rect">
            <a:avLst/>
          </a:prstGeom>
        </p:spPr>
      </p:pic>
      <p:sp>
        <p:nvSpPr>
          <p:cNvPr id="13" name="TextBox 12">
            <a:extLst>
              <a:ext uri="{FF2B5EF4-FFF2-40B4-BE49-F238E27FC236}">
                <a16:creationId xmlns:a16="http://schemas.microsoft.com/office/drawing/2014/main" id="{350D5977-C503-F391-FA1A-37EA79FA3D67}"/>
              </a:ext>
            </a:extLst>
          </p:cNvPr>
          <p:cNvSpPr txBox="1"/>
          <p:nvPr/>
        </p:nvSpPr>
        <p:spPr>
          <a:xfrm>
            <a:off x="865792" y="1352932"/>
            <a:ext cx="2430379" cy="738664"/>
          </a:xfrm>
          <a:prstGeom prst="rect">
            <a:avLst/>
          </a:prstGeom>
          <a:noFill/>
        </p:spPr>
        <p:txBody>
          <a:bodyPr wrap="square" rtlCol="0">
            <a:spAutoFit/>
          </a:bodyPr>
          <a:lstStyle/>
          <a:p>
            <a:r>
              <a:rPr lang="en-US" dirty="0"/>
              <a:t>Physician uses AI to recommend personalized treatment plan</a:t>
            </a:r>
            <a:endParaRPr lang="en-IN" dirty="0"/>
          </a:p>
        </p:txBody>
      </p:sp>
      <p:sp>
        <p:nvSpPr>
          <p:cNvPr id="16" name="TextBox 15">
            <a:extLst>
              <a:ext uri="{FF2B5EF4-FFF2-40B4-BE49-F238E27FC236}">
                <a16:creationId xmlns:a16="http://schemas.microsoft.com/office/drawing/2014/main" id="{7E54F87C-61F0-548A-1E29-E289E2974849}"/>
              </a:ext>
            </a:extLst>
          </p:cNvPr>
          <p:cNvSpPr txBox="1"/>
          <p:nvPr/>
        </p:nvSpPr>
        <p:spPr>
          <a:xfrm>
            <a:off x="490808" y="1023964"/>
            <a:ext cx="1873919" cy="307777"/>
          </a:xfrm>
          <a:prstGeom prst="rect">
            <a:avLst/>
          </a:prstGeom>
          <a:noFill/>
        </p:spPr>
        <p:txBody>
          <a:bodyPr wrap="square">
            <a:spAutoFit/>
          </a:bodyPr>
          <a:lstStyle/>
          <a:p>
            <a:pPr lvl="0"/>
            <a:r>
              <a:rPr lang="en-IN" sz="1400" b="1" i="1" dirty="0">
                <a:solidFill>
                  <a:schemeClr val="accent3">
                    <a:lumMod val="50000"/>
                  </a:schemeClr>
                </a:solidFill>
              </a:rPr>
              <a:t>Personalized Care</a:t>
            </a:r>
          </a:p>
        </p:txBody>
      </p:sp>
      <p:cxnSp>
        <p:nvCxnSpPr>
          <p:cNvPr id="18" name="Straight Connector 17">
            <a:extLst>
              <a:ext uri="{FF2B5EF4-FFF2-40B4-BE49-F238E27FC236}">
                <a16:creationId xmlns:a16="http://schemas.microsoft.com/office/drawing/2014/main" id="{95C62CBA-6E44-FB99-B955-5E159D2D4994}"/>
              </a:ext>
            </a:extLst>
          </p:cNvPr>
          <p:cNvCxnSpPr>
            <a:cxnSpLocks/>
          </p:cNvCxnSpPr>
          <p:nvPr/>
        </p:nvCxnSpPr>
        <p:spPr>
          <a:xfrm flipH="1">
            <a:off x="3241516" y="2909835"/>
            <a:ext cx="1643983" cy="189102"/>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18348814-B2D9-8A89-8177-98C31EE21487}"/>
              </a:ext>
            </a:extLst>
          </p:cNvPr>
          <p:cNvSpPr txBox="1"/>
          <p:nvPr/>
        </p:nvSpPr>
        <p:spPr>
          <a:xfrm>
            <a:off x="865792" y="3177017"/>
            <a:ext cx="2430379" cy="738664"/>
          </a:xfrm>
          <a:prstGeom prst="rect">
            <a:avLst/>
          </a:prstGeom>
          <a:noFill/>
        </p:spPr>
        <p:txBody>
          <a:bodyPr wrap="square" rtlCol="0">
            <a:spAutoFit/>
          </a:bodyPr>
          <a:lstStyle/>
          <a:p>
            <a:r>
              <a:rPr lang="en-US" dirty="0"/>
              <a:t>Physician recommends telemedicine appointment to discuss progress</a:t>
            </a:r>
            <a:endParaRPr lang="en-IN" dirty="0"/>
          </a:p>
        </p:txBody>
      </p:sp>
      <p:sp>
        <p:nvSpPr>
          <p:cNvPr id="23" name="TextBox 22">
            <a:extLst>
              <a:ext uri="{FF2B5EF4-FFF2-40B4-BE49-F238E27FC236}">
                <a16:creationId xmlns:a16="http://schemas.microsoft.com/office/drawing/2014/main" id="{B7121DCA-BC0D-AECA-F9EB-78F9C25990C4}"/>
              </a:ext>
            </a:extLst>
          </p:cNvPr>
          <p:cNvSpPr txBox="1"/>
          <p:nvPr/>
        </p:nvSpPr>
        <p:spPr>
          <a:xfrm>
            <a:off x="523522" y="2912632"/>
            <a:ext cx="2586401" cy="307777"/>
          </a:xfrm>
          <a:prstGeom prst="rect">
            <a:avLst/>
          </a:prstGeom>
          <a:noFill/>
        </p:spPr>
        <p:txBody>
          <a:bodyPr wrap="square">
            <a:spAutoFit/>
          </a:bodyPr>
          <a:lstStyle/>
          <a:p>
            <a:pPr lvl="0"/>
            <a:r>
              <a:rPr lang="en-IN" sz="1400" b="1" i="1" dirty="0">
                <a:solidFill>
                  <a:schemeClr val="accent3">
                    <a:lumMod val="50000"/>
                  </a:schemeClr>
                </a:solidFill>
              </a:rPr>
              <a:t>Remote Patient Monitoring</a:t>
            </a:r>
          </a:p>
        </p:txBody>
      </p:sp>
      <p:pic>
        <p:nvPicPr>
          <p:cNvPr id="24" name="Graphic 23" descr="Remote work with solid fill">
            <a:extLst>
              <a:ext uri="{FF2B5EF4-FFF2-40B4-BE49-F238E27FC236}">
                <a16:creationId xmlns:a16="http://schemas.microsoft.com/office/drawing/2014/main" id="{7D0FAA46-FF31-02FD-55F5-38F4BA63B8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4553" y="3262989"/>
            <a:ext cx="601449" cy="591244"/>
          </a:xfrm>
          <a:prstGeom prst="rect">
            <a:avLst/>
          </a:prstGeom>
        </p:spPr>
      </p:pic>
      <p:cxnSp>
        <p:nvCxnSpPr>
          <p:cNvPr id="25" name="Straight Connector 24">
            <a:extLst>
              <a:ext uri="{FF2B5EF4-FFF2-40B4-BE49-F238E27FC236}">
                <a16:creationId xmlns:a16="http://schemas.microsoft.com/office/drawing/2014/main" id="{02B5C785-B5ED-8D8B-D5D3-802BFBE4DD1A}"/>
              </a:ext>
            </a:extLst>
          </p:cNvPr>
          <p:cNvCxnSpPr>
            <a:cxnSpLocks/>
          </p:cNvCxnSpPr>
          <p:nvPr/>
        </p:nvCxnSpPr>
        <p:spPr>
          <a:xfrm flipH="1">
            <a:off x="3325812" y="3238177"/>
            <a:ext cx="1703175" cy="187521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B426568B-86C8-FD2C-43A7-4A7D170B36D6}"/>
              </a:ext>
            </a:extLst>
          </p:cNvPr>
          <p:cNvSpPr txBox="1"/>
          <p:nvPr/>
        </p:nvSpPr>
        <p:spPr>
          <a:xfrm>
            <a:off x="756002" y="5213307"/>
            <a:ext cx="2728905" cy="738664"/>
          </a:xfrm>
          <a:prstGeom prst="rect">
            <a:avLst/>
          </a:prstGeom>
          <a:noFill/>
        </p:spPr>
        <p:txBody>
          <a:bodyPr wrap="square" rtlCol="0">
            <a:spAutoFit/>
          </a:bodyPr>
          <a:lstStyle/>
          <a:p>
            <a:r>
              <a:rPr lang="en-US" dirty="0"/>
              <a:t>Using AI physician recommends preventive measures &amp; lifestyle changes to reduce risk</a:t>
            </a:r>
            <a:endParaRPr lang="en-IN" dirty="0"/>
          </a:p>
        </p:txBody>
      </p:sp>
      <p:sp>
        <p:nvSpPr>
          <p:cNvPr id="29" name="TextBox 28">
            <a:extLst>
              <a:ext uri="{FF2B5EF4-FFF2-40B4-BE49-F238E27FC236}">
                <a16:creationId xmlns:a16="http://schemas.microsoft.com/office/drawing/2014/main" id="{8060FDEA-8532-1BB8-04DA-C95374E8FA87}"/>
              </a:ext>
            </a:extLst>
          </p:cNvPr>
          <p:cNvSpPr txBox="1"/>
          <p:nvPr/>
        </p:nvSpPr>
        <p:spPr>
          <a:xfrm>
            <a:off x="493202" y="4902538"/>
            <a:ext cx="2586401" cy="307777"/>
          </a:xfrm>
          <a:prstGeom prst="rect">
            <a:avLst/>
          </a:prstGeom>
          <a:noFill/>
        </p:spPr>
        <p:txBody>
          <a:bodyPr wrap="square">
            <a:spAutoFit/>
          </a:bodyPr>
          <a:lstStyle/>
          <a:p>
            <a:pPr lvl="0"/>
            <a:r>
              <a:rPr lang="en-IN" sz="1400" b="1" i="1" dirty="0">
                <a:solidFill>
                  <a:schemeClr val="accent3">
                    <a:lumMod val="50000"/>
                  </a:schemeClr>
                </a:solidFill>
              </a:rPr>
              <a:t>Predictive Analytics</a:t>
            </a:r>
          </a:p>
        </p:txBody>
      </p:sp>
      <p:pic>
        <p:nvPicPr>
          <p:cNvPr id="31" name="Graphic 30" descr="Future with solid fill">
            <a:extLst>
              <a:ext uri="{FF2B5EF4-FFF2-40B4-BE49-F238E27FC236}">
                <a16:creationId xmlns:a16="http://schemas.microsoft.com/office/drawing/2014/main" id="{9B5FFA51-8138-FB6A-F26F-65586C71A9C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4553" y="5231611"/>
            <a:ext cx="511892" cy="511892"/>
          </a:xfrm>
          <a:prstGeom prst="rect">
            <a:avLst/>
          </a:prstGeom>
        </p:spPr>
      </p:pic>
      <p:pic>
        <p:nvPicPr>
          <p:cNvPr id="33" name="Graphic 32" descr="Chat bubble with solid fill">
            <a:extLst>
              <a:ext uri="{FF2B5EF4-FFF2-40B4-BE49-F238E27FC236}">
                <a16:creationId xmlns:a16="http://schemas.microsoft.com/office/drawing/2014/main" id="{B0DEA9DC-E827-B602-8DBF-F86C8B651C8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35878" y="1212997"/>
            <a:ext cx="749968" cy="749968"/>
          </a:xfrm>
          <a:prstGeom prst="rect">
            <a:avLst/>
          </a:prstGeom>
        </p:spPr>
      </p:pic>
      <p:cxnSp>
        <p:nvCxnSpPr>
          <p:cNvPr id="34" name="Straight Connector 33">
            <a:extLst>
              <a:ext uri="{FF2B5EF4-FFF2-40B4-BE49-F238E27FC236}">
                <a16:creationId xmlns:a16="http://schemas.microsoft.com/office/drawing/2014/main" id="{CAEB402B-BD09-658F-B0AD-DCE812E2249F}"/>
              </a:ext>
            </a:extLst>
          </p:cNvPr>
          <p:cNvCxnSpPr>
            <a:cxnSpLocks/>
            <a:stCxn id="33" idx="1"/>
          </p:cNvCxnSpPr>
          <p:nvPr/>
        </p:nvCxnSpPr>
        <p:spPr>
          <a:xfrm flipH="1">
            <a:off x="5570346" y="1587981"/>
            <a:ext cx="2765532" cy="998665"/>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TextBox 35">
            <a:extLst>
              <a:ext uri="{FF2B5EF4-FFF2-40B4-BE49-F238E27FC236}">
                <a16:creationId xmlns:a16="http://schemas.microsoft.com/office/drawing/2014/main" id="{72E18633-BD50-A120-21CA-BC5BAA14F2A3}"/>
              </a:ext>
            </a:extLst>
          </p:cNvPr>
          <p:cNvSpPr txBox="1"/>
          <p:nvPr/>
        </p:nvSpPr>
        <p:spPr>
          <a:xfrm>
            <a:off x="9250783" y="1118652"/>
            <a:ext cx="2825393" cy="954107"/>
          </a:xfrm>
          <a:prstGeom prst="rect">
            <a:avLst/>
          </a:prstGeom>
          <a:noFill/>
        </p:spPr>
        <p:txBody>
          <a:bodyPr wrap="square" rtlCol="0">
            <a:spAutoFit/>
          </a:bodyPr>
          <a:lstStyle/>
          <a:p>
            <a:r>
              <a:rPr lang="en-US" dirty="0"/>
              <a:t>LLM powered virtual assistant helps manage appointments and reminders without paperwork or calls</a:t>
            </a:r>
            <a:endParaRPr lang="en-IN" dirty="0"/>
          </a:p>
        </p:txBody>
      </p:sp>
      <p:sp>
        <p:nvSpPr>
          <p:cNvPr id="37" name="TextBox 36">
            <a:extLst>
              <a:ext uri="{FF2B5EF4-FFF2-40B4-BE49-F238E27FC236}">
                <a16:creationId xmlns:a16="http://schemas.microsoft.com/office/drawing/2014/main" id="{FF9179B6-2B94-9939-5994-380F9B08AD5E}"/>
              </a:ext>
            </a:extLst>
          </p:cNvPr>
          <p:cNvSpPr txBox="1"/>
          <p:nvPr/>
        </p:nvSpPr>
        <p:spPr>
          <a:xfrm>
            <a:off x="8445339" y="859036"/>
            <a:ext cx="2880869" cy="307777"/>
          </a:xfrm>
          <a:prstGeom prst="rect">
            <a:avLst/>
          </a:prstGeom>
          <a:noFill/>
        </p:spPr>
        <p:txBody>
          <a:bodyPr wrap="square">
            <a:spAutoFit/>
          </a:bodyPr>
          <a:lstStyle/>
          <a:p>
            <a:pPr lvl="0"/>
            <a:r>
              <a:rPr lang="en-IN" sz="1400" b="1" i="1" dirty="0">
                <a:solidFill>
                  <a:schemeClr val="accent3">
                    <a:lumMod val="50000"/>
                  </a:schemeClr>
                </a:solidFill>
              </a:rPr>
              <a:t>Chatbots and Virtual Assistants</a:t>
            </a:r>
          </a:p>
        </p:txBody>
      </p:sp>
      <p:pic>
        <p:nvPicPr>
          <p:cNvPr id="39" name="Graphic 38" descr="Eye dropper with solid fill">
            <a:extLst>
              <a:ext uri="{FF2B5EF4-FFF2-40B4-BE49-F238E27FC236}">
                <a16:creationId xmlns:a16="http://schemas.microsoft.com/office/drawing/2014/main" id="{34F0CA31-10E3-2335-F54B-BDCE3CB0519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45339" y="3438910"/>
            <a:ext cx="575881" cy="575881"/>
          </a:xfrm>
          <a:prstGeom prst="rect">
            <a:avLst/>
          </a:prstGeom>
        </p:spPr>
      </p:pic>
      <p:cxnSp>
        <p:nvCxnSpPr>
          <p:cNvPr id="40" name="Straight Connector 39">
            <a:extLst>
              <a:ext uri="{FF2B5EF4-FFF2-40B4-BE49-F238E27FC236}">
                <a16:creationId xmlns:a16="http://schemas.microsoft.com/office/drawing/2014/main" id="{2744D109-AF12-4E13-555B-EB880FD18B6E}"/>
              </a:ext>
            </a:extLst>
          </p:cNvPr>
          <p:cNvCxnSpPr>
            <a:cxnSpLocks/>
          </p:cNvCxnSpPr>
          <p:nvPr/>
        </p:nvCxnSpPr>
        <p:spPr>
          <a:xfrm flipH="1" flipV="1">
            <a:off x="5887599" y="2963028"/>
            <a:ext cx="2520827" cy="445096"/>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3" name="TextBox 42">
            <a:extLst>
              <a:ext uri="{FF2B5EF4-FFF2-40B4-BE49-F238E27FC236}">
                <a16:creationId xmlns:a16="http://schemas.microsoft.com/office/drawing/2014/main" id="{642D115C-817D-FC6C-8C7B-C61FB86F9B37}"/>
              </a:ext>
            </a:extLst>
          </p:cNvPr>
          <p:cNvSpPr txBox="1"/>
          <p:nvPr/>
        </p:nvSpPr>
        <p:spPr>
          <a:xfrm>
            <a:off x="8445339" y="2903871"/>
            <a:ext cx="2880869" cy="523220"/>
          </a:xfrm>
          <a:prstGeom prst="rect">
            <a:avLst/>
          </a:prstGeom>
          <a:noFill/>
        </p:spPr>
        <p:txBody>
          <a:bodyPr wrap="square">
            <a:spAutoFit/>
          </a:bodyPr>
          <a:lstStyle/>
          <a:p>
            <a:pPr lvl="0"/>
            <a:r>
              <a:rPr lang="en-IN" sz="1400" b="1" i="1" dirty="0">
                <a:solidFill>
                  <a:schemeClr val="accent3">
                    <a:lumMod val="50000"/>
                  </a:schemeClr>
                </a:solidFill>
              </a:rPr>
              <a:t>Engagement &amp; Medication Management</a:t>
            </a:r>
          </a:p>
        </p:txBody>
      </p:sp>
      <p:sp>
        <p:nvSpPr>
          <p:cNvPr id="45" name="TextBox 44">
            <a:extLst>
              <a:ext uri="{FF2B5EF4-FFF2-40B4-BE49-F238E27FC236}">
                <a16:creationId xmlns:a16="http://schemas.microsoft.com/office/drawing/2014/main" id="{AE5F16BA-F384-72B4-1599-44B96931FF02}"/>
              </a:ext>
            </a:extLst>
          </p:cNvPr>
          <p:cNvSpPr txBox="1"/>
          <p:nvPr/>
        </p:nvSpPr>
        <p:spPr>
          <a:xfrm>
            <a:off x="9223327" y="3367038"/>
            <a:ext cx="2430379" cy="738664"/>
          </a:xfrm>
          <a:prstGeom prst="rect">
            <a:avLst/>
          </a:prstGeom>
          <a:noFill/>
        </p:spPr>
        <p:txBody>
          <a:bodyPr wrap="square" rtlCol="0">
            <a:spAutoFit/>
          </a:bodyPr>
          <a:lstStyle/>
          <a:p>
            <a:r>
              <a:rPr lang="en-US" dirty="0"/>
              <a:t>24X7 chatbot to access information about health and treatment plan</a:t>
            </a:r>
            <a:endParaRPr lang="en-IN" dirty="0"/>
          </a:p>
        </p:txBody>
      </p:sp>
      <p:cxnSp>
        <p:nvCxnSpPr>
          <p:cNvPr id="47" name="Straight Connector 46">
            <a:extLst>
              <a:ext uri="{FF2B5EF4-FFF2-40B4-BE49-F238E27FC236}">
                <a16:creationId xmlns:a16="http://schemas.microsoft.com/office/drawing/2014/main" id="{925050DE-F4E9-0384-7744-B326182C2533}"/>
              </a:ext>
            </a:extLst>
          </p:cNvPr>
          <p:cNvCxnSpPr>
            <a:cxnSpLocks/>
          </p:cNvCxnSpPr>
          <p:nvPr/>
        </p:nvCxnSpPr>
        <p:spPr>
          <a:xfrm flipH="1" flipV="1">
            <a:off x="5608799" y="3066520"/>
            <a:ext cx="2715536" cy="1923637"/>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9" name="Graphic 48" descr="Bar graph with upward trend with solid fill">
            <a:extLst>
              <a:ext uri="{FF2B5EF4-FFF2-40B4-BE49-F238E27FC236}">
                <a16:creationId xmlns:a16="http://schemas.microsoft.com/office/drawing/2014/main" id="{A53AB547-0FD6-2DB7-ACF5-604F280701A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408426" y="5256603"/>
            <a:ext cx="649705" cy="649705"/>
          </a:xfrm>
          <a:prstGeom prst="rect">
            <a:avLst/>
          </a:prstGeom>
        </p:spPr>
      </p:pic>
      <p:sp>
        <p:nvSpPr>
          <p:cNvPr id="50" name="TextBox 49">
            <a:extLst>
              <a:ext uri="{FF2B5EF4-FFF2-40B4-BE49-F238E27FC236}">
                <a16:creationId xmlns:a16="http://schemas.microsoft.com/office/drawing/2014/main" id="{876279E4-30EB-9182-7132-BB07E3755EF5}"/>
              </a:ext>
            </a:extLst>
          </p:cNvPr>
          <p:cNvSpPr txBox="1"/>
          <p:nvPr/>
        </p:nvSpPr>
        <p:spPr>
          <a:xfrm>
            <a:off x="9130679" y="5188213"/>
            <a:ext cx="2732458" cy="954107"/>
          </a:xfrm>
          <a:prstGeom prst="rect">
            <a:avLst/>
          </a:prstGeom>
          <a:noFill/>
        </p:spPr>
        <p:txBody>
          <a:bodyPr wrap="square" rtlCol="0">
            <a:spAutoFit/>
          </a:bodyPr>
          <a:lstStyle/>
          <a:p>
            <a:r>
              <a:rPr lang="en-US" dirty="0"/>
              <a:t>Physician uses EHR and patient behavior data to identify other health risks. Providers and payers prevent fraud</a:t>
            </a:r>
            <a:endParaRPr lang="en-IN" dirty="0"/>
          </a:p>
        </p:txBody>
      </p:sp>
      <p:sp>
        <p:nvSpPr>
          <p:cNvPr id="51" name="TextBox 50">
            <a:extLst>
              <a:ext uri="{FF2B5EF4-FFF2-40B4-BE49-F238E27FC236}">
                <a16:creationId xmlns:a16="http://schemas.microsoft.com/office/drawing/2014/main" id="{CC607CBB-1217-FC0A-DA5F-F0A010E0EAAB}"/>
              </a:ext>
            </a:extLst>
          </p:cNvPr>
          <p:cNvSpPr txBox="1"/>
          <p:nvPr/>
        </p:nvSpPr>
        <p:spPr>
          <a:xfrm>
            <a:off x="8445338" y="4836269"/>
            <a:ext cx="2880869" cy="307777"/>
          </a:xfrm>
          <a:prstGeom prst="rect">
            <a:avLst/>
          </a:prstGeom>
          <a:noFill/>
        </p:spPr>
        <p:txBody>
          <a:bodyPr wrap="square">
            <a:spAutoFit/>
          </a:bodyPr>
          <a:lstStyle/>
          <a:p>
            <a:pPr lvl="0"/>
            <a:r>
              <a:rPr lang="en-IN" sz="1400" b="1" i="1" dirty="0">
                <a:solidFill>
                  <a:schemeClr val="accent3">
                    <a:lumMod val="50000"/>
                  </a:schemeClr>
                </a:solidFill>
              </a:rPr>
              <a:t>Analytics &amp; Behavioral Health</a:t>
            </a:r>
          </a:p>
        </p:txBody>
      </p:sp>
      <p:sp>
        <p:nvSpPr>
          <p:cNvPr id="52" name="TextBox 51">
            <a:extLst>
              <a:ext uri="{FF2B5EF4-FFF2-40B4-BE49-F238E27FC236}">
                <a16:creationId xmlns:a16="http://schemas.microsoft.com/office/drawing/2014/main" id="{A15BB11E-DAF0-E81E-0E80-A9CD50CF3720}"/>
              </a:ext>
            </a:extLst>
          </p:cNvPr>
          <p:cNvSpPr txBox="1"/>
          <p:nvPr/>
        </p:nvSpPr>
        <p:spPr>
          <a:xfrm>
            <a:off x="52865" y="2069870"/>
            <a:ext cx="4468208" cy="553998"/>
          </a:xfrm>
          <a:prstGeom prst="rect">
            <a:avLst/>
          </a:prstGeom>
          <a:noFill/>
        </p:spPr>
        <p:txBody>
          <a:bodyPr wrap="square" rtlCol="0">
            <a:spAutoFit/>
          </a:bodyPr>
          <a:lstStyle/>
          <a:p>
            <a:r>
              <a:rPr lang="en-IN" sz="1000" i="1" dirty="0">
                <a:solidFill>
                  <a:schemeClr val="accent4">
                    <a:lumMod val="50000"/>
                  </a:schemeClr>
                </a:solidFill>
              </a:rPr>
              <a:t>KPIs to track -</a:t>
            </a:r>
          </a:p>
          <a:p>
            <a:pPr marL="342900" indent="-342900">
              <a:buAutoNum type="arabicPeriod"/>
            </a:pPr>
            <a:r>
              <a:rPr lang="en-IN" sz="1000" i="1" dirty="0">
                <a:solidFill>
                  <a:schemeClr val="accent4">
                    <a:lumMod val="50000"/>
                  </a:schemeClr>
                </a:solidFill>
              </a:rPr>
              <a:t>Reduction in costs due to improved outcomes</a:t>
            </a:r>
          </a:p>
          <a:p>
            <a:pPr marL="342900" indent="-342900">
              <a:buFont typeface="Arial"/>
              <a:buAutoNum type="arabicPeriod"/>
            </a:pPr>
            <a:r>
              <a:rPr lang="en-IN" sz="1000" i="1" dirty="0">
                <a:solidFill>
                  <a:schemeClr val="accent4">
                    <a:lumMod val="50000"/>
                  </a:schemeClr>
                </a:solidFill>
              </a:rPr>
              <a:t>Improvement in revenue per member due to uptick in retention</a:t>
            </a:r>
          </a:p>
        </p:txBody>
      </p:sp>
      <p:sp>
        <p:nvSpPr>
          <p:cNvPr id="55" name="TextBox 54">
            <a:extLst>
              <a:ext uri="{FF2B5EF4-FFF2-40B4-BE49-F238E27FC236}">
                <a16:creationId xmlns:a16="http://schemas.microsoft.com/office/drawing/2014/main" id="{659BD3EF-C169-5CBF-D35E-EE6834D2C73F}"/>
              </a:ext>
            </a:extLst>
          </p:cNvPr>
          <p:cNvSpPr txBox="1"/>
          <p:nvPr/>
        </p:nvSpPr>
        <p:spPr>
          <a:xfrm>
            <a:off x="64398" y="3870303"/>
            <a:ext cx="4468208" cy="707886"/>
          </a:xfrm>
          <a:prstGeom prst="rect">
            <a:avLst/>
          </a:prstGeom>
          <a:noFill/>
        </p:spPr>
        <p:txBody>
          <a:bodyPr wrap="square" rtlCol="0">
            <a:spAutoFit/>
          </a:bodyPr>
          <a:lstStyle/>
          <a:p>
            <a:r>
              <a:rPr lang="en-IN" sz="1000" i="1" dirty="0">
                <a:solidFill>
                  <a:schemeClr val="accent4">
                    <a:lumMod val="50000"/>
                  </a:schemeClr>
                </a:solidFill>
              </a:rPr>
              <a:t>KPIs to track - </a:t>
            </a:r>
          </a:p>
          <a:p>
            <a:pPr marL="342900" indent="-342900">
              <a:buAutoNum type="arabicPeriod"/>
            </a:pPr>
            <a:r>
              <a:rPr lang="en-IN" sz="1000" i="1" dirty="0">
                <a:solidFill>
                  <a:schemeClr val="accent4">
                    <a:lumMod val="50000"/>
                  </a:schemeClr>
                </a:solidFill>
              </a:rPr>
              <a:t>Improvement in member satisfaction scores</a:t>
            </a:r>
          </a:p>
          <a:p>
            <a:pPr marL="342900" indent="-342900">
              <a:buAutoNum type="arabicPeriod"/>
            </a:pPr>
            <a:r>
              <a:rPr lang="en-IN" sz="1000" i="1" dirty="0">
                <a:solidFill>
                  <a:schemeClr val="accent4">
                    <a:lumMod val="50000"/>
                  </a:schemeClr>
                </a:solidFill>
              </a:rPr>
              <a:t>Reduction in reimbursement costs</a:t>
            </a:r>
          </a:p>
          <a:p>
            <a:pPr marL="342900" indent="-342900">
              <a:buAutoNum type="arabicPeriod"/>
            </a:pPr>
            <a:r>
              <a:rPr lang="en-IN" sz="1000" i="1" dirty="0">
                <a:solidFill>
                  <a:schemeClr val="accent4">
                    <a:lumMod val="50000"/>
                  </a:schemeClr>
                </a:solidFill>
              </a:rPr>
              <a:t>Reduction in overhead costs due to cancellations, etc.</a:t>
            </a:r>
          </a:p>
        </p:txBody>
      </p:sp>
      <p:sp>
        <p:nvSpPr>
          <p:cNvPr id="56" name="TextBox 55">
            <a:extLst>
              <a:ext uri="{FF2B5EF4-FFF2-40B4-BE49-F238E27FC236}">
                <a16:creationId xmlns:a16="http://schemas.microsoft.com/office/drawing/2014/main" id="{781DA71B-42F9-F8F3-4BA5-CA286B6A3DA8}"/>
              </a:ext>
            </a:extLst>
          </p:cNvPr>
          <p:cNvSpPr txBox="1"/>
          <p:nvPr/>
        </p:nvSpPr>
        <p:spPr>
          <a:xfrm>
            <a:off x="64398" y="5906475"/>
            <a:ext cx="4468208" cy="553998"/>
          </a:xfrm>
          <a:prstGeom prst="rect">
            <a:avLst/>
          </a:prstGeom>
          <a:noFill/>
        </p:spPr>
        <p:txBody>
          <a:bodyPr wrap="square" rtlCol="0">
            <a:spAutoFit/>
          </a:bodyPr>
          <a:lstStyle/>
          <a:p>
            <a:r>
              <a:rPr lang="en-IN" sz="1000" i="1" dirty="0">
                <a:solidFill>
                  <a:schemeClr val="accent4">
                    <a:lumMod val="50000"/>
                  </a:schemeClr>
                </a:solidFill>
              </a:rPr>
              <a:t>KPIs to track - </a:t>
            </a:r>
          </a:p>
          <a:p>
            <a:pPr marL="342900" indent="-342900">
              <a:buAutoNum type="arabicPeriod"/>
            </a:pPr>
            <a:r>
              <a:rPr lang="en-IN" sz="1000" i="1" dirty="0">
                <a:solidFill>
                  <a:schemeClr val="accent4">
                    <a:lumMod val="50000"/>
                  </a:schemeClr>
                </a:solidFill>
              </a:rPr>
              <a:t>Reduction in </a:t>
            </a:r>
            <a:r>
              <a:rPr lang="en-US" sz="1000" i="1" dirty="0">
                <a:solidFill>
                  <a:schemeClr val="accent4">
                    <a:lumMod val="50000"/>
                  </a:schemeClr>
                </a:solidFill>
              </a:rPr>
              <a:t>costs associated with preventable hospitalizations</a:t>
            </a:r>
            <a:endParaRPr lang="en-IN" sz="1000" i="1" dirty="0">
              <a:solidFill>
                <a:schemeClr val="accent4">
                  <a:lumMod val="50000"/>
                </a:schemeClr>
              </a:solidFill>
            </a:endParaRPr>
          </a:p>
          <a:p>
            <a:pPr marL="342900" indent="-342900">
              <a:buAutoNum type="arabicPeriod"/>
            </a:pPr>
            <a:r>
              <a:rPr lang="en-US" sz="1000" i="1" dirty="0">
                <a:solidFill>
                  <a:schemeClr val="accent4">
                    <a:lumMod val="50000"/>
                  </a:schemeClr>
                </a:solidFill>
              </a:rPr>
              <a:t>Improvement in risk adjustment and revenue management</a:t>
            </a:r>
          </a:p>
        </p:txBody>
      </p:sp>
      <p:sp>
        <p:nvSpPr>
          <p:cNvPr id="63" name="TextBox 62">
            <a:extLst>
              <a:ext uri="{FF2B5EF4-FFF2-40B4-BE49-F238E27FC236}">
                <a16:creationId xmlns:a16="http://schemas.microsoft.com/office/drawing/2014/main" id="{DF411DB0-7368-13D1-8F67-66EC08F99E2A}"/>
              </a:ext>
            </a:extLst>
          </p:cNvPr>
          <p:cNvSpPr txBox="1"/>
          <p:nvPr/>
        </p:nvSpPr>
        <p:spPr>
          <a:xfrm>
            <a:off x="8353976" y="1954907"/>
            <a:ext cx="4468208" cy="707886"/>
          </a:xfrm>
          <a:prstGeom prst="rect">
            <a:avLst/>
          </a:prstGeom>
          <a:noFill/>
        </p:spPr>
        <p:txBody>
          <a:bodyPr wrap="square" rtlCol="0">
            <a:spAutoFit/>
          </a:bodyPr>
          <a:lstStyle/>
          <a:p>
            <a:r>
              <a:rPr lang="en-IN" sz="1000" i="1" dirty="0">
                <a:solidFill>
                  <a:schemeClr val="accent4">
                    <a:lumMod val="50000"/>
                  </a:schemeClr>
                </a:solidFill>
              </a:rPr>
              <a:t>KPIs to track -</a:t>
            </a:r>
          </a:p>
          <a:p>
            <a:pPr marL="342900" indent="-342900">
              <a:buAutoNum type="arabicPeriod"/>
            </a:pPr>
            <a:r>
              <a:rPr lang="en-IN" sz="1000" i="1" dirty="0">
                <a:solidFill>
                  <a:schemeClr val="accent4">
                    <a:lumMod val="50000"/>
                  </a:schemeClr>
                </a:solidFill>
              </a:rPr>
              <a:t>Reduction in admin costs</a:t>
            </a:r>
          </a:p>
          <a:p>
            <a:pPr marL="342900" indent="-342900">
              <a:buFont typeface="Arial"/>
              <a:buAutoNum type="arabicPeriod"/>
            </a:pPr>
            <a:r>
              <a:rPr lang="en-IN" sz="1000" i="1" dirty="0">
                <a:solidFill>
                  <a:schemeClr val="accent4">
                    <a:lumMod val="50000"/>
                  </a:schemeClr>
                </a:solidFill>
              </a:rPr>
              <a:t>Improvement in revenue per member due to improved care</a:t>
            </a:r>
          </a:p>
          <a:p>
            <a:pPr marL="342900" indent="-342900">
              <a:buFont typeface="Arial"/>
              <a:buAutoNum type="arabicPeriod"/>
            </a:pPr>
            <a:r>
              <a:rPr lang="en-IN" sz="1000" i="1" dirty="0">
                <a:solidFill>
                  <a:schemeClr val="accent4">
                    <a:lumMod val="50000"/>
                  </a:schemeClr>
                </a:solidFill>
              </a:rPr>
              <a:t>Increase in member satisfaction scores</a:t>
            </a:r>
          </a:p>
        </p:txBody>
      </p:sp>
      <p:sp>
        <p:nvSpPr>
          <p:cNvPr id="834" name="TextBox 833">
            <a:extLst>
              <a:ext uri="{FF2B5EF4-FFF2-40B4-BE49-F238E27FC236}">
                <a16:creationId xmlns:a16="http://schemas.microsoft.com/office/drawing/2014/main" id="{19F9E86D-2477-03BB-5B35-5DC173DAFCEB}"/>
              </a:ext>
            </a:extLst>
          </p:cNvPr>
          <p:cNvSpPr txBox="1"/>
          <p:nvPr/>
        </p:nvSpPr>
        <p:spPr>
          <a:xfrm>
            <a:off x="8336367" y="3997387"/>
            <a:ext cx="4468208" cy="707886"/>
          </a:xfrm>
          <a:prstGeom prst="rect">
            <a:avLst/>
          </a:prstGeom>
          <a:noFill/>
        </p:spPr>
        <p:txBody>
          <a:bodyPr wrap="square" rtlCol="0">
            <a:spAutoFit/>
          </a:bodyPr>
          <a:lstStyle/>
          <a:p>
            <a:r>
              <a:rPr lang="en-IN" sz="1000" i="1" dirty="0">
                <a:solidFill>
                  <a:schemeClr val="accent4">
                    <a:lumMod val="50000"/>
                  </a:schemeClr>
                </a:solidFill>
              </a:rPr>
              <a:t>KPIs to track -</a:t>
            </a:r>
          </a:p>
          <a:p>
            <a:pPr marL="342900" indent="-342900">
              <a:buAutoNum type="arabicPeriod"/>
            </a:pPr>
            <a:r>
              <a:rPr lang="en-IN" sz="1000" i="1" dirty="0">
                <a:solidFill>
                  <a:schemeClr val="accent4">
                    <a:lumMod val="50000"/>
                  </a:schemeClr>
                </a:solidFill>
              </a:rPr>
              <a:t>Reduction in costs due to preventable hospitalizations</a:t>
            </a:r>
          </a:p>
          <a:p>
            <a:pPr marL="342900" indent="-342900">
              <a:buFont typeface="Arial"/>
              <a:buAutoNum type="arabicPeriod"/>
            </a:pPr>
            <a:r>
              <a:rPr lang="en-IN" sz="1000" i="1" dirty="0">
                <a:solidFill>
                  <a:schemeClr val="accent4">
                    <a:lumMod val="50000"/>
                  </a:schemeClr>
                </a:solidFill>
              </a:rPr>
              <a:t>Improvement in revenue per member due to improved care</a:t>
            </a:r>
          </a:p>
          <a:p>
            <a:pPr marL="342900" indent="-342900">
              <a:buFont typeface="Arial"/>
              <a:buAutoNum type="arabicPeriod"/>
            </a:pPr>
            <a:r>
              <a:rPr lang="en-IN" sz="1000" i="1" dirty="0">
                <a:solidFill>
                  <a:schemeClr val="accent4">
                    <a:lumMod val="50000"/>
                  </a:schemeClr>
                </a:solidFill>
              </a:rPr>
              <a:t>Increase in member satisfaction scores</a:t>
            </a:r>
          </a:p>
        </p:txBody>
      </p:sp>
      <p:sp>
        <p:nvSpPr>
          <p:cNvPr id="835" name="TextBox 834">
            <a:extLst>
              <a:ext uri="{FF2B5EF4-FFF2-40B4-BE49-F238E27FC236}">
                <a16:creationId xmlns:a16="http://schemas.microsoft.com/office/drawing/2014/main" id="{72439BBE-8D72-DAD3-9DFD-B916D9090E58}"/>
              </a:ext>
            </a:extLst>
          </p:cNvPr>
          <p:cNvSpPr txBox="1"/>
          <p:nvPr/>
        </p:nvSpPr>
        <p:spPr>
          <a:xfrm>
            <a:off x="8292731" y="6018902"/>
            <a:ext cx="4468208" cy="707886"/>
          </a:xfrm>
          <a:prstGeom prst="rect">
            <a:avLst/>
          </a:prstGeom>
          <a:noFill/>
        </p:spPr>
        <p:txBody>
          <a:bodyPr wrap="square" rtlCol="0">
            <a:spAutoFit/>
          </a:bodyPr>
          <a:lstStyle/>
          <a:p>
            <a:r>
              <a:rPr lang="en-IN" sz="1000" i="1" dirty="0">
                <a:solidFill>
                  <a:schemeClr val="accent4">
                    <a:lumMod val="50000"/>
                  </a:schemeClr>
                </a:solidFill>
              </a:rPr>
              <a:t>KPIs to track -</a:t>
            </a:r>
          </a:p>
          <a:p>
            <a:pPr marL="342900" indent="-342900">
              <a:buAutoNum type="arabicPeriod"/>
            </a:pPr>
            <a:r>
              <a:rPr lang="en-US" sz="1000" i="1" dirty="0">
                <a:solidFill>
                  <a:schemeClr val="accent4">
                    <a:lumMod val="50000"/>
                  </a:schemeClr>
                </a:solidFill>
              </a:rPr>
              <a:t>Improvement in the accuracy and speed of diagnoses</a:t>
            </a:r>
          </a:p>
          <a:p>
            <a:pPr marL="342900" indent="-342900">
              <a:buAutoNum type="arabicPeriod"/>
            </a:pPr>
            <a:r>
              <a:rPr lang="en-US" sz="1000" i="1" dirty="0">
                <a:solidFill>
                  <a:schemeClr val="accent4">
                    <a:lumMod val="50000"/>
                  </a:schemeClr>
                </a:solidFill>
              </a:rPr>
              <a:t>Reduction in healthcare costs due to unnecessary diagnosis</a:t>
            </a:r>
          </a:p>
          <a:p>
            <a:pPr marL="342900" indent="-342900">
              <a:buAutoNum type="arabicPeriod"/>
            </a:pPr>
            <a:r>
              <a:rPr lang="en-US" sz="1000" i="1" dirty="0">
                <a:solidFill>
                  <a:schemeClr val="accent4">
                    <a:lumMod val="50000"/>
                  </a:schemeClr>
                </a:solidFill>
              </a:rPr>
              <a:t>Improvement in compliance with healthcare regulations</a:t>
            </a:r>
            <a:endParaRPr lang="en-IN" sz="1000" i="1" dirty="0">
              <a:solidFill>
                <a:schemeClr val="accent4">
                  <a:lumMod val="50000"/>
                </a:schemeClr>
              </a:solidFill>
            </a:endParaRPr>
          </a:p>
        </p:txBody>
      </p:sp>
    </p:spTree>
    <p:extLst>
      <p:ext uri="{BB962C8B-B14F-4D97-AF65-F5344CB8AC3E}">
        <p14:creationId xmlns:p14="http://schemas.microsoft.com/office/powerpoint/2010/main" val="856689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AI will act as a bridge between firm’s existing data capabilities and consumer’s digital experiences</a:t>
            </a:r>
            <a:endParaRPr lang="en-IN" dirty="0"/>
          </a:p>
        </p:txBody>
      </p:sp>
      <p:graphicFrame>
        <p:nvGraphicFramePr>
          <p:cNvPr id="3" name="Diagram 2">
            <a:extLst>
              <a:ext uri="{FF2B5EF4-FFF2-40B4-BE49-F238E27FC236}">
                <a16:creationId xmlns:a16="http://schemas.microsoft.com/office/drawing/2014/main" id="{D32BA943-4654-1B90-3FB5-FC21EDA45F1E}"/>
              </a:ext>
            </a:extLst>
          </p:cNvPr>
          <p:cNvGraphicFramePr/>
          <p:nvPr/>
        </p:nvGraphicFramePr>
        <p:xfrm>
          <a:off x="1210434" y="2310769"/>
          <a:ext cx="9578474" cy="32471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Graphic 17" descr="Person eating with solid fill">
            <a:extLst>
              <a:ext uri="{FF2B5EF4-FFF2-40B4-BE49-F238E27FC236}">
                <a16:creationId xmlns:a16="http://schemas.microsoft.com/office/drawing/2014/main" id="{9678B15A-6A74-C2AE-C6FE-567D986B91F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72126" y="1963002"/>
            <a:ext cx="749968" cy="749968"/>
          </a:xfrm>
          <a:prstGeom prst="rect">
            <a:avLst/>
          </a:prstGeom>
        </p:spPr>
      </p:pic>
      <p:pic>
        <p:nvPicPr>
          <p:cNvPr id="20" name="Graphic 19" descr="Remote work with solid fill">
            <a:extLst>
              <a:ext uri="{FF2B5EF4-FFF2-40B4-BE49-F238E27FC236}">
                <a16:creationId xmlns:a16="http://schemas.microsoft.com/office/drawing/2014/main" id="{558350C3-0B7C-25ED-EDE4-AFDF89BC92E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923673" y="1970095"/>
            <a:ext cx="737937" cy="737937"/>
          </a:xfrm>
          <a:prstGeom prst="rect">
            <a:avLst/>
          </a:prstGeom>
        </p:spPr>
      </p:pic>
      <p:pic>
        <p:nvPicPr>
          <p:cNvPr id="22" name="Graphic 21" descr="Chat bubble with solid fill">
            <a:extLst>
              <a:ext uri="{FF2B5EF4-FFF2-40B4-BE49-F238E27FC236}">
                <a16:creationId xmlns:a16="http://schemas.microsoft.com/office/drawing/2014/main" id="{005BD7D6-E792-3211-7CEF-F6ABCC4B7AD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215064" y="1970095"/>
            <a:ext cx="749968" cy="749968"/>
          </a:xfrm>
          <a:prstGeom prst="rect">
            <a:avLst/>
          </a:prstGeom>
        </p:spPr>
      </p:pic>
      <p:pic>
        <p:nvPicPr>
          <p:cNvPr id="24" name="Graphic 23" descr="Future with solid fill">
            <a:extLst>
              <a:ext uri="{FF2B5EF4-FFF2-40B4-BE49-F238E27FC236}">
                <a16:creationId xmlns:a16="http://schemas.microsoft.com/office/drawing/2014/main" id="{30E99BD1-28E4-A32B-76A5-32D6324F0C5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674818" y="2006191"/>
            <a:ext cx="649705" cy="649705"/>
          </a:xfrm>
          <a:prstGeom prst="rect">
            <a:avLst/>
          </a:prstGeom>
        </p:spPr>
      </p:pic>
      <p:pic>
        <p:nvPicPr>
          <p:cNvPr id="26" name="Graphic 25" descr="Bar graph with upward trend with solid fill">
            <a:extLst>
              <a:ext uri="{FF2B5EF4-FFF2-40B4-BE49-F238E27FC236}">
                <a16:creationId xmlns:a16="http://schemas.microsoft.com/office/drawing/2014/main" id="{A909FB79-D41F-642A-E133-60159D4A78C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34309" y="2020226"/>
            <a:ext cx="649705" cy="649705"/>
          </a:xfrm>
          <a:prstGeom prst="rect">
            <a:avLst/>
          </a:prstGeom>
        </p:spPr>
      </p:pic>
      <p:pic>
        <p:nvPicPr>
          <p:cNvPr id="28" name="Graphic 27" descr="Eye dropper with solid fill">
            <a:extLst>
              <a:ext uri="{FF2B5EF4-FFF2-40B4-BE49-F238E27FC236}">
                <a16:creationId xmlns:a16="http://schemas.microsoft.com/office/drawing/2014/main" id="{44596652-821A-D766-1039-FA83E96FAA6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525259" y="2080015"/>
            <a:ext cx="575881" cy="575881"/>
          </a:xfrm>
          <a:prstGeom prst="rect">
            <a:avLst/>
          </a:prstGeom>
        </p:spPr>
      </p:pic>
      <p:pic>
        <p:nvPicPr>
          <p:cNvPr id="30" name="Graphic 29" descr="Mental Health with solid fill">
            <a:extLst>
              <a:ext uri="{FF2B5EF4-FFF2-40B4-BE49-F238E27FC236}">
                <a16:creationId xmlns:a16="http://schemas.microsoft.com/office/drawing/2014/main" id="{EFA1875C-8825-4F48-1355-27872EA0F1D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813451" y="2080015"/>
            <a:ext cx="613313" cy="613313"/>
          </a:xfrm>
          <a:prstGeom prst="rect">
            <a:avLst/>
          </a:prstGeom>
        </p:spPr>
      </p:pic>
      <p:sp>
        <p:nvSpPr>
          <p:cNvPr id="31" name="Rectangle 30">
            <a:extLst>
              <a:ext uri="{FF2B5EF4-FFF2-40B4-BE49-F238E27FC236}">
                <a16:creationId xmlns:a16="http://schemas.microsoft.com/office/drawing/2014/main" id="{18D663D4-636C-897A-3DC0-F5139AA12DC3}"/>
              </a:ext>
            </a:extLst>
          </p:cNvPr>
          <p:cNvSpPr/>
          <p:nvPr/>
        </p:nvSpPr>
        <p:spPr>
          <a:xfrm>
            <a:off x="608856" y="1916399"/>
            <a:ext cx="10781632" cy="1404315"/>
          </a:xfrm>
          <a:prstGeom prst="rect">
            <a:avLst/>
          </a:prstGeom>
          <a:noFill/>
          <a:ln w="28575">
            <a:solidFill>
              <a:schemeClr val="accent4"/>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TextBox 31">
            <a:extLst>
              <a:ext uri="{FF2B5EF4-FFF2-40B4-BE49-F238E27FC236}">
                <a16:creationId xmlns:a16="http://schemas.microsoft.com/office/drawing/2014/main" id="{08A977D9-A325-64A9-EA3C-2A3E2FE8DB09}"/>
              </a:ext>
            </a:extLst>
          </p:cNvPr>
          <p:cNvSpPr txBox="1"/>
          <p:nvPr/>
        </p:nvSpPr>
        <p:spPr>
          <a:xfrm>
            <a:off x="4768142" y="1388153"/>
            <a:ext cx="3112762" cy="369332"/>
          </a:xfrm>
          <a:prstGeom prst="rect">
            <a:avLst/>
          </a:prstGeom>
          <a:noFill/>
        </p:spPr>
        <p:txBody>
          <a:bodyPr wrap="square" rtlCol="0">
            <a:spAutoFit/>
          </a:bodyPr>
          <a:lstStyle/>
          <a:p>
            <a:r>
              <a:rPr lang="en-IN" sz="1800" b="1" dirty="0"/>
              <a:t>Consumer Experience</a:t>
            </a:r>
          </a:p>
        </p:txBody>
      </p:sp>
      <p:sp>
        <p:nvSpPr>
          <p:cNvPr id="33" name="Arrow: Up-Down 32">
            <a:extLst>
              <a:ext uri="{FF2B5EF4-FFF2-40B4-BE49-F238E27FC236}">
                <a16:creationId xmlns:a16="http://schemas.microsoft.com/office/drawing/2014/main" id="{D0812276-FE71-F964-E93D-9CC277EF9F97}"/>
              </a:ext>
            </a:extLst>
          </p:cNvPr>
          <p:cNvSpPr/>
          <p:nvPr/>
        </p:nvSpPr>
        <p:spPr>
          <a:xfrm>
            <a:off x="5674817" y="3320714"/>
            <a:ext cx="649706" cy="102355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TextBox 33">
            <a:extLst>
              <a:ext uri="{FF2B5EF4-FFF2-40B4-BE49-F238E27FC236}">
                <a16:creationId xmlns:a16="http://schemas.microsoft.com/office/drawing/2014/main" id="{2B4F669A-6202-E48E-BC12-F900EC1408A8}"/>
              </a:ext>
            </a:extLst>
          </p:cNvPr>
          <p:cNvSpPr txBox="1"/>
          <p:nvPr/>
        </p:nvSpPr>
        <p:spPr>
          <a:xfrm>
            <a:off x="5993805" y="3507234"/>
            <a:ext cx="3005140" cy="646331"/>
          </a:xfrm>
          <a:prstGeom prst="rect">
            <a:avLst/>
          </a:prstGeom>
          <a:noFill/>
        </p:spPr>
        <p:txBody>
          <a:bodyPr wrap="square" rtlCol="0">
            <a:spAutoFit/>
          </a:bodyPr>
          <a:lstStyle/>
          <a:p>
            <a:pPr algn="ctr"/>
            <a:r>
              <a:rPr lang="en-IN" sz="1800" b="1" dirty="0"/>
              <a:t>Artificial Intelligence Layer</a:t>
            </a:r>
          </a:p>
        </p:txBody>
      </p:sp>
      <p:pic>
        <p:nvPicPr>
          <p:cNvPr id="2052" name="Picture 4" descr="Database - Free technology icons">
            <a:extLst>
              <a:ext uri="{FF2B5EF4-FFF2-40B4-BE49-F238E27FC236}">
                <a16:creationId xmlns:a16="http://schemas.microsoft.com/office/drawing/2014/main" id="{94DCCBBB-21B3-5464-C982-C3FF00497B9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497179" y="4486809"/>
            <a:ext cx="1023557" cy="102355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F218FADE-EC24-609D-F812-1F08DC2FAC22}"/>
              </a:ext>
            </a:extLst>
          </p:cNvPr>
          <p:cNvSpPr/>
          <p:nvPr/>
        </p:nvSpPr>
        <p:spPr>
          <a:xfrm>
            <a:off x="602989" y="4330659"/>
            <a:ext cx="10781632" cy="1404315"/>
          </a:xfrm>
          <a:prstGeom prst="rect">
            <a:avLst/>
          </a:prstGeom>
          <a:noFill/>
          <a:ln w="28575">
            <a:solidFill>
              <a:schemeClr val="accent4"/>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6" name="TextBox 35">
            <a:extLst>
              <a:ext uri="{FF2B5EF4-FFF2-40B4-BE49-F238E27FC236}">
                <a16:creationId xmlns:a16="http://schemas.microsoft.com/office/drawing/2014/main" id="{284B938D-7FC0-C240-36A6-26F98EA0DC93}"/>
              </a:ext>
            </a:extLst>
          </p:cNvPr>
          <p:cNvSpPr txBox="1"/>
          <p:nvPr/>
        </p:nvSpPr>
        <p:spPr>
          <a:xfrm>
            <a:off x="3993918" y="5788634"/>
            <a:ext cx="4661209" cy="369332"/>
          </a:xfrm>
          <a:prstGeom prst="rect">
            <a:avLst/>
          </a:prstGeom>
          <a:noFill/>
        </p:spPr>
        <p:txBody>
          <a:bodyPr wrap="square" rtlCol="0">
            <a:spAutoFit/>
          </a:bodyPr>
          <a:lstStyle/>
          <a:p>
            <a:r>
              <a:rPr lang="en-IN" sz="1800" b="1" dirty="0"/>
              <a:t>Enterprise Data And Analytics Systems</a:t>
            </a:r>
          </a:p>
        </p:txBody>
      </p:sp>
    </p:spTree>
    <p:extLst>
      <p:ext uri="{BB962C8B-B14F-4D97-AF65-F5344CB8AC3E}">
        <p14:creationId xmlns:p14="http://schemas.microsoft.com/office/powerpoint/2010/main" val="3247894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C9E2A-62EB-7ECB-C3B2-927AB44EEF1E}"/>
              </a:ext>
            </a:extLst>
          </p:cNvPr>
          <p:cNvSpPr>
            <a:spLocks noGrp="1"/>
          </p:cNvSpPr>
          <p:nvPr>
            <p:ph type="title"/>
          </p:nvPr>
        </p:nvSpPr>
        <p:spPr/>
        <p:txBody>
          <a:bodyPr/>
          <a:lstStyle/>
          <a:p>
            <a:r>
              <a:rPr lang="en-IN" dirty="0"/>
              <a:t>Detailed Slides</a:t>
            </a:r>
          </a:p>
        </p:txBody>
      </p:sp>
    </p:spTree>
    <p:extLst>
      <p:ext uri="{BB962C8B-B14F-4D97-AF65-F5344CB8AC3E}">
        <p14:creationId xmlns:p14="http://schemas.microsoft.com/office/powerpoint/2010/main" val="936482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79783C-4D6F-F2A8-7A89-682970AA9509}"/>
              </a:ext>
            </a:extLst>
          </p:cNvPr>
          <p:cNvSpPr>
            <a:spLocks noGrp="1"/>
          </p:cNvSpPr>
          <p:nvPr>
            <p:ph type="body" idx="1"/>
          </p:nvPr>
        </p:nvSpPr>
        <p:spPr>
          <a:xfrm>
            <a:off x="609600" y="1130300"/>
            <a:ext cx="11087100" cy="5102352"/>
          </a:xfrm>
        </p:spPr>
        <p:txBody>
          <a:bodyPr/>
          <a:lstStyle/>
          <a:p>
            <a:pPr>
              <a:buFont typeface="Courier New" panose="02070309020205020404" pitchFamily="49" charset="0"/>
              <a:buChar char="o"/>
            </a:pPr>
            <a:r>
              <a:rPr lang="en-US" sz="1600" b="1" dirty="0">
                <a:solidFill>
                  <a:schemeClr val="tx1"/>
                </a:solidFill>
                <a:latin typeface="+mn-lt"/>
              </a:rPr>
              <a:t>Artificial Intelligence (AI)</a:t>
            </a:r>
            <a:r>
              <a:rPr lang="en-US" sz="1600" dirty="0">
                <a:solidFill>
                  <a:schemeClr val="tx1"/>
                </a:solidFill>
                <a:latin typeface="+mn-lt"/>
              </a:rPr>
              <a:t> is expected to have a significant </a:t>
            </a:r>
            <a:r>
              <a:rPr lang="en-US" sz="1600" b="1" dirty="0">
                <a:solidFill>
                  <a:schemeClr val="tx1"/>
                </a:solidFill>
                <a:latin typeface="+mn-lt"/>
              </a:rPr>
              <a:t>impact</a:t>
            </a:r>
            <a:r>
              <a:rPr lang="en-US" sz="1600" dirty="0">
                <a:solidFill>
                  <a:schemeClr val="tx1"/>
                </a:solidFill>
                <a:latin typeface="+mn-lt"/>
              </a:rPr>
              <a:t> on the </a:t>
            </a:r>
            <a:r>
              <a:rPr lang="en-US" sz="1600" b="1" dirty="0">
                <a:solidFill>
                  <a:schemeClr val="tx1"/>
                </a:solidFill>
                <a:latin typeface="+mn-lt"/>
              </a:rPr>
              <a:t>broad</a:t>
            </a:r>
            <a:r>
              <a:rPr lang="en-US" sz="1600" dirty="0">
                <a:solidFill>
                  <a:schemeClr val="tx1"/>
                </a:solidFill>
                <a:latin typeface="+mn-lt"/>
              </a:rPr>
              <a:t> </a:t>
            </a:r>
            <a:r>
              <a:rPr lang="en-US" sz="1600" b="1" dirty="0">
                <a:solidFill>
                  <a:schemeClr val="tx1"/>
                </a:solidFill>
                <a:latin typeface="+mn-lt"/>
              </a:rPr>
              <a:t>economy</a:t>
            </a:r>
            <a:r>
              <a:rPr lang="en-US" sz="1600" dirty="0">
                <a:solidFill>
                  <a:schemeClr val="tx1"/>
                </a:solidFill>
                <a:latin typeface="+mn-lt"/>
              </a:rPr>
              <a:t> (us, our members, customers, clinical partners, vendors, regulators) by </a:t>
            </a:r>
            <a:r>
              <a:rPr lang="en-US" sz="1600" b="1" dirty="0">
                <a:solidFill>
                  <a:schemeClr val="tx1"/>
                </a:solidFill>
                <a:latin typeface="+mn-lt"/>
              </a:rPr>
              <a:t>transforming</a:t>
            </a:r>
            <a:r>
              <a:rPr lang="en-US" sz="1600" dirty="0">
                <a:solidFill>
                  <a:schemeClr val="tx1"/>
                </a:solidFill>
                <a:latin typeface="+mn-lt"/>
              </a:rPr>
              <a:t> industries, creating </a:t>
            </a:r>
            <a:r>
              <a:rPr lang="en-US" sz="1600" b="1" dirty="0">
                <a:solidFill>
                  <a:schemeClr val="tx1"/>
                </a:solidFill>
                <a:latin typeface="+mn-lt"/>
              </a:rPr>
              <a:t>new business models</a:t>
            </a:r>
            <a:r>
              <a:rPr lang="en-US" sz="1600" dirty="0">
                <a:solidFill>
                  <a:schemeClr val="tx1"/>
                </a:solidFill>
                <a:latin typeface="+mn-lt"/>
              </a:rPr>
              <a:t>, and improving </a:t>
            </a:r>
            <a:r>
              <a:rPr lang="en-US" sz="1600" b="1" dirty="0">
                <a:solidFill>
                  <a:schemeClr val="tx1"/>
                </a:solidFill>
                <a:latin typeface="+mn-lt"/>
              </a:rPr>
              <a:t>productivity</a:t>
            </a:r>
            <a:r>
              <a:rPr lang="en-US" sz="1600" dirty="0">
                <a:solidFill>
                  <a:schemeClr val="tx1"/>
                </a:solidFill>
                <a:latin typeface="+mn-lt"/>
              </a:rPr>
              <a:t> and </a:t>
            </a:r>
            <a:r>
              <a:rPr lang="en-US" sz="1600" b="1" dirty="0">
                <a:solidFill>
                  <a:schemeClr val="tx1"/>
                </a:solidFill>
                <a:latin typeface="+mn-lt"/>
              </a:rPr>
              <a:t>efficiency</a:t>
            </a:r>
          </a:p>
          <a:p>
            <a:pPr lvl="1"/>
            <a:r>
              <a:rPr lang="en-US" sz="1600" i="1" dirty="0">
                <a:solidFill>
                  <a:schemeClr val="tx1"/>
                </a:solidFill>
                <a:latin typeface="+mn-lt"/>
              </a:rPr>
              <a:t>These impacts include automation, personalization, innovation, job displacement and broader economic shifts</a:t>
            </a:r>
          </a:p>
          <a:p>
            <a:pPr>
              <a:buFont typeface="Courier New" panose="02070309020205020404" pitchFamily="49" charset="0"/>
              <a:buChar char="o"/>
            </a:pPr>
            <a:endParaRPr lang="en-US" sz="1600" dirty="0">
              <a:solidFill>
                <a:schemeClr val="tx1"/>
              </a:solidFill>
              <a:latin typeface="+mn-lt"/>
            </a:endParaRPr>
          </a:p>
          <a:p>
            <a:pPr>
              <a:buFont typeface="Courier New" panose="02070309020205020404" pitchFamily="49" charset="0"/>
              <a:buChar char="o"/>
            </a:pPr>
            <a:r>
              <a:rPr lang="en-US" sz="1600" dirty="0">
                <a:solidFill>
                  <a:schemeClr val="tx1"/>
                </a:solidFill>
                <a:latin typeface="+mn-lt"/>
              </a:rPr>
              <a:t>An </a:t>
            </a:r>
            <a:r>
              <a:rPr lang="en-US" sz="1600" b="1" dirty="0">
                <a:solidFill>
                  <a:schemeClr val="tx1"/>
                </a:solidFill>
                <a:latin typeface="+mn-lt"/>
              </a:rPr>
              <a:t>AI strategy </a:t>
            </a:r>
            <a:r>
              <a:rPr lang="en-US" sz="1600" dirty="0">
                <a:solidFill>
                  <a:schemeClr val="tx1"/>
                </a:solidFill>
                <a:latin typeface="+mn-lt"/>
              </a:rPr>
              <a:t>allows us to present our </a:t>
            </a:r>
            <a:r>
              <a:rPr lang="en-US" sz="1600" b="1" dirty="0">
                <a:solidFill>
                  <a:schemeClr val="tx1"/>
                </a:solidFill>
                <a:latin typeface="+mn-lt"/>
              </a:rPr>
              <a:t>focus</a:t>
            </a:r>
            <a:r>
              <a:rPr lang="en-US" sz="1600" dirty="0">
                <a:solidFill>
                  <a:schemeClr val="tx1"/>
                </a:solidFill>
                <a:latin typeface="+mn-lt"/>
              </a:rPr>
              <a:t>, </a:t>
            </a:r>
            <a:r>
              <a:rPr lang="en-US" sz="1600" b="1" dirty="0">
                <a:solidFill>
                  <a:schemeClr val="tx1"/>
                </a:solidFill>
                <a:latin typeface="+mn-lt"/>
              </a:rPr>
              <a:t>choices</a:t>
            </a:r>
            <a:r>
              <a:rPr lang="en-US" sz="1600" dirty="0">
                <a:solidFill>
                  <a:schemeClr val="tx1"/>
                </a:solidFill>
                <a:latin typeface="+mn-lt"/>
              </a:rPr>
              <a:t>, </a:t>
            </a:r>
            <a:r>
              <a:rPr lang="en-US" sz="1600" b="1" dirty="0">
                <a:solidFill>
                  <a:schemeClr val="tx1"/>
                </a:solidFill>
                <a:latin typeface="+mn-lt"/>
              </a:rPr>
              <a:t>trade-offs</a:t>
            </a:r>
            <a:r>
              <a:rPr lang="en-US" sz="1600" dirty="0">
                <a:solidFill>
                  <a:schemeClr val="tx1"/>
                </a:solidFill>
                <a:latin typeface="+mn-lt"/>
              </a:rPr>
              <a:t>, </a:t>
            </a:r>
            <a:r>
              <a:rPr lang="en-US" sz="1600" b="1" dirty="0">
                <a:solidFill>
                  <a:schemeClr val="tx1"/>
                </a:solidFill>
                <a:latin typeface="+mn-lt"/>
              </a:rPr>
              <a:t>investments</a:t>
            </a:r>
            <a:r>
              <a:rPr lang="en-US" sz="1600" dirty="0">
                <a:solidFill>
                  <a:schemeClr val="tx1"/>
                </a:solidFill>
                <a:latin typeface="+mn-lt"/>
              </a:rPr>
              <a:t> and </a:t>
            </a:r>
            <a:r>
              <a:rPr lang="en-US" sz="1600" b="1" dirty="0">
                <a:solidFill>
                  <a:schemeClr val="tx1"/>
                </a:solidFill>
                <a:latin typeface="+mn-lt"/>
              </a:rPr>
              <a:t>impacts</a:t>
            </a:r>
            <a:r>
              <a:rPr lang="en-US" sz="1600" dirty="0">
                <a:solidFill>
                  <a:schemeClr val="tx1"/>
                </a:solidFill>
                <a:latin typeface="+mn-lt"/>
              </a:rPr>
              <a:t> in a coherent way</a:t>
            </a:r>
          </a:p>
          <a:p>
            <a:pPr>
              <a:buFont typeface="Courier New" panose="02070309020205020404" pitchFamily="49" charset="0"/>
              <a:buChar char="o"/>
            </a:pPr>
            <a:endParaRPr lang="en-US" sz="1600" dirty="0">
              <a:solidFill>
                <a:schemeClr val="tx1"/>
              </a:solidFill>
              <a:latin typeface="+mn-lt"/>
            </a:endParaRPr>
          </a:p>
          <a:p>
            <a:pPr>
              <a:buFont typeface="Courier New" panose="02070309020205020404" pitchFamily="49" charset="0"/>
              <a:buChar char="o"/>
            </a:pPr>
            <a:r>
              <a:rPr lang="en-US" sz="1600" dirty="0">
                <a:solidFill>
                  <a:schemeClr val="tx1"/>
                </a:solidFill>
                <a:latin typeface="+mn-lt"/>
              </a:rPr>
              <a:t>Our AI strategy today is </a:t>
            </a:r>
            <a:r>
              <a:rPr lang="en-US" sz="1600" b="1" dirty="0">
                <a:solidFill>
                  <a:schemeClr val="tx1"/>
                </a:solidFill>
                <a:latin typeface="+mn-lt"/>
              </a:rPr>
              <a:t>primarily inward focused </a:t>
            </a:r>
            <a:r>
              <a:rPr lang="en-US" sz="1600" dirty="0">
                <a:solidFill>
                  <a:schemeClr val="tx1"/>
                </a:solidFill>
                <a:latin typeface="+mn-lt"/>
              </a:rPr>
              <a:t>(direct impacts of AI on our business), and will </a:t>
            </a:r>
            <a:r>
              <a:rPr lang="en-US" sz="1600" b="1" dirty="0">
                <a:solidFill>
                  <a:schemeClr val="tx1"/>
                </a:solidFill>
                <a:latin typeface="+mn-lt"/>
              </a:rPr>
              <a:t>expand</a:t>
            </a:r>
            <a:r>
              <a:rPr lang="en-US" sz="1600" dirty="0">
                <a:solidFill>
                  <a:schemeClr val="tx1"/>
                </a:solidFill>
                <a:latin typeface="+mn-lt"/>
              </a:rPr>
              <a:t> over time to also bring in </a:t>
            </a:r>
            <a:r>
              <a:rPr lang="en-US" sz="1600" b="1" dirty="0">
                <a:solidFill>
                  <a:schemeClr val="tx1"/>
                </a:solidFill>
                <a:latin typeface="+mn-lt"/>
              </a:rPr>
              <a:t>indirect impacts </a:t>
            </a:r>
            <a:r>
              <a:rPr lang="en-US" sz="1600" dirty="0">
                <a:solidFill>
                  <a:schemeClr val="tx1"/>
                </a:solidFill>
                <a:latin typeface="+mn-lt"/>
              </a:rPr>
              <a:t>to our business on account of AI driven transformation to our </a:t>
            </a:r>
            <a:r>
              <a:rPr lang="en-US" sz="1600" b="1" dirty="0">
                <a:solidFill>
                  <a:schemeClr val="tx1"/>
                </a:solidFill>
                <a:latin typeface="+mn-lt"/>
              </a:rPr>
              <a:t>customers</a:t>
            </a:r>
            <a:r>
              <a:rPr lang="en-US" sz="1600" dirty="0">
                <a:solidFill>
                  <a:schemeClr val="tx1"/>
                </a:solidFill>
                <a:latin typeface="+mn-lt"/>
              </a:rPr>
              <a:t>, </a:t>
            </a:r>
            <a:r>
              <a:rPr lang="en-US" sz="1600" b="1" dirty="0">
                <a:solidFill>
                  <a:schemeClr val="tx1"/>
                </a:solidFill>
                <a:latin typeface="+mn-lt"/>
              </a:rPr>
              <a:t>partners</a:t>
            </a:r>
            <a:r>
              <a:rPr lang="en-US" sz="1600" dirty="0">
                <a:solidFill>
                  <a:schemeClr val="tx1"/>
                </a:solidFill>
                <a:latin typeface="+mn-lt"/>
              </a:rPr>
              <a:t>, the broader </a:t>
            </a:r>
            <a:r>
              <a:rPr lang="en-US" sz="1600" b="1" dirty="0">
                <a:solidFill>
                  <a:schemeClr val="tx1"/>
                </a:solidFill>
                <a:latin typeface="+mn-lt"/>
              </a:rPr>
              <a:t>state</a:t>
            </a:r>
            <a:r>
              <a:rPr lang="en-US" sz="1600" dirty="0">
                <a:solidFill>
                  <a:schemeClr val="tx1"/>
                </a:solidFill>
                <a:latin typeface="+mn-lt"/>
              </a:rPr>
              <a:t> and </a:t>
            </a:r>
            <a:r>
              <a:rPr lang="en-US" sz="1600" b="1" dirty="0">
                <a:solidFill>
                  <a:schemeClr val="tx1"/>
                </a:solidFill>
                <a:latin typeface="+mn-lt"/>
              </a:rPr>
              <a:t>national</a:t>
            </a:r>
            <a:r>
              <a:rPr lang="en-US" sz="1600" dirty="0">
                <a:solidFill>
                  <a:schemeClr val="tx1"/>
                </a:solidFill>
                <a:latin typeface="+mn-lt"/>
              </a:rPr>
              <a:t> </a:t>
            </a:r>
            <a:r>
              <a:rPr lang="en-US" sz="1600" b="1" dirty="0">
                <a:solidFill>
                  <a:schemeClr val="tx1"/>
                </a:solidFill>
                <a:latin typeface="+mn-lt"/>
              </a:rPr>
              <a:t>economy</a:t>
            </a:r>
            <a:r>
              <a:rPr lang="en-US" sz="1600" dirty="0">
                <a:solidFill>
                  <a:schemeClr val="tx1"/>
                </a:solidFill>
                <a:latin typeface="+mn-lt"/>
              </a:rPr>
              <a:t>,  etc.</a:t>
            </a:r>
          </a:p>
          <a:p>
            <a:pPr>
              <a:buFont typeface="Courier New" panose="02070309020205020404" pitchFamily="49" charset="0"/>
              <a:buChar char="o"/>
            </a:pPr>
            <a:endParaRPr lang="en-US" sz="1600" dirty="0">
              <a:solidFill>
                <a:schemeClr val="tx1"/>
              </a:solidFill>
              <a:latin typeface="+mn-lt"/>
            </a:endParaRPr>
          </a:p>
          <a:p>
            <a:pPr>
              <a:buFont typeface="Courier New" panose="02070309020205020404" pitchFamily="49" charset="0"/>
              <a:buChar char="o"/>
            </a:pPr>
            <a:r>
              <a:rPr lang="en-US" sz="1600" dirty="0">
                <a:solidFill>
                  <a:schemeClr val="tx1"/>
                </a:solidFill>
                <a:latin typeface="+mn-lt"/>
              </a:rPr>
              <a:t>There are </a:t>
            </a:r>
            <a:r>
              <a:rPr lang="en-US" sz="1600" b="1" dirty="0">
                <a:solidFill>
                  <a:schemeClr val="tx1"/>
                </a:solidFill>
                <a:latin typeface="+mn-lt"/>
              </a:rPr>
              <a:t>8 key components </a:t>
            </a:r>
            <a:r>
              <a:rPr lang="en-US" sz="1600" dirty="0">
                <a:solidFill>
                  <a:schemeClr val="tx1"/>
                </a:solidFill>
                <a:latin typeface="+mn-lt"/>
              </a:rPr>
              <a:t>that we must succeed in for </a:t>
            </a:r>
            <a:r>
              <a:rPr lang="en-US" sz="1600" b="1" dirty="0">
                <a:solidFill>
                  <a:schemeClr val="tx1"/>
                </a:solidFill>
                <a:latin typeface="+mn-lt"/>
                <a:sym typeface="Arial"/>
              </a:rPr>
              <a:t>sustainable</a:t>
            </a:r>
            <a:r>
              <a:rPr lang="en-US" sz="1600" dirty="0">
                <a:solidFill>
                  <a:schemeClr val="tx1"/>
                </a:solidFill>
                <a:latin typeface="+mn-lt"/>
                <a:sym typeface="Arial"/>
              </a:rPr>
              <a:t> and </a:t>
            </a:r>
            <a:r>
              <a:rPr lang="en-US" sz="1600" b="1" dirty="0">
                <a:solidFill>
                  <a:schemeClr val="tx1"/>
                </a:solidFill>
                <a:latin typeface="+mn-lt"/>
                <a:sym typeface="Arial"/>
              </a:rPr>
              <a:t>impactful</a:t>
            </a:r>
            <a:r>
              <a:rPr lang="en-US" sz="1600" dirty="0">
                <a:solidFill>
                  <a:schemeClr val="tx1"/>
                </a:solidFill>
                <a:latin typeface="+mn-lt"/>
                <a:sym typeface="Arial"/>
              </a:rPr>
              <a:t> implementation of our AI strategy</a:t>
            </a:r>
          </a:p>
          <a:p>
            <a:pPr>
              <a:buFont typeface="Courier New" panose="02070309020205020404" pitchFamily="49" charset="0"/>
              <a:buChar char="o"/>
            </a:pPr>
            <a:endParaRPr lang="en-US" sz="1600" dirty="0">
              <a:solidFill>
                <a:schemeClr val="tx1"/>
              </a:solidFill>
              <a:latin typeface="+mn-lt"/>
              <a:sym typeface="Arial"/>
            </a:endParaRPr>
          </a:p>
          <a:p>
            <a:pPr>
              <a:buFont typeface="Courier New" panose="02070309020205020404" pitchFamily="49" charset="0"/>
              <a:buChar char="o"/>
            </a:pPr>
            <a:r>
              <a:rPr lang="en-US" sz="1600" dirty="0">
                <a:solidFill>
                  <a:schemeClr val="tx1"/>
                </a:solidFill>
                <a:latin typeface="+mn-lt"/>
                <a:sym typeface="Arial"/>
              </a:rPr>
              <a:t>Our </a:t>
            </a:r>
            <a:r>
              <a:rPr lang="en-US" sz="1600" b="1" dirty="0">
                <a:solidFill>
                  <a:schemeClr val="tx1"/>
                </a:solidFill>
                <a:latin typeface="+mn-lt"/>
                <a:sym typeface="Arial"/>
              </a:rPr>
              <a:t>objective</a:t>
            </a:r>
            <a:r>
              <a:rPr lang="en-US" sz="1600" dirty="0">
                <a:solidFill>
                  <a:schemeClr val="tx1"/>
                </a:solidFill>
                <a:latin typeface="+mn-lt"/>
                <a:sym typeface="Arial"/>
              </a:rPr>
              <a:t> today is to present where we stand against these 8 key components, our </a:t>
            </a:r>
            <a:r>
              <a:rPr lang="en-US" sz="1600" b="1" dirty="0">
                <a:solidFill>
                  <a:schemeClr val="tx1"/>
                </a:solidFill>
                <a:latin typeface="+mn-lt"/>
                <a:sym typeface="Arial"/>
              </a:rPr>
              <a:t>areas of focus </a:t>
            </a:r>
            <a:r>
              <a:rPr lang="en-US" sz="1600" dirty="0">
                <a:solidFill>
                  <a:schemeClr val="tx1"/>
                </a:solidFill>
                <a:latin typeface="+mn-lt"/>
                <a:sym typeface="Arial"/>
              </a:rPr>
              <a:t>and what </a:t>
            </a:r>
            <a:r>
              <a:rPr lang="en-US" sz="1600" b="1" dirty="0">
                <a:solidFill>
                  <a:schemeClr val="tx1"/>
                </a:solidFill>
                <a:latin typeface="+mn-lt"/>
                <a:sym typeface="Arial"/>
              </a:rPr>
              <a:t>levers</a:t>
            </a:r>
            <a:r>
              <a:rPr lang="en-US" sz="1600" dirty="0">
                <a:solidFill>
                  <a:schemeClr val="tx1"/>
                </a:solidFill>
                <a:latin typeface="+mn-lt"/>
                <a:sym typeface="Arial"/>
              </a:rPr>
              <a:t> we have available to </a:t>
            </a:r>
            <a:r>
              <a:rPr lang="en-US" sz="1600" b="1" dirty="0">
                <a:solidFill>
                  <a:schemeClr val="tx1"/>
                </a:solidFill>
                <a:latin typeface="+mn-lt"/>
                <a:sym typeface="Arial"/>
              </a:rPr>
              <a:t>accelerate</a:t>
            </a:r>
            <a:r>
              <a:rPr lang="en-US" sz="1600" dirty="0">
                <a:solidFill>
                  <a:schemeClr val="tx1"/>
                </a:solidFill>
                <a:latin typeface="+mn-lt"/>
                <a:sym typeface="Arial"/>
              </a:rPr>
              <a:t> </a:t>
            </a:r>
            <a:r>
              <a:rPr lang="en-US" sz="1600" b="1" dirty="0">
                <a:solidFill>
                  <a:schemeClr val="tx1"/>
                </a:solidFill>
                <a:latin typeface="+mn-lt"/>
                <a:sym typeface="Arial"/>
              </a:rPr>
              <a:t>favorable</a:t>
            </a:r>
            <a:r>
              <a:rPr lang="en-US" sz="1600" dirty="0">
                <a:solidFill>
                  <a:schemeClr val="tx1"/>
                </a:solidFill>
                <a:latin typeface="+mn-lt"/>
                <a:sym typeface="Arial"/>
              </a:rPr>
              <a:t> </a:t>
            </a:r>
            <a:r>
              <a:rPr lang="en-US" sz="1600" b="1" dirty="0">
                <a:solidFill>
                  <a:schemeClr val="tx1"/>
                </a:solidFill>
                <a:latin typeface="+mn-lt"/>
                <a:sym typeface="Arial"/>
              </a:rPr>
              <a:t>impacts</a:t>
            </a:r>
            <a:r>
              <a:rPr lang="en-US" sz="1600" dirty="0">
                <a:solidFill>
                  <a:schemeClr val="tx1"/>
                </a:solidFill>
                <a:latin typeface="+mn-lt"/>
                <a:sym typeface="Arial"/>
              </a:rPr>
              <a:t> from this </a:t>
            </a:r>
            <a:r>
              <a:rPr lang="en-US" sz="1600" b="1" dirty="0">
                <a:solidFill>
                  <a:schemeClr val="tx1"/>
                </a:solidFill>
                <a:latin typeface="+mn-lt"/>
                <a:sym typeface="Arial"/>
              </a:rPr>
              <a:t>transformational</a:t>
            </a:r>
            <a:r>
              <a:rPr lang="en-US" sz="1600" dirty="0">
                <a:solidFill>
                  <a:schemeClr val="tx1"/>
                </a:solidFill>
                <a:latin typeface="+mn-lt"/>
                <a:sym typeface="Arial"/>
              </a:rPr>
              <a:t> capability</a:t>
            </a:r>
            <a:endParaRPr lang="en-US" sz="1600" dirty="0">
              <a:solidFill>
                <a:schemeClr val="tx1"/>
              </a:solidFill>
              <a:latin typeface="+mn-lt"/>
            </a:endParaRPr>
          </a:p>
          <a:p>
            <a:pPr lvl="1"/>
            <a:endParaRPr lang="en-US" sz="1600" dirty="0">
              <a:latin typeface="+mn-lt"/>
              <a:cs typeface="Al Bayan Plain" pitchFamily="2" charset="-78"/>
            </a:endParaRPr>
          </a:p>
          <a:p>
            <a:pPr lvl="1"/>
            <a:endParaRPr lang="en-US" sz="1600" dirty="0">
              <a:latin typeface="+mn-lt"/>
              <a:cs typeface="Al Bayan Plain" pitchFamily="2" charset="-78"/>
            </a:endParaRPr>
          </a:p>
          <a:p>
            <a:pPr lvl="1"/>
            <a:endParaRPr lang="en-US" sz="1600" dirty="0">
              <a:latin typeface="+mn-lt"/>
              <a:cs typeface="Al Bayan Plain" pitchFamily="2" charset="-78"/>
            </a:endParaRPr>
          </a:p>
        </p:txBody>
      </p:sp>
      <p:sp>
        <p:nvSpPr>
          <p:cNvPr id="3" name="Text Placeholder 2">
            <a:extLst>
              <a:ext uri="{FF2B5EF4-FFF2-40B4-BE49-F238E27FC236}">
                <a16:creationId xmlns:a16="http://schemas.microsoft.com/office/drawing/2014/main" id="{419528E9-47CA-61C6-55EE-1A4280175CAE}"/>
              </a:ext>
            </a:extLst>
          </p:cNvPr>
          <p:cNvSpPr>
            <a:spLocks noGrp="1"/>
          </p:cNvSpPr>
          <p:nvPr>
            <p:ph type="body" idx="2"/>
          </p:nvPr>
        </p:nvSpPr>
        <p:spPr/>
        <p:txBody>
          <a:bodyPr/>
          <a:lstStyle/>
          <a:p>
            <a:r>
              <a:rPr lang="en-US" dirty="0"/>
              <a:t>Executive summary</a:t>
            </a:r>
          </a:p>
        </p:txBody>
      </p:sp>
    </p:spTree>
    <p:extLst>
      <p:ext uri="{BB962C8B-B14F-4D97-AF65-F5344CB8AC3E}">
        <p14:creationId xmlns:p14="http://schemas.microsoft.com/office/powerpoint/2010/main" val="3747376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34F02224-B217-49D9-9784-A002E768790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2" name="Object 1" hidden="1">
                        <a:extLst>
                          <a:ext uri="{FF2B5EF4-FFF2-40B4-BE49-F238E27FC236}">
                            <a16:creationId xmlns:a16="http://schemas.microsoft.com/office/drawing/2014/main" id="{34F02224-B217-49D9-9784-A002E768790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897" name="Google Shape;897;p7"/>
          <p:cNvCxnSpPr>
            <a:cxnSpLocks/>
          </p:cNvCxnSpPr>
          <p:nvPr/>
        </p:nvCxnSpPr>
        <p:spPr>
          <a:xfrm>
            <a:off x="7894543" y="4921864"/>
            <a:ext cx="2992014" cy="0"/>
          </a:xfrm>
          <a:prstGeom prst="straightConnector1">
            <a:avLst/>
          </a:prstGeom>
          <a:noFill/>
          <a:ln w="19050" cap="flat" cmpd="sng">
            <a:solidFill>
              <a:schemeClr val="dk1"/>
            </a:solidFill>
            <a:prstDash val="solid"/>
            <a:round/>
            <a:headEnd type="none" w="sm" len="sm"/>
            <a:tailEnd type="none" w="sm" len="sm"/>
          </a:ln>
        </p:spPr>
      </p:cxnSp>
      <p:sp>
        <p:nvSpPr>
          <p:cNvPr id="898" name="Google Shape;898;p7"/>
          <p:cNvSpPr txBox="1"/>
          <p:nvPr/>
        </p:nvSpPr>
        <p:spPr>
          <a:xfrm>
            <a:off x="7894543" y="5076652"/>
            <a:ext cx="2992014" cy="553927"/>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60925" rIns="121900" bIns="609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b="1" dirty="0">
                <a:solidFill>
                  <a:schemeClr val="tx1"/>
                </a:solidFill>
              </a:rPr>
              <a:t>Build</a:t>
            </a:r>
            <a:r>
              <a:rPr lang="en-US" dirty="0">
                <a:solidFill>
                  <a:schemeClr val="tx1"/>
                </a:solidFill>
              </a:rPr>
              <a:t> where </a:t>
            </a:r>
            <a:r>
              <a:rPr lang="en-US" b="1" dirty="0">
                <a:solidFill>
                  <a:schemeClr val="tx1"/>
                </a:solidFill>
              </a:rPr>
              <a:t>advantage</a:t>
            </a:r>
            <a:r>
              <a:rPr lang="en-US" dirty="0">
                <a:solidFill>
                  <a:schemeClr val="tx1"/>
                </a:solidFill>
              </a:rPr>
              <a:t> is </a:t>
            </a:r>
            <a:r>
              <a:rPr lang="en-US" b="1" dirty="0">
                <a:solidFill>
                  <a:schemeClr val="tx1"/>
                </a:solidFill>
              </a:rPr>
              <a:t>clear</a:t>
            </a:r>
            <a:r>
              <a:rPr lang="en-US" dirty="0">
                <a:solidFill>
                  <a:schemeClr val="tx1"/>
                </a:solidFill>
              </a:rPr>
              <a:t>; </a:t>
            </a:r>
            <a:r>
              <a:rPr lang="en-US" b="1" dirty="0">
                <a:solidFill>
                  <a:schemeClr val="tx1"/>
                </a:solidFill>
              </a:rPr>
              <a:t>buy</a:t>
            </a:r>
            <a:r>
              <a:rPr lang="en-US" dirty="0">
                <a:solidFill>
                  <a:schemeClr val="tx1"/>
                </a:solidFill>
              </a:rPr>
              <a:t> or </a:t>
            </a:r>
            <a:r>
              <a:rPr lang="en-US" b="1" dirty="0">
                <a:solidFill>
                  <a:schemeClr val="tx1"/>
                </a:solidFill>
              </a:rPr>
              <a:t>partner</a:t>
            </a:r>
            <a:r>
              <a:rPr lang="en-US" dirty="0">
                <a:solidFill>
                  <a:schemeClr val="tx1"/>
                </a:solidFill>
              </a:rPr>
              <a:t> for everything else</a:t>
            </a:r>
            <a:endParaRPr dirty="0">
              <a:solidFill>
                <a:schemeClr val="tx1"/>
              </a:solidFill>
            </a:endParaRPr>
          </a:p>
        </p:txBody>
      </p:sp>
      <p:sp>
        <p:nvSpPr>
          <p:cNvPr id="900" name="Google Shape;900;p7"/>
          <p:cNvSpPr txBox="1"/>
          <p:nvPr/>
        </p:nvSpPr>
        <p:spPr>
          <a:xfrm>
            <a:off x="579300" y="5076652"/>
            <a:ext cx="3754800" cy="984814"/>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60925" rIns="121900" bIns="609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tx1"/>
                </a:solidFill>
                <a:latin typeface="Arial"/>
                <a:ea typeface="Arial"/>
                <a:cs typeface="Arial"/>
                <a:sym typeface="Arial"/>
              </a:rPr>
              <a:t>Over time, likely all roles within BCBSMA practice </a:t>
            </a:r>
            <a:r>
              <a:rPr lang="en-US" sz="1400" b="1" i="1" u="none" strike="noStrike" cap="none" dirty="0">
                <a:solidFill>
                  <a:schemeClr val="tx1"/>
                </a:solidFill>
                <a:latin typeface="Arial"/>
                <a:ea typeface="Arial"/>
                <a:cs typeface="Arial"/>
                <a:sym typeface="Arial"/>
              </a:rPr>
              <a:t>AI-supported decision-making </a:t>
            </a:r>
            <a:r>
              <a:rPr lang="en-US" sz="1400" i="1" u="none" strike="noStrike" cap="none" dirty="0">
                <a:solidFill>
                  <a:schemeClr val="tx1"/>
                </a:solidFill>
                <a:latin typeface="Arial"/>
                <a:ea typeface="Arial"/>
                <a:cs typeface="Arial"/>
                <a:sym typeface="Arial"/>
              </a:rPr>
              <a:t>and</a:t>
            </a:r>
            <a:r>
              <a:rPr lang="en-US" sz="1400" b="1" i="1" u="none" strike="noStrike" cap="none" dirty="0">
                <a:solidFill>
                  <a:schemeClr val="tx1"/>
                </a:solidFill>
                <a:latin typeface="Arial"/>
                <a:ea typeface="Arial"/>
                <a:cs typeface="Arial"/>
                <a:sym typeface="Arial"/>
              </a:rPr>
              <a:t> execution</a:t>
            </a:r>
            <a:r>
              <a:rPr lang="en-US" sz="1400" b="0" i="0" u="none" strike="noStrike" cap="none" dirty="0">
                <a:solidFill>
                  <a:schemeClr val="tx1"/>
                </a:solidFill>
                <a:latin typeface="Arial"/>
                <a:ea typeface="Arial"/>
                <a:cs typeface="Arial"/>
                <a:sym typeface="Arial"/>
              </a:rPr>
              <a:t>, ranging from day-to-day actions to strategic decision-making</a:t>
            </a:r>
            <a:endParaRPr sz="1400" b="0" i="0" u="none" strike="noStrike" cap="none" dirty="0">
              <a:solidFill>
                <a:schemeClr val="tx1"/>
              </a:solidFill>
              <a:latin typeface="Arial"/>
              <a:ea typeface="Arial"/>
              <a:cs typeface="Arial"/>
              <a:sym typeface="Arial"/>
            </a:endParaRPr>
          </a:p>
        </p:txBody>
      </p:sp>
      <p:cxnSp>
        <p:nvCxnSpPr>
          <p:cNvPr id="905" name="Google Shape;905;p7"/>
          <p:cNvCxnSpPr>
            <a:cxnSpLocks/>
          </p:cNvCxnSpPr>
          <p:nvPr/>
        </p:nvCxnSpPr>
        <p:spPr>
          <a:xfrm>
            <a:off x="8487242" y="4143386"/>
            <a:ext cx="0" cy="767592"/>
          </a:xfrm>
          <a:prstGeom prst="straightConnector1">
            <a:avLst/>
          </a:prstGeom>
          <a:noFill/>
          <a:ln w="19050" cap="flat" cmpd="sng">
            <a:solidFill>
              <a:schemeClr val="accent1"/>
            </a:solidFill>
            <a:prstDash val="solid"/>
            <a:round/>
            <a:headEnd type="none" w="sm" len="sm"/>
            <a:tailEnd type="none" w="sm" len="sm"/>
          </a:ln>
        </p:spPr>
      </p:cxnSp>
      <p:cxnSp>
        <p:nvCxnSpPr>
          <p:cNvPr id="901" name="Google Shape;901;p7"/>
          <p:cNvCxnSpPr/>
          <p:nvPr/>
        </p:nvCxnSpPr>
        <p:spPr>
          <a:xfrm rot="10800000" flipH="1">
            <a:off x="603500" y="4921864"/>
            <a:ext cx="3471300" cy="5100"/>
          </a:xfrm>
          <a:prstGeom prst="straightConnector1">
            <a:avLst/>
          </a:prstGeom>
          <a:noFill/>
          <a:ln w="19050" cap="flat" cmpd="sng">
            <a:solidFill>
              <a:schemeClr val="dk1"/>
            </a:solidFill>
            <a:prstDash val="solid"/>
            <a:round/>
            <a:headEnd type="none" w="sm" len="sm"/>
            <a:tailEnd type="none" w="sm" len="sm"/>
          </a:ln>
        </p:spPr>
      </p:cxnSp>
      <p:cxnSp>
        <p:nvCxnSpPr>
          <p:cNvPr id="906" name="Google Shape;906;p7"/>
          <p:cNvCxnSpPr>
            <a:cxnSpLocks/>
          </p:cNvCxnSpPr>
          <p:nvPr/>
        </p:nvCxnSpPr>
        <p:spPr>
          <a:xfrm flipV="1">
            <a:off x="709059" y="4453739"/>
            <a:ext cx="0" cy="436648"/>
          </a:xfrm>
          <a:prstGeom prst="straightConnector1">
            <a:avLst/>
          </a:prstGeom>
          <a:noFill/>
          <a:ln w="19050" cap="flat" cmpd="sng">
            <a:solidFill>
              <a:schemeClr val="accent1"/>
            </a:solidFill>
            <a:prstDash val="solid"/>
            <a:round/>
            <a:headEnd type="none" w="sm" len="sm"/>
            <a:tailEnd type="none" w="sm" len="sm"/>
          </a:ln>
        </p:spPr>
      </p:cxnSp>
      <p:sp>
        <p:nvSpPr>
          <p:cNvPr id="907" name="Google Shape;907;p7"/>
          <p:cNvSpPr txBox="1"/>
          <p:nvPr/>
        </p:nvSpPr>
        <p:spPr>
          <a:xfrm>
            <a:off x="800098" y="972879"/>
            <a:ext cx="10883901" cy="998436"/>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US" sz="1600" i="1" u="none" strike="noStrike" cap="none" dirty="0">
                <a:solidFill>
                  <a:schemeClr val="accent2"/>
                </a:solidFill>
                <a:sym typeface="Arial"/>
              </a:rPr>
              <a:t>BCBSMA </a:t>
            </a:r>
            <a:r>
              <a:rPr lang="en-US" sz="1600" i="1" dirty="0">
                <a:solidFill>
                  <a:schemeClr val="accent2"/>
                </a:solidFill>
              </a:rPr>
              <a:t>Artificial Intelligence (AI) Strategy is a combination of our advancing internal capabilities with cutting-edge external technologies to build market leading solutions, and create durable competitive advantage, by solving healthcare’s most intractable challenges   </a:t>
            </a:r>
            <a:endParaRPr sz="1600" i="1" dirty="0">
              <a:solidFill>
                <a:schemeClr val="accent2"/>
              </a:solidFill>
            </a:endParaRPr>
          </a:p>
        </p:txBody>
      </p:sp>
      <p:sp>
        <p:nvSpPr>
          <p:cNvPr id="908" name="Google Shape;908;p7"/>
          <p:cNvSpPr/>
          <p:nvPr/>
        </p:nvSpPr>
        <p:spPr>
          <a:xfrm>
            <a:off x="203346" y="3128356"/>
            <a:ext cx="11785307" cy="1308593"/>
          </a:xfrm>
          <a:prstGeom prst="roundRect">
            <a:avLst>
              <a:gd name="adj" fmla="val 4812"/>
            </a:avLst>
          </a:prstGeom>
          <a:noFill/>
          <a:ln w="9525" cap="flat" cmpd="sng">
            <a:solidFill>
              <a:schemeClr val="dk1"/>
            </a:solidFill>
            <a:prstDash val="solid"/>
            <a:round/>
            <a:headEnd type="none" w="sm" len="sm"/>
            <a:tailEnd type="none" w="sm" len="sm"/>
          </a:ln>
        </p:spPr>
        <p:txBody>
          <a:bodyPr spcFirstLastPara="1" wrap="square" lIns="91440" tIns="45720" rIns="91440" bIns="45700" anchor="ctr" anchorCtr="0">
            <a:noAutofit/>
          </a:bodyPr>
          <a:lstStyle/>
          <a:p>
            <a:pPr marL="0" marR="0" lvl="0" indent="0" algn="just" rtl="0">
              <a:lnSpc>
                <a:spcPct val="100000"/>
              </a:lnSpc>
              <a:spcBef>
                <a:spcPts val="0"/>
              </a:spcBef>
              <a:spcAft>
                <a:spcPts val="0"/>
              </a:spcAft>
              <a:buClr>
                <a:srgbClr val="000000"/>
              </a:buClr>
              <a:buSzPts val="1000"/>
              <a:buFont typeface="Arial"/>
              <a:buNone/>
            </a:pPr>
            <a:r>
              <a:rPr lang="en-US" sz="1800" i="1" dirty="0">
                <a:solidFill>
                  <a:schemeClr val="dk1"/>
                </a:solidFill>
              </a:rPr>
              <a:t>At BCBSMA, our Artificial Intelligence (AI) strategy is focused on leveraging cutting-edge technologies to drive </a:t>
            </a:r>
            <a:r>
              <a:rPr lang="en-US" sz="1800" b="1" i="1" dirty="0">
                <a:solidFill>
                  <a:schemeClr val="dk1"/>
                </a:solidFill>
              </a:rPr>
              <a:t>affordability</a:t>
            </a:r>
            <a:r>
              <a:rPr lang="en-US" sz="1800" i="1" dirty="0">
                <a:solidFill>
                  <a:schemeClr val="dk1"/>
                </a:solidFill>
              </a:rPr>
              <a:t>, improve </a:t>
            </a:r>
            <a:r>
              <a:rPr lang="en-US" sz="1800" b="1" i="1" dirty="0">
                <a:solidFill>
                  <a:schemeClr val="dk1"/>
                </a:solidFill>
              </a:rPr>
              <a:t>quality</a:t>
            </a:r>
            <a:r>
              <a:rPr lang="en-US" sz="1800" i="1" dirty="0">
                <a:solidFill>
                  <a:schemeClr val="dk1"/>
                </a:solidFill>
              </a:rPr>
              <a:t> and </a:t>
            </a:r>
            <a:r>
              <a:rPr lang="en-US" sz="1800" b="1" i="1" dirty="0">
                <a:solidFill>
                  <a:schemeClr val="dk1"/>
                </a:solidFill>
              </a:rPr>
              <a:t>equity</a:t>
            </a:r>
            <a:r>
              <a:rPr lang="en-US" sz="1800" i="1" dirty="0">
                <a:solidFill>
                  <a:schemeClr val="dk1"/>
                </a:solidFill>
              </a:rPr>
              <a:t> in healthcare, and enhance the overall </a:t>
            </a:r>
            <a:r>
              <a:rPr lang="en-US" sz="1800" b="1" i="1" dirty="0">
                <a:solidFill>
                  <a:schemeClr val="dk1"/>
                </a:solidFill>
              </a:rPr>
              <a:t>consumer experience</a:t>
            </a:r>
            <a:r>
              <a:rPr lang="en-US" sz="1800" i="1" dirty="0">
                <a:solidFill>
                  <a:schemeClr val="dk1"/>
                </a:solidFill>
              </a:rPr>
              <a:t>. We will achieve this by </a:t>
            </a:r>
            <a:r>
              <a:rPr lang="en-US" sz="1800" b="1" i="1" dirty="0">
                <a:solidFill>
                  <a:schemeClr val="dk1"/>
                </a:solidFill>
              </a:rPr>
              <a:t>investing</a:t>
            </a:r>
            <a:r>
              <a:rPr lang="en-US" sz="1800" i="1" dirty="0">
                <a:solidFill>
                  <a:schemeClr val="dk1"/>
                </a:solidFill>
              </a:rPr>
              <a:t> in research</a:t>
            </a:r>
            <a:r>
              <a:rPr lang="en-US" sz="1800" b="1" i="1" dirty="0">
                <a:solidFill>
                  <a:schemeClr val="dk1"/>
                </a:solidFill>
              </a:rPr>
              <a:t> </a:t>
            </a:r>
            <a:r>
              <a:rPr lang="en-US" sz="1800" i="1" dirty="0">
                <a:solidFill>
                  <a:schemeClr val="dk1"/>
                </a:solidFill>
              </a:rPr>
              <a:t>and</a:t>
            </a:r>
            <a:r>
              <a:rPr lang="en-US" sz="1800" b="1" i="1" dirty="0">
                <a:solidFill>
                  <a:schemeClr val="dk1"/>
                </a:solidFill>
              </a:rPr>
              <a:t> </a:t>
            </a:r>
            <a:r>
              <a:rPr lang="en-US" sz="1800" i="1" dirty="0">
                <a:solidFill>
                  <a:schemeClr val="dk1"/>
                </a:solidFill>
              </a:rPr>
              <a:t>development, </a:t>
            </a:r>
            <a:r>
              <a:rPr lang="en-US" sz="1800" b="1" i="1" dirty="0">
                <a:solidFill>
                  <a:schemeClr val="dk1"/>
                </a:solidFill>
              </a:rPr>
              <a:t>partnering</a:t>
            </a:r>
            <a:r>
              <a:rPr lang="en-US" sz="1800" i="1" dirty="0">
                <a:solidFill>
                  <a:schemeClr val="dk1"/>
                </a:solidFill>
              </a:rPr>
              <a:t> with leading AI vendors, and </a:t>
            </a:r>
            <a:r>
              <a:rPr lang="en-US" sz="1800" b="1" i="1" dirty="0">
                <a:solidFill>
                  <a:schemeClr val="dk1"/>
                </a:solidFill>
              </a:rPr>
              <a:t>building</a:t>
            </a:r>
            <a:r>
              <a:rPr lang="en-US" sz="1800" i="1" dirty="0">
                <a:solidFill>
                  <a:schemeClr val="dk1"/>
                </a:solidFill>
              </a:rPr>
              <a:t> a team of experts with deep expertise in machine learning, natural language processing, and computer vision. </a:t>
            </a:r>
          </a:p>
        </p:txBody>
      </p:sp>
      <p:sp>
        <p:nvSpPr>
          <p:cNvPr id="4" name="Google Shape;903;p7">
            <a:extLst>
              <a:ext uri="{FF2B5EF4-FFF2-40B4-BE49-F238E27FC236}">
                <a16:creationId xmlns:a16="http://schemas.microsoft.com/office/drawing/2014/main" id="{0E563D11-5F8A-7918-5ADB-4EC296FC43B8}"/>
              </a:ext>
            </a:extLst>
          </p:cNvPr>
          <p:cNvSpPr/>
          <p:nvPr/>
        </p:nvSpPr>
        <p:spPr>
          <a:xfrm>
            <a:off x="11157857" y="3769995"/>
            <a:ext cx="772885"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1" i="0" u="none" strike="noStrike" cap="none" dirty="0">
              <a:solidFill>
                <a:srgbClr val="0D4877"/>
              </a:solidFill>
              <a:latin typeface="Arial"/>
              <a:ea typeface="Arial"/>
              <a:cs typeface="Arial"/>
              <a:sym typeface="Arial"/>
            </a:endParaRPr>
          </a:p>
        </p:txBody>
      </p:sp>
      <p:sp>
        <p:nvSpPr>
          <p:cNvPr id="5" name="Google Shape;903;p7">
            <a:extLst>
              <a:ext uri="{FF2B5EF4-FFF2-40B4-BE49-F238E27FC236}">
                <a16:creationId xmlns:a16="http://schemas.microsoft.com/office/drawing/2014/main" id="{767898A1-3974-936A-63FB-8BD683DC902E}"/>
              </a:ext>
            </a:extLst>
          </p:cNvPr>
          <p:cNvSpPr/>
          <p:nvPr/>
        </p:nvSpPr>
        <p:spPr>
          <a:xfrm>
            <a:off x="261257" y="4041786"/>
            <a:ext cx="1077685"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1" i="0" u="none" strike="noStrike" cap="none" dirty="0">
              <a:solidFill>
                <a:srgbClr val="0D4877"/>
              </a:solidFill>
              <a:latin typeface="Arial"/>
              <a:ea typeface="Arial"/>
              <a:cs typeface="Arial"/>
              <a:sym typeface="Arial"/>
            </a:endParaRPr>
          </a:p>
        </p:txBody>
      </p:sp>
      <p:sp>
        <p:nvSpPr>
          <p:cNvPr id="10" name="Google Shape;903;p7">
            <a:extLst>
              <a:ext uri="{FF2B5EF4-FFF2-40B4-BE49-F238E27FC236}">
                <a16:creationId xmlns:a16="http://schemas.microsoft.com/office/drawing/2014/main" id="{478F6DDD-07B5-A8AB-3A63-49971435FA18}"/>
              </a:ext>
            </a:extLst>
          </p:cNvPr>
          <p:cNvSpPr/>
          <p:nvPr/>
        </p:nvSpPr>
        <p:spPr>
          <a:xfrm>
            <a:off x="7156907" y="3213648"/>
            <a:ext cx="3881207"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1" i="0" u="none" strike="noStrike" cap="none" dirty="0">
              <a:solidFill>
                <a:srgbClr val="0D4877"/>
              </a:solidFill>
              <a:latin typeface="Arial"/>
              <a:ea typeface="Arial"/>
              <a:cs typeface="Arial"/>
              <a:sym typeface="Arial"/>
            </a:endParaRPr>
          </a:p>
        </p:txBody>
      </p:sp>
      <p:cxnSp>
        <p:nvCxnSpPr>
          <p:cNvPr id="12" name="Google Shape;897;p7">
            <a:extLst>
              <a:ext uri="{FF2B5EF4-FFF2-40B4-BE49-F238E27FC236}">
                <a16:creationId xmlns:a16="http://schemas.microsoft.com/office/drawing/2014/main" id="{B3571595-90C4-4D3B-4D18-AB1F4BC32706}"/>
              </a:ext>
            </a:extLst>
          </p:cNvPr>
          <p:cNvCxnSpPr>
            <a:cxnSpLocks/>
          </p:cNvCxnSpPr>
          <p:nvPr/>
        </p:nvCxnSpPr>
        <p:spPr>
          <a:xfrm>
            <a:off x="5898842" y="2765616"/>
            <a:ext cx="3930958" cy="0"/>
          </a:xfrm>
          <a:prstGeom prst="straightConnector1">
            <a:avLst/>
          </a:prstGeom>
          <a:noFill/>
          <a:ln w="19050" cap="flat" cmpd="sng">
            <a:solidFill>
              <a:schemeClr val="dk1"/>
            </a:solidFill>
            <a:prstDash val="solid"/>
            <a:round/>
            <a:headEnd type="none" w="sm" len="sm"/>
            <a:tailEnd type="none" w="sm" len="sm"/>
          </a:ln>
        </p:spPr>
      </p:cxnSp>
      <p:sp>
        <p:nvSpPr>
          <p:cNvPr id="13" name="Google Shape;898;p7">
            <a:extLst>
              <a:ext uri="{FF2B5EF4-FFF2-40B4-BE49-F238E27FC236}">
                <a16:creationId xmlns:a16="http://schemas.microsoft.com/office/drawing/2014/main" id="{BE92AB8C-1EBE-0701-E5D0-C6A750B89AEE}"/>
              </a:ext>
            </a:extLst>
          </p:cNvPr>
          <p:cNvSpPr txBox="1"/>
          <p:nvPr/>
        </p:nvSpPr>
        <p:spPr>
          <a:xfrm>
            <a:off x="5898842" y="2102288"/>
            <a:ext cx="3930958" cy="553927"/>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60925" rIns="121900" bIns="609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tx1"/>
                </a:solidFill>
              </a:rPr>
              <a:t>Our</a:t>
            </a:r>
            <a:r>
              <a:rPr lang="en-US" b="1" dirty="0">
                <a:solidFill>
                  <a:schemeClr val="tx1"/>
                </a:solidFill>
              </a:rPr>
              <a:t> Data</a:t>
            </a:r>
            <a:r>
              <a:rPr lang="en-US" dirty="0">
                <a:solidFill>
                  <a:schemeClr val="tx1"/>
                </a:solidFill>
              </a:rPr>
              <a:t>, </a:t>
            </a:r>
            <a:r>
              <a:rPr lang="en-US" b="1" dirty="0">
                <a:solidFill>
                  <a:schemeClr val="tx1"/>
                </a:solidFill>
              </a:rPr>
              <a:t>Analytics</a:t>
            </a:r>
            <a:r>
              <a:rPr lang="en-US" dirty="0">
                <a:solidFill>
                  <a:schemeClr val="tx1"/>
                </a:solidFill>
              </a:rPr>
              <a:t>, </a:t>
            </a:r>
            <a:r>
              <a:rPr lang="en-US" b="1" dirty="0">
                <a:solidFill>
                  <a:schemeClr val="tx1"/>
                </a:solidFill>
              </a:rPr>
              <a:t>Automation</a:t>
            </a:r>
            <a:r>
              <a:rPr lang="en-US" dirty="0">
                <a:solidFill>
                  <a:schemeClr val="tx1"/>
                </a:solidFill>
              </a:rPr>
              <a:t>, </a:t>
            </a:r>
            <a:r>
              <a:rPr lang="en-US" b="1" dirty="0">
                <a:solidFill>
                  <a:schemeClr val="tx1"/>
                </a:solidFill>
              </a:rPr>
              <a:t>Cloud</a:t>
            </a:r>
            <a:r>
              <a:rPr lang="en-US" dirty="0">
                <a:solidFill>
                  <a:schemeClr val="tx1"/>
                </a:solidFill>
              </a:rPr>
              <a:t> capabilities are </a:t>
            </a:r>
            <a:r>
              <a:rPr lang="en-US" b="1" dirty="0">
                <a:solidFill>
                  <a:schemeClr val="tx1"/>
                </a:solidFill>
              </a:rPr>
              <a:t>foundational</a:t>
            </a:r>
            <a:r>
              <a:rPr lang="en-US" dirty="0">
                <a:solidFill>
                  <a:schemeClr val="tx1"/>
                </a:solidFill>
              </a:rPr>
              <a:t> to such leverage</a:t>
            </a:r>
            <a:endParaRPr dirty="0">
              <a:solidFill>
                <a:schemeClr val="tx1"/>
              </a:solidFill>
            </a:endParaRPr>
          </a:p>
        </p:txBody>
      </p:sp>
      <p:cxnSp>
        <p:nvCxnSpPr>
          <p:cNvPr id="14" name="Google Shape;905;p7">
            <a:extLst>
              <a:ext uri="{FF2B5EF4-FFF2-40B4-BE49-F238E27FC236}">
                <a16:creationId xmlns:a16="http://schemas.microsoft.com/office/drawing/2014/main" id="{C0B3BB61-BFE1-3D30-29A9-75BB6C713F36}"/>
              </a:ext>
            </a:extLst>
          </p:cNvPr>
          <p:cNvCxnSpPr>
            <a:cxnSpLocks/>
          </p:cNvCxnSpPr>
          <p:nvPr/>
        </p:nvCxnSpPr>
        <p:spPr>
          <a:xfrm>
            <a:off x="8748500" y="2777000"/>
            <a:ext cx="0" cy="436648"/>
          </a:xfrm>
          <a:prstGeom prst="straightConnector1">
            <a:avLst/>
          </a:prstGeom>
          <a:noFill/>
          <a:ln w="19050" cap="flat" cmpd="sng">
            <a:solidFill>
              <a:schemeClr val="accent1"/>
            </a:solidFill>
            <a:prstDash val="solid"/>
            <a:round/>
            <a:headEnd type="none" w="sm" len="sm"/>
            <a:tailEnd type="none" w="sm" len="sm"/>
          </a:ln>
        </p:spPr>
      </p:cxnSp>
      <p:sp>
        <p:nvSpPr>
          <p:cNvPr id="903" name="Google Shape;903;p7"/>
          <p:cNvSpPr/>
          <p:nvPr/>
        </p:nvSpPr>
        <p:spPr>
          <a:xfrm>
            <a:off x="7685314" y="3760881"/>
            <a:ext cx="2057400"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1" i="0" u="none" strike="noStrike" cap="none" dirty="0">
              <a:solidFill>
                <a:srgbClr val="0D4877"/>
              </a:solidFill>
              <a:latin typeface="Arial"/>
              <a:ea typeface="Arial"/>
              <a:cs typeface="Arial"/>
              <a:sym typeface="Arial"/>
            </a:endParaRPr>
          </a:p>
        </p:txBody>
      </p:sp>
      <p:sp>
        <p:nvSpPr>
          <p:cNvPr id="18" name="Google Shape;907;p7">
            <a:extLst>
              <a:ext uri="{FF2B5EF4-FFF2-40B4-BE49-F238E27FC236}">
                <a16:creationId xmlns:a16="http://schemas.microsoft.com/office/drawing/2014/main" id="{D9D2B2C5-6A76-03F9-D576-2674383194E8}"/>
              </a:ext>
            </a:extLst>
          </p:cNvPr>
          <p:cNvSpPr txBox="1"/>
          <p:nvPr/>
        </p:nvSpPr>
        <p:spPr>
          <a:xfrm>
            <a:off x="603500" y="384050"/>
            <a:ext cx="9985200" cy="505944"/>
          </a:xfrm>
          <a:prstGeom prst="rect">
            <a:avLst/>
          </a:prstGeom>
          <a:noFill/>
          <a:ln>
            <a:noFill/>
          </a:ln>
        </p:spPr>
        <p:txBody>
          <a:bodyPr spcFirstLastPara="1" wrap="square" lIns="0" tIns="0" rIns="0" bIns="0" anchor="t" anchorCtr="0">
            <a:noAutofit/>
          </a:bodyPr>
          <a:lstStyle/>
          <a:p>
            <a:pPr marL="457200" lvl="0" indent="-228600">
              <a:lnSpc>
                <a:spcPct val="90000"/>
              </a:lnSpc>
              <a:spcBef>
                <a:spcPts val="1000"/>
              </a:spcBef>
              <a:buClr>
                <a:schemeClr val="accent4"/>
              </a:buClr>
              <a:buSzPts val="2000"/>
            </a:pPr>
            <a:r>
              <a:rPr lang="en-US" sz="2000" dirty="0">
                <a:solidFill>
                  <a:schemeClr val="accent4"/>
                </a:solidFill>
                <a:latin typeface="Bebas Neue"/>
              </a:rPr>
              <a:t>BCBSMA’s Enterprise Artificial Intelligence (AI) Strategy</a:t>
            </a:r>
            <a:endParaRPr sz="2000" dirty="0">
              <a:solidFill>
                <a:schemeClr val="accent4"/>
              </a:solidFill>
              <a:latin typeface="Bebas Neue"/>
              <a:sym typeface="Bebas Neue"/>
            </a:endParaRPr>
          </a:p>
        </p:txBody>
      </p:sp>
    </p:spTree>
    <p:extLst>
      <p:ext uri="{BB962C8B-B14F-4D97-AF65-F5344CB8AC3E}">
        <p14:creationId xmlns:p14="http://schemas.microsoft.com/office/powerpoint/2010/main" val="1474779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07;p7">
            <a:extLst>
              <a:ext uri="{FF2B5EF4-FFF2-40B4-BE49-F238E27FC236}">
                <a16:creationId xmlns:a16="http://schemas.microsoft.com/office/drawing/2014/main" id="{89D29400-4FF3-5A3C-F965-92C38F82AC14}"/>
              </a:ext>
            </a:extLst>
          </p:cNvPr>
          <p:cNvSpPr txBox="1"/>
          <p:nvPr/>
        </p:nvSpPr>
        <p:spPr>
          <a:xfrm>
            <a:off x="603500" y="384050"/>
            <a:ext cx="9985200" cy="288856"/>
          </a:xfrm>
          <a:prstGeom prst="rect">
            <a:avLst/>
          </a:prstGeom>
          <a:noFill/>
          <a:ln>
            <a:noFill/>
          </a:ln>
        </p:spPr>
        <p:txBody>
          <a:bodyPr spcFirstLastPara="1" wrap="square" lIns="0" tIns="0" rIns="0" bIns="0" anchor="t" anchorCtr="0">
            <a:noAutofit/>
          </a:bodyPr>
          <a:lstStyle/>
          <a:p>
            <a:pPr marL="457200" lvl="0" indent="-228600">
              <a:lnSpc>
                <a:spcPct val="90000"/>
              </a:lnSpc>
              <a:spcBef>
                <a:spcPts val="1000"/>
              </a:spcBef>
              <a:buClr>
                <a:schemeClr val="accent4"/>
              </a:buClr>
              <a:buSzPts val="2000"/>
            </a:pPr>
            <a:r>
              <a:rPr lang="en-US" sz="2000" dirty="0">
                <a:solidFill>
                  <a:schemeClr val="accent4"/>
                </a:solidFill>
                <a:latin typeface="Bebas Neue"/>
              </a:rPr>
              <a:t>Key Components of BCBSMA’s Enterprise AI Strategy</a:t>
            </a:r>
            <a:endParaRPr sz="2000" dirty="0">
              <a:solidFill>
                <a:schemeClr val="accent4"/>
              </a:solidFill>
              <a:latin typeface="Bebas Neue"/>
              <a:sym typeface="Bebas Neue"/>
            </a:endParaRPr>
          </a:p>
        </p:txBody>
      </p:sp>
      <p:sp>
        <p:nvSpPr>
          <p:cNvPr id="6" name="Google Shape;903;p7">
            <a:extLst>
              <a:ext uri="{FF2B5EF4-FFF2-40B4-BE49-F238E27FC236}">
                <a16:creationId xmlns:a16="http://schemas.microsoft.com/office/drawing/2014/main" id="{0CCC5097-5134-7540-90D8-DD4E2F2B2560}"/>
              </a:ext>
            </a:extLst>
          </p:cNvPr>
          <p:cNvSpPr/>
          <p:nvPr/>
        </p:nvSpPr>
        <p:spPr>
          <a:xfrm>
            <a:off x="4299855" y="1766678"/>
            <a:ext cx="3570515"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rgbClr val="0D4877"/>
                </a:solidFill>
                <a:latin typeface="Arial"/>
                <a:ea typeface="Arial"/>
                <a:cs typeface="Arial"/>
                <a:sym typeface="Arial"/>
              </a:rPr>
              <a:t>BCBSMA Enterprise AI Strategy</a:t>
            </a:r>
            <a:endParaRPr sz="1600" b="1" i="0" u="none" strike="noStrike" cap="none" dirty="0">
              <a:solidFill>
                <a:srgbClr val="0D4877"/>
              </a:solidFill>
              <a:latin typeface="Arial"/>
              <a:ea typeface="Arial"/>
              <a:cs typeface="Arial"/>
              <a:sym typeface="Arial"/>
            </a:endParaRPr>
          </a:p>
        </p:txBody>
      </p:sp>
      <p:grpSp>
        <p:nvGrpSpPr>
          <p:cNvPr id="9" name="Group 8">
            <a:extLst>
              <a:ext uri="{FF2B5EF4-FFF2-40B4-BE49-F238E27FC236}">
                <a16:creationId xmlns:a16="http://schemas.microsoft.com/office/drawing/2014/main" id="{2588988D-E687-06F2-302F-3C91B8FCB684}"/>
              </a:ext>
            </a:extLst>
          </p:cNvPr>
          <p:cNvGrpSpPr/>
          <p:nvPr/>
        </p:nvGrpSpPr>
        <p:grpSpPr>
          <a:xfrm>
            <a:off x="187413" y="2895550"/>
            <a:ext cx="2745559" cy="1384854"/>
            <a:chOff x="579300" y="4091838"/>
            <a:chExt cx="3754800" cy="1384854"/>
          </a:xfrm>
        </p:grpSpPr>
        <p:sp>
          <p:nvSpPr>
            <p:cNvPr id="7" name="Google Shape;900;p7">
              <a:extLst>
                <a:ext uri="{FF2B5EF4-FFF2-40B4-BE49-F238E27FC236}">
                  <a16:creationId xmlns:a16="http://schemas.microsoft.com/office/drawing/2014/main" id="{898D3191-32BE-C32D-D060-FDDA811CF979}"/>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indent="-9525">
                <a:buSzPts val="1000"/>
                <a:buFont typeface="Arial"/>
                <a:buNone/>
                <a:tabLst>
                  <a:tab pos="457200" algn="l"/>
                </a:tabLst>
              </a:pPr>
              <a:r>
                <a:rPr lang="en-US" sz="1200" dirty="0">
                  <a:solidFill>
                    <a:schemeClr val="tx1"/>
                  </a:solidFill>
                </a:rPr>
                <a:t>A plan for acquiring, storing, managing, and analyzing the data necessary to train AI models and develop AI-powered applications </a:t>
              </a:r>
              <a:endParaRPr sz="1200" dirty="0">
                <a:solidFill>
                  <a:schemeClr val="tx1"/>
                </a:solidFill>
              </a:endParaRPr>
            </a:p>
          </p:txBody>
        </p:sp>
        <p:sp>
          <p:nvSpPr>
            <p:cNvPr id="8" name="Google Shape;900;p7">
              <a:extLst>
                <a:ext uri="{FF2B5EF4-FFF2-40B4-BE49-F238E27FC236}">
                  <a16:creationId xmlns:a16="http://schemas.microsoft.com/office/drawing/2014/main" id="{49A8D8F8-C728-6473-8921-069D40DD80D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Data Strategy</a:t>
              </a:r>
              <a:endParaRPr sz="1400" b="0" i="0" u="none" strike="noStrike" cap="none" dirty="0">
                <a:solidFill>
                  <a:schemeClr val="bg1"/>
                </a:solidFill>
                <a:latin typeface="Arial"/>
                <a:ea typeface="Arial"/>
                <a:cs typeface="Arial"/>
                <a:sym typeface="Arial"/>
              </a:endParaRPr>
            </a:p>
          </p:txBody>
        </p:sp>
      </p:grpSp>
      <p:grpSp>
        <p:nvGrpSpPr>
          <p:cNvPr id="10" name="Group 9">
            <a:extLst>
              <a:ext uri="{FF2B5EF4-FFF2-40B4-BE49-F238E27FC236}">
                <a16:creationId xmlns:a16="http://schemas.microsoft.com/office/drawing/2014/main" id="{2B8AA8BA-3232-617A-D9DB-5DF24727CBBF}"/>
              </a:ext>
            </a:extLst>
          </p:cNvPr>
          <p:cNvGrpSpPr/>
          <p:nvPr/>
        </p:nvGrpSpPr>
        <p:grpSpPr>
          <a:xfrm>
            <a:off x="3211823" y="2895550"/>
            <a:ext cx="2745559" cy="1384854"/>
            <a:chOff x="579300" y="4091838"/>
            <a:chExt cx="3754800" cy="1384854"/>
          </a:xfrm>
        </p:grpSpPr>
        <p:sp>
          <p:nvSpPr>
            <p:cNvPr id="11" name="Google Shape;900;p7">
              <a:extLst>
                <a:ext uri="{FF2B5EF4-FFF2-40B4-BE49-F238E27FC236}">
                  <a16:creationId xmlns:a16="http://schemas.microsoft.com/office/drawing/2014/main" id="{E7F55704-8C0B-113D-28A7-DF4DECD9ACEA}"/>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rtl="0">
                <a:lnSpc>
                  <a:spcPct val="100000"/>
                </a:lnSpc>
                <a:spcBef>
                  <a:spcPts val="0"/>
                </a:spcBef>
                <a:spcAft>
                  <a:spcPts val="0"/>
                </a:spcAft>
                <a:buClr>
                  <a:srgbClr val="000000"/>
                </a:buClr>
                <a:buSzPts val="1000"/>
                <a:buFont typeface="Arial"/>
                <a:buNone/>
              </a:pPr>
              <a:r>
                <a:rPr lang="en-US" sz="1200" dirty="0">
                  <a:solidFill>
                    <a:schemeClr val="tx1"/>
                  </a:solidFill>
                </a:rPr>
                <a:t>Plan to develop, deploy, and maintain machine learning based models and applications</a:t>
              </a:r>
              <a:endParaRPr sz="1200" dirty="0">
                <a:solidFill>
                  <a:schemeClr val="tx1"/>
                </a:solidFill>
              </a:endParaRPr>
            </a:p>
          </p:txBody>
        </p:sp>
        <p:sp>
          <p:nvSpPr>
            <p:cNvPr id="12" name="Google Shape;900;p7">
              <a:extLst>
                <a:ext uri="{FF2B5EF4-FFF2-40B4-BE49-F238E27FC236}">
                  <a16:creationId xmlns:a16="http://schemas.microsoft.com/office/drawing/2014/main" id="{287B95AE-39AB-2BAF-4DD2-885F4DDD4BFF}"/>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Machine Learning Strategy</a:t>
              </a:r>
              <a:endParaRPr sz="1400" b="0" i="0" u="none" strike="noStrike" cap="none" dirty="0">
                <a:solidFill>
                  <a:schemeClr val="bg1"/>
                </a:solidFill>
                <a:latin typeface="Arial"/>
                <a:ea typeface="Arial"/>
                <a:cs typeface="Arial"/>
                <a:sym typeface="Arial"/>
              </a:endParaRPr>
            </a:p>
          </p:txBody>
        </p:sp>
      </p:grpSp>
      <p:grpSp>
        <p:nvGrpSpPr>
          <p:cNvPr id="13" name="Group 12">
            <a:extLst>
              <a:ext uri="{FF2B5EF4-FFF2-40B4-BE49-F238E27FC236}">
                <a16:creationId xmlns:a16="http://schemas.microsoft.com/office/drawing/2014/main" id="{59CDE2AE-627C-4A23-814C-AAD757743C4A}"/>
              </a:ext>
            </a:extLst>
          </p:cNvPr>
          <p:cNvGrpSpPr/>
          <p:nvPr/>
        </p:nvGrpSpPr>
        <p:grpSpPr>
          <a:xfrm>
            <a:off x="6236233" y="2895550"/>
            <a:ext cx="2745559" cy="1384854"/>
            <a:chOff x="579300" y="4091838"/>
            <a:chExt cx="3754800" cy="1384854"/>
          </a:xfrm>
        </p:grpSpPr>
        <p:sp>
          <p:nvSpPr>
            <p:cNvPr id="14" name="Google Shape;900;p7">
              <a:extLst>
                <a:ext uri="{FF2B5EF4-FFF2-40B4-BE49-F238E27FC236}">
                  <a16:creationId xmlns:a16="http://schemas.microsoft.com/office/drawing/2014/main" id="{DA5A56CB-6993-5F7B-9ADA-0FEEDACE5E79}"/>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A detailed plan for executing the AI strategy, including timelines, milestones, and metrics for measuring success</a:t>
              </a:r>
            </a:p>
          </p:txBody>
        </p:sp>
        <p:sp>
          <p:nvSpPr>
            <p:cNvPr id="15" name="Google Shape;900;p7">
              <a:extLst>
                <a:ext uri="{FF2B5EF4-FFF2-40B4-BE49-F238E27FC236}">
                  <a16:creationId xmlns:a16="http://schemas.microsoft.com/office/drawing/2014/main" id="{E5118EC3-617E-581B-7A62-2754B1BB24FE}"/>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Solutions Roadmap</a:t>
              </a:r>
              <a:endParaRPr sz="1400" b="0" i="0" u="none" strike="noStrike" cap="none" dirty="0">
                <a:solidFill>
                  <a:schemeClr val="bg1"/>
                </a:solidFill>
                <a:latin typeface="Arial"/>
                <a:ea typeface="Arial"/>
                <a:cs typeface="Arial"/>
                <a:sym typeface="Arial"/>
              </a:endParaRPr>
            </a:p>
          </p:txBody>
        </p:sp>
      </p:grpSp>
      <p:grpSp>
        <p:nvGrpSpPr>
          <p:cNvPr id="16" name="Group 15">
            <a:extLst>
              <a:ext uri="{FF2B5EF4-FFF2-40B4-BE49-F238E27FC236}">
                <a16:creationId xmlns:a16="http://schemas.microsoft.com/office/drawing/2014/main" id="{7465332B-9977-913C-07F3-C475010DAA4E}"/>
              </a:ext>
            </a:extLst>
          </p:cNvPr>
          <p:cNvGrpSpPr/>
          <p:nvPr/>
        </p:nvGrpSpPr>
        <p:grpSpPr>
          <a:xfrm>
            <a:off x="9260642" y="2897860"/>
            <a:ext cx="2745559" cy="1384854"/>
            <a:chOff x="579300" y="4091838"/>
            <a:chExt cx="3754800" cy="1384854"/>
          </a:xfrm>
        </p:grpSpPr>
        <p:sp>
          <p:nvSpPr>
            <p:cNvPr id="17" name="Google Shape;900;p7">
              <a:extLst>
                <a:ext uri="{FF2B5EF4-FFF2-40B4-BE49-F238E27FC236}">
                  <a16:creationId xmlns:a16="http://schemas.microsoft.com/office/drawing/2014/main" id="{FB869B63-CA0A-4AA0-C2D2-30B9919C31E0}"/>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342900" marR="0" lvl="0" indent="-342900">
                <a:spcBef>
                  <a:spcPts val="0"/>
                </a:spcBef>
                <a:spcAft>
                  <a:spcPts val="0"/>
                </a:spcAft>
                <a:tabLst>
                  <a:tab pos="457200" algn="l"/>
                </a:tabLst>
              </a:pPr>
              <a:r>
                <a:rPr lang="en-US" sz="1200" dirty="0">
                  <a:solidFill>
                    <a:schemeClr val="tx1"/>
                  </a:solidFill>
                </a:rPr>
                <a:t>A plan for acquiring, developing, and</a:t>
              </a:r>
            </a:p>
            <a:p>
              <a:pPr marL="342900" marR="0" lvl="0" indent="-342900">
                <a:spcBef>
                  <a:spcPts val="0"/>
                </a:spcBef>
                <a:spcAft>
                  <a:spcPts val="0"/>
                </a:spcAft>
                <a:tabLst>
                  <a:tab pos="457200" algn="l"/>
                </a:tabLst>
              </a:pPr>
              <a:r>
                <a:rPr lang="en-US" sz="1200" dirty="0">
                  <a:solidFill>
                    <a:schemeClr val="tx1"/>
                  </a:solidFill>
                </a:rPr>
                <a:t>retaining the talent and skills</a:t>
              </a:r>
            </a:p>
            <a:p>
              <a:pPr marL="342900" marR="0" lvl="0" indent="-342900">
                <a:spcBef>
                  <a:spcPts val="0"/>
                </a:spcBef>
                <a:spcAft>
                  <a:spcPts val="0"/>
                </a:spcAft>
                <a:tabLst>
                  <a:tab pos="457200" algn="l"/>
                </a:tabLst>
              </a:pPr>
              <a:r>
                <a:rPr lang="en-US" sz="1200" dirty="0">
                  <a:solidFill>
                    <a:schemeClr val="tx1"/>
                  </a:solidFill>
                </a:rPr>
                <a:t>necessary to build, deploy, and</a:t>
              </a:r>
            </a:p>
            <a:p>
              <a:pPr marL="342900" marR="0" lvl="0" indent="-342900">
                <a:spcBef>
                  <a:spcPts val="0"/>
                </a:spcBef>
                <a:spcAft>
                  <a:spcPts val="0"/>
                </a:spcAft>
                <a:tabLst>
                  <a:tab pos="457200" algn="l"/>
                </a:tabLst>
              </a:pPr>
              <a:r>
                <a:rPr lang="en-US" sz="1200" dirty="0">
                  <a:solidFill>
                    <a:schemeClr val="tx1"/>
                  </a:solidFill>
                </a:rPr>
                <a:t>maintain AI-powered systems</a:t>
              </a:r>
            </a:p>
          </p:txBody>
        </p:sp>
        <p:sp>
          <p:nvSpPr>
            <p:cNvPr id="18" name="Google Shape;900;p7">
              <a:extLst>
                <a:ext uri="{FF2B5EF4-FFF2-40B4-BE49-F238E27FC236}">
                  <a16:creationId xmlns:a16="http://schemas.microsoft.com/office/drawing/2014/main" id="{A00D6ED8-7DEC-1328-9181-E293E083C9AF}"/>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Talent &amp; Skills</a:t>
              </a:r>
            </a:p>
          </p:txBody>
        </p:sp>
      </p:grpSp>
      <p:grpSp>
        <p:nvGrpSpPr>
          <p:cNvPr id="19" name="Group 18">
            <a:extLst>
              <a:ext uri="{FF2B5EF4-FFF2-40B4-BE49-F238E27FC236}">
                <a16:creationId xmlns:a16="http://schemas.microsoft.com/office/drawing/2014/main" id="{9F7C934C-E0CD-6986-5E83-1E96F96CC6F0}"/>
              </a:ext>
            </a:extLst>
          </p:cNvPr>
          <p:cNvGrpSpPr/>
          <p:nvPr/>
        </p:nvGrpSpPr>
        <p:grpSpPr>
          <a:xfrm>
            <a:off x="187413" y="4764568"/>
            <a:ext cx="2745559" cy="1384854"/>
            <a:chOff x="579300" y="4091838"/>
            <a:chExt cx="3754800" cy="1384854"/>
          </a:xfrm>
        </p:grpSpPr>
        <p:sp>
          <p:nvSpPr>
            <p:cNvPr id="20" name="Google Shape;900;p7">
              <a:extLst>
                <a:ext uri="{FF2B5EF4-FFF2-40B4-BE49-F238E27FC236}">
                  <a16:creationId xmlns:a16="http://schemas.microsoft.com/office/drawing/2014/main" id="{171A1BD1-15B5-44B6-7FCE-E4C6D4618F8F}"/>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ctr">
                <a:buSzPts val="1000"/>
                <a:tabLst>
                  <a:tab pos="457200" algn="l"/>
                </a:tabLst>
              </a:pPr>
              <a:r>
                <a:rPr lang="en-US" sz="1200" dirty="0">
                  <a:solidFill>
                    <a:schemeClr val="tx1"/>
                  </a:solidFill>
                </a:rPr>
                <a:t>A framework for managing the ethical, legal, and regulatory risks associated with AI development and deployment, including data privacy, security, and bias</a:t>
              </a:r>
            </a:p>
          </p:txBody>
        </p:sp>
        <p:sp>
          <p:nvSpPr>
            <p:cNvPr id="21" name="Google Shape;900;p7">
              <a:extLst>
                <a:ext uri="{FF2B5EF4-FFF2-40B4-BE49-F238E27FC236}">
                  <a16:creationId xmlns:a16="http://schemas.microsoft.com/office/drawing/2014/main" id="{236A18D1-3E2C-8203-99B2-F38D585CB7DE}"/>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r">
                <a:buSzPts val="1000"/>
              </a:pPr>
              <a:r>
                <a:rPr lang="en-US" sz="1250" dirty="0">
                  <a:solidFill>
                    <a:schemeClr val="bg1"/>
                  </a:solidFill>
                </a:rPr>
                <a:t>Governance /Risk Management </a:t>
              </a:r>
              <a:endParaRPr sz="1250" dirty="0">
                <a:solidFill>
                  <a:schemeClr val="bg1"/>
                </a:solidFill>
              </a:endParaRPr>
            </a:p>
          </p:txBody>
        </p:sp>
      </p:grpSp>
      <p:grpSp>
        <p:nvGrpSpPr>
          <p:cNvPr id="22" name="Group 21">
            <a:extLst>
              <a:ext uri="{FF2B5EF4-FFF2-40B4-BE49-F238E27FC236}">
                <a16:creationId xmlns:a16="http://schemas.microsoft.com/office/drawing/2014/main" id="{97BA2FA9-CB1C-21E0-78B5-B2DB58A49C80}"/>
              </a:ext>
            </a:extLst>
          </p:cNvPr>
          <p:cNvGrpSpPr/>
          <p:nvPr/>
        </p:nvGrpSpPr>
        <p:grpSpPr>
          <a:xfrm>
            <a:off x="3211823" y="4764568"/>
            <a:ext cx="2745559" cy="1384854"/>
            <a:chOff x="579300" y="4091838"/>
            <a:chExt cx="3754800" cy="1384854"/>
          </a:xfrm>
        </p:grpSpPr>
        <p:sp>
          <p:nvSpPr>
            <p:cNvPr id="23" name="Google Shape;900;p7">
              <a:extLst>
                <a:ext uri="{FF2B5EF4-FFF2-40B4-BE49-F238E27FC236}">
                  <a16:creationId xmlns:a16="http://schemas.microsoft.com/office/drawing/2014/main" id="{91E37800-B345-038B-21DC-9D381FD4122E}"/>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342900" marR="0" lvl="0" indent="-342900">
                <a:spcBef>
                  <a:spcPts val="0"/>
                </a:spcBef>
                <a:spcAft>
                  <a:spcPts val="0"/>
                </a:spcAft>
                <a:tabLst>
                  <a:tab pos="457200" algn="l"/>
                </a:tabLst>
              </a:pPr>
              <a:r>
                <a:rPr lang="en-US" sz="1200" dirty="0">
                  <a:solidFill>
                    <a:schemeClr val="tx1"/>
                  </a:solidFill>
                </a:rPr>
                <a:t>A plan for the hardware and software</a:t>
              </a:r>
            </a:p>
            <a:p>
              <a:pPr marL="342900" marR="0" lvl="0" indent="-342900">
                <a:spcBef>
                  <a:spcPts val="0"/>
                </a:spcBef>
                <a:spcAft>
                  <a:spcPts val="0"/>
                </a:spcAft>
                <a:tabLst>
                  <a:tab pos="457200" algn="l"/>
                </a:tabLst>
              </a:pPr>
              <a:r>
                <a:rPr lang="en-US" sz="1200" dirty="0">
                  <a:solidFill>
                    <a:schemeClr val="tx1"/>
                  </a:solidFill>
                </a:rPr>
                <a:t>infrastructure required to support AI</a:t>
              </a:r>
            </a:p>
            <a:p>
              <a:pPr marL="342900" marR="0" lvl="0" indent="-342900">
                <a:spcBef>
                  <a:spcPts val="0"/>
                </a:spcBef>
                <a:spcAft>
                  <a:spcPts val="0"/>
                </a:spcAft>
                <a:tabLst>
                  <a:tab pos="457200" algn="l"/>
                </a:tabLst>
              </a:pPr>
              <a:r>
                <a:rPr lang="en-US" sz="1200" dirty="0">
                  <a:solidFill>
                    <a:schemeClr val="tx1"/>
                  </a:solidFill>
                </a:rPr>
                <a:t>workloads, including data storage,</a:t>
              </a:r>
            </a:p>
            <a:p>
              <a:pPr marL="342900" marR="0" lvl="0" indent="-342900">
                <a:spcBef>
                  <a:spcPts val="0"/>
                </a:spcBef>
                <a:spcAft>
                  <a:spcPts val="0"/>
                </a:spcAft>
                <a:tabLst>
                  <a:tab pos="457200" algn="l"/>
                </a:tabLst>
              </a:pPr>
              <a:r>
                <a:rPr lang="en-US" sz="1200" dirty="0">
                  <a:solidFill>
                    <a:schemeClr val="tx1"/>
                  </a:solidFill>
                </a:rPr>
                <a:t>computing power, and networking</a:t>
              </a:r>
            </a:p>
            <a:p>
              <a:pPr marL="342900" marR="0" lvl="0" indent="-342900">
                <a:spcBef>
                  <a:spcPts val="0"/>
                </a:spcBef>
                <a:spcAft>
                  <a:spcPts val="0"/>
                </a:spcAft>
                <a:tabLst>
                  <a:tab pos="457200" algn="l"/>
                </a:tabLst>
              </a:pPr>
              <a:r>
                <a:rPr lang="en-US" sz="1200" dirty="0">
                  <a:solidFill>
                    <a:schemeClr val="tx1"/>
                  </a:solidFill>
                </a:rPr>
                <a:t>capabilities</a:t>
              </a:r>
            </a:p>
          </p:txBody>
        </p:sp>
        <p:sp>
          <p:nvSpPr>
            <p:cNvPr id="24" name="Google Shape;900;p7">
              <a:extLst>
                <a:ext uri="{FF2B5EF4-FFF2-40B4-BE49-F238E27FC236}">
                  <a16:creationId xmlns:a16="http://schemas.microsoft.com/office/drawing/2014/main" id="{A07925D1-B4B2-9F2A-E3CA-63BAA2CFC69B}"/>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Infrastructure</a:t>
              </a:r>
            </a:p>
          </p:txBody>
        </p:sp>
      </p:grpSp>
      <p:grpSp>
        <p:nvGrpSpPr>
          <p:cNvPr id="25" name="Group 24">
            <a:extLst>
              <a:ext uri="{FF2B5EF4-FFF2-40B4-BE49-F238E27FC236}">
                <a16:creationId xmlns:a16="http://schemas.microsoft.com/office/drawing/2014/main" id="{BF8539EB-6F4F-D5E7-A725-0AD02FB6EB6E}"/>
              </a:ext>
            </a:extLst>
          </p:cNvPr>
          <p:cNvGrpSpPr/>
          <p:nvPr/>
        </p:nvGrpSpPr>
        <p:grpSpPr>
          <a:xfrm>
            <a:off x="6236233" y="4764568"/>
            <a:ext cx="2745559" cy="1384854"/>
            <a:chOff x="579300" y="4091838"/>
            <a:chExt cx="3754800" cy="1384854"/>
          </a:xfrm>
        </p:grpSpPr>
        <p:sp>
          <p:nvSpPr>
            <p:cNvPr id="26" name="Google Shape;900;p7">
              <a:extLst>
                <a:ext uri="{FF2B5EF4-FFF2-40B4-BE49-F238E27FC236}">
                  <a16:creationId xmlns:a16="http://schemas.microsoft.com/office/drawing/2014/main" id="{DB56D7B4-8870-808A-9F4B-147003399681}"/>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tabLst>
                  <a:tab pos="457200" algn="l"/>
                </a:tabLst>
              </a:pPr>
              <a:r>
                <a:rPr lang="en-US" sz="1200" dirty="0">
                  <a:solidFill>
                    <a:schemeClr val="tx1"/>
                  </a:solidFill>
                </a:rPr>
                <a:t>A plan for building relationships with AI vendors, startups, research institutions, and other organizations to collaborate, share knowledge, and accelerate innovation</a:t>
              </a:r>
            </a:p>
          </p:txBody>
        </p:sp>
        <p:sp>
          <p:nvSpPr>
            <p:cNvPr id="27" name="Google Shape;900;p7">
              <a:extLst>
                <a:ext uri="{FF2B5EF4-FFF2-40B4-BE49-F238E27FC236}">
                  <a16:creationId xmlns:a16="http://schemas.microsoft.com/office/drawing/2014/main" id="{D66E53EC-2A0B-82B5-BB60-4009471B9BC5}"/>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    Partnerships &amp; Ecosystem</a:t>
              </a:r>
              <a:endParaRPr sz="1400" b="0" i="0" u="none" strike="noStrike" cap="none" dirty="0">
                <a:solidFill>
                  <a:schemeClr val="bg1"/>
                </a:solidFill>
                <a:latin typeface="Arial"/>
                <a:ea typeface="Arial"/>
                <a:cs typeface="Arial"/>
                <a:sym typeface="Arial"/>
              </a:endParaRPr>
            </a:p>
          </p:txBody>
        </p:sp>
      </p:grpSp>
      <p:grpSp>
        <p:nvGrpSpPr>
          <p:cNvPr id="28" name="Group 27">
            <a:extLst>
              <a:ext uri="{FF2B5EF4-FFF2-40B4-BE49-F238E27FC236}">
                <a16:creationId xmlns:a16="http://schemas.microsoft.com/office/drawing/2014/main" id="{1A112092-D664-8A51-8395-25190BDE66DB}"/>
              </a:ext>
            </a:extLst>
          </p:cNvPr>
          <p:cNvGrpSpPr/>
          <p:nvPr/>
        </p:nvGrpSpPr>
        <p:grpSpPr>
          <a:xfrm>
            <a:off x="9260642" y="4766878"/>
            <a:ext cx="2745559" cy="1384854"/>
            <a:chOff x="579300" y="4091838"/>
            <a:chExt cx="3754800" cy="1384854"/>
          </a:xfrm>
        </p:grpSpPr>
        <p:sp>
          <p:nvSpPr>
            <p:cNvPr id="29" name="Google Shape;900;p7">
              <a:extLst>
                <a:ext uri="{FF2B5EF4-FFF2-40B4-BE49-F238E27FC236}">
                  <a16:creationId xmlns:a16="http://schemas.microsoft.com/office/drawing/2014/main" id="{5EA68A9C-B630-E830-B734-F5F76E570B60}"/>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dirty="0">
                  <a:solidFill>
                    <a:schemeClr val="tx1"/>
                  </a:solidFill>
                </a:rPr>
                <a:t>A commitment to continuously learning and improving AI capabilities through experimentation, feedback, and adaptation </a:t>
              </a:r>
              <a:endParaRPr sz="1200" dirty="0">
                <a:solidFill>
                  <a:schemeClr val="tx1"/>
                </a:solidFill>
              </a:endParaRPr>
            </a:p>
          </p:txBody>
        </p:sp>
        <p:sp>
          <p:nvSpPr>
            <p:cNvPr id="30" name="Google Shape;900;p7">
              <a:extLst>
                <a:ext uri="{FF2B5EF4-FFF2-40B4-BE49-F238E27FC236}">
                  <a16:creationId xmlns:a16="http://schemas.microsoft.com/office/drawing/2014/main" id="{5E4F460D-EF40-AFCB-E713-33D15CDA86E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Continuous Learning</a:t>
              </a:r>
              <a:endParaRPr sz="1400" b="0" i="0" u="none" strike="noStrike" cap="none" dirty="0">
                <a:solidFill>
                  <a:schemeClr val="bg1"/>
                </a:solidFill>
                <a:latin typeface="Arial"/>
                <a:ea typeface="Arial"/>
                <a:cs typeface="Arial"/>
                <a:sym typeface="Arial"/>
              </a:endParaRPr>
            </a:p>
          </p:txBody>
        </p:sp>
      </p:grpSp>
      <p:cxnSp>
        <p:nvCxnSpPr>
          <p:cNvPr id="32" name="Elbow Connector 31">
            <a:extLst>
              <a:ext uri="{FF2B5EF4-FFF2-40B4-BE49-F238E27FC236}">
                <a16:creationId xmlns:a16="http://schemas.microsoft.com/office/drawing/2014/main" id="{F43EA16B-A1A5-E57D-2A5D-8E2B1563AB5B}"/>
              </a:ext>
            </a:extLst>
          </p:cNvPr>
          <p:cNvCxnSpPr>
            <a:cxnSpLocks/>
            <a:stCxn id="6" idx="2"/>
            <a:endCxn id="12" idx="0"/>
          </p:cNvCxnSpPr>
          <p:nvPr/>
        </p:nvCxnSpPr>
        <p:spPr>
          <a:xfrm rot="5400000">
            <a:off x="4946822" y="1757259"/>
            <a:ext cx="776072" cy="15005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66387377-4993-EBAC-C8FB-0B86DD401EDB}"/>
              </a:ext>
            </a:extLst>
          </p:cNvPr>
          <p:cNvCxnSpPr>
            <a:cxnSpLocks/>
            <a:stCxn id="6" idx="2"/>
            <a:endCxn id="15" idx="0"/>
          </p:cNvCxnSpPr>
          <p:nvPr/>
        </p:nvCxnSpPr>
        <p:spPr>
          <a:xfrm rot="16200000" flipH="1">
            <a:off x="6459027" y="1745564"/>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82667F5C-E7AD-9BAE-6486-EE8A2C70BB69}"/>
              </a:ext>
            </a:extLst>
          </p:cNvPr>
          <p:cNvCxnSpPr>
            <a:cxnSpLocks/>
            <a:stCxn id="6" idx="2"/>
            <a:endCxn id="18" idx="0"/>
          </p:cNvCxnSpPr>
          <p:nvPr/>
        </p:nvCxnSpPr>
        <p:spPr>
          <a:xfrm rot="16200000" flipH="1">
            <a:off x="7970076" y="234514"/>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C4C7FD3C-D42A-3685-EDB8-CB580EEC3B97}"/>
              </a:ext>
            </a:extLst>
          </p:cNvPr>
          <p:cNvCxnSpPr>
            <a:cxnSpLocks/>
            <a:stCxn id="6" idx="2"/>
            <a:endCxn id="8" idx="0"/>
          </p:cNvCxnSpPr>
          <p:nvPr/>
        </p:nvCxnSpPr>
        <p:spPr>
          <a:xfrm rot="5400000">
            <a:off x="3434617" y="245054"/>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D4EAF73-0679-415F-7F3E-C1C18DEF3236}"/>
              </a:ext>
            </a:extLst>
          </p:cNvPr>
          <p:cNvCxnSpPr/>
          <p:nvPr/>
        </p:nvCxnSpPr>
        <p:spPr>
          <a:xfrm>
            <a:off x="1560193" y="4474037"/>
            <a:ext cx="93037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B11756-1C2A-8822-8A12-F9D3712E4D0A}"/>
              </a:ext>
            </a:extLst>
          </p:cNvPr>
          <p:cNvCxnSpPr>
            <a:cxnSpLocks/>
          </p:cNvCxnSpPr>
          <p:nvPr/>
        </p:nvCxnSpPr>
        <p:spPr>
          <a:xfrm>
            <a:off x="1560193" y="4474037"/>
            <a:ext cx="0" cy="279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A2EB512-C0E8-D8BB-01F8-19D95F4D40E1}"/>
              </a:ext>
            </a:extLst>
          </p:cNvPr>
          <p:cNvCxnSpPr>
            <a:cxnSpLocks/>
          </p:cNvCxnSpPr>
          <p:nvPr/>
        </p:nvCxnSpPr>
        <p:spPr>
          <a:xfrm>
            <a:off x="4669876" y="4474037"/>
            <a:ext cx="0" cy="279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AE2267A-0CE3-4A18-72CE-743AC770CD1A}"/>
              </a:ext>
            </a:extLst>
          </p:cNvPr>
          <p:cNvCxnSpPr>
            <a:cxnSpLocks/>
          </p:cNvCxnSpPr>
          <p:nvPr/>
        </p:nvCxnSpPr>
        <p:spPr>
          <a:xfrm>
            <a:off x="7779559" y="4474037"/>
            <a:ext cx="0" cy="279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78FB634-BF38-4465-8BDC-12533F289DE6}"/>
              </a:ext>
            </a:extLst>
          </p:cNvPr>
          <p:cNvCxnSpPr>
            <a:cxnSpLocks/>
          </p:cNvCxnSpPr>
          <p:nvPr/>
        </p:nvCxnSpPr>
        <p:spPr>
          <a:xfrm>
            <a:off x="10867469" y="4474037"/>
            <a:ext cx="0" cy="279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F61AD96-6F8C-CCF7-6F16-7C32E7D06B46}"/>
              </a:ext>
            </a:extLst>
          </p:cNvPr>
          <p:cNvCxnSpPr>
            <a:cxnSpLocks/>
            <a:stCxn id="6" idx="2"/>
          </p:cNvCxnSpPr>
          <p:nvPr/>
        </p:nvCxnSpPr>
        <p:spPr>
          <a:xfrm>
            <a:off x="6085113" y="2119478"/>
            <a:ext cx="13680" cy="2354559"/>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pic>
        <p:nvPicPr>
          <p:cNvPr id="73" name="Graphic 72" descr="Database with solid fill">
            <a:extLst>
              <a:ext uri="{FF2B5EF4-FFF2-40B4-BE49-F238E27FC236}">
                <a16:creationId xmlns:a16="http://schemas.microsoft.com/office/drawing/2014/main" id="{0BCF717B-9DE1-8663-AF4D-6FFAA7AD64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3733" y="2882255"/>
            <a:ext cx="351779" cy="351779"/>
          </a:xfrm>
          <a:prstGeom prst="rect">
            <a:avLst/>
          </a:prstGeom>
        </p:spPr>
      </p:pic>
      <p:pic>
        <p:nvPicPr>
          <p:cNvPr id="75" name="Graphic 74" descr="Robot with solid fill">
            <a:extLst>
              <a:ext uri="{FF2B5EF4-FFF2-40B4-BE49-F238E27FC236}">
                <a16:creationId xmlns:a16="http://schemas.microsoft.com/office/drawing/2014/main" id="{281A5BA2-87D4-5B56-BA2E-F3852916E8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89255" y="2895550"/>
            <a:ext cx="360667" cy="360667"/>
          </a:xfrm>
          <a:prstGeom prst="rect">
            <a:avLst/>
          </a:prstGeom>
        </p:spPr>
      </p:pic>
      <p:pic>
        <p:nvPicPr>
          <p:cNvPr id="77" name="Graphic 76" descr="Road with solid fill">
            <a:extLst>
              <a:ext uri="{FF2B5EF4-FFF2-40B4-BE49-F238E27FC236}">
                <a16:creationId xmlns:a16="http://schemas.microsoft.com/office/drawing/2014/main" id="{C56687E2-71C5-87D7-27D7-B0A6398BF31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76447" y="2895550"/>
            <a:ext cx="374189" cy="374189"/>
          </a:xfrm>
          <a:prstGeom prst="rect">
            <a:avLst/>
          </a:prstGeom>
        </p:spPr>
      </p:pic>
      <p:pic>
        <p:nvPicPr>
          <p:cNvPr id="79" name="Graphic 78" descr="Meeting with solid fill">
            <a:extLst>
              <a:ext uri="{FF2B5EF4-FFF2-40B4-BE49-F238E27FC236}">
                <a16:creationId xmlns:a16="http://schemas.microsoft.com/office/drawing/2014/main" id="{F531430E-9A8E-5112-C71D-43960CA7DB4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7413" y="4753683"/>
            <a:ext cx="374189" cy="374189"/>
          </a:xfrm>
          <a:prstGeom prst="rect">
            <a:avLst/>
          </a:prstGeom>
        </p:spPr>
      </p:pic>
      <p:pic>
        <p:nvPicPr>
          <p:cNvPr id="81" name="Graphic 80" descr="Bridge scene with solid fill">
            <a:extLst>
              <a:ext uri="{FF2B5EF4-FFF2-40B4-BE49-F238E27FC236}">
                <a16:creationId xmlns:a16="http://schemas.microsoft.com/office/drawing/2014/main" id="{F5E59120-ADDF-A9C3-D3CD-1FD3367C4B7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97095" y="4699045"/>
            <a:ext cx="374189" cy="374189"/>
          </a:xfrm>
          <a:prstGeom prst="rect">
            <a:avLst/>
          </a:prstGeom>
        </p:spPr>
      </p:pic>
      <p:pic>
        <p:nvPicPr>
          <p:cNvPr id="83" name="Graphic 82" descr="Sustainability with solid fill">
            <a:extLst>
              <a:ext uri="{FF2B5EF4-FFF2-40B4-BE49-F238E27FC236}">
                <a16:creationId xmlns:a16="http://schemas.microsoft.com/office/drawing/2014/main" id="{3755E486-A9BD-864B-D15E-1A4E7A7AE7C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21668" y="4765595"/>
            <a:ext cx="370218" cy="370218"/>
          </a:xfrm>
          <a:prstGeom prst="rect">
            <a:avLst/>
          </a:prstGeom>
        </p:spPr>
      </p:pic>
      <p:pic>
        <p:nvPicPr>
          <p:cNvPr id="85" name="Graphic 84" descr="Group of people with solid fill">
            <a:extLst>
              <a:ext uri="{FF2B5EF4-FFF2-40B4-BE49-F238E27FC236}">
                <a16:creationId xmlns:a16="http://schemas.microsoft.com/office/drawing/2014/main" id="{F92CFF48-1610-72F6-351A-DA3327FEEB2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82413" y="2879576"/>
            <a:ext cx="362329" cy="362329"/>
          </a:xfrm>
          <a:prstGeom prst="rect">
            <a:avLst/>
          </a:prstGeom>
        </p:spPr>
      </p:pic>
      <p:pic>
        <p:nvPicPr>
          <p:cNvPr id="87" name="Graphic 86" descr="Idea with solid fill">
            <a:extLst>
              <a:ext uri="{FF2B5EF4-FFF2-40B4-BE49-F238E27FC236}">
                <a16:creationId xmlns:a16="http://schemas.microsoft.com/office/drawing/2014/main" id="{A157D622-4870-19FD-2119-08F8448461D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306258" y="4778570"/>
            <a:ext cx="338484" cy="338484"/>
          </a:xfrm>
          <a:prstGeom prst="rect">
            <a:avLst/>
          </a:prstGeom>
        </p:spPr>
      </p:pic>
      <p:sp>
        <p:nvSpPr>
          <p:cNvPr id="88" name="Google Shape;907;p7">
            <a:extLst>
              <a:ext uri="{FF2B5EF4-FFF2-40B4-BE49-F238E27FC236}">
                <a16:creationId xmlns:a16="http://schemas.microsoft.com/office/drawing/2014/main" id="{58C9E52A-BF33-38CF-5BD4-1F32AF0A095B}"/>
              </a:ext>
            </a:extLst>
          </p:cNvPr>
          <p:cNvSpPr txBox="1"/>
          <p:nvPr/>
        </p:nvSpPr>
        <p:spPr>
          <a:xfrm>
            <a:off x="800099" y="896679"/>
            <a:ext cx="9985200" cy="590354"/>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US" sz="1600" i="1" dirty="0">
                <a:solidFill>
                  <a:schemeClr val="accent2"/>
                </a:solidFill>
              </a:rPr>
              <a:t>F</a:t>
            </a:r>
            <a:r>
              <a:rPr lang="en-US" sz="1600" i="1" u="none" strike="noStrike" cap="none" dirty="0">
                <a:solidFill>
                  <a:schemeClr val="accent2"/>
                </a:solidFill>
                <a:sym typeface="Arial"/>
              </a:rPr>
              <a:t>or a successful, sustainable and impactful AI strategy implementation, there are 8 key areas of focus that we must succeed in to fully realize the benefits of this significant, societal step-change function </a:t>
            </a:r>
            <a:endParaRPr sz="1600" i="1" dirty="0">
              <a:solidFill>
                <a:schemeClr val="accent2"/>
              </a:solidFill>
            </a:endParaRPr>
          </a:p>
        </p:txBody>
      </p:sp>
    </p:spTree>
    <p:extLst>
      <p:ext uri="{BB962C8B-B14F-4D97-AF65-F5344CB8AC3E}">
        <p14:creationId xmlns:p14="http://schemas.microsoft.com/office/powerpoint/2010/main" val="2539099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dirty="0"/>
              <a:t>data strategy</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i="1" dirty="0">
                <a:solidFill>
                  <a:schemeClr val="tx1"/>
                </a:solidFill>
              </a:rPr>
              <a:t>A plan for acquiring, storing, managing, and analyzing the data necessary to train AI models and develop AI-powered applications </a:t>
            </a:r>
          </a:p>
          <a:p>
            <a:endParaRPr lang="en-US" sz="1400" i="1" dirty="0"/>
          </a:p>
        </p:txBody>
      </p:sp>
      <p:sp>
        <p:nvSpPr>
          <p:cNvPr id="5" name="Google Shape;903;p7">
            <a:extLst>
              <a:ext uri="{FF2B5EF4-FFF2-40B4-BE49-F238E27FC236}">
                <a16:creationId xmlns:a16="http://schemas.microsoft.com/office/drawing/2014/main" id="{B6A95DA8-D98C-12C0-911B-94DB84C6A507}"/>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chemeClr val="bg1"/>
                </a:solidFill>
                <a:latin typeface="Arial"/>
                <a:ea typeface="Arial"/>
                <a:cs typeface="Arial"/>
                <a:sym typeface="Arial"/>
              </a:rPr>
              <a:t>Data Strategy</a:t>
            </a:r>
            <a:endParaRPr sz="1600" b="1" i="0" u="none" strike="noStrike" cap="none" dirty="0">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566A77CA-7A5D-BB0A-239E-81E70AC26B94}"/>
              </a:ext>
            </a:extLst>
          </p:cNvPr>
          <p:cNvGrpSpPr/>
          <p:nvPr/>
        </p:nvGrpSpPr>
        <p:grpSpPr>
          <a:xfrm>
            <a:off x="252729" y="2590748"/>
            <a:ext cx="2745559" cy="2035681"/>
            <a:chOff x="579300" y="4091838"/>
            <a:chExt cx="3754800" cy="2460222"/>
          </a:xfrm>
        </p:grpSpPr>
        <p:sp>
          <p:nvSpPr>
            <p:cNvPr id="7" name="Google Shape;900;p7">
              <a:extLst>
                <a:ext uri="{FF2B5EF4-FFF2-40B4-BE49-F238E27FC236}">
                  <a16:creationId xmlns:a16="http://schemas.microsoft.com/office/drawing/2014/main" id="{47109A43-C0A1-45C9-94D9-7E7FBE741603}"/>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dirty="0">
                  <a:solidFill>
                    <a:schemeClr val="tx1"/>
                  </a:solidFill>
                </a:rPr>
                <a:t>Sources and types of data that are required to train and validate AI models. </a:t>
              </a:r>
            </a:p>
            <a:p>
              <a:pPr marL="171450" indent="-171450">
                <a:buSzPts val="1000"/>
                <a:buFont typeface="Arial" panose="020B0604020202020204" pitchFamily="34" charset="0"/>
                <a:buChar char="•"/>
                <a:tabLst>
                  <a:tab pos="457200" algn="l"/>
                </a:tabLst>
              </a:pPr>
              <a:r>
                <a:rPr lang="en-US" sz="1200" dirty="0">
                  <a:solidFill>
                    <a:schemeClr val="tx1"/>
                  </a:solidFill>
                </a:rPr>
                <a:t>Transactional Data</a:t>
              </a:r>
            </a:p>
            <a:p>
              <a:pPr marL="171450" indent="-171450">
                <a:buSzPts val="1000"/>
                <a:buFont typeface="Arial" panose="020B0604020202020204" pitchFamily="34" charset="0"/>
                <a:buChar char="•"/>
                <a:tabLst>
                  <a:tab pos="457200" algn="l"/>
                </a:tabLst>
              </a:pPr>
              <a:r>
                <a:rPr lang="en-US" sz="1200" dirty="0">
                  <a:solidFill>
                    <a:schemeClr val="tx1"/>
                  </a:solidFill>
                </a:rPr>
                <a:t>Experience Data</a:t>
              </a:r>
            </a:p>
            <a:p>
              <a:pPr marL="171450" indent="-171450">
                <a:buSzPts val="1000"/>
                <a:buFont typeface="Arial" panose="020B0604020202020204" pitchFamily="34" charset="0"/>
                <a:buChar char="•"/>
                <a:tabLst>
                  <a:tab pos="457200" algn="l"/>
                </a:tabLst>
              </a:pPr>
              <a:r>
                <a:rPr lang="en-US" sz="1200" dirty="0">
                  <a:solidFill>
                    <a:schemeClr val="tx1"/>
                  </a:solidFill>
                </a:rPr>
                <a:t>Consumer Behavior Data</a:t>
              </a:r>
            </a:p>
            <a:p>
              <a:pPr marL="171450" indent="-171450">
                <a:buSzPts val="1000"/>
                <a:buFont typeface="Arial" panose="020B0604020202020204" pitchFamily="34" charset="0"/>
                <a:buChar char="•"/>
                <a:tabLst>
                  <a:tab pos="457200" algn="l"/>
                </a:tabLst>
              </a:pPr>
              <a:r>
                <a:rPr lang="en-US" sz="1200" dirty="0">
                  <a:solidFill>
                    <a:schemeClr val="tx1"/>
                  </a:solidFill>
                </a:rPr>
                <a:t>Socio-Economic Data</a:t>
              </a:r>
            </a:p>
            <a:p>
              <a:pPr marL="171450" indent="-171450">
                <a:buSzPts val="1000"/>
                <a:buFont typeface="Arial" panose="020B0604020202020204" pitchFamily="34" charset="0"/>
                <a:buChar char="•"/>
                <a:tabLst>
                  <a:tab pos="457200" algn="l"/>
                </a:tabLst>
              </a:pPr>
              <a:r>
                <a:rPr lang="en-US" sz="1200" dirty="0">
                  <a:solidFill>
                    <a:schemeClr val="tx1"/>
                  </a:solidFill>
                </a:rPr>
                <a:t>IoT Data</a:t>
              </a:r>
              <a:endParaRPr sz="1200" dirty="0">
                <a:solidFill>
                  <a:schemeClr val="tx1"/>
                </a:solidFill>
              </a:endParaRPr>
            </a:p>
          </p:txBody>
        </p:sp>
        <p:sp>
          <p:nvSpPr>
            <p:cNvPr id="8" name="Google Shape;900;p7">
              <a:extLst>
                <a:ext uri="{FF2B5EF4-FFF2-40B4-BE49-F238E27FC236}">
                  <a16:creationId xmlns:a16="http://schemas.microsoft.com/office/drawing/2014/main" id="{84F8DFE6-D107-4348-B18C-FAD5302B7D5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dirty="0">
                  <a:solidFill>
                    <a:schemeClr val="bg1"/>
                  </a:solidFill>
                  <a:latin typeface="Arial"/>
                  <a:ea typeface="Arial"/>
                  <a:cs typeface="Arial"/>
                  <a:sym typeface="Arial"/>
                </a:rPr>
                <a:t>Data Acquisition</a:t>
              </a:r>
              <a:endParaRPr sz="1200" b="0" i="0" u="none" strike="noStrike" cap="none" dirty="0">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C0B9EAEF-B5A4-D169-7C34-A1FE8E209801}"/>
              </a:ext>
            </a:extLst>
          </p:cNvPr>
          <p:cNvGrpSpPr/>
          <p:nvPr/>
        </p:nvGrpSpPr>
        <p:grpSpPr>
          <a:xfrm>
            <a:off x="3277139" y="2590748"/>
            <a:ext cx="2745559" cy="2035681"/>
            <a:chOff x="579300" y="4091838"/>
            <a:chExt cx="3754800" cy="2460222"/>
          </a:xfrm>
        </p:grpSpPr>
        <p:sp>
          <p:nvSpPr>
            <p:cNvPr id="10" name="Google Shape;900;p7">
              <a:extLst>
                <a:ext uri="{FF2B5EF4-FFF2-40B4-BE49-F238E27FC236}">
                  <a16:creationId xmlns:a16="http://schemas.microsoft.com/office/drawing/2014/main" id="{AE870748-7021-3C37-4171-1E67B26F5916}"/>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dirty="0">
                  <a:solidFill>
                    <a:schemeClr val="tx1"/>
                  </a:solidFill>
                </a:rPr>
                <a:t>Processes to clean, transform, and normalize the data. Ensure that the data is in a format that can be used by AI algorithms and that it is tagged and labeled correctly.</a:t>
              </a:r>
            </a:p>
          </p:txBody>
        </p:sp>
        <p:sp>
          <p:nvSpPr>
            <p:cNvPr id="11" name="Google Shape;900;p7">
              <a:extLst>
                <a:ext uri="{FF2B5EF4-FFF2-40B4-BE49-F238E27FC236}">
                  <a16:creationId xmlns:a16="http://schemas.microsoft.com/office/drawing/2014/main" id="{91A6B5A0-CD6C-FFCB-1580-63C92C35B4F7}"/>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dirty="0">
                  <a:solidFill>
                    <a:schemeClr val="bg1"/>
                  </a:solidFill>
                  <a:latin typeface="Arial"/>
                  <a:ea typeface="Arial"/>
                  <a:cs typeface="Arial"/>
                  <a:sym typeface="Arial"/>
                </a:rPr>
                <a:t>Data Preparation</a:t>
              </a:r>
            </a:p>
          </p:txBody>
        </p:sp>
      </p:grpSp>
      <p:grpSp>
        <p:nvGrpSpPr>
          <p:cNvPr id="12" name="Group 11">
            <a:extLst>
              <a:ext uri="{FF2B5EF4-FFF2-40B4-BE49-F238E27FC236}">
                <a16:creationId xmlns:a16="http://schemas.microsoft.com/office/drawing/2014/main" id="{5FB61E44-EF63-92BE-E51E-4710E5337BA8}"/>
              </a:ext>
            </a:extLst>
          </p:cNvPr>
          <p:cNvGrpSpPr/>
          <p:nvPr/>
        </p:nvGrpSpPr>
        <p:grpSpPr>
          <a:xfrm>
            <a:off x="6301549" y="2590748"/>
            <a:ext cx="2745559" cy="2035681"/>
            <a:chOff x="579300" y="4091838"/>
            <a:chExt cx="3754800" cy="2460222"/>
          </a:xfrm>
        </p:grpSpPr>
        <p:sp>
          <p:nvSpPr>
            <p:cNvPr id="13" name="Google Shape;900;p7">
              <a:extLst>
                <a:ext uri="{FF2B5EF4-FFF2-40B4-BE49-F238E27FC236}">
                  <a16:creationId xmlns:a16="http://schemas.microsoft.com/office/drawing/2014/main" id="{1DD42E9F-75D8-D19D-CD84-0D63502CAADF}"/>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Infrastructure required to store and manage large volumes of data, including the performance, scalability, and security requirements for data storage systems. Ensure that data storage is optimized for AI workloads, such as distributed file systems, and scalable storage solutions.</a:t>
              </a:r>
            </a:p>
          </p:txBody>
        </p:sp>
        <p:sp>
          <p:nvSpPr>
            <p:cNvPr id="14" name="Google Shape;900;p7">
              <a:extLst>
                <a:ext uri="{FF2B5EF4-FFF2-40B4-BE49-F238E27FC236}">
                  <a16:creationId xmlns:a16="http://schemas.microsoft.com/office/drawing/2014/main" id="{CA744515-5FC0-9E69-F47E-A6765045D40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ctr">
                <a:buSzPts val="1000"/>
              </a:pPr>
              <a:r>
                <a:rPr lang="en-US" sz="1200" dirty="0">
                  <a:solidFill>
                    <a:schemeClr val="bg1"/>
                  </a:solidFill>
                </a:rPr>
                <a:t>Data Storage</a:t>
              </a:r>
              <a:endParaRPr sz="1200" dirty="0">
                <a:solidFill>
                  <a:schemeClr val="bg1"/>
                </a:solidFill>
              </a:endParaRPr>
            </a:p>
          </p:txBody>
        </p:sp>
      </p:grpSp>
      <p:grpSp>
        <p:nvGrpSpPr>
          <p:cNvPr id="15" name="Group 14">
            <a:extLst>
              <a:ext uri="{FF2B5EF4-FFF2-40B4-BE49-F238E27FC236}">
                <a16:creationId xmlns:a16="http://schemas.microsoft.com/office/drawing/2014/main" id="{0DC91C9C-0B86-C14C-0B76-DA2FF8F1E791}"/>
              </a:ext>
            </a:extLst>
          </p:cNvPr>
          <p:cNvGrpSpPr/>
          <p:nvPr/>
        </p:nvGrpSpPr>
        <p:grpSpPr>
          <a:xfrm>
            <a:off x="9325958" y="2593058"/>
            <a:ext cx="2745559" cy="2033770"/>
            <a:chOff x="579300" y="4091838"/>
            <a:chExt cx="3754800" cy="2457912"/>
          </a:xfrm>
        </p:grpSpPr>
        <p:sp>
          <p:nvSpPr>
            <p:cNvPr id="16" name="Google Shape;900;p7">
              <a:extLst>
                <a:ext uri="{FF2B5EF4-FFF2-40B4-BE49-F238E27FC236}">
                  <a16:creationId xmlns:a16="http://schemas.microsoft.com/office/drawing/2014/main" id="{E1AFB32E-0BFD-2040-7171-825BC8C40196}"/>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Policies and procedures for managing data security, compliance, privacy, and ethical considerations, including adherence to relevant regulations and guidelines, such as GDPR and CCPA. Establish roles and responsibilities for data management, including data stewards and data custodians.</a:t>
              </a:r>
            </a:p>
          </p:txBody>
        </p:sp>
        <p:sp>
          <p:nvSpPr>
            <p:cNvPr id="17" name="Google Shape;900;p7">
              <a:extLst>
                <a:ext uri="{FF2B5EF4-FFF2-40B4-BE49-F238E27FC236}">
                  <a16:creationId xmlns:a16="http://schemas.microsoft.com/office/drawing/2014/main" id="{ECB6BBED-6723-92A0-438E-9C714895EDE1}"/>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dirty="0">
                  <a:solidFill>
                    <a:schemeClr val="bg1"/>
                  </a:solidFill>
                  <a:latin typeface="Arial"/>
                  <a:ea typeface="Arial"/>
                  <a:cs typeface="Arial"/>
                  <a:sym typeface="Arial"/>
                </a:rPr>
                <a:t>Data Governance</a:t>
              </a:r>
            </a:p>
          </p:txBody>
        </p:sp>
      </p:grpSp>
      <p:cxnSp>
        <p:nvCxnSpPr>
          <p:cNvPr id="18" name="Elbow Connector 17">
            <a:extLst>
              <a:ext uri="{FF2B5EF4-FFF2-40B4-BE49-F238E27FC236}">
                <a16:creationId xmlns:a16="http://schemas.microsoft.com/office/drawing/2014/main" id="{8D02A5A6-7C15-F300-DA8E-4282F85B409E}"/>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D1AC7867-B5C2-D1E0-911E-77091D78B91D}"/>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AD5B6E22-7CD8-59E6-0F70-CC778DE3E3B8}"/>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Database with solid fill">
            <a:extLst>
              <a:ext uri="{FF2B5EF4-FFF2-40B4-BE49-F238E27FC236}">
                <a16:creationId xmlns:a16="http://schemas.microsoft.com/office/drawing/2014/main" id="{C3A6D168-3602-2E93-2867-BA9225FFF1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28818" y="1456250"/>
            <a:ext cx="351779" cy="351779"/>
          </a:xfrm>
          <a:prstGeom prst="rect">
            <a:avLst/>
          </a:prstGeom>
        </p:spPr>
      </p:pic>
      <p:cxnSp>
        <p:nvCxnSpPr>
          <p:cNvPr id="22" name="Elbow Connector 21">
            <a:extLst>
              <a:ext uri="{FF2B5EF4-FFF2-40B4-BE49-F238E27FC236}">
                <a16:creationId xmlns:a16="http://schemas.microsoft.com/office/drawing/2014/main" id="{70ED8AF9-95F9-64D8-E6E2-0DEBB53E99E5}"/>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FC413613-D94C-BC91-F71C-47FA52511D9E}"/>
              </a:ext>
            </a:extLst>
          </p:cNvPr>
          <p:cNvPicPr>
            <a:picLocks noChangeAspect="1"/>
          </p:cNvPicPr>
          <p:nvPr/>
        </p:nvPicPr>
        <p:blipFill>
          <a:blip r:embed="rId4"/>
          <a:stretch>
            <a:fillRect/>
          </a:stretch>
        </p:blipFill>
        <p:spPr>
          <a:xfrm>
            <a:off x="9325958" y="4866396"/>
            <a:ext cx="2745558" cy="1530115"/>
          </a:xfrm>
          <a:prstGeom prst="rect">
            <a:avLst/>
          </a:prstGeom>
          <a:ln>
            <a:solidFill>
              <a:schemeClr val="tx1"/>
            </a:solidFill>
          </a:ln>
        </p:spPr>
      </p:pic>
      <p:pic>
        <p:nvPicPr>
          <p:cNvPr id="26" name="Picture 25">
            <a:extLst>
              <a:ext uri="{FF2B5EF4-FFF2-40B4-BE49-F238E27FC236}">
                <a16:creationId xmlns:a16="http://schemas.microsoft.com/office/drawing/2014/main" id="{BC34B895-3486-48D8-EE1E-2872DA4B3CE0}"/>
              </a:ext>
            </a:extLst>
          </p:cNvPr>
          <p:cNvPicPr>
            <a:picLocks noChangeAspect="1"/>
          </p:cNvPicPr>
          <p:nvPr/>
        </p:nvPicPr>
        <p:blipFill>
          <a:blip r:embed="rId5"/>
          <a:stretch>
            <a:fillRect/>
          </a:stretch>
        </p:blipFill>
        <p:spPr>
          <a:xfrm>
            <a:off x="252730" y="4906505"/>
            <a:ext cx="2745558" cy="1492151"/>
          </a:xfrm>
          <a:prstGeom prst="rect">
            <a:avLst/>
          </a:prstGeom>
          <a:ln>
            <a:solidFill>
              <a:schemeClr val="tx1"/>
            </a:solidFill>
          </a:ln>
        </p:spPr>
      </p:pic>
      <p:sp>
        <p:nvSpPr>
          <p:cNvPr id="28" name="TextBox 27">
            <a:extLst>
              <a:ext uri="{FF2B5EF4-FFF2-40B4-BE49-F238E27FC236}">
                <a16:creationId xmlns:a16="http://schemas.microsoft.com/office/drawing/2014/main" id="{B7EE5BA7-C908-8A05-DCB3-39C79FABC3CE}"/>
              </a:ext>
            </a:extLst>
          </p:cNvPr>
          <p:cNvSpPr txBox="1"/>
          <p:nvPr/>
        </p:nvSpPr>
        <p:spPr>
          <a:xfrm>
            <a:off x="3277138" y="4904360"/>
            <a:ext cx="1372781" cy="1492151"/>
          </a:xfrm>
          <a:prstGeom prst="rect">
            <a:avLst/>
          </a:prstGeom>
          <a:noFill/>
          <a:ln>
            <a:solidFill>
              <a:schemeClr val="tx1"/>
            </a:solidFill>
          </a:ln>
        </p:spPr>
        <p:txBody>
          <a:bodyPr wrap="square" rtlCol="0">
            <a:noAutofit/>
          </a:bodyPr>
          <a:lstStyle/>
          <a:p>
            <a:pPr algn="ctr"/>
            <a:r>
              <a:rPr lang="en-US" b="1" dirty="0">
                <a:solidFill>
                  <a:schemeClr val="tx1"/>
                </a:solidFill>
              </a:rPr>
              <a:t>Current</a:t>
            </a:r>
          </a:p>
        </p:txBody>
      </p:sp>
      <p:sp>
        <p:nvSpPr>
          <p:cNvPr id="29" name="TextBox 28">
            <a:extLst>
              <a:ext uri="{FF2B5EF4-FFF2-40B4-BE49-F238E27FC236}">
                <a16:creationId xmlns:a16="http://schemas.microsoft.com/office/drawing/2014/main" id="{4AC767FE-C979-1835-449F-5972066BB1BF}"/>
              </a:ext>
            </a:extLst>
          </p:cNvPr>
          <p:cNvSpPr txBox="1"/>
          <p:nvPr/>
        </p:nvSpPr>
        <p:spPr>
          <a:xfrm>
            <a:off x="4649918" y="4904360"/>
            <a:ext cx="1372781" cy="1492151"/>
          </a:xfrm>
          <a:prstGeom prst="rect">
            <a:avLst/>
          </a:prstGeom>
          <a:noFill/>
          <a:ln>
            <a:solidFill>
              <a:schemeClr val="tx1"/>
            </a:solidFill>
          </a:ln>
        </p:spPr>
        <p:txBody>
          <a:bodyPr wrap="square" rtlCol="0">
            <a:noAutofit/>
          </a:bodyPr>
          <a:lstStyle/>
          <a:p>
            <a:pPr algn="ctr"/>
            <a:r>
              <a:rPr lang="en-US" b="1" dirty="0">
                <a:solidFill>
                  <a:schemeClr val="tx1"/>
                </a:solidFill>
              </a:rPr>
              <a:t>Upcoming</a:t>
            </a:r>
          </a:p>
        </p:txBody>
      </p:sp>
      <p:pic>
        <p:nvPicPr>
          <p:cNvPr id="30" name="Picture 29">
            <a:extLst>
              <a:ext uri="{FF2B5EF4-FFF2-40B4-BE49-F238E27FC236}">
                <a16:creationId xmlns:a16="http://schemas.microsoft.com/office/drawing/2014/main" id="{A1DA5F91-A0A3-70DC-2073-0CF4C03EEFA0}"/>
              </a:ext>
            </a:extLst>
          </p:cNvPr>
          <p:cNvPicPr>
            <a:picLocks noChangeAspect="1"/>
          </p:cNvPicPr>
          <p:nvPr/>
        </p:nvPicPr>
        <p:blipFill>
          <a:blip r:embed="rId6"/>
          <a:stretch>
            <a:fillRect/>
          </a:stretch>
        </p:blipFill>
        <p:spPr>
          <a:xfrm>
            <a:off x="3400332" y="5215149"/>
            <a:ext cx="1009650" cy="361950"/>
          </a:xfrm>
          <a:prstGeom prst="rect">
            <a:avLst/>
          </a:prstGeom>
        </p:spPr>
      </p:pic>
      <p:pic>
        <p:nvPicPr>
          <p:cNvPr id="31" name="Picture 30">
            <a:extLst>
              <a:ext uri="{FF2B5EF4-FFF2-40B4-BE49-F238E27FC236}">
                <a16:creationId xmlns:a16="http://schemas.microsoft.com/office/drawing/2014/main" id="{D637B5DA-1410-5E87-D032-F66B6B76CA2B}"/>
              </a:ext>
            </a:extLst>
          </p:cNvPr>
          <p:cNvPicPr>
            <a:picLocks noChangeAspect="1"/>
          </p:cNvPicPr>
          <p:nvPr/>
        </p:nvPicPr>
        <p:blipFill>
          <a:blip r:embed="rId7"/>
          <a:stretch>
            <a:fillRect/>
          </a:stretch>
        </p:blipFill>
        <p:spPr>
          <a:xfrm>
            <a:off x="3325196" y="5789484"/>
            <a:ext cx="1125546" cy="488332"/>
          </a:xfrm>
          <a:prstGeom prst="rect">
            <a:avLst/>
          </a:prstGeom>
        </p:spPr>
      </p:pic>
      <p:pic>
        <p:nvPicPr>
          <p:cNvPr id="32" name="Picture 6" descr="Dataiku - Vivanti">
            <a:extLst>
              <a:ext uri="{FF2B5EF4-FFF2-40B4-BE49-F238E27FC236}">
                <a16:creationId xmlns:a16="http://schemas.microsoft.com/office/drawing/2014/main" id="{E9EE44EF-BD7B-AEB1-10A3-322531F9A5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4020" y="5215149"/>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Sitecore CDP Integration for Amazon Sagemaker | Sitecore Marketplace">
            <a:extLst>
              <a:ext uri="{FF2B5EF4-FFF2-40B4-BE49-F238E27FC236}">
                <a16:creationId xmlns:a16="http://schemas.microsoft.com/office/drawing/2014/main" id="{6DD2CDC3-2E58-5A33-8A3F-D1E084366BD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0597" y="5465723"/>
            <a:ext cx="1124345" cy="47897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2769D19E-500C-0DE5-2415-0A70B7572708}"/>
              </a:ext>
            </a:extLst>
          </p:cNvPr>
          <p:cNvPicPr>
            <a:picLocks noChangeAspect="1"/>
          </p:cNvPicPr>
          <p:nvPr/>
        </p:nvPicPr>
        <p:blipFill>
          <a:blip r:embed="rId6"/>
          <a:stretch>
            <a:fillRect/>
          </a:stretch>
        </p:blipFill>
        <p:spPr>
          <a:xfrm>
            <a:off x="4823079" y="5944694"/>
            <a:ext cx="1009650" cy="361950"/>
          </a:xfrm>
          <a:prstGeom prst="rect">
            <a:avLst/>
          </a:prstGeom>
        </p:spPr>
      </p:pic>
      <p:pic>
        <p:nvPicPr>
          <p:cNvPr id="35" name="Picture 34">
            <a:extLst>
              <a:ext uri="{FF2B5EF4-FFF2-40B4-BE49-F238E27FC236}">
                <a16:creationId xmlns:a16="http://schemas.microsoft.com/office/drawing/2014/main" id="{F2741789-8271-9824-DFD4-8570A242D876}"/>
              </a:ext>
            </a:extLst>
          </p:cNvPr>
          <p:cNvPicPr>
            <a:picLocks noChangeAspect="1"/>
          </p:cNvPicPr>
          <p:nvPr/>
        </p:nvPicPr>
        <p:blipFill>
          <a:blip r:embed="rId10"/>
          <a:stretch>
            <a:fillRect/>
          </a:stretch>
        </p:blipFill>
        <p:spPr>
          <a:xfrm>
            <a:off x="6301547" y="4904194"/>
            <a:ext cx="2745558" cy="1464221"/>
          </a:xfrm>
          <a:prstGeom prst="rect">
            <a:avLst/>
          </a:prstGeom>
          <a:ln>
            <a:solidFill>
              <a:schemeClr val="tx1"/>
            </a:solidFill>
          </a:ln>
        </p:spPr>
      </p:pic>
      <p:cxnSp>
        <p:nvCxnSpPr>
          <p:cNvPr id="37" name="Straight Connector 36">
            <a:extLst>
              <a:ext uri="{FF2B5EF4-FFF2-40B4-BE49-F238E27FC236}">
                <a16:creationId xmlns:a16="http://schemas.microsoft.com/office/drawing/2014/main" id="{29256B97-139D-4CC5-4159-6E075308DB61}"/>
              </a:ext>
            </a:extLst>
          </p:cNvPr>
          <p:cNvCxnSpPr>
            <a:cxnSpLocks/>
            <a:stCxn id="43" idx="1"/>
            <a:endCxn id="44" idx="3"/>
          </p:cNvCxnSpPr>
          <p:nvPr/>
        </p:nvCxnSpPr>
        <p:spPr>
          <a:xfrm>
            <a:off x="127002" y="41104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78256D2-9300-C802-B750-DC148D5E8BEB}"/>
              </a:ext>
            </a:extLst>
          </p:cNvPr>
          <p:cNvCxnSpPr>
            <a:cxnSpLocks/>
          </p:cNvCxnSpPr>
          <p:nvPr/>
        </p:nvCxnSpPr>
        <p:spPr>
          <a:xfrm flipH="1">
            <a:off x="127001" y="47625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34C0209-F5CF-CC51-999B-3C6D3B422607}"/>
              </a:ext>
            </a:extLst>
          </p:cNvPr>
          <p:cNvSpPr txBox="1"/>
          <p:nvPr/>
        </p:nvSpPr>
        <p:spPr>
          <a:xfrm rot="16200000">
            <a:off x="-336548" y="3493006"/>
            <a:ext cx="927099"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What</a:t>
            </a:r>
            <a:r>
              <a:rPr lang="en-US" b="1" dirty="0">
                <a:latin typeface="Arial Narrow" panose="020B0604020202020204" pitchFamily="34" charset="0"/>
                <a:cs typeface="Arial Narrow" panose="020B0604020202020204" pitchFamily="34" charset="0"/>
              </a:rPr>
              <a:t> is it</a:t>
            </a:r>
          </a:p>
        </p:txBody>
      </p:sp>
      <p:sp>
        <p:nvSpPr>
          <p:cNvPr id="44" name="TextBox 43">
            <a:extLst>
              <a:ext uri="{FF2B5EF4-FFF2-40B4-BE49-F238E27FC236}">
                <a16:creationId xmlns:a16="http://schemas.microsoft.com/office/drawing/2014/main" id="{D19D7BAB-A0AC-56E4-825F-D7476DC983EC}"/>
              </a:ext>
            </a:extLst>
          </p:cNvPr>
          <p:cNvSpPr txBox="1"/>
          <p:nvPr/>
        </p:nvSpPr>
        <p:spPr>
          <a:xfrm rot="16200000">
            <a:off x="-625616" y="5598054"/>
            <a:ext cx="1505236"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How @ BCBSMA</a:t>
            </a:r>
            <a:endParaRPr lang="en-US" b="1"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1374756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dirty="0"/>
              <a:t>Machine learning Strategy</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i="1" dirty="0">
                <a:solidFill>
                  <a:schemeClr val="tx1"/>
                </a:solidFill>
              </a:rPr>
              <a:t>Plan to develop, deploy, and maintain machine learning based models and applications</a:t>
            </a:r>
          </a:p>
          <a:p>
            <a:endParaRPr lang="en-US" sz="1400" i="1" dirty="0"/>
          </a:p>
        </p:txBody>
      </p:sp>
      <p:sp>
        <p:nvSpPr>
          <p:cNvPr id="5" name="Google Shape;903;p7">
            <a:extLst>
              <a:ext uri="{FF2B5EF4-FFF2-40B4-BE49-F238E27FC236}">
                <a16:creationId xmlns:a16="http://schemas.microsoft.com/office/drawing/2014/main" id="{AF16B306-2EC1-F3AA-19FC-92B734343550}"/>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chemeClr val="bg1"/>
                </a:solidFill>
                <a:latin typeface="Arial"/>
                <a:ea typeface="Arial"/>
                <a:cs typeface="Arial"/>
                <a:sym typeface="Arial"/>
              </a:rPr>
              <a:t>Machine Learning Strategy</a:t>
            </a:r>
            <a:endParaRPr sz="1600" b="1" i="0" u="none" strike="noStrike" cap="none" dirty="0">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5582A9F2-A4C1-A888-7077-350FE32EF9CD}"/>
              </a:ext>
            </a:extLst>
          </p:cNvPr>
          <p:cNvGrpSpPr/>
          <p:nvPr/>
        </p:nvGrpSpPr>
        <p:grpSpPr>
          <a:xfrm>
            <a:off x="252729" y="2590748"/>
            <a:ext cx="2745559" cy="2068338"/>
            <a:chOff x="579300" y="4091838"/>
            <a:chExt cx="3754800" cy="2460222"/>
          </a:xfrm>
        </p:grpSpPr>
        <p:sp>
          <p:nvSpPr>
            <p:cNvPr id="7" name="Google Shape;900;p7">
              <a:extLst>
                <a:ext uri="{FF2B5EF4-FFF2-40B4-BE49-F238E27FC236}">
                  <a16:creationId xmlns:a16="http://schemas.microsoft.com/office/drawing/2014/main" id="{8D190FBD-F4E3-D92F-D868-5E624FDB7326}"/>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dirty="0">
                  <a:solidFill>
                    <a:schemeClr val="tx1"/>
                  </a:solidFill>
                </a:rPr>
                <a:t>Choosing the right algorithms and techniques that are best suited to the specific business problem and data. Consider the trade-offs between accuracy, interpretability, and computational complexity.</a:t>
              </a:r>
              <a:endParaRPr sz="1200" dirty="0">
                <a:solidFill>
                  <a:schemeClr val="tx1"/>
                </a:solidFill>
              </a:endParaRPr>
            </a:p>
          </p:txBody>
        </p:sp>
        <p:sp>
          <p:nvSpPr>
            <p:cNvPr id="8" name="Google Shape;900;p7">
              <a:extLst>
                <a:ext uri="{FF2B5EF4-FFF2-40B4-BE49-F238E27FC236}">
                  <a16:creationId xmlns:a16="http://schemas.microsoft.com/office/drawing/2014/main" id="{69CA2D3F-05C8-4355-D208-082E0A2039D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Algorithm Selection</a:t>
              </a:r>
              <a:endParaRPr sz="1400" b="0" i="0" u="none" strike="noStrike" cap="none" dirty="0">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CA435499-7A95-ABB6-211F-0ECFCC21C5F6}"/>
              </a:ext>
            </a:extLst>
          </p:cNvPr>
          <p:cNvGrpSpPr/>
          <p:nvPr/>
        </p:nvGrpSpPr>
        <p:grpSpPr>
          <a:xfrm>
            <a:off x="3277139" y="2590748"/>
            <a:ext cx="2745559" cy="2068338"/>
            <a:chOff x="579300" y="4091838"/>
            <a:chExt cx="3754800" cy="2460222"/>
          </a:xfrm>
        </p:grpSpPr>
        <p:sp>
          <p:nvSpPr>
            <p:cNvPr id="10" name="Google Shape;900;p7">
              <a:extLst>
                <a:ext uri="{FF2B5EF4-FFF2-40B4-BE49-F238E27FC236}">
                  <a16:creationId xmlns:a16="http://schemas.microsoft.com/office/drawing/2014/main" id="{FDF3AA27-DA3D-0F5B-CAF5-4A53CC3DFF35}"/>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dirty="0">
                  <a:solidFill>
                    <a:schemeClr val="tx1"/>
                  </a:solidFill>
                </a:rPr>
                <a:t>Develop, train, and validate machine learning models using the selected algorithms and techniques. Use a combination of cross-validation, hyperparameter tuning, and other techniques to ensure that your models are accurate and robust.</a:t>
              </a:r>
            </a:p>
          </p:txBody>
        </p:sp>
        <p:sp>
          <p:nvSpPr>
            <p:cNvPr id="11" name="Google Shape;900;p7">
              <a:extLst>
                <a:ext uri="{FF2B5EF4-FFF2-40B4-BE49-F238E27FC236}">
                  <a16:creationId xmlns:a16="http://schemas.microsoft.com/office/drawing/2014/main" id="{4F44BF7E-A760-EE40-E055-B516D94612B0}"/>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Model Development</a:t>
              </a:r>
              <a:endParaRPr sz="1400" b="0" i="0" u="none" strike="noStrike" cap="none" dirty="0">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067CCA5F-F1E6-10CD-25A6-43B10D5B143E}"/>
              </a:ext>
            </a:extLst>
          </p:cNvPr>
          <p:cNvGrpSpPr/>
          <p:nvPr/>
        </p:nvGrpSpPr>
        <p:grpSpPr>
          <a:xfrm>
            <a:off x="6301549" y="2590748"/>
            <a:ext cx="2745559" cy="2068338"/>
            <a:chOff x="579300" y="4091838"/>
            <a:chExt cx="3754800" cy="2460222"/>
          </a:xfrm>
        </p:grpSpPr>
        <p:sp>
          <p:nvSpPr>
            <p:cNvPr id="13" name="Google Shape;900;p7">
              <a:extLst>
                <a:ext uri="{FF2B5EF4-FFF2-40B4-BE49-F238E27FC236}">
                  <a16:creationId xmlns:a16="http://schemas.microsoft.com/office/drawing/2014/main" id="{3BEDA07F-BD04-E1EC-A10D-5988848FF8E2}"/>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Deploy machine learning models into production systems and applications. Integrate the models with other systems and data sources and ensure that they are scalable and reliable.</a:t>
              </a:r>
            </a:p>
          </p:txBody>
        </p:sp>
        <p:sp>
          <p:nvSpPr>
            <p:cNvPr id="14" name="Google Shape;900;p7">
              <a:extLst>
                <a:ext uri="{FF2B5EF4-FFF2-40B4-BE49-F238E27FC236}">
                  <a16:creationId xmlns:a16="http://schemas.microsoft.com/office/drawing/2014/main" id="{FD2B2571-2A1A-194B-EFC0-03F593D49FD3}"/>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Model Deployment</a:t>
              </a:r>
              <a:endParaRPr sz="1400" b="0" i="0" u="none" strike="noStrike" cap="none" dirty="0">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D88BF9AA-712F-F0A2-0ABE-E4180855FCAD}"/>
              </a:ext>
            </a:extLst>
          </p:cNvPr>
          <p:cNvGrpSpPr/>
          <p:nvPr/>
        </p:nvGrpSpPr>
        <p:grpSpPr>
          <a:xfrm>
            <a:off x="9325958" y="2593058"/>
            <a:ext cx="2745559" cy="2066396"/>
            <a:chOff x="579300" y="4091838"/>
            <a:chExt cx="3754800" cy="2457912"/>
          </a:xfrm>
        </p:grpSpPr>
        <p:sp>
          <p:nvSpPr>
            <p:cNvPr id="16" name="Google Shape;900;p7">
              <a:extLst>
                <a:ext uri="{FF2B5EF4-FFF2-40B4-BE49-F238E27FC236}">
                  <a16:creationId xmlns:a16="http://schemas.microsoft.com/office/drawing/2014/main" id="{C56A974D-D14B-CBF2-8C5F-C83D9A11F31B}"/>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Policies and procedures for ensuring that machine learning models are developed and used ethically and responsibly. Ensure that we adhere to relevant regulations and guidelines. Establish roles and responsibilities for model governance and ethical considerations.</a:t>
              </a:r>
            </a:p>
          </p:txBody>
        </p:sp>
        <p:sp>
          <p:nvSpPr>
            <p:cNvPr id="17" name="Google Shape;900;p7">
              <a:extLst>
                <a:ext uri="{FF2B5EF4-FFF2-40B4-BE49-F238E27FC236}">
                  <a16:creationId xmlns:a16="http://schemas.microsoft.com/office/drawing/2014/main" id="{91799E04-4579-2EB6-DB87-EF7345B5609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Model Ethics</a:t>
              </a:r>
            </a:p>
          </p:txBody>
        </p:sp>
      </p:grpSp>
      <p:cxnSp>
        <p:nvCxnSpPr>
          <p:cNvPr id="18" name="Elbow Connector 17">
            <a:extLst>
              <a:ext uri="{FF2B5EF4-FFF2-40B4-BE49-F238E27FC236}">
                <a16:creationId xmlns:a16="http://schemas.microsoft.com/office/drawing/2014/main" id="{9AD70626-AC94-B328-F31D-4729987C0ED2}"/>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1F350F19-1DFE-EDA2-F0D3-CA1C7460BA87}"/>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FAF6F9E8-1C15-7EB6-FB99-3925FD5D7BFC}"/>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30D9F0D6-6F6E-5A71-4323-DAE70CCA1BE0}"/>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Robot with solid fill">
            <a:extLst>
              <a:ext uri="{FF2B5EF4-FFF2-40B4-BE49-F238E27FC236}">
                <a16:creationId xmlns:a16="http://schemas.microsoft.com/office/drawing/2014/main" id="{9C57A150-66C0-0E59-5916-4EA455EBC6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19930" y="1457943"/>
            <a:ext cx="360667" cy="360667"/>
          </a:xfrm>
          <a:prstGeom prst="rect">
            <a:avLst/>
          </a:prstGeom>
        </p:spPr>
      </p:pic>
      <p:sp>
        <p:nvSpPr>
          <p:cNvPr id="24" name="TextBox 23">
            <a:extLst>
              <a:ext uri="{FF2B5EF4-FFF2-40B4-BE49-F238E27FC236}">
                <a16:creationId xmlns:a16="http://schemas.microsoft.com/office/drawing/2014/main" id="{64C833D9-46CA-67DD-793D-A67C53627237}"/>
              </a:ext>
            </a:extLst>
          </p:cNvPr>
          <p:cNvSpPr txBox="1"/>
          <p:nvPr/>
        </p:nvSpPr>
        <p:spPr>
          <a:xfrm>
            <a:off x="252729" y="4981801"/>
            <a:ext cx="1372781" cy="1492151"/>
          </a:xfrm>
          <a:prstGeom prst="rect">
            <a:avLst/>
          </a:prstGeom>
          <a:noFill/>
          <a:ln>
            <a:solidFill>
              <a:schemeClr val="tx1"/>
            </a:solidFill>
          </a:ln>
        </p:spPr>
        <p:txBody>
          <a:bodyPr wrap="square" rtlCol="0">
            <a:noAutofit/>
          </a:bodyPr>
          <a:lstStyle/>
          <a:p>
            <a:pPr algn="ctr"/>
            <a:r>
              <a:rPr lang="en-US" b="1" dirty="0">
                <a:solidFill>
                  <a:schemeClr val="tx1"/>
                </a:solidFill>
              </a:rPr>
              <a:t>Current</a:t>
            </a:r>
          </a:p>
        </p:txBody>
      </p:sp>
      <p:sp>
        <p:nvSpPr>
          <p:cNvPr id="25" name="TextBox 24">
            <a:extLst>
              <a:ext uri="{FF2B5EF4-FFF2-40B4-BE49-F238E27FC236}">
                <a16:creationId xmlns:a16="http://schemas.microsoft.com/office/drawing/2014/main" id="{6F68C244-CBB2-4218-CEA2-C4D7238D41F2}"/>
              </a:ext>
            </a:extLst>
          </p:cNvPr>
          <p:cNvSpPr txBox="1"/>
          <p:nvPr/>
        </p:nvSpPr>
        <p:spPr>
          <a:xfrm>
            <a:off x="1625509" y="4981801"/>
            <a:ext cx="1372781" cy="1492151"/>
          </a:xfrm>
          <a:prstGeom prst="rect">
            <a:avLst/>
          </a:prstGeom>
          <a:noFill/>
          <a:ln>
            <a:solidFill>
              <a:schemeClr val="tx1"/>
            </a:solidFill>
          </a:ln>
        </p:spPr>
        <p:txBody>
          <a:bodyPr wrap="square" rtlCol="0">
            <a:noAutofit/>
          </a:bodyPr>
          <a:lstStyle/>
          <a:p>
            <a:pPr algn="ctr"/>
            <a:r>
              <a:rPr lang="en-US" b="1" dirty="0">
                <a:solidFill>
                  <a:schemeClr val="tx1"/>
                </a:solidFill>
              </a:rPr>
              <a:t>Upcoming</a:t>
            </a:r>
          </a:p>
        </p:txBody>
      </p:sp>
      <p:pic>
        <p:nvPicPr>
          <p:cNvPr id="26" name="Picture 25">
            <a:extLst>
              <a:ext uri="{FF2B5EF4-FFF2-40B4-BE49-F238E27FC236}">
                <a16:creationId xmlns:a16="http://schemas.microsoft.com/office/drawing/2014/main" id="{55D8F2B4-B723-3682-55A9-0C83AC2A9B5C}"/>
              </a:ext>
            </a:extLst>
          </p:cNvPr>
          <p:cNvPicPr>
            <a:picLocks noChangeAspect="1"/>
          </p:cNvPicPr>
          <p:nvPr/>
        </p:nvPicPr>
        <p:blipFill>
          <a:blip r:embed="rId4"/>
          <a:stretch>
            <a:fillRect/>
          </a:stretch>
        </p:blipFill>
        <p:spPr>
          <a:xfrm>
            <a:off x="375923" y="5292590"/>
            <a:ext cx="1009650" cy="361950"/>
          </a:xfrm>
          <a:prstGeom prst="rect">
            <a:avLst/>
          </a:prstGeom>
        </p:spPr>
      </p:pic>
      <p:pic>
        <p:nvPicPr>
          <p:cNvPr id="27" name="Picture 26">
            <a:extLst>
              <a:ext uri="{FF2B5EF4-FFF2-40B4-BE49-F238E27FC236}">
                <a16:creationId xmlns:a16="http://schemas.microsoft.com/office/drawing/2014/main" id="{3FBA18B7-7C1D-5BD6-EE64-9AA9F3E03661}"/>
              </a:ext>
            </a:extLst>
          </p:cNvPr>
          <p:cNvPicPr>
            <a:picLocks noChangeAspect="1"/>
          </p:cNvPicPr>
          <p:nvPr/>
        </p:nvPicPr>
        <p:blipFill>
          <a:blip r:embed="rId5"/>
          <a:stretch>
            <a:fillRect/>
          </a:stretch>
        </p:blipFill>
        <p:spPr>
          <a:xfrm>
            <a:off x="300787" y="5866925"/>
            <a:ext cx="1125546" cy="488332"/>
          </a:xfrm>
          <a:prstGeom prst="rect">
            <a:avLst/>
          </a:prstGeom>
        </p:spPr>
      </p:pic>
      <p:pic>
        <p:nvPicPr>
          <p:cNvPr id="28" name="Picture 6" descr="Dataiku - Vivanti">
            <a:extLst>
              <a:ext uri="{FF2B5EF4-FFF2-40B4-BE49-F238E27FC236}">
                <a16:creationId xmlns:a16="http://schemas.microsoft.com/office/drawing/2014/main" id="{F8CF4A49-EDAB-0C51-1AE5-B58E6B1373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9611" y="5292590"/>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itecore CDP Integration for Amazon Sagemaker | Sitecore Marketplace">
            <a:extLst>
              <a:ext uri="{FF2B5EF4-FFF2-40B4-BE49-F238E27FC236}">
                <a16:creationId xmlns:a16="http://schemas.microsoft.com/office/drawing/2014/main" id="{B90CE94D-84C1-2C26-4FAE-200C73ED33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6188" y="5543164"/>
            <a:ext cx="1124345" cy="47897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90C964A6-3A71-6750-D690-C0D1B3C6F57B}"/>
              </a:ext>
            </a:extLst>
          </p:cNvPr>
          <p:cNvPicPr>
            <a:picLocks noChangeAspect="1"/>
          </p:cNvPicPr>
          <p:nvPr/>
        </p:nvPicPr>
        <p:blipFill>
          <a:blip r:embed="rId4"/>
          <a:stretch>
            <a:fillRect/>
          </a:stretch>
        </p:blipFill>
        <p:spPr>
          <a:xfrm>
            <a:off x="1798670" y="6022135"/>
            <a:ext cx="1009650" cy="361950"/>
          </a:xfrm>
          <a:prstGeom prst="rect">
            <a:avLst/>
          </a:prstGeom>
        </p:spPr>
      </p:pic>
      <p:sp>
        <p:nvSpPr>
          <p:cNvPr id="38" name="TextBox 37">
            <a:extLst>
              <a:ext uri="{FF2B5EF4-FFF2-40B4-BE49-F238E27FC236}">
                <a16:creationId xmlns:a16="http://schemas.microsoft.com/office/drawing/2014/main" id="{F98DA391-5EC9-DD1A-F6A1-B8A081978443}"/>
              </a:ext>
            </a:extLst>
          </p:cNvPr>
          <p:cNvSpPr txBox="1"/>
          <p:nvPr/>
        </p:nvSpPr>
        <p:spPr>
          <a:xfrm>
            <a:off x="3277138" y="4981801"/>
            <a:ext cx="1372781" cy="1492151"/>
          </a:xfrm>
          <a:prstGeom prst="rect">
            <a:avLst/>
          </a:prstGeom>
          <a:noFill/>
          <a:ln>
            <a:solidFill>
              <a:schemeClr val="tx1"/>
            </a:solidFill>
          </a:ln>
        </p:spPr>
        <p:txBody>
          <a:bodyPr wrap="square" rtlCol="0">
            <a:noAutofit/>
          </a:bodyPr>
          <a:lstStyle/>
          <a:p>
            <a:pPr algn="ctr"/>
            <a:r>
              <a:rPr lang="en-US" b="1" dirty="0">
                <a:solidFill>
                  <a:schemeClr val="tx1"/>
                </a:solidFill>
              </a:rPr>
              <a:t>Current</a:t>
            </a:r>
          </a:p>
        </p:txBody>
      </p:sp>
      <p:sp>
        <p:nvSpPr>
          <p:cNvPr id="39" name="TextBox 38">
            <a:extLst>
              <a:ext uri="{FF2B5EF4-FFF2-40B4-BE49-F238E27FC236}">
                <a16:creationId xmlns:a16="http://schemas.microsoft.com/office/drawing/2014/main" id="{3518F2F9-DEAB-7A50-D404-E05781FDC4DB}"/>
              </a:ext>
            </a:extLst>
          </p:cNvPr>
          <p:cNvSpPr txBox="1"/>
          <p:nvPr/>
        </p:nvSpPr>
        <p:spPr>
          <a:xfrm>
            <a:off x="4649918" y="4981801"/>
            <a:ext cx="1372781" cy="1492151"/>
          </a:xfrm>
          <a:prstGeom prst="rect">
            <a:avLst/>
          </a:prstGeom>
          <a:noFill/>
          <a:ln>
            <a:solidFill>
              <a:schemeClr val="tx1"/>
            </a:solidFill>
          </a:ln>
        </p:spPr>
        <p:txBody>
          <a:bodyPr wrap="square" rtlCol="0">
            <a:noAutofit/>
          </a:bodyPr>
          <a:lstStyle/>
          <a:p>
            <a:pPr algn="ctr"/>
            <a:r>
              <a:rPr lang="en-US" b="1" dirty="0">
                <a:solidFill>
                  <a:schemeClr val="tx1"/>
                </a:solidFill>
              </a:rPr>
              <a:t>Upcoming</a:t>
            </a:r>
          </a:p>
        </p:txBody>
      </p:sp>
      <p:pic>
        <p:nvPicPr>
          <p:cNvPr id="40" name="Picture 39">
            <a:extLst>
              <a:ext uri="{FF2B5EF4-FFF2-40B4-BE49-F238E27FC236}">
                <a16:creationId xmlns:a16="http://schemas.microsoft.com/office/drawing/2014/main" id="{666FAFEE-8DEB-B0D8-5901-59F86BBD55F6}"/>
              </a:ext>
            </a:extLst>
          </p:cNvPr>
          <p:cNvPicPr>
            <a:picLocks noChangeAspect="1"/>
          </p:cNvPicPr>
          <p:nvPr/>
        </p:nvPicPr>
        <p:blipFill>
          <a:blip r:embed="rId4"/>
          <a:stretch>
            <a:fillRect/>
          </a:stretch>
        </p:blipFill>
        <p:spPr>
          <a:xfrm>
            <a:off x="3400332" y="5292590"/>
            <a:ext cx="1009650" cy="361950"/>
          </a:xfrm>
          <a:prstGeom prst="rect">
            <a:avLst/>
          </a:prstGeom>
        </p:spPr>
      </p:pic>
      <p:pic>
        <p:nvPicPr>
          <p:cNvPr id="41" name="Picture 40">
            <a:extLst>
              <a:ext uri="{FF2B5EF4-FFF2-40B4-BE49-F238E27FC236}">
                <a16:creationId xmlns:a16="http://schemas.microsoft.com/office/drawing/2014/main" id="{4D83422D-3902-2B37-398F-DB1544EA6A79}"/>
              </a:ext>
            </a:extLst>
          </p:cNvPr>
          <p:cNvPicPr>
            <a:picLocks noChangeAspect="1"/>
          </p:cNvPicPr>
          <p:nvPr/>
        </p:nvPicPr>
        <p:blipFill>
          <a:blip r:embed="rId5"/>
          <a:stretch>
            <a:fillRect/>
          </a:stretch>
        </p:blipFill>
        <p:spPr>
          <a:xfrm>
            <a:off x="3325196" y="5866925"/>
            <a:ext cx="1125546" cy="488332"/>
          </a:xfrm>
          <a:prstGeom prst="rect">
            <a:avLst/>
          </a:prstGeom>
        </p:spPr>
      </p:pic>
      <p:pic>
        <p:nvPicPr>
          <p:cNvPr id="42" name="Picture 6" descr="Dataiku - Vivanti">
            <a:extLst>
              <a:ext uri="{FF2B5EF4-FFF2-40B4-BE49-F238E27FC236}">
                <a16:creationId xmlns:a16="http://schemas.microsoft.com/office/drawing/2014/main" id="{75DF8816-9086-AB46-559E-DD99229137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4020" y="5292590"/>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Sitecore CDP Integration for Amazon Sagemaker | Sitecore Marketplace">
            <a:extLst>
              <a:ext uri="{FF2B5EF4-FFF2-40B4-BE49-F238E27FC236}">
                <a16:creationId xmlns:a16="http://schemas.microsoft.com/office/drawing/2014/main" id="{4CA22D56-7F43-9807-8828-C11301D980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0597" y="5543164"/>
            <a:ext cx="1124345" cy="47897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18472042-081D-A6A2-DE71-EFB83F73B12B}"/>
              </a:ext>
            </a:extLst>
          </p:cNvPr>
          <p:cNvPicPr>
            <a:picLocks noChangeAspect="1"/>
          </p:cNvPicPr>
          <p:nvPr/>
        </p:nvPicPr>
        <p:blipFill>
          <a:blip r:embed="rId4"/>
          <a:stretch>
            <a:fillRect/>
          </a:stretch>
        </p:blipFill>
        <p:spPr>
          <a:xfrm>
            <a:off x="4823079" y="6022135"/>
            <a:ext cx="1009650" cy="361950"/>
          </a:xfrm>
          <a:prstGeom prst="rect">
            <a:avLst/>
          </a:prstGeom>
        </p:spPr>
      </p:pic>
      <p:sp>
        <p:nvSpPr>
          <p:cNvPr id="46" name="TextBox 45">
            <a:extLst>
              <a:ext uri="{FF2B5EF4-FFF2-40B4-BE49-F238E27FC236}">
                <a16:creationId xmlns:a16="http://schemas.microsoft.com/office/drawing/2014/main" id="{66E6A629-913F-23A1-FBFF-596193313BAA}"/>
              </a:ext>
            </a:extLst>
          </p:cNvPr>
          <p:cNvSpPr txBox="1"/>
          <p:nvPr/>
        </p:nvSpPr>
        <p:spPr>
          <a:xfrm>
            <a:off x="9325958" y="4985565"/>
            <a:ext cx="1372781" cy="1492151"/>
          </a:xfrm>
          <a:prstGeom prst="rect">
            <a:avLst/>
          </a:prstGeom>
          <a:noFill/>
          <a:ln>
            <a:solidFill>
              <a:schemeClr val="tx1"/>
            </a:solidFill>
          </a:ln>
        </p:spPr>
        <p:txBody>
          <a:bodyPr wrap="square" rtlCol="0">
            <a:noAutofit/>
          </a:bodyPr>
          <a:lstStyle/>
          <a:p>
            <a:pPr algn="ctr"/>
            <a:r>
              <a:rPr lang="en-US" sz="1200" b="1" dirty="0">
                <a:solidFill>
                  <a:schemeClr val="tx1"/>
                </a:solidFill>
              </a:rPr>
              <a:t>Current / Upcoming</a:t>
            </a:r>
          </a:p>
        </p:txBody>
      </p:sp>
      <p:sp>
        <p:nvSpPr>
          <p:cNvPr id="47" name="TextBox 46">
            <a:extLst>
              <a:ext uri="{FF2B5EF4-FFF2-40B4-BE49-F238E27FC236}">
                <a16:creationId xmlns:a16="http://schemas.microsoft.com/office/drawing/2014/main" id="{90AC9636-6FA5-650D-165F-38939026CCF0}"/>
              </a:ext>
            </a:extLst>
          </p:cNvPr>
          <p:cNvSpPr txBox="1"/>
          <p:nvPr/>
        </p:nvSpPr>
        <p:spPr>
          <a:xfrm>
            <a:off x="10698738" y="4985565"/>
            <a:ext cx="1372781" cy="1492151"/>
          </a:xfrm>
          <a:prstGeom prst="rect">
            <a:avLst/>
          </a:prstGeom>
          <a:noFill/>
          <a:ln>
            <a:solidFill>
              <a:schemeClr val="tx1"/>
            </a:solidFill>
          </a:ln>
        </p:spPr>
        <p:txBody>
          <a:bodyPr wrap="square" rtlCol="0">
            <a:noAutofit/>
          </a:bodyPr>
          <a:lstStyle/>
          <a:p>
            <a:pPr algn="ctr"/>
            <a:r>
              <a:rPr lang="en-US" b="1" dirty="0">
                <a:solidFill>
                  <a:schemeClr val="tx1"/>
                </a:solidFill>
              </a:rPr>
              <a:t>Future</a:t>
            </a:r>
          </a:p>
        </p:txBody>
      </p:sp>
      <p:pic>
        <p:nvPicPr>
          <p:cNvPr id="48" name="Picture 6" descr="Dataiku - Vivanti">
            <a:extLst>
              <a:ext uri="{FF2B5EF4-FFF2-40B4-BE49-F238E27FC236}">
                <a16:creationId xmlns:a16="http://schemas.microsoft.com/office/drawing/2014/main" id="{F20731E9-36C0-8916-EE7B-78D720FBF7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67103" y="5820334"/>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Sitecore CDP Integration for Amazon Sagemaker | Sitecore Marketplace">
            <a:extLst>
              <a:ext uri="{FF2B5EF4-FFF2-40B4-BE49-F238E27FC236}">
                <a16:creationId xmlns:a16="http://schemas.microsoft.com/office/drawing/2014/main" id="{8F4D35C5-1ED3-7A51-5823-720210E53A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3680" y="6070908"/>
            <a:ext cx="1124345" cy="47897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C7D422A3-71C9-647E-47E1-974728B4978D}"/>
              </a:ext>
            </a:extLst>
          </p:cNvPr>
          <p:cNvPicPr>
            <a:picLocks noChangeAspect="1"/>
          </p:cNvPicPr>
          <p:nvPr/>
        </p:nvPicPr>
        <p:blipFill>
          <a:blip r:embed="rId4"/>
          <a:stretch>
            <a:fillRect/>
          </a:stretch>
        </p:blipFill>
        <p:spPr>
          <a:xfrm>
            <a:off x="9507523" y="5448473"/>
            <a:ext cx="1009650" cy="361950"/>
          </a:xfrm>
          <a:prstGeom prst="rect">
            <a:avLst/>
          </a:prstGeom>
        </p:spPr>
      </p:pic>
      <p:pic>
        <p:nvPicPr>
          <p:cNvPr id="51" name="Picture 50">
            <a:extLst>
              <a:ext uri="{FF2B5EF4-FFF2-40B4-BE49-F238E27FC236}">
                <a16:creationId xmlns:a16="http://schemas.microsoft.com/office/drawing/2014/main" id="{D31FE8EE-19EA-6BF4-8019-EB3AF60493E0}"/>
              </a:ext>
            </a:extLst>
          </p:cNvPr>
          <p:cNvPicPr>
            <a:picLocks noChangeAspect="1"/>
          </p:cNvPicPr>
          <p:nvPr/>
        </p:nvPicPr>
        <p:blipFill>
          <a:blip r:embed="rId8"/>
          <a:stretch>
            <a:fillRect/>
          </a:stretch>
        </p:blipFill>
        <p:spPr>
          <a:xfrm>
            <a:off x="10737650" y="5312317"/>
            <a:ext cx="308001" cy="342223"/>
          </a:xfrm>
          <a:prstGeom prst="rect">
            <a:avLst/>
          </a:prstGeom>
        </p:spPr>
      </p:pic>
      <p:pic>
        <p:nvPicPr>
          <p:cNvPr id="52" name="Picture 51">
            <a:extLst>
              <a:ext uri="{FF2B5EF4-FFF2-40B4-BE49-F238E27FC236}">
                <a16:creationId xmlns:a16="http://schemas.microsoft.com/office/drawing/2014/main" id="{EAEFDCA5-90FC-E506-42F3-6E19872C09D8}"/>
              </a:ext>
            </a:extLst>
          </p:cNvPr>
          <p:cNvPicPr>
            <a:picLocks noChangeAspect="1"/>
          </p:cNvPicPr>
          <p:nvPr/>
        </p:nvPicPr>
        <p:blipFill>
          <a:blip r:embed="rId9"/>
          <a:stretch>
            <a:fillRect/>
          </a:stretch>
        </p:blipFill>
        <p:spPr>
          <a:xfrm>
            <a:off x="11084562" y="5387840"/>
            <a:ext cx="939800" cy="171450"/>
          </a:xfrm>
          <a:prstGeom prst="rect">
            <a:avLst/>
          </a:prstGeom>
        </p:spPr>
      </p:pic>
      <p:pic>
        <p:nvPicPr>
          <p:cNvPr id="53" name="Picture 52">
            <a:extLst>
              <a:ext uri="{FF2B5EF4-FFF2-40B4-BE49-F238E27FC236}">
                <a16:creationId xmlns:a16="http://schemas.microsoft.com/office/drawing/2014/main" id="{B9D0D843-1E99-75C0-4F0F-9D77279EB7B2}"/>
              </a:ext>
            </a:extLst>
          </p:cNvPr>
          <p:cNvPicPr>
            <a:picLocks noChangeAspect="1"/>
          </p:cNvPicPr>
          <p:nvPr/>
        </p:nvPicPr>
        <p:blipFill>
          <a:blip r:embed="rId10"/>
          <a:stretch>
            <a:fillRect/>
          </a:stretch>
        </p:blipFill>
        <p:spPr>
          <a:xfrm>
            <a:off x="11333863" y="5810423"/>
            <a:ext cx="684251" cy="181536"/>
          </a:xfrm>
          <a:prstGeom prst="rect">
            <a:avLst/>
          </a:prstGeom>
        </p:spPr>
      </p:pic>
      <p:pic>
        <p:nvPicPr>
          <p:cNvPr id="54" name="Picture 53">
            <a:extLst>
              <a:ext uri="{FF2B5EF4-FFF2-40B4-BE49-F238E27FC236}">
                <a16:creationId xmlns:a16="http://schemas.microsoft.com/office/drawing/2014/main" id="{723AAFD1-C87B-A980-18A7-BA9E02A0A758}"/>
              </a:ext>
            </a:extLst>
          </p:cNvPr>
          <p:cNvPicPr>
            <a:picLocks noChangeAspect="1"/>
          </p:cNvPicPr>
          <p:nvPr/>
        </p:nvPicPr>
        <p:blipFill>
          <a:blip r:embed="rId11"/>
          <a:stretch>
            <a:fillRect/>
          </a:stretch>
        </p:blipFill>
        <p:spPr>
          <a:xfrm>
            <a:off x="10738264" y="5795022"/>
            <a:ext cx="656948" cy="165665"/>
          </a:xfrm>
          <a:prstGeom prst="rect">
            <a:avLst/>
          </a:prstGeom>
        </p:spPr>
      </p:pic>
      <p:pic>
        <p:nvPicPr>
          <p:cNvPr id="55" name="Picture 54">
            <a:extLst>
              <a:ext uri="{FF2B5EF4-FFF2-40B4-BE49-F238E27FC236}">
                <a16:creationId xmlns:a16="http://schemas.microsoft.com/office/drawing/2014/main" id="{A4E75BAD-0969-2383-A365-3FC62521394C}"/>
              </a:ext>
            </a:extLst>
          </p:cNvPr>
          <p:cNvPicPr>
            <a:picLocks noChangeAspect="1"/>
          </p:cNvPicPr>
          <p:nvPr/>
        </p:nvPicPr>
        <p:blipFill>
          <a:blip r:embed="rId12"/>
          <a:stretch>
            <a:fillRect/>
          </a:stretch>
        </p:blipFill>
        <p:spPr>
          <a:xfrm>
            <a:off x="6303606" y="4981801"/>
            <a:ext cx="2782415" cy="1492151"/>
          </a:xfrm>
          <a:prstGeom prst="rect">
            <a:avLst/>
          </a:prstGeom>
          <a:ln>
            <a:solidFill>
              <a:schemeClr val="tx1"/>
            </a:solidFill>
          </a:ln>
        </p:spPr>
      </p:pic>
      <p:cxnSp>
        <p:nvCxnSpPr>
          <p:cNvPr id="56" name="Straight Connector 55">
            <a:extLst>
              <a:ext uri="{FF2B5EF4-FFF2-40B4-BE49-F238E27FC236}">
                <a16:creationId xmlns:a16="http://schemas.microsoft.com/office/drawing/2014/main" id="{7FA77E01-FF61-8CF3-BF4C-07412A432BC3}"/>
              </a:ext>
            </a:extLst>
          </p:cNvPr>
          <p:cNvCxnSpPr>
            <a:cxnSpLocks/>
            <a:stCxn id="58" idx="1"/>
            <a:endCxn id="59" idx="3"/>
          </p:cNvCxnSpPr>
          <p:nvPr/>
        </p:nvCxnSpPr>
        <p:spPr>
          <a:xfrm>
            <a:off x="127002" y="41104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320449A-9C13-0358-EDE1-CFB4AFD2C342}"/>
              </a:ext>
            </a:extLst>
          </p:cNvPr>
          <p:cNvCxnSpPr>
            <a:cxnSpLocks/>
          </p:cNvCxnSpPr>
          <p:nvPr/>
        </p:nvCxnSpPr>
        <p:spPr>
          <a:xfrm flipH="1">
            <a:off x="127001" y="47625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354C85E-FE33-3854-BBCF-6BA158B9CA3E}"/>
              </a:ext>
            </a:extLst>
          </p:cNvPr>
          <p:cNvSpPr txBox="1"/>
          <p:nvPr/>
        </p:nvSpPr>
        <p:spPr>
          <a:xfrm rot="16200000">
            <a:off x="-336548" y="3493006"/>
            <a:ext cx="927099"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What</a:t>
            </a:r>
            <a:r>
              <a:rPr lang="en-US" b="1" dirty="0">
                <a:latin typeface="Arial Narrow" panose="020B0604020202020204" pitchFamily="34" charset="0"/>
                <a:cs typeface="Arial Narrow" panose="020B0604020202020204" pitchFamily="34" charset="0"/>
              </a:rPr>
              <a:t> is it</a:t>
            </a:r>
          </a:p>
        </p:txBody>
      </p:sp>
      <p:sp>
        <p:nvSpPr>
          <p:cNvPr id="59" name="TextBox 58">
            <a:extLst>
              <a:ext uri="{FF2B5EF4-FFF2-40B4-BE49-F238E27FC236}">
                <a16:creationId xmlns:a16="http://schemas.microsoft.com/office/drawing/2014/main" id="{8659536E-3435-B143-5F53-C404CBDD6E7F}"/>
              </a:ext>
            </a:extLst>
          </p:cNvPr>
          <p:cNvSpPr txBox="1"/>
          <p:nvPr/>
        </p:nvSpPr>
        <p:spPr>
          <a:xfrm rot="16200000">
            <a:off x="-625616" y="5598054"/>
            <a:ext cx="1505236"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How @ BCBSMA</a:t>
            </a:r>
            <a:endParaRPr lang="en-US" b="1"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401184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dirty="0"/>
              <a:t>Solutions Roadmap</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dirty="0">
                <a:solidFill>
                  <a:schemeClr val="tx1"/>
                </a:solidFill>
              </a:rPr>
              <a:t>A detailed plan for executing the AI strategy, including timelines, milestones, and metrics for measuring success</a:t>
            </a:r>
            <a:r>
              <a:rPr lang="en-US" sz="1400" i="1" dirty="0">
                <a:solidFill>
                  <a:schemeClr val="tx1"/>
                </a:solidFill>
              </a:rPr>
              <a:t> </a:t>
            </a:r>
          </a:p>
          <a:p>
            <a:endParaRPr lang="en-US" sz="1400" i="1" dirty="0"/>
          </a:p>
        </p:txBody>
      </p:sp>
      <p:sp>
        <p:nvSpPr>
          <p:cNvPr id="5" name="Google Shape;903;p7">
            <a:extLst>
              <a:ext uri="{FF2B5EF4-FFF2-40B4-BE49-F238E27FC236}">
                <a16:creationId xmlns:a16="http://schemas.microsoft.com/office/drawing/2014/main" id="{A7BA7359-16F3-2351-E5E7-FBE7F2EB4EEF}"/>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chemeClr val="bg1"/>
                </a:solidFill>
                <a:latin typeface="Arial"/>
                <a:ea typeface="Arial"/>
                <a:cs typeface="Arial"/>
                <a:sym typeface="Arial"/>
              </a:rPr>
              <a:t>Solutions Roadmap</a:t>
            </a:r>
          </a:p>
        </p:txBody>
      </p:sp>
      <p:grpSp>
        <p:nvGrpSpPr>
          <p:cNvPr id="6" name="Group 5">
            <a:extLst>
              <a:ext uri="{FF2B5EF4-FFF2-40B4-BE49-F238E27FC236}">
                <a16:creationId xmlns:a16="http://schemas.microsoft.com/office/drawing/2014/main" id="{2B6739B7-7F04-0B66-FEA6-431325B72EC8}"/>
              </a:ext>
            </a:extLst>
          </p:cNvPr>
          <p:cNvGrpSpPr/>
          <p:nvPr/>
        </p:nvGrpSpPr>
        <p:grpSpPr>
          <a:xfrm>
            <a:off x="252729" y="2590748"/>
            <a:ext cx="2745559" cy="2460222"/>
            <a:chOff x="579300" y="4091838"/>
            <a:chExt cx="3754800" cy="2460222"/>
          </a:xfrm>
        </p:grpSpPr>
        <p:sp>
          <p:nvSpPr>
            <p:cNvPr id="7" name="Google Shape;900;p7">
              <a:extLst>
                <a:ext uri="{FF2B5EF4-FFF2-40B4-BE49-F238E27FC236}">
                  <a16:creationId xmlns:a16="http://schemas.microsoft.com/office/drawing/2014/main" id="{EAA817C4-45D8-D4F5-8E54-4D48E667C371}"/>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dirty="0">
                  <a:solidFill>
                    <a:schemeClr val="tx1"/>
                  </a:solidFill>
                </a:rPr>
                <a:t>High-value, specific use cases focused on business problems that can be addressed using AI solutions, in alignment with our corporate strategy and business plan</a:t>
              </a:r>
            </a:p>
          </p:txBody>
        </p:sp>
        <p:sp>
          <p:nvSpPr>
            <p:cNvPr id="8" name="Google Shape;900;p7">
              <a:extLst>
                <a:ext uri="{FF2B5EF4-FFF2-40B4-BE49-F238E27FC236}">
                  <a16:creationId xmlns:a16="http://schemas.microsoft.com/office/drawing/2014/main" id="{171650B9-DD27-22F3-B076-E224D296F99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dirty="0">
                  <a:solidFill>
                    <a:schemeClr val="bg1"/>
                  </a:solidFill>
                  <a:latin typeface="Arial"/>
                  <a:ea typeface="Arial"/>
                  <a:cs typeface="Arial"/>
                  <a:sym typeface="Arial"/>
                </a:rPr>
                <a:t>Use Cases</a:t>
              </a:r>
            </a:p>
          </p:txBody>
        </p:sp>
      </p:grpSp>
      <p:grpSp>
        <p:nvGrpSpPr>
          <p:cNvPr id="9" name="Group 8">
            <a:extLst>
              <a:ext uri="{FF2B5EF4-FFF2-40B4-BE49-F238E27FC236}">
                <a16:creationId xmlns:a16="http://schemas.microsoft.com/office/drawing/2014/main" id="{6762757B-B7BB-89B7-A5D2-1C37CFC21529}"/>
              </a:ext>
            </a:extLst>
          </p:cNvPr>
          <p:cNvGrpSpPr/>
          <p:nvPr/>
        </p:nvGrpSpPr>
        <p:grpSpPr>
          <a:xfrm>
            <a:off x="3277139" y="2590748"/>
            <a:ext cx="2745559" cy="2460222"/>
            <a:chOff x="579300" y="4091838"/>
            <a:chExt cx="3754800" cy="2460222"/>
          </a:xfrm>
        </p:grpSpPr>
        <p:sp>
          <p:nvSpPr>
            <p:cNvPr id="10" name="Google Shape;900;p7">
              <a:extLst>
                <a:ext uri="{FF2B5EF4-FFF2-40B4-BE49-F238E27FC236}">
                  <a16:creationId xmlns:a16="http://schemas.microsoft.com/office/drawing/2014/main" id="{4DD1849A-2E27-C17F-8DFE-CCD4A7BDE31E}"/>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dirty="0">
                  <a:solidFill>
                    <a:schemeClr val="tx1"/>
                  </a:solidFill>
                </a:rPr>
                <a:t>Choose the appropriate AI technologies, including machine learning, natural language processing, computer vision, and other AI techniques, that are best suited to address the specific business problems. This includes assessment of build / buy / partner options</a:t>
              </a:r>
            </a:p>
          </p:txBody>
        </p:sp>
        <p:sp>
          <p:nvSpPr>
            <p:cNvPr id="11" name="Google Shape;900;p7">
              <a:extLst>
                <a:ext uri="{FF2B5EF4-FFF2-40B4-BE49-F238E27FC236}">
                  <a16:creationId xmlns:a16="http://schemas.microsoft.com/office/drawing/2014/main" id="{27253382-13FF-B031-B9E6-2507F448F7D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dirty="0">
                  <a:solidFill>
                    <a:schemeClr val="bg1"/>
                  </a:solidFill>
                  <a:latin typeface="Arial"/>
                  <a:ea typeface="Arial"/>
                  <a:cs typeface="Arial"/>
                  <a:sym typeface="Arial"/>
                </a:rPr>
                <a:t>AI Technologies</a:t>
              </a:r>
            </a:p>
          </p:txBody>
        </p:sp>
      </p:grpSp>
      <p:grpSp>
        <p:nvGrpSpPr>
          <p:cNvPr id="12" name="Group 11">
            <a:extLst>
              <a:ext uri="{FF2B5EF4-FFF2-40B4-BE49-F238E27FC236}">
                <a16:creationId xmlns:a16="http://schemas.microsoft.com/office/drawing/2014/main" id="{1DE808FB-FCC0-F1AE-5021-F949778FC58B}"/>
              </a:ext>
            </a:extLst>
          </p:cNvPr>
          <p:cNvGrpSpPr/>
          <p:nvPr/>
        </p:nvGrpSpPr>
        <p:grpSpPr>
          <a:xfrm>
            <a:off x="6301549" y="2590748"/>
            <a:ext cx="2745559" cy="2460222"/>
            <a:chOff x="579300" y="4091838"/>
            <a:chExt cx="3754800" cy="2460222"/>
          </a:xfrm>
        </p:grpSpPr>
        <p:sp>
          <p:nvSpPr>
            <p:cNvPr id="13" name="Google Shape;900;p7">
              <a:extLst>
                <a:ext uri="{FF2B5EF4-FFF2-40B4-BE49-F238E27FC236}">
                  <a16:creationId xmlns:a16="http://schemas.microsoft.com/office/drawing/2014/main" id="{FDB33663-6C30-53EB-445F-87AD2EA983CE}"/>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Develop, train, and validate AI models using the selected AI technologies using combination of supervised &amp; unsupervised learning techniques to ensure that the models are accurate and reliable. </a:t>
              </a:r>
            </a:p>
            <a:p>
              <a:pPr marL="9525" marR="0" lvl="0" indent="-9525">
                <a:spcBef>
                  <a:spcPts val="0"/>
                </a:spcBef>
                <a:spcAft>
                  <a:spcPts val="0"/>
                </a:spcAft>
                <a:tabLst>
                  <a:tab pos="457200" algn="l"/>
                </a:tabLst>
              </a:pPr>
              <a:r>
                <a:rPr lang="en-US" sz="1200" dirty="0">
                  <a:solidFill>
                    <a:schemeClr val="tx1"/>
                  </a:solidFill>
                </a:rPr>
                <a:t>Integrate AI models into existing business processes, systems, and applications. Ensure that the models are scalable and can operate in production environments.</a:t>
              </a:r>
            </a:p>
          </p:txBody>
        </p:sp>
        <p:sp>
          <p:nvSpPr>
            <p:cNvPr id="14" name="Google Shape;900;p7">
              <a:extLst>
                <a:ext uri="{FF2B5EF4-FFF2-40B4-BE49-F238E27FC236}">
                  <a16:creationId xmlns:a16="http://schemas.microsoft.com/office/drawing/2014/main" id="{6E1F62A7-3094-676C-EB25-2BA75BA29BB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dirty="0">
                  <a:solidFill>
                    <a:schemeClr val="bg1"/>
                  </a:solidFill>
                </a:rPr>
                <a:t>Model Development and Integration</a:t>
              </a:r>
              <a:endParaRPr lang="en-US" sz="1200" b="0" i="0" u="none" strike="noStrike" cap="none" dirty="0">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76F3CF7A-26BB-3FD9-68BA-B71AE7C22839}"/>
              </a:ext>
            </a:extLst>
          </p:cNvPr>
          <p:cNvGrpSpPr/>
          <p:nvPr/>
        </p:nvGrpSpPr>
        <p:grpSpPr>
          <a:xfrm>
            <a:off x="9325958" y="2593058"/>
            <a:ext cx="2745559" cy="2457912"/>
            <a:chOff x="579300" y="4091838"/>
            <a:chExt cx="3754800" cy="2457912"/>
          </a:xfrm>
        </p:grpSpPr>
        <p:sp>
          <p:nvSpPr>
            <p:cNvPr id="16" name="Google Shape;900;p7">
              <a:extLst>
                <a:ext uri="{FF2B5EF4-FFF2-40B4-BE49-F238E27FC236}">
                  <a16:creationId xmlns:a16="http://schemas.microsoft.com/office/drawing/2014/main" id="{EEE11B4F-A463-330F-413D-C390B1AFBE31}"/>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Individual and aggregate measurement of impact of AI models against key enterprise metrics (sales, revenue, margin, PMPM, Affordability, NPS, FCR/FCoR, Quality, Equity etc.) </a:t>
              </a:r>
            </a:p>
          </p:txBody>
        </p:sp>
        <p:sp>
          <p:nvSpPr>
            <p:cNvPr id="17" name="Google Shape;900;p7">
              <a:extLst>
                <a:ext uri="{FF2B5EF4-FFF2-40B4-BE49-F238E27FC236}">
                  <a16:creationId xmlns:a16="http://schemas.microsoft.com/office/drawing/2014/main" id="{68CEB94A-3034-621D-2C31-C40B59B1585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dirty="0">
                  <a:solidFill>
                    <a:schemeClr val="bg1"/>
                  </a:solidFill>
                  <a:latin typeface="Arial"/>
                  <a:ea typeface="Arial"/>
                  <a:cs typeface="Arial"/>
                  <a:sym typeface="Arial"/>
                </a:rPr>
                <a:t>Success Metrics</a:t>
              </a:r>
            </a:p>
          </p:txBody>
        </p:sp>
      </p:grpSp>
      <p:cxnSp>
        <p:nvCxnSpPr>
          <p:cNvPr id="18" name="Elbow Connector 17">
            <a:extLst>
              <a:ext uri="{FF2B5EF4-FFF2-40B4-BE49-F238E27FC236}">
                <a16:creationId xmlns:a16="http://schemas.microsoft.com/office/drawing/2014/main" id="{C37358D4-B741-80D3-9745-2F4097FD6A93}"/>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64A45F71-EFF3-3B3B-160A-4EA246FBB160}"/>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B4888EF1-8B45-4874-8B42-AB9AA2CCB61C}"/>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8B6F8D31-A827-1B4F-5336-DB99B5507A99}"/>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Road with solid fill">
            <a:extLst>
              <a:ext uri="{FF2B5EF4-FFF2-40B4-BE49-F238E27FC236}">
                <a16:creationId xmlns:a16="http://schemas.microsoft.com/office/drawing/2014/main" id="{C88C7370-75AE-3833-ACC9-3AC04D060C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62823" y="1458340"/>
            <a:ext cx="374189" cy="374189"/>
          </a:xfrm>
          <a:prstGeom prst="rect">
            <a:avLst/>
          </a:prstGeom>
        </p:spPr>
      </p:pic>
      <p:sp>
        <p:nvSpPr>
          <p:cNvPr id="24" name="TextBox 23">
            <a:extLst>
              <a:ext uri="{FF2B5EF4-FFF2-40B4-BE49-F238E27FC236}">
                <a16:creationId xmlns:a16="http://schemas.microsoft.com/office/drawing/2014/main" id="{BE648ED3-2ECA-1E28-01AD-AB5F6C2867CB}"/>
              </a:ext>
            </a:extLst>
          </p:cNvPr>
          <p:cNvSpPr txBox="1"/>
          <p:nvPr/>
        </p:nvSpPr>
        <p:spPr>
          <a:xfrm>
            <a:off x="3277139" y="5232172"/>
            <a:ext cx="5769969" cy="1492151"/>
          </a:xfrm>
          <a:prstGeom prst="rect">
            <a:avLst/>
          </a:prstGeom>
          <a:noFill/>
          <a:ln>
            <a:solidFill>
              <a:schemeClr val="tx1"/>
            </a:solidFill>
          </a:ln>
        </p:spPr>
        <p:txBody>
          <a:bodyPr wrap="square" rtlCol="0">
            <a:noAutofit/>
          </a:bodyPr>
          <a:lstStyle/>
          <a:p>
            <a:pPr algn="ctr"/>
            <a:r>
              <a:rPr lang="en-US" b="1" dirty="0">
                <a:solidFill>
                  <a:schemeClr val="tx1"/>
                </a:solidFill>
              </a:rPr>
              <a:t>Agile Analytics Pods</a:t>
            </a:r>
          </a:p>
          <a:p>
            <a:pPr algn="ctr"/>
            <a:endParaRPr lang="en-US" b="1" dirty="0">
              <a:solidFill>
                <a:schemeClr val="tx1"/>
              </a:solidFill>
            </a:endParaRPr>
          </a:p>
          <a:p>
            <a:pPr indent="581025"/>
            <a:r>
              <a:rPr lang="en-US" b="1" dirty="0">
                <a:solidFill>
                  <a:schemeClr val="tx1"/>
                </a:solidFill>
              </a:rPr>
              <a:t>Enterprise Analytics Pods</a:t>
            </a:r>
          </a:p>
          <a:p>
            <a:pPr indent="581025"/>
            <a:endParaRPr lang="en-US" b="1" dirty="0">
              <a:solidFill>
                <a:schemeClr val="tx1"/>
              </a:solidFill>
            </a:endParaRPr>
          </a:p>
          <a:p>
            <a:pPr indent="581025"/>
            <a:r>
              <a:rPr lang="en-US" b="1" dirty="0">
                <a:solidFill>
                  <a:schemeClr val="tx1"/>
                </a:solidFill>
              </a:rPr>
              <a:t>Enterprise Technology Data &amp; Analytics Pods</a:t>
            </a:r>
          </a:p>
        </p:txBody>
      </p:sp>
      <p:pic>
        <p:nvPicPr>
          <p:cNvPr id="26" name="Graphic 25" descr="Table and chairs with solid fill">
            <a:extLst>
              <a:ext uri="{FF2B5EF4-FFF2-40B4-BE49-F238E27FC236}">
                <a16:creationId xmlns:a16="http://schemas.microsoft.com/office/drawing/2014/main" id="{80BD24A8-004A-3BE4-465E-4D70EDCA57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50921" y="6056454"/>
            <a:ext cx="383898" cy="383898"/>
          </a:xfrm>
          <a:prstGeom prst="rect">
            <a:avLst/>
          </a:prstGeom>
        </p:spPr>
      </p:pic>
      <p:pic>
        <p:nvPicPr>
          <p:cNvPr id="28" name="Graphic 27" descr="Periodic Graph with solid fill">
            <a:extLst>
              <a:ext uri="{FF2B5EF4-FFF2-40B4-BE49-F238E27FC236}">
                <a16:creationId xmlns:a16="http://schemas.microsoft.com/office/drawing/2014/main" id="{45D54953-CA34-B11D-9627-7C11DAEDD8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50921" y="5597713"/>
            <a:ext cx="383898" cy="383898"/>
          </a:xfrm>
          <a:prstGeom prst="rect">
            <a:avLst/>
          </a:prstGeom>
        </p:spPr>
      </p:pic>
      <p:pic>
        <p:nvPicPr>
          <p:cNvPr id="29" name="Google Shape;2680;p34">
            <a:extLst>
              <a:ext uri="{FF2B5EF4-FFF2-40B4-BE49-F238E27FC236}">
                <a16:creationId xmlns:a16="http://schemas.microsoft.com/office/drawing/2014/main" id="{67456470-B70E-1492-BA23-E96CE868E4D7}"/>
              </a:ext>
            </a:extLst>
          </p:cNvPr>
          <p:cNvPicPr preferRelativeResize="0"/>
          <p:nvPr/>
        </p:nvPicPr>
        <p:blipFill rotWithShape="1">
          <a:blip r:embed="rId9">
            <a:alphaModFix/>
          </a:blip>
          <a:srcRect/>
          <a:stretch/>
        </p:blipFill>
        <p:spPr>
          <a:xfrm>
            <a:off x="252729" y="5232172"/>
            <a:ext cx="2745558" cy="1492150"/>
          </a:xfrm>
          <a:prstGeom prst="rect">
            <a:avLst/>
          </a:prstGeom>
          <a:solidFill>
            <a:schemeClr val="accent1"/>
          </a:solidFill>
          <a:ln>
            <a:solidFill>
              <a:schemeClr val="tx1"/>
            </a:solidFill>
          </a:ln>
        </p:spPr>
      </p:pic>
      <p:sp>
        <p:nvSpPr>
          <p:cNvPr id="30" name="TextBox 29">
            <a:extLst>
              <a:ext uri="{FF2B5EF4-FFF2-40B4-BE49-F238E27FC236}">
                <a16:creationId xmlns:a16="http://schemas.microsoft.com/office/drawing/2014/main" id="{7054C785-24F6-ED5E-49A4-CCA66FBBDCE4}"/>
              </a:ext>
            </a:extLst>
          </p:cNvPr>
          <p:cNvSpPr txBox="1"/>
          <p:nvPr/>
        </p:nvSpPr>
        <p:spPr>
          <a:xfrm>
            <a:off x="9325956" y="5232172"/>
            <a:ext cx="2745559" cy="1492151"/>
          </a:xfrm>
          <a:prstGeom prst="rect">
            <a:avLst/>
          </a:prstGeom>
          <a:noFill/>
          <a:ln>
            <a:solidFill>
              <a:schemeClr val="tx1"/>
            </a:solidFill>
          </a:ln>
        </p:spPr>
        <p:txBody>
          <a:bodyPr wrap="square" rtlCol="0">
            <a:noAutofit/>
          </a:bodyPr>
          <a:lstStyle/>
          <a:p>
            <a:pPr algn="ctr"/>
            <a:endParaRPr lang="en-US" b="1" dirty="0">
              <a:solidFill>
                <a:schemeClr val="tx1"/>
              </a:solidFill>
            </a:endParaRPr>
          </a:p>
          <a:p>
            <a:pPr algn="ctr"/>
            <a:endParaRPr lang="en-US" b="1" dirty="0">
              <a:solidFill>
                <a:schemeClr val="tx1"/>
              </a:solidFill>
            </a:endParaRPr>
          </a:p>
        </p:txBody>
      </p:sp>
      <p:sp>
        <p:nvSpPr>
          <p:cNvPr id="32" name="TextBox 31">
            <a:extLst>
              <a:ext uri="{FF2B5EF4-FFF2-40B4-BE49-F238E27FC236}">
                <a16:creationId xmlns:a16="http://schemas.microsoft.com/office/drawing/2014/main" id="{8151A035-6303-561F-2380-6A7A422E8DE5}"/>
              </a:ext>
            </a:extLst>
          </p:cNvPr>
          <p:cNvSpPr txBox="1"/>
          <p:nvPr/>
        </p:nvSpPr>
        <p:spPr>
          <a:xfrm>
            <a:off x="10144199" y="6332630"/>
            <a:ext cx="1109073" cy="230832"/>
          </a:xfrm>
          <a:prstGeom prst="rect">
            <a:avLst/>
          </a:prstGeom>
          <a:noFill/>
        </p:spPr>
        <p:txBody>
          <a:bodyPr wrap="square" rtlCol="0">
            <a:spAutoFit/>
          </a:bodyPr>
          <a:lstStyle/>
          <a:p>
            <a:r>
              <a:rPr lang="en-US" sz="900" b="1" dirty="0">
                <a:solidFill>
                  <a:schemeClr val="tx1"/>
                </a:solidFill>
              </a:rPr>
              <a:t>Use Case KPIs</a:t>
            </a:r>
          </a:p>
        </p:txBody>
      </p:sp>
      <p:sp>
        <p:nvSpPr>
          <p:cNvPr id="33" name="TextBox 32">
            <a:extLst>
              <a:ext uri="{FF2B5EF4-FFF2-40B4-BE49-F238E27FC236}">
                <a16:creationId xmlns:a16="http://schemas.microsoft.com/office/drawing/2014/main" id="{20F5FF70-D0CE-F730-CBD4-A380ECBB6F69}"/>
              </a:ext>
            </a:extLst>
          </p:cNvPr>
          <p:cNvSpPr txBox="1"/>
          <p:nvPr/>
        </p:nvSpPr>
        <p:spPr>
          <a:xfrm>
            <a:off x="9849649" y="5905477"/>
            <a:ext cx="1698172" cy="246221"/>
          </a:xfrm>
          <a:prstGeom prst="rect">
            <a:avLst/>
          </a:prstGeom>
          <a:noFill/>
        </p:spPr>
        <p:txBody>
          <a:bodyPr wrap="square" rtlCol="0">
            <a:spAutoFit/>
          </a:bodyPr>
          <a:lstStyle/>
          <a:p>
            <a:pPr algn="ctr"/>
            <a:r>
              <a:rPr lang="en-US" sz="1000" b="1" dirty="0">
                <a:solidFill>
                  <a:schemeClr val="tx1"/>
                </a:solidFill>
              </a:rPr>
              <a:t>Business Function KPIs</a:t>
            </a:r>
          </a:p>
        </p:txBody>
      </p:sp>
      <p:sp>
        <p:nvSpPr>
          <p:cNvPr id="34" name="TextBox 33">
            <a:extLst>
              <a:ext uri="{FF2B5EF4-FFF2-40B4-BE49-F238E27FC236}">
                <a16:creationId xmlns:a16="http://schemas.microsoft.com/office/drawing/2014/main" id="{6AD6F515-1755-5180-BDBC-840E242AB92A}"/>
              </a:ext>
            </a:extLst>
          </p:cNvPr>
          <p:cNvSpPr txBox="1"/>
          <p:nvPr/>
        </p:nvSpPr>
        <p:spPr>
          <a:xfrm>
            <a:off x="9561178" y="5397618"/>
            <a:ext cx="2275114" cy="307777"/>
          </a:xfrm>
          <a:prstGeom prst="rect">
            <a:avLst/>
          </a:prstGeom>
          <a:noFill/>
        </p:spPr>
        <p:txBody>
          <a:bodyPr wrap="square" rtlCol="0">
            <a:spAutoFit/>
          </a:bodyPr>
          <a:lstStyle/>
          <a:p>
            <a:pPr algn="ctr"/>
            <a:r>
              <a:rPr lang="en-US" b="1" dirty="0">
                <a:solidFill>
                  <a:schemeClr val="tx1"/>
                </a:solidFill>
              </a:rPr>
              <a:t>Enterprise KPIs</a:t>
            </a:r>
          </a:p>
        </p:txBody>
      </p:sp>
      <p:cxnSp>
        <p:nvCxnSpPr>
          <p:cNvPr id="37" name="Straight Arrow Connector 36">
            <a:extLst>
              <a:ext uri="{FF2B5EF4-FFF2-40B4-BE49-F238E27FC236}">
                <a16:creationId xmlns:a16="http://schemas.microsoft.com/office/drawing/2014/main" id="{D919DCFA-E2CC-3808-E06E-40489DE76F4D}"/>
              </a:ext>
            </a:extLst>
          </p:cNvPr>
          <p:cNvCxnSpPr>
            <a:stCxn id="32" idx="0"/>
            <a:endCxn id="33" idx="2"/>
          </p:cNvCxnSpPr>
          <p:nvPr/>
        </p:nvCxnSpPr>
        <p:spPr>
          <a:xfrm flipH="1" flipV="1">
            <a:off x="10698735" y="6151698"/>
            <a:ext cx="1" cy="180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B622AD6-B437-EF55-0ECF-3F17C1C57391}"/>
              </a:ext>
            </a:extLst>
          </p:cNvPr>
          <p:cNvCxnSpPr>
            <a:cxnSpLocks/>
            <a:stCxn id="33" idx="0"/>
            <a:endCxn id="34" idx="2"/>
          </p:cNvCxnSpPr>
          <p:nvPr/>
        </p:nvCxnSpPr>
        <p:spPr>
          <a:xfrm flipV="1">
            <a:off x="10698735" y="5705395"/>
            <a:ext cx="0" cy="200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059D13A-6C0F-E13A-F4A3-5D23B15F9998}"/>
              </a:ext>
            </a:extLst>
          </p:cNvPr>
          <p:cNvCxnSpPr>
            <a:cxnSpLocks/>
            <a:stCxn id="44" idx="1"/>
            <a:endCxn id="45" idx="3"/>
          </p:cNvCxnSpPr>
          <p:nvPr/>
        </p:nvCxnSpPr>
        <p:spPr>
          <a:xfrm>
            <a:off x="127002" y="43390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28F31E7-5803-2601-AFC4-22CD37076A7B}"/>
              </a:ext>
            </a:extLst>
          </p:cNvPr>
          <p:cNvCxnSpPr>
            <a:cxnSpLocks/>
          </p:cNvCxnSpPr>
          <p:nvPr/>
        </p:nvCxnSpPr>
        <p:spPr>
          <a:xfrm flipH="1">
            <a:off x="127001" y="51435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7D6F9AE-052A-547A-9D28-63BF2CB2D8CB}"/>
              </a:ext>
            </a:extLst>
          </p:cNvPr>
          <p:cNvSpPr txBox="1"/>
          <p:nvPr/>
        </p:nvSpPr>
        <p:spPr>
          <a:xfrm rot="16200000">
            <a:off x="-336548" y="3721606"/>
            <a:ext cx="927099"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What</a:t>
            </a:r>
            <a:r>
              <a:rPr lang="en-US" b="1" dirty="0">
                <a:latin typeface="Arial Narrow" panose="020B0604020202020204" pitchFamily="34" charset="0"/>
                <a:cs typeface="Arial Narrow" panose="020B0604020202020204" pitchFamily="34" charset="0"/>
              </a:rPr>
              <a:t> is it</a:t>
            </a:r>
          </a:p>
        </p:txBody>
      </p:sp>
      <p:sp>
        <p:nvSpPr>
          <p:cNvPr id="45" name="TextBox 44">
            <a:extLst>
              <a:ext uri="{FF2B5EF4-FFF2-40B4-BE49-F238E27FC236}">
                <a16:creationId xmlns:a16="http://schemas.microsoft.com/office/drawing/2014/main" id="{4CDDFFDA-C525-97F7-E11B-0445E4F7FEF4}"/>
              </a:ext>
            </a:extLst>
          </p:cNvPr>
          <p:cNvSpPr txBox="1"/>
          <p:nvPr/>
        </p:nvSpPr>
        <p:spPr>
          <a:xfrm rot="16200000">
            <a:off x="-625616" y="5826654"/>
            <a:ext cx="1505236"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How @ BCBSMA</a:t>
            </a:r>
            <a:endParaRPr lang="en-US" b="1"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3096500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78"/>
        <p:cNvGrpSpPr/>
        <p:nvPr/>
      </p:nvGrpSpPr>
      <p:grpSpPr>
        <a:xfrm>
          <a:off x="0" y="0"/>
          <a:ext cx="0" cy="0"/>
          <a:chOff x="0" y="0"/>
          <a:chExt cx="0" cy="0"/>
        </a:xfrm>
      </p:grpSpPr>
      <p:pic>
        <p:nvPicPr>
          <p:cNvPr id="2680" name="Google Shape;2680;p34"/>
          <p:cNvPicPr preferRelativeResize="0"/>
          <p:nvPr/>
        </p:nvPicPr>
        <p:blipFill rotWithShape="1">
          <a:blip r:embed="rId3">
            <a:alphaModFix/>
          </a:blip>
          <a:srcRect/>
          <a:stretch/>
        </p:blipFill>
        <p:spPr>
          <a:xfrm>
            <a:off x="1236463" y="1458684"/>
            <a:ext cx="9479871" cy="4898573"/>
          </a:xfrm>
          <a:prstGeom prst="rect">
            <a:avLst/>
          </a:prstGeom>
          <a:noFill/>
          <a:ln>
            <a:noFill/>
          </a:ln>
        </p:spPr>
      </p:pic>
      <p:sp>
        <p:nvSpPr>
          <p:cNvPr id="2679" name="Google Shape;2679;p34"/>
          <p:cNvSpPr txBox="1">
            <a:spLocks noGrp="1"/>
          </p:cNvSpPr>
          <p:nvPr>
            <p:ph type="title"/>
          </p:nvPr>
        </p:nvSpPr>
        <p:spPr>
          <a:xfrm>
            <a:off x="5711373" y="6346372"/>
            <a:ext cx="2033161" cy="342901"/>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dk2"/>
              </a:buClr>
              <a:buSzPts val="3200"/>
              <a:buFont typeface="Arial Black"/>
              <a:buNone/>
            </a:pPr>
            <a:r>
              <a:rPr lang="en-US" sz="1200" b="1" dirty="0"/>
              <a:t>AI Prism – Healthcare Payers</a:t>
            </a:r>
          </a:p>
        </p:txBody>
      </p:sp>
      <p:sp>
        <p:nvSpPr>
          <p:cNvPr id="4" name="Text Placeholder 2">
            <a:extLst>
              <a:ext uri="{FF2B5EF4-FFF2-40B4-BE49-F238E27FC236}">
                <a16:creationId xmlns:a16="http://schemas.microsoft.com/office/drawing/2014/main" id="{376B4C76-D428-6CD6-C70A-B47126A004DA}"/>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accent4"/>
              </a:buClr>
              <a:buSzPts val="2000"/>
            </a:pPr>
            <a:r>
              <a:rPr lang="en-US" sz="2000" dirty="0">
                <a:solidFill>
                  <a:schemeClr val="accent4"/>
                </a:solidFill>
                <a:latin typeface="Bebas Neue"/>
                <a:sym typeface="Bebas Neue"/>
              </a:rPr>
              <a:t>Use Cases</a:t>
            </a:r>
          </a:p>
        </p:txBody>
      </p:sp>
      <p:sp>
        <p:nvSpPr>
          <p:cNvPr id="5" name="Text Placeholder 3">
            <a:extLst>
              <a:ext uri="{FF2B5EF4-FFF2-40B4-BE49-F238E27FC236}">
                <a16:creationId xmlns:a16="http://schemas.microsoft.com/office/drawing/2014/main" id="{2A66CBE9-27BE-C23C-5A20-0F9DCA4B9B8D}"/>
              </a:ext>
            </a:extLst>
          </p:cNvPr>
          <p:cNvSpPr txBox="1">
            <a:spLocks/>
          </p:cNvSpPr>
          <p:nvPr/>
        </p:nvSpPr>
        <p:spPr>
          <a:xfrm>
            <a:off x="603503" y="761999"/>
            <a:ext cx="9879439" cy="5606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36538"/>
            <a:r>
              <a:rPr lang="en-US" dirty="0">
                <a:solidFill>
                  <a:schemeClr val="tx1"/>
                </a:solidFill>
              </a:rPr>
              <a:t>We are leveraging a framework from Gartner that identifies the most impactful AI use cases across healthcare payer functions and scores each based on their respective business value and feasibility. </a:t>
            </a:r>
          </a:p>
          <a:p>
            <a:endParaRPr lang="en-US" i="1" dirty="0"/>
          </a:p>
        </p:txBody>
      </p:sp>
      <p:pic>
        <p:nvPicPr>
          <p:cNvPr id="6" name="Picture 5">
            <a:extLst>
              <a:ext uri="{FF2B5EF4-FFF2-40B4-BE49-F238E27FC236}">
                <a16:creationId xmlns:a16="http://schemas.microsoft.com/office/drawing/2014/main" id="{EEAFAB81-A3D9-159E-C9C1-D2ECBD85067C}"/>
              </a:ext>
            </a:extLst>
          </p:cNvPr>
          <p:cNvPicPr>
            <a:picLocks noChangeAspect="1"/>
          </p:cNvPicPr>
          <p:nvPr/>
        </p:nvPicPr>
        <p:blipFill>
          <a:blip r:embed="rId4"/>
          <a:stretch>
            <a:fillRect/>
          </a:stretch>
        </p:blipFill>
        <p:spPr>
          <a:xfrm>
            <a:off x="4542973" y="6346372"/>
            <a:ext cx="1168400" cy="342900"/>
          </a:xfrm>
          <a:prstGeom prst="rect">
            <a:avLst/>
          </a:prstGeom>
        </p:spPr>
      </p:pic>
    </p:spTree>
    <p:extLst>
      <p:ext uri="{BB962C8B-B14F-4D97-AF65-F5344CB8AC3E}">
        <p14:creationId xmlns:p14="http://schemas.microsoft.com/office/powerpoint/2010/main" val="1410233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6E345D-331A-F0C3-D66D-0C62351C042F}"/>
              </a:ext>
            </a:extLst>
          </p:cNvPr>
          <p:cNvPicPr>
            <a:picLocks noChangeAspect="1"/>
          </p:cNvPicPr>
          <p:nvPr/>
        </p:nvPicPr>
        <p:blipFill>
          <a:blip r:embed="rId2"/>
          <a:stretch>
            <a:fillRect/>
          </a:stretch>
        </p:blipFill>
        <p:spPr>
          <a:xfrm>
            <a:off x="603503" y="1401202"/>
            <a:ext cx="5355380" cy="5190450"/>
          </a:xfrm>
          <a:prstGeom prst="rect">
            <a:avLst/>
          </a:prstGeom>
        </p:spPr>
      </p:pic>
      <p:pic>
        <p:nvPicPr>
          <p:cNvPr id="8" name="Picture 7">
            <a:extLst>
              <a:ext uri="{FF2B5EF4-FFF2-40B4-BE49-F238E27FC236}">
                <a16:creationId xmlns:a16="http://schemas.microsoft.com/office/drawing/2014/main" id="{42F2EEF0-7002-D172-F687-55C3252104F6}"/>
              </a:ext>
            </a:extLst>
          </p:cNvPr>
          <p:cNvPicPr>
            <a:picLocks noChangeAspect="1"/>
          </p:cNvPicPr>
          <p:nvPr/>
        </p:nvPicPr>
        <p:blipFill>
          <a:blip r:embed="rId3"/>
          <a:stretch>
            <a:fillRect/>
          </a:stretch>
        </p:blipFill>
        <p:spPr>
          <a:xfrm>
            <a:off x="6542114" y="1401202"/>
            <a:ext cx="5204112" cy="581700"/>
          </a:xfrm>
          <a:prstGeom prst="rect">
            <a:avLst/>
          </a:prstGeom>
        </p:spPr>
      </p:pic>
      <p:sp>
        <p:nvSpPr>
          <p:cNvPr id="3" name="Text Placeholder 2">
            <a:extLst>
              <a:ext uri="{FF2B5EF4-FFF2-40B4-BE49-F238E27FC236}">
                <a16:creationId xmlns:a16="http://schemas.microsoft.com/office/drawing/2014/main" id="{83FE0703-5609-A2E8-C7B7-FB78F07BD5F2}"/>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accent4"/>
              </a:buClr>
              <a:buSzPts val="2000"/>
            </a:pPr>
            <a:r>
              <a:rPr lang="en-US" sz="2000" dirty="0">
                <a:solidFill>
                  <a:schemeClr val="accent4"/>
                </a:solidFill>
                <a:latin typeface="Bebas Neue"/>
                <a:sym typeface="Bebas Neue"/>
              </a:rPr>
              <a:t>Use Cases</a:t>
            </a:r>
          </a:p>
        </p:txBody>
      </p:sp>
      <p:sp>
        <p:nvSpPr>
          <p:cNvPr id="4" name="Text Placeholder 3">
            <a:extLst>
              <a:ext uri="{FF2B5EF4-FFF2-40B4-BE49-F238E27FC236}">
                <a16:creationId xmlns:a16="http://schemas.microsoft.com/office/drawing/2014/main" id="{86CC3018-875D-CADE-58BA-21E41B65855C}"/>
              </a:ext>
            </a:extLst>
          </p:cNvPr>
          <p:cNvSpPr txBox="1">
            <a:spLocks/>
          </p:cNvSpPr>
          <p:nvPr/>
        </p:nvSpPr>
        <p:spPr>
          <a:xfrm>
            <a:off x="603503" y="761999"/>
            <a:ext cx="9879439" cy="5606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36538"/>
            <a:r>
              <a:rPr lang="en-US" dirty="0">
                <a:solidFill>
                  <a:schemeClr val="tx1"/>
                </a:solidFill>
              </a:rPr>
              <a:t>Expected impact of these use cases typically spans over more than one value area within BCBSMA. This allows for optionality of starting point (in alignment with our business plan) and leverage to adjacent areas of over time   </a:t>
            </a:r>
          </a:p>
          <a:p>
            <a:endParaRPr lang="en-US" i="1" dirty="0"/>
          </a:p>
        </p:txBody>
      </p:sp>
      <p:sp>
        <p:nvSpPr>
          <p:cNvPr id="5" name="Rectangle 4">
            <a:extLst>
              <a:ext uri="{FF2B5EF4-FFF2-40B4-BE49-F238E27FC236}">
                <a16:creationId xmlns:a16="http://schemas.microsoft.com/office/drawing/2014/main" id="{E725F429-00FF-D20C-A49D-A4E1F643C16E}"/>
              </a:ext>
            </a:extLst>
          </p:cNvPr>
          <p:cNvSpPr/>
          <p:nvPr/>
        </p:nvSpPr>
        <p:spPr>
          <a:xfrm>
            <a:off x="419100" y="1322612"/>
            <a:ext cx="5676900" cy="5395688"/>
          </a:xfrm>
          <a:prstGeom prst="rect">
            <a:avLst/>
          </a:prstGeom>
          <a:noFill/>
          <a:ln w="28575" cmpd="tri"/>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058169E-B829-9671-BD08-67DDABD5EC45}"/>
              </a:ext>
            </a:extLst>
          </p:cNvPr>
          <p:cNvSpPr/>
          <p:nvPr/>
        </p:nvSpPr>
        <p:spPr>
          <a:xfrm>
            <a:off x="6305720" y="1322612"/>
            <a:ext cx="5676900" cy="5395688"/>
          </a:xfrm>
          <a:prstGeom prst="rect">
            <a:avLst/>
          </a:prstGeom>
          <a:noFill/>
          <a:ln w="28575" cmpd="tri"/>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FE38D246-A5D9-376F-CB76-9AC92313AC2A}"/>
              </a:ext>
            </a:extLst>
          </p:cNvPr>
          <p:cNvPicPr>
            <a:picLocks noChangeAspect="1"/>
          </p:cNvPicPr>
          <p:nvPr/>
        </p:nvPicPr>
        <p:blipFill>
          <a:blip r:embed="rId4"/>
          <a:stretch>
            <a:fillRect/>
          </a:stretch>
        </p:blipFill>
        <p:spPr>
          <a:xfrm>
            <a:off x="6542114" y="2061492"/>
            <a:ext cx="5204112" cy="4787900"/>
          </a:xfrm>
          <a:prstGeom prst="rect">
            <a:avLst/>
          </a:prstGeom>
        </p:spPr>
      </p:pic>
    </p:spTree>
    <p:extLst>
      <p:ext uri="{BB962C8B-B14F-4D97-AF65-F5344CB8AC3E}">
        <p14:creationId xmlns:p14="http://schemas.microsoft.com/office/powerpoint/2010/main" val="3846818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98"/>
        <p:cNvGrpSpPr/>
        <p:nvPr/>
      </p:nvGrpSpPr>
      <p:grpSpPr>
        <a:xfrm>
          <a:off x="0" y="0"/>
          <a:ext cx="0" cy="0"/>
          <a:chOff x="0" y="0"/>
          <a:chExt cx="0" cy="0"/>
        </a:xfrm>
      </p:grpSpPr>
      <p:sp>
        <p:nvSpPr>
          <p:cNvPr id="2610" name="Google Shape;2610;p25"/>
          <p:cNvSpPr txBox="1"/>
          <p:nvPr/>
        </p:nvSpPr>
        <p:spPr>
          <a:xfrm>
            <a:off x="4299116" y="2397049"/>
            <a:ext cx="1966251" cy="338514"/>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dirty="0">
                <a:ln>
                  <a:noFill/>
                </a:ln>
                <a:solidFill>
                  <a:srgbClr val="FF540A"/>
                </a:solidFill>
                <a:effectLst/>
                <a:uLnTx/>
                <a:uFillTx/>
                <a:latin typeface="Arial"/>
                <a:ea typeface="Arial"/>
                <a:cs typeface="Arial"/>
                <a:sym typeface="Arial"/>
              </a:rPr>
              <a:t>How Hard?</a:t>
            </a:r>
            <a:endParaRPr kumimoji="0" lang="en-US"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2612" name="Google Shape;2612;p25"/>
          <p:cNvSpPr txBox="1"/>
          <p:nvPr/>
        </p:nvSpPr>
        <p:spPr>
          <a:xfrm>
            <a:off x="4774464" y="1777110"/>
            <a:ext cx="2436559" cy="338514"/>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dirty="0">
                <a:ln>
                  <a:noFill/>
                </a:ln>
                <a:solidFill>
                  <a:srgbClr val="FF540A"/>
                </a:solidFill>
                <a:effectLst/>
                <a:uLnTx/>
                <a:uFillTx/>
                <a:latin typeface="Arial"/>
                <a:ea typeface="Arial"/>
                <a:cs typeface="Arial"/>
                <a:sym typeface="Arial"/>
              </a:rPr>
              <a:t>Are We Ready?</a:t>
            </a:r>
            <a:endParaRPr kumimoji="0" lang="en-US" sz="1050" b="0" i="0" u="none" strike="noStrike" kern="0" cap="none" spc="0" normalizeH="0" baseline="0" noProof="0" dirty="0">
              <a:ln>
                <a:noFill/>
              </a:ln>
              <a:solidFill>
                <a:srgbClr val="000000"/>
              </a:solidFill>
              <a:effectLst/>
              <a:uLnTx/>
              <a:uFillTx/>
              <a:latin typeface="Arial"/>
              <a:cs typeface="Arial"/>
              <a:sym typeface="Arial"/>
            </a:endParaRPr>
          </a:p>
        </p:txBody>
      </p:sp>
      <p:sp>
        <p:nvSpPr>
          <p:cNvPr id="2614" name="Google Shape;2614;p25"/>
          <p:cNvSpPr txBox="1"/>
          <p:nvPr/>
        </p:nvSpPr>
        <p:spPr>
          <a:xfrm>
            <a:off x="6490577" y="1060572"/>
            <a:ext cx="2596141" cy="584735"/>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dirty="0">
                <a:ln>
                  <a:noFill/>
                </a:ln>
                <a:solidFill>
                  <a:srgbClr val="FF540A"/>
                </a:solidFill>
                <a:effectLst/>
                <a:uLnTx/>
                <a:uFillTx/>
                <a:latin typeface="Arial"/>
                <a:ea typeface="Arial"/>
                <a:cs typeface="Arial"/>
                <a:sym typeface="Arial"/>
              </a:rPr>
              <a:t>Are our Partners and Customers Ready?</a:t>
            </a:r>
            <a:endParaRPr kumimoji="0" lang="en-US" sz="1050" b="0" i="0" u="none" strike="noStrike" kern="0" cap="none" spc="0" normalizeH="0" baseline="0" noProof="0" dirty="0">
              <a:ln>
                <a:noFill/>
              </a:ln>
              <a:solidFill>
                <a:srgbClr val="000000"/>
              </a:solidFill>
              <a:effectLst/>
              <a:uLnTx/>
              <a:uFillTx/>
              <a:latin typeface="Arial"/>
              <a:cs typeface="Arial"/>
              <a:sym typeface="Arial"/>
            </a:endParaRPr>
          </a:p>
        </p:txBody>
      </p:sp>
      <p:pic>
        <p:nvPicPr>
          <p:cNvPr id="3" name="Picture 2">
            <a:extLst>
              <a:ext uri="{FF2B5EF4-FFF2-40B4-BE49-F238E27FC236}">
                <a16:creationId xmlns:a16="http://schemas.microsoft.com/office/drawing/2014/main" id="{B8169D4D-D0C6-7246-3325-197CC20D898F}"/>
              </a:ext>
            </a:extLst>
          </p:cNvPr>
          <p:cNvPicPr>
            <a:picLocks noChangeAspect="1"/>
          </p:cNvPicPr>
          <p:nvPr/>
        </p:nvPicPr>
        <p:blipFill>
          <a:blip r:embed="rId3"/>
          <a:stretch>
            <a:fillRect/>
          </a:stretch>
        </p:blipFill>
        <p:spPr>
          <a:xfrm>
            <a:off x="1263432" y="3478739"/>
            <a:ext cx="6438562" cy="1371175"/>
          </a:xfrm>
          <a:prstGeom prst="rect">
            <a:avLst/>
          </a:prstGeom>
        </p:spPr>
      </p:pic>
      <p:grpSp>
        <p:nvGrpSpPr>
          <p:cNvPr id="2601" name="Google Shape;2601;p25"/>
          <p:cNvGrpSpPr/>
          <p:nvPr/>
        </p:nvGrpSpPr>
        <p:grpSpPr>
          <a:xfrm>
            <a:off x="266387" y="1972784"/>
            <a:ext cx="3409838" cy="2877129"/>
            <a:chOff x="2463487" y="1985484"/>
            <a:chExt cx="4221398" cy="2877129"/>
          </a:xfrm>
        </p:grpSpPr>
        <p:sp>
          <p:nvSpPr>
            <p:cNvPr id="2602" name="Google Shape;2602;p25"/>
            <p:cNvSpPr/>
            <p:nvPr/>
          </p:nvSpPr>
          <p:spPr>
            <a:xfrm>
              <a:off x="3683670" y="3892335"/>
              <a:ext cx="3001215" cy="970278"/>
            </a:xfrm>
            <a:prstGeom prst="rect">
              <a:avLst/>
            </a:prstGeom>
            <a:noFill/>
            <a:ln w="38100" cap="flat" cmpd="sng">
              <a:solidFill>
                <a:srgbClr val="FF540A"/>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cxnSp>
          <p:nvCxnSpPr>
            <p:cNvPr id="2603" name="Google Shape;2603;p25"/>
            <p:cNvCxnSpPr>
              <a:cxnSpLocks/>
              <a:stCxn id="2604" idx="2"/>
            </p:cNvCxnSpPr>
            <p:nvPr/>
          </p:nvCxnSpPr>
          <p:spPr>
            <a:xfrm>
              <a:off x="3988780" y="2323998"/>
              <a:ext cx="247362" cy="1498881"/>
            </a:xfrm>
            <a:prstGeom prst="straightConnector1">
              <a:avLst/>
            </a:prstGeom>
            <a:noFill/>
            <a:ln w="63500" cap="flat" cmpd="sng">
              <a:solidFill>
                <a:srgbClr val="FF540A"/>
              </a:solidFill>
              <a:prstDash val="solid"/>
              <a:miter lim="800000"/>
              <a:headEnd type="none" w="sm" len="sm"/>
              <a:tailEnd type="none" w="sm" len="sm"/>
            </a:ln>
          </p:spPr>
        </p:cxnSp>
        <p:sp>
          <p:nvSpPr>
            <p:cNvPr id="2604" name="Google Shape;2604;p25"/>
            <p:cNvSpPr txBox="1"/>
            <p:nvPr/>
          </p:nvSpPr>
          <p:spPr>
            <a:xfrm>
              <a:off x="2463487" y="1985484"/>
              <a:ext cx="3050587" cy="338514"/>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dirty="0">
                  <a:ln>
                    <a:noFill/>
                  </a:ln>
                  <a:solidFill>
                    <a:srgbClr val="FF540A"/>
                  </a:solidFill>
                  <a:effectLst/>
                  <a:uLnTx/>
                  <a:uFillTx/>
                  <a:latin typeface="Arial"/>
                  <a:ea typeface="Arial"/>
                  <a:cs typeface="Arial"/>
                  <a:sym typeface="Arial"/>
                </a:rPr>
                <a:t>Health Value Creation</a:t>
              </a:r>
              <a:endParaRPr kumimoji="0" lang="en-US" sz="1050" b="0" i="0" u="none" strike="noStrike" kern="0" cap="none" spc="0" normalizeH="0" baseline="0" noProof="0" dirty="0">
                <a:ln>
                  <a:noFill/>
                </a:ln>
                <a:effectLst/>
                <a:uLnTx/>
                <a:uFillTx/>
                <a:latin typeface="Arial"/>
                <a:cs typeface="Arial"/>
                <a:sym typeface="Arial"/>
              </a:endParaRPr>
            </a:p>
          </p:txBody>
        </p:sp>
      </p:grpSp>
      <p:grpSp>
        <p:nvGrpSpPr>
          <p:cNvPr id="2605" name="Google Shape;2605;p25"/>
          <p:cNvGrpSpPr/>
          <p:nvPr/>
        </p:nvGrpSpPr>
        <p:grpSpPr>
          <a:xfrm>
            <a:off x="2133599" y="1242947"/>
            <a:ext cx="3555137" cy="3606966"/>
            <a:chOff x="3468997" y="1255647"/>
            <a:chExt cx="3503479" cy="3606966"/>
          </a:xfrm>
        </p:grpSpPr>
        <p:sp>
          <p:nvSpPr>
            <p:cNvPr id="2606" name="Google Shape;2606;p25"/>
            <p:cNvSpPr/>
            <p:nvPr/>
          </p:nvSpPr>
          <p:spPr>
            <a:xfrm>
              <a:off x="4989208" y="3892335"/>
              <a:ext cx="1696263" cy="970278"/>
            </a:xfrm>
            <a:prstGeom prst="rect">
              <a:avLst/>
            </a:prstGeom>
            <a:noFill/>
            <a:ln w="38100" cap="flat" cmpd="sng">
              <a:solidFill>
                <a:srgbClr val="FF540A"/>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cxnSp>
          <p:nvCxnSpPr>
            <p:cNvPr id="2607" name="Google Shape;2607;p25"/>
            <p:cNvCxnSpPr>
              <a:cxnSpLocks/>
              <a:stCxn id="2608" idx="2"/>
              <a:endCxn id="2606" idx="0"/>
            </p:cNvCxnSpPr>
            <p:nvPr/>
          </p:nvCxnSpPr>
          <p:spPr>
            <a:xfrm>
              <a:off x="5220737" y="1594161"/>
              <a:ext cx="616602" cy="2298174"/>
            </a:xfrm>
            <a:prstGeom prst="straightConnector1">
              <a:avLst/>
            </a:prstGeom>
            <a:noFill/>
            <a:ln w="63500" cap="flat" cmpd="sng">
              <a:solidFill>
                <a:srgbClr val="FF540A"/>
              </a:solidFill>
              <a:prstDash val="solid"/>
              <a:miter lim="800000"/>
              <a:headEnd type="none" w="sm" len="sm"/>
              <a:tailEnd type="none" w="sm" len="sm"/>
            </a:ln>
          </p:spPr>
        </p:cxnSp>
        <p:sp>
          <p:nvSpPr>
            <p:cNvPr id="2608" name="Google Shape;2608;p25"/>
            <p:cNvSpPr txBox="1"/>
            <p:nvPr/>
          </p:nvSpPr>
          <p:spPr>
            <a:xfrm>
              <a:off x="3468997" y="1255647"/>
              <a:ext cx="3503479" cy="338514"/>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dirty="0">
                  <a:ln>
                    <a:noFill/>
                  </a:ln>
                  <a:solidFill>
                    <a:srgbClr val="FF540A"/>
                  </a:solidFill>
                  <a:effectLst/>
                  <a:uLnTx/>
                  <a:uFillTx/>
                  <a:latin typeface="Arial"/>
                  <a:ea typeface="Arial"/>
                  <a:cs typeface="Arial"/>
                  <a:sym typeface="Arial"/>
                </a:rPr>
                <a:t>Business and Operating Model</a:t>
              </a:r>
              <a:endParaRPr kumimoji="0" lang="en-US" sz="1050" b="0" i="0" u="none" strike="noStrike" kern="0" cap="none" spc="0" normalizeH="0" baseline="0" noProof="0" dirty="0">
                <a:ln>
                  <a:noFill/>
                </a:ln>
                <a:effectLst/>
                <a:uLnTx/>
                <a:uFillTx/>
                <a:latin typeface="Arial"/>
                <a:cs typeface="Arial"/>
                <a:sym typeface="Arial"/>
              </a:endParaRPr>
            </a:p>
          </p:txBody>
        </p:sp>
      </p:grpSp>
      <p:cxnSp>
        <p:nvCxnSpPr>
          <p:cNvPr id="2611" name="Google Shape;2611;p25"/>
          <p:cNvCxnSpPr>
            <a:cxnSpLocks/>
            <a:stCxn id="2612" idx="2"/>
          </p:cNvCxnSpPr>
          <p:nvPr/>
        </p:nvCxnSpPr>
        <p:spPr>
          <a:xfrm>
            <a:off x="5992744" y="2115624"/>
            <a:ext cx="636656" cy="1795928"/>
          </a:xfrm>
          <a:prstGeom prst="straightConnector1">
            <a:avLst/>
          </a:prstGeom>
          <a:noFill/>
          <a:ln w="63500" cap="flat" cmpd="sng">
            <a:solidFill>
              <a:srgbClr val="FF540A"/>
            </a:solidFill>
            <a:prstDash val="solid"/>
            <a:miter lim="800000"/>
            <a:headEnd type="none" w="sm" len="sm"/>
            <a:tailEnd type="none" w="sm" len="sm"/>
          </a:ln>
        </p:spPr>
      </p:cxnSp>
      <p:cxnSp>
        <p:nvCxnSpPr>
          <p:cNvPr id="2609" name="Google Shape;2609;p25"/>
          <p:cNvCxnSpPr>
            <a:cxnSpLocks/>
            <a:stCxn id="2610" idx="2"/>
          </p:cNvCxnSpPr>
          <p:nvPr/>
        </p:nvCxnSpPr>
        <p:spPr>
          <a:xfrm>
            <a:off x="5282242" y="2735563"/>
            <a:ext cx="406495" cy="1175989"/>
          </a:xfrm>
          <a:prstGeom prst="straightConnector1">
            <a:avLst/>
          </a:prstGeom>
          <a:noFill/>
          <a:ln w="63500" cap="flat" cmpd="sng">
            <a:solidFill>
              <a:srgbClr val="FF540A"/>
            </a:solidFill>
            <a:prstDash val="solid"/>
            <a:miter lim="800000"/>
            <a:headEnd type="none" w="sm" len="sm"/>
            <a:tailEnd type="none" w="sm" len="sm"/>
          </a:ln>
        </p:spPr>
      </p:cxnSp>
      <p:cxnSp>
        <p:nvCxnSpPr>
          <p:cNvPr id="2613" name="Google Shape;2613;p25"/>
          <p:cNvCxnSpPr>
            <a:cxnSpLocks/>
            <a:stCxn id="2614" idx="2"/>
          </p:cNvCxnSpPr>
          <p:nvPr/>
        </p:nvCxnSpPr>
        <p:spPr>
          <a:xfrm flipH="1">
            <a:off x="7294753" y="1645307"/>
            <a:ext cx="493895" cy="2266245"/>
          </a:xfrm>
          <a:prstGeom prst="straightConnector1">
            <a:avLst/>
          </a:prstGeom>
          <a:noFill/>
          <a:ln w="63500" cap="flat" cmpd="sng">
            <a:solidFill>
              <a:srgbClr val="FF540A"/>
            </a:solidFill>
            <a:prstDash val="solid"/>
            <a:miter lim="800000"/>
            <a:headEnd type="none" w="sm" len="sm"/>
            <a:tailEnd type="none" w="sm" len="sm"/>
          </a:ln>
        </p:spPr>
      </p:cxnSp>
      <p:graphicFrame>
        <p:nvGraphicFramePr>
          <p:cNvPr id="6" name="Table 5">
            <a:extLst>
              <a:ext uri="{FF2B5EF4-FFF2-40B4-BE49-F238E27FC236}">
                <a16:creationId xmlns:a16="http://schemas.microsoft.com/office/drawing/2014/main" id="{CBB0591C-D739-8161-FF7F-CE24DDE72712}"/>
              </a:ext>
            </a:extLst>
          </p:cNvPr>
          <p:cNvGraphicFramePr>
            <a:graphicFrameLocks noGrp="1"/>
          </p:cNvGraphicFramePr>
          <p:nvPr>
            <p:extLst>
              <p:ext uri="{D42A27DB-BD31-4B8C-83A1-F6EECF244321}">
                <p14:modId xmlns:p14="http://schemas.microsoft.com/office/powerpoint/2010/main" val="1527270149"/>
              </p:ext>
            </p:extLst>
          </p:nvPr>
        </p:nvGraphicFramePr>
        <p:xfrm>
          <a:off x="7738835" y="3911552"/>
          <a:ext cx="4338864" cy="938361"/>
        </p:xfrm>
        <a:graphic>
          <a:graphicData uri="http://schemas.openxmlformats.org/drawingml/2006/table">
            <a:tbl>
              <a:tblPr firstRow="1" bandRow="1">
                <a:tableStyleId>{DA9C0B7B-4BF3-4A31-9099-A2245D6C73B7}</a:tableStyleId>
              </a:tblPr>
              <a:tblGrid>
                <a:gridCol w="1074289">
                  <a:extLst>
                    <a:ext uri="{9D8B030D-6E8A-4147-A177-3AD203B41FA5}">
                      <a16:colId xmlns:a16="http://schemas.microsoft.com/office/drawing/2014/main" val="1540724542"/>
                    </a:ext>
                  </a:extLst>
                </a:gridCol>
                <a:gridCol w="1074289">
                  <a:extLst>
                    <a:ext uri="{9D8B030D-6E8A-4147-A177-3AD203B41FA5}">
                      <a16:colId xmlns:a16="http://schemas.microsoft.com/office/drawing/2014/main" val="2986476142"/>
                    </a:ext>
                  </a:extLst>
                </a:gridCol>
                <a:gridCol w="2190286">
                  <a:extLst>
                    <a:ext uri="{9D8B030D-6E8A-4147-A177-3AD203B41FA5}">
                      <a16:colId xmlns:a16="http://schemas.microsoft.com/office/drawing/2014/main" val="1432420966"/>
                    </a:ext>
                  </a:extLst>
                </a:gridCol>
              </a:tblGrid>
              <a:tr h="938361">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Current State @ BCBSMA</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Alignment to Use Case Scope</a:t>
                      </a:r>
                    </a:p>
                  </a:txBody>
                  <a:tcPr anchor="ct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dirty="0">
                          <a:solidFill>
                            <a:schemeClr val="bg1"/>
                          </a:solidFill>
                          <a:latin typeface="Arial Narrow" panose="020B0604020202020204" pitchFamily="34" charset="0"/>
                          <a:ea typeface="Apple Symbols" panose="02000000000000000000" pitchFamily="2" charset="-79"/>
                          <a:cs typeface="AL BAYAN PLAIN" pitchFamily="2" charset="-78"/>
                          <a:sym typeface="Arial"/>
                        </a:rPr>
                        <a:t>Business Owners (Functions)</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164319366"/>
                  </a:ext>
                </a:extLst>
              </a:tr>
            </a:tbl>
          </a:graphicData>
        </a:graphic>
      </p:graphicFrame>
      <p:sp>
        <p:nvSpPr>
          <p:cNvPr id="25" name="Google Shape;2614;p25">
            <a:extLst>
              <a:ext uri="{FF2B5EF4-FFF2-40B4-BE49-F238E27FC236}">
                <a16:creationId xmlns:a16="http://schemas.microsoft.com/office/drawing/2014/main" id="{3516A0D6-658A-0A96-FA57-F238844FD880}"/>
              </a:ext>
            </a:extLst>
          </p:cNvPr>
          <p:cNvSpPr txBox="1"/>
          <p:nvPr/>
        </p:nvSpPr>
        <p:spPr>
          <a:xfrm>
            <a:off x="7833603" y="2392910"/>
            <a:ext cx="2596141" cy="584735"/>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dirty="0">
                <a:ln>
                  <a:noFill/>
                </a:ln>
                <a:solidFill>
                  <a:srgbClr val="FF540A"/>
                </a:solidFill>
                <a:effectLst/>
                <a:uLnTx/>
                <a:uFillTx/>
                <a:latin typeface="Arial"/>
                <a:ea typeface="Arial"/>
                <a:cs typeface="Arial"/>
                <a:sym typeface="Arial"/>
              </a:rPr>
              <a:t>Do we have any ongoing AI efforts?</a:t>
            </a:r>
            <a:endParaRPr kumimoji="0" lang="en-US" sz="105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6" name="Google Shape;2613;p25">
            <a:extLst>
              <a:ext uri="{FF2B5EF4-FFF2-40B4-BE49-F238E27FC236}">
                <a16:creationId xmlns:a16="http://schemas.microsoft.com/office/drawing/2014/main" id="{018CC53C-839A-BDB2-8938-5B9746AFFD0F}"/>
              </a:ext>
            </a:extLst>
          </p:cNvPr>
          <p:cNvCxnSpPr>
            <a:cxnSpLocks/>
            <a:stCxn id="25" idx="2"/>
          </p:cNvCxnSpPr>
          <p:nvPr/>
        </p:nvCxnSpPr>
        <p:spPr>
          <a:xfrm flipH="1">
            <a:off x="8183088" y="2977645"/>
            <a:ext cx="948586" cy="933907"/>
          </a:xfrm>
          <a:prstGeom prst="straightConnector1">
            <a:avLst/>
          </a:prstGeom>
          <a:noFill/>
          <a:ln w="63500" cap="flat" cmpd="sng">
            <a:solidFill>
              <a:srgbClr val="FF540A"/>
            </a:solidFill>
            <a:prstDash val="solid"/>
            <a:miter lim="800000"/>
            <a:headEnd type="none" w="sm" len="sm"/>
            <a:tailEnd type="none" w="sm" len="sm"/>
          </a:ln>
        </p:spPr>
      </p:cxnSp>
      <p:sp>
        <p:nvSpPr>
          <p:cNvPr id="28" name="Google Shape;2614;p25">
            <a:extLst>
              <a:ext uri="{FF2B5EF4-FFF2-40B4-BE49-F238E27FC236}">
                <a16:creationId xmlns:a16="http://schemas.microsoft.com/office/drawing/2014/main" id="{52BD096D-67AF-931E-819B-FABAA41A85E1}"/>
              </a:ext>
            </a:extLst>
          </p:cNvPr>
          <p:cNvSpPr txBox="1"/>
          <p:nvPr/>
        </p:nvSpPr>
        <p:spPr>
          <a:xfrm>
            <a:off x="9595859" y="1095743"/>
            <a:ext cx="2596141" cy="830956"/>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dirty="0">
                <a:ln>
                  <a:noFill/>
                </a:ln>
                <a:solidFill>
                  <a:srgbClr val="FF540A"/>
                </a:solidFill>
                <a:effectLst/>
                <a:uLnTx/>
                <a:uFillTx/>
                <a:latin typeface="Arial"/>
                <a:ea typeface="Arial"/>
                <a:cs typeface="Arial"/>
                <a:sym typeface="Arial"/>
              </a:rPr>
              <a:t>How well do these efforts align to the full scope of AI use case</a:t>
            </a:r>
            <a:endParaRPr kumimoji="0" lang="en-US" sz="105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29" name="Google Shape;2613;p25">
            <a:extLst>
              <a:ext uri="{FF2B5EF4-FFF2-40B4-BE49-F238E27FC236}">
                <a16:creationId xmlns:a16="http://schemas.microsoft.com/office/drawing/2014/main" id="{1C77CFE2-5AD7-8F1D-D3C3-35F8238EFE51}"/>
              </a:ext>
            </a:extLst>
          </p:cNvPr>
          <p:cNvCxnSpPr>
            <a:cxnSpLocks/>
            <a:stCxn id="28" idx="2"/>
          </p:cNvCxnSpPr>
          <p:nvPr/>
        </p:nvCxnSpPr>
        <p:spPr>
          <a:xfrm flipH="1">
            <a:off x="9387291" y="1926699"/>
            <a:ext cx="1506639" cy="1984853"/>
          </a:xfrm>
          <a:prstGeom prst="straightConnector1">
            <a:avLst/>
          </a:prstGeom>
          <a:noFill/>
          <a:ln w="63500" cap="flat" cmpd="sng">
            <a:solidFill>
              <a:srgbClr val="FF540A"/>
            </a:solidFill>
            <a:prstDash val="solid"/>
            <a:miter lim="800000"/>
            <a:headEnd type="none" w="sm" len="sm"/>
            <a:tailEnd type="none" w="sm" len="sm"/>
          </a:ln>
        </p:spPr>
      </p:cxnSp>
      <p:sp>
        <p:nvSpPr>
          <p:cNvPr id="34" name="Text Placeholder 2">
            <a:extLst>
              <a:ext uri="{FF2B5EF4-FFF2-40B4-BE49-F238E27FC236}">
                <a16:creationId xmlns:a16="http://schemas.microsoft.com/office/drawing/2014/main" id="{17F7708A-AD19-4159-983F-07848F0BE919}"/>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a:solidFill>
                  <a:schemeClr val="accent4"/>
                </a:solidFill>
                <a:latin typeface="Bebas Neue" panose="020B0606020202050201" pitchFamily="34" charset="77"/>
              </a:rPr>
              <a:t>Evaluating AI use cases against our priorities, readiness and ongoing efforts</a:t>
            </a:r>
          </a:p>
        </p:txBody>
      </p:sp>
      <p:cxnSp>
        <p:nvCxnSpPr>
          <p:cNvPr id="2" name="Straight Connector 1">
            <a:extLst>
              <a:ext uri="{FF2B5EF4-FFF2-40B4-BE49-F238E27FC236}">
                <a16:creationId xmlns:a16="http://schemas.microsoft.com/office/drawing/2014/main" id="{48ECE2CB-3913-BBD7-87EB-21DE5FCF66A6}"/>
              </a:ext>
            </a:extLst>
          </p:cNvPr>
          <p:cNvCxnSpPr>
            <a:cxnSpLocks/>
          </p:cNvCxnSpPr>
          <p:nvPr/>
        </p:nvCxnSpPr>
        <p:spPr>
          <a:xfrm flipV="1">
            <a:off x="7827735" y="3855876"/>
            <a:ext cx="2024997" cy="573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730E337A-E4D0-15BF-2FD8-D98F7F29EEF6}"/>
              </a:ext>
            </a:extLst>
          </p:cNvPr>
          <p:cNvCxnSpPr>
            <a:cxnSpLocks/>
          </p:cNvCxnSpPr>
          <p:nvPr/>
        </p:nvCxnSpPr>
        <p:spPr>
          <a:xfrm>
            <a:off x="9927317" y="3855876"/>
            <a:ext cx="2112282" cy="573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5916ED6-84F6-9F43-D709-7BC211CD8D21}"/>
              </a:ext>
            </a:extLst>
          </p:cNvPr>
          <p:cNvSpPr txBox="1"/>
          <p:nvPr/>
        </p:nvSpPr>
        <p:spPr>
          <a:xfrm>
            <a:off x="7724520" y="3586748"/>
            <a:ext cx="2013912" cy="276999"/>
          </a:xfrm>
          <a:prstGeom prst="rect">
            <a:avLst/>
          </a:prstGeom>
          <a:noFill/>
        </p:spPr>
        <p:txBody>
          <a:bodyPr wrap="square" rtlCol="0">
            <a:spAutoFit/>
          </a:bodyPr>
          <a:lstStyle/>
          <a:p>
            <a:pPr algn="ctr"/>
            <a:r>
              <a:rPr lang="en-US" sz="1200" b="1" dirty="0"/>
              <a:t>BCBSMA Assessment</a:t>
            </a:r>
          </a:p>
        </p:txBody>
      </p:sp>
      <p:sp>
        <p:nvSpPr>
          <p:cNvPr id="7" name="TextBox 6">
            <a:extLst>
              <a:ext uri="{FF2B5EF4-FFF2-40B4-BE49-F238E27FC236}">
                <a16:creationId xmlns:a16="http://schemas.microsoft.com/office/drawing/2014/main" id="{D35E2DFB-5383-7F40-6048-179E007469CB}"/>
              </a:ext>
            </a:extLst>
          </p:cNvPr>
          <p:cNvSpPr txBox="1"/>
          <p:nvPr/>
        </p:nvSpPr>
        <p:spPr>
          <a:xfrm>
            <a:off x="10459356" y="3578877"/>
            <a:ext cx="1099458" cy="276999"/>
          </a:xfrm>
          <a:prstGeom prst="rect">
            <a:avLst/>
          </a:prstGeom>
          <a:noFill/>
        </p:spPr>
        <p:txBody>
          <a:bodyPr wrap="square" rtlCol="0">
            <a:spAutoFit/>
          </a:bodyPr>
          <a:lstStyle/>
          <a:p>
            <a:pPr algn="ctr"/>
            <a:r>
              <a:rPr lang="en-US" sz="1200" b="1" dirty="0"/>
              <a:t>Owners</a:t>
            </a:r>
          </a:p>
        </p:txBody>
      </p:sp>
      <p:cxnSp>
        <p:nvCxnSpPr>
          <p:cNvPr id="9" name="Straight Connector 8">
            <a:extLst>
              <a:ext uri="{FF2B5EF4-FFF2-40B4-BE49-F238E27FC236}">
                <a16:creationId xmlns:a16="http://schemas.microsoft.com/office/drawing/2014/main" id="{AFB8966C-1B54-BC2D-247E-A2E858349029}"/>
              </a:ext>
            </a:extLst>
          </p:cNvPr>
          <p:cNvCxnSpPr/>
          <p:nvPr/>
        </p:nvCxnSpPr>
        <p:spPr>
          <a:xfrm>
            <a:off x="7738835" y="3478739"/>
            <a:ext cx="4300764"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D985927-8869-734B-532A-A438ECA2F20B}"/>
              </a:ext>
            </a:extLst>
          </p:cNvPr>
          <p:cNvPicPr>
            <a:picLocks noChangeAspect="1"/>
          </p:cNvPicPr>
          <p:nvPr/>
        </p:nvPicPr>
        <p:blipFill>
          <a:blip r:embed="rId4"/>
          <a:stretch>
            <a:fillRect/>
          </a:stretch>
        </p:blipFill>
        <p:spPr>
          <a:xfrm>
            <a:off x="5597164" y="4931101"/>
            <a:ext cx="5997428" cy="1876018"/>
          </a:xfrm>
          <a:prstGeom prst="rect">
            <a:avLst/>
          </a:prstGeom>
          <a:ln>
            <a:solidFill>
              <a:schemeClr val="bg1">
                <a:lumMod val="85000"/>
              </a:schemeClr>
            </a:solidFill>
          </a:ln>
        </p:spPr>
      </p:pic>
    </p:spTree>
    <p:extLst>
      <p:ext uri="{BB962C8B-B14F-4D97-AF65-F5344CB8AC3E}">
        <p14:creationId xmlns:p14="http://schemas.microsoft.com/office/powerpoint/2010/main" val="6094118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01"/>
                                        </p:tgtEl>
                                        <p:attrNameLst>
                                          <p:attrName>style.visibility</p:attrName>
                                        </p:attrNameLst>
                                      </p:cBhvr>
                                      <p:to>
                                        <p:strVal val="visible"/>
                                      </p:to>
                                    </p:set>
                                    <p:animEffect transition="in" filter="fade">
                                      <p:cBhvr>
                                        <p:cTn id="7" dur="500"/>
                                        <p:tgtEl>
                                          <p:spTgt spid="26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05"/>
                                        </p:tgtEl>
                                        <p:attrNameLst>
                                          <p:attrName>style.visibility</p:attrName>
                                        </p:attrNameLst>
                                      </p:cBhvr>
                                      <p:to>
                                        <p:strVal val="visible"/>
                                      </p:to>
                                    </p:set>
                                    <p:animEffect transition="in" filter="fade">
                                      <p:cBhvr>
                                        <p:cTn id="12" dur="500"/>
                                        <p:tgtEl>
                                          <p:spTgt spid="26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09"/>
                                        </p:tgtEl>
                                        <p:attrNameLst>
                                          <p:attrName>style.visibility</p:attrName>
                                        </p:attrNameLst>
                                      </p:cBhvr>
                                      <p:to>
                                        <p:strVal val="visible"/>
                                      </p:to>
                                    </p:set>
                                    <p:animEffect transition="in" filter="fade">
                                      <p:cBhvr>
                                        <p:cTn id="17" dur="500"/>
                                        <p:tgtEl>
                                          <p:spTgt spid="2609"/>
                                        </p:tgtEl>
                                      </p:cBhvr>
                                    </p:animEffect>
                                  </p:childTnLst>
                                </p:cTn>
                              </p:par>
                              <p:par>
                                <p:cTn id="18" presetID="10" presetClass="entr" presetSubtype="0" fill="hold" nodeType="withEffect">
                                  <p:stCondLst>
                                    <p:cond delay="0"/>
                                  </p:stCondLst>
                                  <p:childTnLst>
                                    <p:set>
                                      <p:cBhvr>
                                        <p:cTn id="19" dur="1" fill="hold">
                                          <p:stCondLst>
                                            <p:cond delay="0"/>
                                          </p:stCondLst>
                                        </p:cTn>
                                        <p:tgtEl>
                                          <p:spTgt spid="2610"/>
                                        </p:tgtEl>
                                        <p:attrNameLst>
                                          <p:attrName>style.visibility</p:attrName>
                                        </p:attrNameLst>
                                      </p:cBhvr>
                                      <p:to>
                                        <p:strVal val="visible"/>
                                      </p:to>
                                    </p:set>
                                    <p:animEffect transition="in" filter="fade">
                                      <p:cBhvr>
                                        <p:cTn id="20" dur="500"/>
                                        <p:tgtEl>
                                          <p:spTgt spid="26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611"/>
                                        </p:tgtEl>
                                        <p:attrNameLst>
                                          <p:attrName>style.visibility</p:attrName>
                                        </p:attrNameLst>
                                      </p:cBhvr>
                                      <p:to>
                                        <p:strVal val="visible"/>
                                      </p:to>
                                    </p:set>
                                    <p:animEffect transition="in" filter="fade">
                                      <p:cBhvr>
                                        <p:cTn id="25" dur="500"/>
                                        <p:tgtEl>
                                          <p:spTgt spid="2611"/>
                                        </p:tgtEl>
                                      </p:cBhvr>
                                    </p:animEffect>
                                  </p:childTnLst>
                                </p:cTn>
                              </p:par>
                              <p:par>
                                <p:cTn id="26" presetID="10" presetClass="entr" presetSubtype="0" fill="hold" nodeType="withEffect">
                                  <p:stCondLst>
                                    <p:cond delay="0"/>
                                  </p:stCondLst>
                                  <p:childTnLst>
                                    <p:set>
                                      <p:cBhvr>
                                        <p:cTn id="27" dur="1" fill="hold">
                                          <p:stCondLst>
                                            <p:cond delay="0"/>
                                          </p:stCondLst>
                                        </p:cTn>
                                        <p:tgtEl>
                                          <p:spTgt spid="2612"/>
                                        </p:tgtEl>
                                        <p:attrNameLst>
                                          <p:attrName>style.visibility</p:attrName>
                                        </p:attrNameLst>
                                      </p:cBhvr>
                                      <p:to>
                                        <p:strVal val="visible"/>
                                      </p:to>
                                    </p:set>
                                    <p:animEffect transition="in" filter="fade">
                                      <p:cBhvr>
                                        <p:cTn id="28" dur="500"/>
                                        <p:tgtEl>
                                          <p:spTgt spid="26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13"/>
                                        </p:tgtEl>
                                        <p:attrNameLst>
                                          <p:attrName>style.visibility</p:attrName>
                                        </p:attrNameLst>
                                      </p:cBhvr>
                                      <p:to>
                                        <p:strVal val="visible"/>
                                      </p:to>
                                    </p:set>
                                    <p:animEffect transition="in" filter="fade">
                                      <p:cBhvr>
                                        <p:cTn id="33" dur="500"/>
                                        <p:tgtEl>
                                          <p:spTgt spid="2613"/>
                                        </p:tgtEl>
                                      </p:cBhvr>
                                    </p:animEffect>
                                  </p:childTnLst>
                                </p:cTn>
                              </p:par>
                              <p:par>
                                <p:cTn id="34" presetID="10" presetClass="entr" presetSubtype="0" fill="hold" nodeType="withEffect">
                                  <p:stCondLst>
                                    <p:cond delay="0"/>
                                  </p:stCondLst>
                                  <p:childTnLst>
                                    <p:set>
                                      <p:cBhvr>
                                        <p:cTn id="35" dur="1" fill="hold">
                                          <p:stCondLst>
                                            <p:cond delay="0"/>
                                          </p:stCondLst>
                                        </p:cTn>
                                        <p:tgtEl>
                                          <p:spTgt spid="2614"/>
                                        </p:tgtEl>
                                        <p:attrNameLst>
                                          <p:attrName>style.visibility</p:attrName>
                                        </p:attrNameLst>
                                      </p:cBhvr>
                                      <p:to>
                                        <p:strVal val="visible"/>
                                      </p:to>
                                    </p:set>
                                    <p:animEffect transition="in" filter="fade">
                                      <p:cBhvr>
                                        <p:cTn id="36" dur="500"/>
                                        <p:tgtEl>
                                          <p:spTgt spid="26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A15D22-B7DD-9997-5F29-491F588D4208}"/>
              </a:ext>
            </a:extLst>
          </p:cNvPr>
          <p:cNvPicPr>
            <a:picLocks noChangeAspect="1"/>
          </p:cNvPicPr>
          <p:nvPr/>
        </p:nvPicPr>
        <p:blipFill>
          <a:blip r:embed="rId2"/>
          <a:stretch>
            <a:fillRect/>
          </a:stretch>
        </p:blipFill>
        <p:spPr>
          <a:xfrm>
            <a:off x="305707" y="1455968"/>
            <a:ext cx="7073900" cy="4838700"/>
          </a:xfrm>
          <a:prstGeom prst="rect">
            <a:avLst/>
          </a:prstGeom>
        </p:spPr>
      </p:pic>
      <p:graphicFrame>
        <p:nvGraphicFramePr>
          <p:cNvPr id="4" name="Table 4">
            <a:extLst>
              <a:ext uri="{FF2B5EF4-FFF2-40B4-BE49-F238E27FC236}">
                <a16:creationId xmlns:a16="http://schemas.microsoft.com/office/drawing/2014/main" id="{D23F621F-783E-37FC-D0A1-1AC7C4749990}"/>
              </a:ext>
            </a:extLst>
          </p:cNvPr>
          <p:cNvGraphicFramePr>
            <a:graphicFrameLocks noGrp="1"/>
          </p:cNvGraphicFramePr>
          <p:nvPr>
            <p:extLst>
              <p:ext uri="{D42A27DB-BD31-4B8C-83A1-F6EECF244321}">
                <p14:modId xmlns:p14="http://schemas.microsoft.com/office/powerpoint/2010/main" val="3649430629"/>
              </p:ext>
            </p:extLst>
          </p:nvPr>
        </p:nvGraphicFramePr>
        <p:xfrm>
          <a:off x="7379607" y="1739883"/>
          <a:ext cx="4224565" cy="4525801"/>
        </p:xfrm>
        <a:graphic>
          <a:graphicData uri="http://schemas.openxmlformats.org/drawingml/2006/table">
            <a:tbl>
              <a:tblPr firstRow="1" bandRow="1">
                <a:tableStyleId>{DA9C0B7B-4BF3-4A31-9099-A2245D6C73B7}</a:tableStyleId>
              </a:tblPr>
              <a:tblGrid>
                <a:gridCol w="1045989">
                  <a:extLst>
                    <a:ext uri="{9D8B030D-6E8A-4147-A177-3AD203B41FA5}">
                      <a16:colId xmlns:a16="http://schemas.microsoft.com/office/drawing/2014/main" val="1557259596"/>
                    </a:ext>
                  </a:extLst>
                </a:gridCol>
                <a:gridCol w="1045989">
                  <a:extLst>
                    <a:ext uri="{9D8B030D-6E8A-4147-A177-3AD203B41FA5}">
                      <a16:colId xmlns:a16="http://schemas.microsoft.com/office/drawing/2014/main" val="4006069341"/>
                    </a:ext>
                  </a:extLst>
                </a:gridCol>
                <a:gridCol w="2132587">
                  <a:extLst>
                    <a:ext uri="{9D8B030D-6E8A-4147-A177-3AD203B41FA5}">
                      <a16:colId xmlns:a16="http://schemas.microsoft.com/office/drawing/2014/main" val="3344174409"/>
                    </a:ext>
                  </a:extLst>
                </a:gridCol>
              </a:tblGrid>
              <a:tr h="796493">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Current State @ BCBSMA</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Alignment to Use Case Scope</a:t>
                      </a:r>
                    </a:p>
                  </a:txBody>
                  <a:tcPr anchor="ct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dirty="0">
                          <a:solidFill>
                            <a:schemeClr val="bg1"/>
                          </a:solidFill>
                          <a:latin typeface="Arial Narrow" panose="020B0604020202020204" pitchFamily="34" charset="0"/>
                          <a:ea typeface="Apple Symbols" panose="02000000000000000000" pitchFamily="2" charset="-79"/>
                          <a:cs typeface="AL BAYAN PLAIN" pitchFamily="2" charset="-78"/>
                          <a:sym typeface="Arial"/>
                        </a:rPr>
                        <a:t>Business Owners (Functions)</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315686">
                <a:tc>
                  <a:txBody>
                    <a:bodyPr/>
                    <a:lstStyle/>
                    <a:p>
                      <a:pPr marR="0" algn="l" rtl="0">
                        <a:lnSpc>
                          <a:spcPct val="100000"/>
                        </a:lnSpc>
                        <a:spcBef>
                          <a:spcPts val="0"/>
                        </a:spcBef>
                        <a:spcAft>
                          <a:spcPts val="0"/>
                        </a:spcAft>
                        <a:buClr>
                          <a:srgbClr val="000000"/>
                        </a:buClr>
                        <a:buFont typeface="Arial"/>
                      </a:pPr>
                      <a:endParaRPr lang="en-US" sz="1200" b="0" i="0" u="none" strike="noStrike" cap="none" dirty="0">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endParaRPr lang="en-US" sz="1200" b="0" i="0" u="none" strike="noStrike" cap="none" dirty="0">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rgbClr val="000000"/>
                          </a:solidFill>
                          <a:latin typeface="Arial"/>
                          <a:cs typeface="Arial"/>
                          <a:sym typeface="Arial"/>
                        </a:rPr>
                        <a:t>PFH, HMM (Care Mgmt.)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845332155"/>
                  </a:ext>
                </a:extLst>
              </a:tr>
              <a:tr h="391886">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HMM (Clinical)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174840831"/>
                  </a:ext>
                </a:extLst>
              </a:tr>
              <a:tr h="250371">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dirty="0"/>
                        <a:t>Operations (MAPS)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35067919"/>
                  </a:ext>
                </a:extLst>
              </a:tr>
              <a:tr h="389708">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EA, ET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82595577"/>
                  </a:ext>
                </a:extLst>
              </a:tr>
              <a:tr h="284434">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dirty="0"/>
                        <a:t>Legal (FIP)</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6845343"/>
                  </a:ext>
                </a:extLst>
              </a:tr>
              <a:tr h="357824">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HMM (Clinical)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633790"/>
                  </a:ext>
                </a:extLst>
              </a:tr>
              <a:tr h="250371">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dirty="0"/>
                        <a:t>HMM (Clinical)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011243268"/>
                  </a:ext>
                </a:extLst>
              </a:tr>
              <a:tr h="313508">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Operations (Claims)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22015196"/>
                  </a:ext>
                </a:extLst>
              </a:tr>
              <a:tr h="284434">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dirty="0"/>
                        <a:t>PFH, HMM (Care Mgmt.)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7217189"/>
                  </a:ext>
                </a:extLst>
              </a:tr>
              <a:tr h="284434">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Operations (Provider Mgmt.)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46509637"/>
                  </a:ext>
                </a:extLst>
              </a:tr>
              <a:tr h="206920">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Operations (Claims)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72043888"/>
                  </a:ext>
                </a:extLst>
              </a:tr>
              <a:tr h="284434">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t>Risk (Security)</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424694"/>
                  </a:ext>
                </a:extLst>
              </a:tr>
            </a:tbl>
          </a:graphicData>
        </a:graphic>
      </p:graphicFrame>
      <p:cxnSp>
        <p:nvCxnSpPr>
          <p:cNvPr id="6" name="Straight Connector 5">
            <a:extLst>
              <a:ext uri="{FF2B5EF4-FFF2-40B4-BE49-F238E27FC236}">
                <a16:creationId xmlns:a16="http://schemas.microsoft.com/office/drawing/2014/main" id="{2928742E-BD7E-D129-254B-7C657575CF23}"/>
              </a:ext>
            </a:extLst>
          </p:cNvPr>
          <p:cNvCxnSpPr>
            <a:cxnSpLocks/>
          </p:cNvCxnSpPr>
          <p:nvPr/>
        </p:nvCxnSpPr>
        <p:spPr>
          <a:xfrm flipV="1">
            <a:off x="7417707" y="1670666"/>
            <a:ext cx="2024997" cy="573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C7754DF-C205-B0AE-0583-2E66711754E0}"/>
              </a:ext>
            </a:extLst>
          </p:cNvPr>
          <p:cNvCxnSpPr>
            <a:cxnSpLocks/>
          </p:cNvCxnSpPr>
          <p:nvPr/>
        </p:nvCxnSpPr>
        <p:spPr>
          <a:xfrm>
            <a:off x="9491889" y="1670666"/>
            <a:ext cx="2112282" cy="573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A4EDC8-59A6-4E73-2B41-B76BE5DA1C11}"/>
              </a:ext>
            </a:extLst>
          </p:cNvPr>
          <p:cNvSpPr txBox="1"/>
          <p:nvPr/>
        </p:nvSpPr>
        <p:spPr>
          <a:xfrm>
            <a:off x="7428792" y="1401538"/>
            <a:ext cx="2013912" cy="276999"/>
          </a:xfrm>
          <a:prstGeom prst="rect">
            <a:avLst/>
          </a:prstGeom>
          <a:noFill/>
        </p:spPr>
        <p:txBody>
          <a:bodyPr wrap="square" rtlCol="0">
            <a:spAutoFit/>
          </a:bodyPr>
          <a:lstStyle/>
          <a:p>
            <a:pPr algn="ctr"/>
            <a:r>
              <a:rPr lang="en-US" sz="1200" b="1" dirty="0"/>
              <a:t>BCBSMA Assessment</a:t>
            </a:r>
          </a:p>
        </p:txBody>
      </p:sp>
      <p:sp>
        <p:nvSpPr>
          <p:cNvPr id="14" name="TextBox 13">
            <a:extLst>
              <a:ext uri="{FF2B5EF4-FFF2-40B4-BE49-F238E27FC236}">
                <a16:creationId xmlns:a16="http://schemas.microsoft.com/office/drawing/2014/main" id="{676EF678-A605-EC2C-DBCE-3CC00760B9A9}"/>
              </a:ext>
            </a:extLst>
          </p:cNvPr>
          <p:cNvSpPr txBox="1"/>
          <p:nvPr/>
        </p:nvSpPr>
        <p:spPr>
          <a:xfrm>
            <a:off x="9973128" y="1393667"/>
            <a:ext cx="1099458" cy="276999"/>
          </a:xfrm>
          <a:prstGeom prst="rect">
            <a:avLst/>
          </a:prstGeom>
          <a:noFill/>
        </p:spPr>
        <p:txBody>
          <a:bodyPr wrap="square" rtlCol="0">
            <a:spAutoFit/>
          </a:bodyPr>
          <a:lstStyle/>
          <a:p>
            <a:pPr algn="ctr"/>
            <a:r>
              <a:rPr lang="en-US" sz="1200" b="1" dirty="0"/>
              <a:t>Owners</a:t>
            </a:r>
          </a:p>
        </p:txBody>
      </p:sp>
      <p:sp>
        <p:nvSpPr>
          <p:cNvPr id="17" name="Text Placeholder 2">
            <a:extLst>
              <a:ext uri="{FF2B5EF4-FFF2-40B4-BE49-F238E27FC236}">
                <a16:creationId xmlns:a16="http://schemas.microsoft.com/office/drawing/2014/main" id="{303CD3FA-58FF-59BA-356E-65E128E3187D}"/>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accent4"/>
              </a:buClr>
              <a:buSzPts val="2000"/>
            </a:pPr>
            <a:r>
              <a:rPr lang="en-US" sz="2000" dirty="0">
                <a:solidFill>
                  <a:schemeClr val="accent4"/>
                </a:solidFill>
                <a:latin typeface="Bebas Neue"/>
                <a:sym typeface="Bebas Neue"/>
              </a:rPr>
              <a:t>Use Cases (1 of 2)</a:t>
            </a:r>
          </a:p>
        </p:txBody>
      </p:sp>
      <p:sp>
        <p:nvSpPr>
          <p:cNvPr id="18" name="Text Placeholder 3">
            <a:extLst>
              <a:ext uri="{FF2B5EF4-FFF2-40B4-BE49-F238E27FC236}">
                <a16:creationId xmlns:a16="http://schemas.microsoft.com/office/drawing/2014/main" id="{80786613-CE4E-AFDF-246E-0E02B2EEE25C}"/>
              </a:ext>
            </a:extLst>
          </p:cNvPr>
          <p:cNvSpPr txBox="1">
            <a:spLocks/>
          </p:cNvSpPr>
          <p:nvPr/>
        </p:nvSpPr>
        <p:spPr>
          <a:xfrm>
            <a:off x="603503" y="761999"/>
            <a:ext cx="9879439" cy="5606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36538"/>
            <a:r>
              <a:rPr lang="en-US" dirty="0">
                <a:solidFill>
                  <a:schemeClr val="tx1"/>
                </a:solidFill>
              </a:rPr>
              <a:t>We are leveraging a framework from Gartner that identifies the most impactful AI use cases across healthcare payer functions and scores each based on their respective business value and feasibility. </a:t>
            </a:r>
          </a:p>
          <a:p>
            <a:endParaRPr lang="en-US" i="1" dirty="0"/>
          </a:p>
        </p:txBody>
      </p:sp>
      <p:grpSp>
        <p:nvGrpSpPr>
          <p:cNvPr id="25" name="Group 24">
            <a:extLst>
              <a:ext uri="{FF2B5EF4-FFF2-40B4-BE49-F238E27FC236}">
                <a16:creationId xmlns:a16="http://schemas.microsoft.com/office/drawing/2014/main" id="{E74F4743-DE92-2439-A5B8-C696A3C8DDD9}"/>
              </a:ext>
            </a:extLst>
          </p:cNvPr>
          <p:cNvGrpSpPr/>
          <p:nvPr/>
        </p:nvGrpSpPr>
        <p:grpSpPr>
          <a:xfrm>
            <a:off x="603503" y="6473952"/>
            <a:ext cx="3934279" cy="209550"/>
            <a:chOff x="3245757" y="6473952"/>
            <a:chExt cx="3934279" cy="209550"/>
          </a:xfrm>
        </p:grpSpPr>
        <p:pic>
          <p:nvPicPr>
            <p:cNvPr id="20" name="Picture 19">
              <a:extLst>
                <a:ext uri="{FF2B5EF4-FFF2-40B4-BE49-F238E27FC236}">
                  <a16:creationId xmlns:a16="http://schemas.microsoft.com/office/drawing/2014/main" id="{94D00AC8-7BA8-74BF-1DBC-BA2FDEAA7325}"/>
                </a:ext>
              </a:extLst>
            </p:cNvPr>
            <p:cNvPicPr>
              <a:picLocks noChangeAspect="1"/>
            </p:cNvPicPr>
            <p:nvPr/>
          </p:nvPicPr>
          <p:blipFill>
            <a:blip r:embed="rId3"/>
            <a:stretch>
              <a:fillRect/>
            </a:stretch>
          </p:blipFill>
          <p:spPr>
            <a:xfrm>
              <a:off x="3245757" y="6473952"/>
              <a:ext cx="596900" cy="203200"/>
            </a:xfrm>
            <a:prstGeom prst="rect">
              <a:avLst/>
            </a:prstGeom>
          </p:spPr>
        </p:pic>
        <p:pic>
          <p:nvPicPr>
            <p:cNvPr id="21" name="Picture 20">
              <a:extLst>
                <a:ext uri="{FF2B5EF4-FFF2-40B4-BE49-F238E27FC236}">
                  <a16:creationId xmlns:a16="http://schemas.microsoft.com/office/drawing/2014/main" id="{18C74401-D18B-F4E6-C815-E3D1627C7D8D}"/>
                </a:ext>
              </a:extLst>
            </p:cNvPr>
            <p:cNvPicPr>
              <a:picLocks noChangeAspect="1"/>
            </p:cNvPicPr>
            <p:nvPr/>
          </p:nvPicPr>
          <p:blipFill>
            <a:blip r:embed="rId4"/>
            <a:stretch>
              <a:fillRect/>
            </a:stretch>
          </p:blipFill>
          <p:spPr>
            <a:xfrm>
              <a:off x="4042002" y="6499352"/>
              <a:ext cx="546100" cy="177800"/>
            </a:xfrm>
            <a:prstGeom prst="rect">
              <a:avLst/>
            </a:prstGeom>
          </p:spPr>
        </p:pic>
        <p:pic>
          <p:nvPicPr>
            <p:cNvPr id="22" name="Picture 21">
              <a:extLst>
                <a:ext uri="{FF2B5EF4-FFF2-40B4-BE49-F238E27FC236}">
                  <a16:creationId xmlns:a16="http://schemas.microsoft.com/office/drawing/2014/main" id="{30BC20CA-CC49-B316-37F4-55AC3FC96ACC}"/>
                </a:ext>
              </a:extLst>
            </p:cNvPr>
            <p:cNvPicPr>
              <a:picLocks noChangeAspect="1"/>
            </p:cNvPicPr>
            <p:nvPr/>
          </p:nvPicPr>
          <p:blipFill>
            <a:blip r:embed="rId5"/>
            <a:stretch>
              <a:fillRect/>
            </a:stretch>
          </p:blipFill>
          <p:spPr>
            <a:xfrm>
              <a:off x="4787447" y="6493002"/>
              <a:ext cx="660400" cy="190500"/>
            </a:xfrm>
            <a:prstGeom prst="rect">
              <a:avLst/>
            </a:prstGeom>
          </p:spPr>
        </p:pic>
        <p:pic>
          <p:nvPicPr>
            <p:cNvPr id="23" name="Picture 22">
              <a:extLst>
                <a:ext uri="{FF2B5EF4-FFF2-40B4-BE49-F238E27FC236}">
                  <a16:creationId xmlns:a16="http://schemas.microsoft.com/office/drawing/2014/main" id="{00AEE6A5-8DD3-DF3C-4392-42A290E03BC7}"/>
                </a:ext>
              </a:extLst>
            </p:cNvPr>
            <p:cNvPicPr>
              <a:picLocks noChangeAspect="1"/>
            </p:cNvPicPr>
            <p:nvPr/>
          </p:nvPicPr>
          <p:blipFill>
            <a:blip r:embed="rId6"/>
            <a:stretch>
              <a:fillRect/>
            </a:stretch>
          </p:blipFill>
          <p:spPr>
            <a:xfrm>
              <a:off x="5647192" y="6473952"/>
              <a:ext cx="571500" cy="203200"/>
            </a:xfrm>
            <a:prstGeom prst="rect">
              <a:avLst/>
            </a:prstGeom>
          </p:spPr>
        </p:pic>
        <p:pic>
          <p:nvPicPr>
            <p:cNvPr id="24" name="Picture 23">
              <a:extLst>
                <a:ext uri="{FF2B5EF4-FFF2-40B4-BE49-F238E27FC236}">
                  <a16:creationId xmlns:a16="http://schemas.microsoft.com/office/drawing/2014/main" id="{159A851A-D464-F6B8-9318-4246F5BB8DF3}"/>
                </a:ext>
              </a:extLst>
            </p:cNvPr>
            <p:cNvPicPr>
              <a:picLocks noChangeAspect="1"/>
            </p:cNvPicPr>
            <p:nvPr/>
          </p:nvPicPr>
          <p:blipFill>
            <a:blip r:embed="rId7"/>
            <a:stretch>
              <a:fillRect/>
            </a:stretch>
          </p:blipFill>
          <p:spPr>
            <a:xfrm>
              <a:off x="6418036" y="6473952"/>
              <a:ext cx="762000" cy="203200"/>
            </a:xfrm>
            <a:prstGeom prst="rect">
              <a:avLst/>
            </a:prstGeom>
          </p:spPr>
        </p:pic>
      </p:grpSp>
      <p:pic>
        <p:nvPicPr>
          <p:cNvPr id="33" name="Picture 32">
            <a:extLst>
              <a:ext uri="{FF2B5EF4-FFF2-40B4-BE49-F238E27FC236}">
                <a16:creationId xmlns:a16="http://schemas.microsoft.com/office/drawing/2014/main" id="{781BF232-E8B5-3BA5-D754-44D5DCD40447}"/>
              </a:ext>
            </a:extLst>
          </p:cNvPr>
          <p:cNvPicPr>
            <a:picLocks noChangeAspect="1"/>
          </p:cNvPicPr>
          <p:nvPr/>
        </p:nvPicPr>
        <p:blipFill>
          <a:blip r:embed="rId8"/>
          <a:stretch>
            <a:fillRect/>
          </a:stretch>
        </p:blipFill>
        <p:spPr>
          <a:xfrm>
            <a:off x="8894473" y="2561790"/>
            <a:ext cx="215900" cy="241300"/>
          </a:xfrm>
          <a:prstGeom prst="rect">
            <a:avLst/>
          </a:prstGeom>
        </p:spPr>
      </p:pic>
      <p:pic>
        <p:nvPicPr>
          <p:cNvPr id="34" name="Picture 33">
            <a:extLst>
              <a:ext uri="{FF2B5EF4-FFF2-40B4-BE49-F238E27FC236}">
                <a16:creationId xmlns:a16="http://schemas.microsoft.com/office/drawing/2014/main" id="{F0B3443D-DE6B-F632-B17B-782EB1B8627C}"/>
              </a:ext>
            </a:extLst>
          </p:cNvPr>
          <p:cNvPicPr>
            <a:picLocks noChangeAspect="1"/>
          </p:cNvPicPr>
          <p:nvPr/>
        </p:nvPicPr>
        <p:blipFill>
          <a:blip r:embed="rId9"/>
          <a:stretch>
            <a:fillRect/>
          </a:stretch>
        </p:blipFill>
        <p:spPr>
          <a:xfrm>
            <a:off x="7768265" y="2561790"/>
            <a:ext cx="215900" cy="203200"/>
          </a:xfrm>
          <a:prstGeom prst="rect">
            <a:avLst/>
          </a:prstGeom>
        </p:spPr>
      </p:pic>
      <p:pic>
        <p:nvPicPr>
          <p:cNvPr id="36" name="Picture 35">
            <a:extLst>
              <a:ext uri="{FF2B5EF4-FFF2-40B4-BE49-F238E27FC236}">
                <a16:creationId xmlns:a16="http://schemas.microsoft.com/office/drawing/2014/main" id="{527E4B51-1EFC-FE9F-1216-030470BB9311}"/>
              </a:ext>
            </a:extLst>
          </p:cNvPr>
          <p:cNvPicPr>
            <a:picLocks noChangeAspect="1"/>
          </p:cNvPicPr>
          <p:nvPr/>
        </p:nvPicPr>
        <p:blipFill>
          <a:blip r:embed="rId8"/>
          <a:stretch>
            <a:fillRect/>
          </a:stretch>
        </p:blipFill>
        <p:spPr>
          <a:xfrm>
            <a:off x="7768265" y="2942784"/>
            <a:ext cx="215900" cy="241300"/>
          </a:xfrm>
          <a:prstGeom prst="rect">
            <a:avLst/>
          </a:prstGeom>
        </p:spPr>
      </p:pic>
      <p:pic>
        <p:nvPicPr>
          <p:cNvPr id="37" name="Picture 36">
            <a:extLst>
              <a:ext uri="{FF2B5EF4-FFF2-40B4-BE49-F238E27FC236}">
                <a16:creationId xmlns:a16="http://schemas.microsoft.com/office/drawing/2014/main" id="{5EA48944-D67D-5D55-C7F2-475AC0AC001C}"/>
              </a:ext>
            </a:extLst>
          </p:cNvPr>
          <p:cNvPicPr>
            <a:picLocks noChangeAspect="1"/>
          </p:cNvPicPr>
          <p:nvPr/>
        </p:nvPicPr>
        <p:blipFill>
          <a:blip r:embed="rId9"/>
          <a:stretch>
            <a:fillRect/>
          </a:stretch>
        </p:blipFill>
        <p:spPr>
          <a:xfrm>
            <a:off x="8894473" y="2961834"/>
            <a:ext cx="215900" cy="203200"/>
          </a:xfrm>
          <a:prstGeom prst="rect">
            <a:avLst/>
          </a:prstGeom>
        </p:spPr>
      </p:pic>
      <p:pic>
        <p:nvPicPr>
          <p:cNvPr id="38" name="Picture 37">
            <a:extLst>
              <a:ext uri="{FF2B5EF4-FFF2-40B4-BE49-F238E27FC236}">
                <a16:creationId xmlns:a16="http://schemas.microsoft.com/office/drawing/2014/main" id="{306ACED2-C416-015B-2A22-B2F2ED8BE919}"/>
              </a:ext>
            </a:extLst>
          </p:cNvPr>
          <p:cNvPicPr>
            <a:picLocks noChangeAspect="1"/>
          </p:cNvPicPr>
          <p:nvPr/>
        </p:nvPicPr>
        <p:blipFill>
          <a:blip r:embed="rId10"/>
          <a:stretch>
            <a:fillRect/>
          </a:stretch>
        </p:blipFill>
        <p:spPr>
          <a:xfrm>
            <a:off x="7774615" y="3272019"/>
            <a:ext cx="203200" cy="203200"/>
          </a:xfrm>
          <a:prstGeom prst="rect">
            <a:avLst/>
          </a:prstGeom>
        </p:spPr>
      </p:pic>
      <p:pic>
        <p:nvPicPr>
          <p:cNvPr id="39" name="Picture 38">
            <a:extLst>
              <a:ext uri="{FF2B5EF4-FFF2-40B4-BE49-F238E27FC236}">
                <a16:creationId xmlns:a16="http://schemas.microsoft.com/office/drawing/2014/main" id="{DC36820E-C730-9B9B-065E-FDA380E6E1E9}"/>
              </a:ext>
            </a:extLst>
          </p:cNvPr>
          <p:cNvPicPr>
            <a:picLocks noChangeAspect="1"/>
          </p:cNvPicPr>
          <p:nvPr/>
        </p:nvPicPr>
        <p:blipFill>
          <a:blip r:embed="rId8"/>
          <a:stretch>
            <a:fillRect/>
          </a:stretch>
        </p:blipFill>
        <p:spPr>
          <a:xfrm>
            <a:off x="8894473" y="3252969"/>
            <a:ext cx="215900" cy="241300"/>
          </a:xfrm>
          <a:prstGeom prst="rect">
            <a:avLst/>
          </a:prstGeom>
        </p:spPr>
      </p:pic>
      <p:pic>
        <p:nvPicPr>
          <p:cNvPr id="41" name="Picture 40">
            <a:extLst>
              <a:ext uri="{FF2B5EF4-FFF2-40B4-BE49-F238E27FC236}">
                <a16:creationId xmlns:a16="http://schemas.microsoft.com/office/drawing/2014/main" id="{85091567-6AEB-CAF3-203D-81D9F0AB9E3B}"/>
              </a:ext>
            </a:extLst>
          </p:cNvPr>
          <p:cNvPicPr>
            <a:picLocks noChangeAspect="1"/>
          </p:cNvPicPr>
          <p:nvPr/>
        </p:nvPicPr>
        <p:blipFill>
          <a:blip r:embed="rId10"/>
          <a:stretch>
            <a:fillRect/>
          </a:stretch>
        </p:blipFill>
        <p:spPr>
          <a:xfrm>
            <a:off x="7774615" y="3605176"/>
            <a:ext cx="203200" cy="203200"/>
          </a:xfrm>
          <a:prstGeom prst="rect">
            <a:avLst/>
          </a:prstGeom>
        </p:spPr>
      </p:pic>
      <p:pic>
        <p:nvPicPr>
          <p:cNvPr id="42" name="Picture 41">
            <a:extLst>
              <a:ext uri="{FF2B5EF4-FFF2-40B4-BE49-F238E27FC236}">
                <a16:creationId xmlns:a16="http://schemas.microsoft.com/office/drawing/2014/main" id="{C866BAFF-FF15-9942-4379-CB4A744364BD}"/>
              </a:ext>
            </a:extLst>
          </p:cNvPr>
          <p:cNvPicPr>
            <a:picLocks noChangeAspect="1"/>
          </p:cNvPicPr>
          <p:nvPr/>
        </p:nvPicPr>
        <p:blipFill>
          <a:blip r:embed="rId8"/>
          <a:stretch>
            <a:fillRect/>
          </a:stretch>
        </p:blipFill>
        <p:spPr>
          <a:xfrm>
            <a:off x="8894473" y="3586126"/>
            <a:ext cx="215900" cy="241300"/>
          </a:xfrm>
          <a:prstGeom prst="rect">
            <a:avLst/>
          </a:prstGeom>
        </p:spPr>
      </p:pic>
      <p:pic>
        <p:nvPicPr>
          <p:cNvPr id="43" name="Picture 42">
            <a:extLst>
              <a:ext uri="{FF2B5EF4-FFF2-40B4-BE49-F238E27FC236}">
                <a16:creationId xmlns:a16="http://schemas.microsoft.com/office/drawing/2014/main" id="{9018936C-3291-4C4D-E029-2CAE26253F35}"/>
              </a:ext>
            </a:extLst>
          </p:cNvPr>
          <p:cNvPicPr>
            <a:picLocks noChangeAspect="1"/>
          </p:cNvPicPr>
          <p:nvPr/>
        </p:nvPicPr>
        <p:blipFill>
          <a:blip r:embed="rId8"/>
          <a:stretch>
            <a:fillRect/>
          </a:stretch>
        </p:blipFill>
        <p:spPr>
          <a:xfrm>
            <a:off x="7768265" y="3930866"/>
            <a:ext cx="215900" cy="241300"/>
          </a:xfrm>
          <a:prstGeom prst="rect">
            <a:avLst/>
          </a:prstGeom>
        </p:spPr>
      </p:pic>
      <p:pic>
        <p:nvPicPr>
          <p:cNvPr id="44" name="Picture 43">
            <a:extLst>
              <a:ext uri="{FF2B5EF4-FFF2-40B4-BE49-F238E27FC236}">
                <a16:creationId xmlns:a16="http://schemas.microsoft.com/office/drawing/2014/main" id="{B1F346DF-3BD6-FC88-FF74-B8739DBE5D14}"/>
              </a:ext>
            </a:extLst>
          </p:cNvPr>
          <p:cNvPicPr>
            <a:picLocks noChangeAspect="1"/>
          </p:cNvPicPr>
          <p:nvPr/>
        </p:nvPicPr>
        <p:blipFill>
          <a:blip r:embed="rId10"/>
          <a:stretch>
            <a:fillRect/>
          </a:stretch>
        </p:blipFill>
        <p:spPr>
          <a:xfrm>
            <a:off x="8900823" y="3949916"/>
            <a:ext cx="203200" cy="203200"/>
          </a:xfrm>
          <a:prstGeom prst="rect">
            <a:avLst/>
          </a:prstGeom>
        </p:spPr>
      </p:pic>
      <p:pic>
        <p:nvPicPr>
          <p:cNvPr id="45" name="Picture 44">
            <a:extLst>
              <a:ext uri="{FF2B5EF4-FFF2-40B4-BE49-F238E27FC236}">
                <a16:creationId xmlns:a16="http://schemas.microsoft.com/office/drawing/2014/main" id="{5A3B02B5-48D4-5D98-7E55-EA94A2587127}"/>
              </a:ext>
            </a:extLst>
          </p:cNvPr>
          <p:cNvPicPr>
            <a:picLocks noChangeAspect="1"/>
          </p:cNvPicPr>
          <p:nvPr/>
        </p:nvPicPr>
        <p:blipFill>
          <a:blip r:embed="rId9"/>
          <a:stretch>
            <a:fillRect/>
          </a:stretch>
        </p:blipFill>
        <p:spPr>
          <a:xfrm>
            <a:off x="7768265" y="4248188"/>
            <a:ext cx="215900" cy="203200"/>
          </a:xfrm>
          <a:prstGeom prst="rect">
            <a:avLst/>
          </a:prstGeom>
        </p:spPr>
      </p:pic>
      <p:pic>
        <p:nvPicPr>
          <p:cNvPr id="46" name="Picture 45">
            <a:extLst>
              <a:ext uri="{FF2B5EF4-FFF2-40B4-BE49-F238E27FC236}">
                <a16:creationId xmlns:a16="http://schemas.microsoft.com/office/drawing/2014/main" id="{4772D858-E1F7-E317-1D8A-AD12E5C49D2E}"/>
              </a:ext>
            </a:extLst>
          </p:cNvPr>
          <p:cNvPicPr>
            <a:picLocks noChangeAspect="1"/>
          </p:cNvPicPr>
          <p:nvPr/>
        </p:nvPicPr>
        <p:blipFill>
          <a:blip r:embed="rId10"/>
          <a:stretch>
            <a:fillRect/>
          </a:stretch>
        </p:blipFill>
        <p:spPr>
          <a:xfrm>
            <a:off x="8900823" y="4248188"/>
            <a:ext cx="203200" cy="203200"/>
          </a:xfrm>
          <a:prstGeom prst="rect">
            <a:avLst/>
          </a:prstGeom>
        </p:spPr>
      </p:pic>
      <p:pic>
        <p:nvPicPr>
          <p:cNvPr id="47" name="Picture 46">
            <a:extLst>
              <a:ext uri="{FF2B5EF4-FFF2-40B4-BE49-F238E27FC236}">
                <a16:creationId xmlns:a16="http://schemas.microsoft.com/office/drawing/2014/main" id="{EB160F2D-3F5B-46B6-071E-BCFE7C1D4E7F}"/>
              </a:ext>
            </a:extLst>
          </p:cNvPr>
          <p:cNvPicPr>
            <a:picLocks noChangeAspect="1"/>
          </p:cNvPicPr>
          <p:nvPr/>
        </p:nvPicPr>
        <p:blipFill>
          <a:blip r:embed="rId11"/>
          <a:stretch>
            <a:fillRect/>
          </a:stretch>
        </p:blipFill>
        <p:spPr>
          <a:xfrm>
            <a:off x="7761915" y="4561588"/>
            <a:ext cx="228600" cy="254000"/>
          </a:xfrm>
          <a:prstGeom prst="rect">
            <a:avLst/>
          </a:prstGeom>
        </p:spPr>
      </p:pic>
      <p:pic>
        <p:nvPicPr>
          <p:cNvPr id="48" name="Picture 47">
            <a:extLst>
              <a:ext uri="{FF2B5EF4-FFF2-40B4-BE49-F238E27FC236}">
                <a16:creationId xmlns:a16="http://schemas.microsoft.com/office/drawing/2014/main" id="{12E4ECC8-B6E0-2212-28D7-AB417B9F849F}"/>
              </a:ext>
            </a:extLst>
          </p:cNvPr>
          <p:cNvPicPr>
            <a:picLocks noChangeAspect="1"/>
          </p:cNvPicPr>
          <p:nvPr/>
        </p:nvPicPr>
        <p:blipFill>
          <a:blip r:embed="rId11"/>
          <a:stretch>
            <a:fillRect/>
          </a:stretch>
        </p:blipFill>
        <p:spPr>
          <a:xfrm>
            <a:off x="8888123" y="4561588"/>
            <a:ext cx="228600" cy="254000"/>
          </a:xfrm>
          <a:prstGeom prst="rect">
            <a:avLst/>
          </a:prstGeom>
        </p:spPr>
      </p:pic>
      <p:pic>
        <p:nvPicPr>
          <p:cNvPr id="49" name="Picture 48">
            <a:extLst>
              <a:ext uri="{FF2B5EF4-FFF2-40B4-BE49-F238E27FC236}">
                <a16:creationId xmlns:a16="http://schemas.microsoft.com/office/drawing/2014/main" id="{28E965AF-9500-374A-0824-9F5FB660178E}"/>
              </a:ext>
            </a:extLst>
          </p:cNvPr>
          <p:cNvPicPr>
            <a:picLocks noChangeAspect="1"/>
          </p:cNvPicPr>
          <p:nvPr/>
        </p:nvPicPr>
        <p:blipFill>
          <a:blip r:embed="rId12"/>
          <a:stretch>
            <a:fillRect/>
          </a:stretch>
        </p:blipFill>
        <p:spPr>
          <a:xfrm>
            <a:off x="7768265" y="4893783"/>
            <a:ext cx="215900" cy="215900"/>
          </a:xfrm>
          <a:prstGeom prst="rect">
            <a:avLst/>
          </a:prstGeom>
        </p:spPr>
      </p:pic>
      <p:pic>
        <p:nvPicPr>
          <p:cNvPr id="50" name="Picture 49">
            <a:extLst>
              <a:ext uri="{FF2B5EF4-FFF2-40B4-BE49-F238E27FC236}">
                <a16:creationId xmlns:a16="http://schemas.microsoft.com/office/drawing/2014/main" id="{71134C7D-A200-D5BE-EECB-8EDB7941F947}"/>
              </a:ext>
            </a:extLst>
          </p:cNvPr>
          <p:cNvPicPr>
            <a:picLocks noChangeAspect="1"/>
          </p:cNvPicPr>
          <p:nvPr/>
        </p:nvPicPr>
        <p:blipFill>
          <a:blip r:embed="rId8"/>
          <a:stretch>
            <a:fillRect/>
          </a:stretch>
        </p:blipFill>
        <p:spPr>
          <a:xfrm>
            <a:off x="8894473" y="4881083"/>
            <a:ext cx="215900" cy="241300"/>
          </a:xfrm>
          <a:prstGeom prst="rect">
            <a:avLst/>
          </a:prstGeom>
        </p:spPr>
      </p:pic>
      <p:pic>
        <p:nvPicPr>
          <p:cNvPr id="51" name="Picture 50">
            <a:extLst>
              <a:ext uri="{FF2B5EF4-FFF2-40B4-BE49-F238E27FC236}">
                <a16:creationId xmlns:a16="http://schemas.microsoft.com/office/drawing/2014/main" id="{ABD40EEC-4565-7A36-D9FB-CA3A7A7FFBFA}"/>
              </a:ext>
            </a:extLst>
          </p:cNvPr>
          <p:cNvPicPr>
            <a:picLocks noChangeAspect="1"/>
          </p:cNvPicPr>
          <p:nvPr/>
        </p:nvPicPr>
        <p:blipFill>
          <a:blip r:embed="rId9"/>
          <a:stretch>
            <a:fillRect/>
          </a:stretch>
        </p:blipFill>
        <p:spPr>
          <a:xfrm>
            <a:off x="7768265" y="5162478"/>
            <a:ext cx="215900" cy="203200"/>
          </a:xfrm>
          <a:prstGeom prst="rect">
            <a:avLst/>
          </a:prstGeom>
        </p:spPr>
      </p:pic>
      <p:pic>
        <p:nvPicPr>
          <p:cNvPr id="52" name="Picture 51">
            <a:extLst>
              <a:ext uri="{FF2B5EF4-FFF2-40B4-BE49-F238E27FC236}">
                <a16:creationId xmlns:a16="http://schemas.microsoft.com/office/drawing/2014/main" id="{CE0BF445-48B5-C75B-4EE3-19A2B062CCE0}"/>
              </a:ext>
            </a:extLst>
          </p:cNvPr>
          <p:cNvPicPr>
            <a:picLocks noChangeAspect="1"/>
          </p:cNvPicPr>
          <p:nvPr/>
        </p:nvPicPr>
        <p:blipFill>
          <a:blip r:embed="rId9"/>
          <a:stretch>
            <a:fillRect/>
          </a:stretch>
        </p:blipFill>
        <p:spPr>
          <a:xfrm>
            <a:off x="8894473" y="5175987"/>
            <a:ext cx="215900" cy="203200"/>
          </a:xfrm>
          <a:prstGeom prst="rect">
            <a:avLst/>
          </a:prstGeom>
        </p:spPr>
      </p:pic>
      <p:pic>
        <p:nvPicPr>
          <p:cNvPr id="53" name="Picture 52">
            <a:extLst>
              <a:ext uri="{FF2B5EF4-FFF2-40B4-BE49-F238E27FC236}">
                <a16:creationId xmlns:a16="http://schemas.microsoft.com/office/drawing/2014/main" id="{1FBAF6FA-3655-F1C3-8A28-8E236A85CFA9}"/>
              </a:ext>
            </a:extLst>
          </p:cNvPr>
          <p:cNvPicPr>
            <a:picLocks noChangeAspect="1"/>
          </p:cNvPicPr>
          <p:nvPr/>
        </p:nvPicPr>
        <p:blipFill>
          <a:blip r:embed="rId8"/>
          <a:stretch>
            <a:fillRect/>
          </a:stretch>
        </p:blipFill>
        <p:spPr>
          <a:xfrm>
            <a:off x="7774615" y="5453731"/>
            <a:ext cx="215900" cy="241300"/>
          </a:xfrm>
          <a:prstGeom prst="rect">
            <a:avLst/>
          </a:prstGeom>
        </p:spPr>
      </p:pic>
      <p:pic>
        <p:nvPicPr>
          <p:cNvPr id="54" name="Picture 53">
            <a:extLst>
              <a:ext uri="{FF2B5EF4-FFF2-40B4-BE49-F238E27FC236}">
                <a16:creationId xmlns:a16="http://schemas.microsoft.com/office/drawing/2014/main" id="{1A573984-0A09-663C-F524-3FA4689C02D2}"/>
              </a:ext>
            </a:extLst>
          </p:cNvPr>
          <p:cNvPicPr>
            <a:picLocks noChangeAspect="1"/>
          </p:cNvPicPr>
          <p:nvPr/>
        </p:nvPicPr>
        <p:blipFill>
          <a:blip r:embed="rId9"/>
          <a:stretch>
            <a:fillRect/>
          </a:stretch>
        </p:blipFill>
        <p:spPr>
          <a:xfrm>
            <a:off x="8894473" y="5440533"/>
            <a:ext cx="215900" cy="203200"/>
          </a:xfrm>
          <a:prstGeom prst="rect">
            <a:avLst/>
          </a:prstGeom>
        </p:spPr>
      </p:pic>
      <p:pic>
        <p:nvPicPr>
          <p:cNvPr id="55" name="Picture 54">
            <a:extLst>
              <a:ext uri="{FF2B5EF4-FFF2-40B4-BE49-F238E27FC236}">
                <a16:creationId xmlns:a16="http://schemas.microsoft.com/office/drawing/2014/main" id="{4F2A0B9A-483C-2377-C2F2-961175363768}"/>
              </a:ext>
            </a:extLst>
          </p:cNvPr>
          <p:cNvPicPr>
            <a:picLocks noChangeAspect="1"/>
          </p:cNvPicPr>
          <p:nvPr/>
        </p:nvPicPr>
        <p:blipFill>
          <a:blip r:embed="rId10"/>
          <a:stretch>
            <a:fillRect/>
          </a:stretch>
        </p:blipFill>
        <p:spPr>
          <a:xfrm>
            <a:off x="7794684" y="5727292"/>
            <a:ext cx="203200" cy="203200"/>
          </a:xfrm>
          <a:prstGeom prst="rect">
            <a:avLst/>
          </a:prstGeom>
        </p:spPr>
      </p:pic>
      <p:pic>
        <p:nvPicPr>
          <p:cNvPr id="56" name="Picture 55">
            <a:extLst>
              <a:ext uri="{FF2B5EF4-FFF2-40B4-BE49-F238E27FC236}">
                <a16:creationId xmlns:a16="http://schemas.microsoft.com/office/drawing/2014/main" id="{E57D64E5-E032-036C-D2C4-DC9C4AB53C70}"/>
              </a:ext>
            </a:extLst>
          </p:cNvPr>
          <p:cNvPicPr>
            <a:picLocks noChangeAspect="1"/>
          </p:cNvPicPr>
          <p:nvPr/>
        </p:nvPicPr>
        <p:blipFill>
          <a:blip r:embed="rId8"/>
          <a:stretch>
            <a:fillRect/>
          </a:stretch>
        </p:blipFill>
        <p:spPr>
          <a:xfrm>
            <a:off x="8894473" y="5708242"/>
            <a:ext cx="215900" cy="241300"/>
          </a:xfrm>
          <a:prstGeom prst="rect">
            <a:avLst/>
          </a:prstGeom>
        </p:spPr>
      </p:pic>
      <p:pic>
        <p:nvPicPr>
          <p:cNvPr id="57" name="Picture 56">
            <a:extLst>
              <a:ext uri="{FF2B5EF4-FFF2-40B4-BE49-F238E27FC236}">
                <a16:creationId xmlns:a16="http://schemas.microsoft.com/office/drawing/2014/main" id="{731B2E01-E00E-E26E-866D-2F69306DFBD4}"/>
              </a:ext>
            </a:extLst>
          </p:cNvPr>
          <p:cNvPicPr>
            <a:picLocks noChangeAspect="1"/>
          </p:cNvPicPr>
          <p:nvPr/>
        </p:nvPicPr>
        <p:blipFill>
          <a:blip r:embed="rId10"/>
          <a:stretch>
            <a:fillRect/>
          </a:stretch>
        </p:blipFill>
        <p:spPr>
          <a:xfrm>
            <a:off x="7812244" y="6006714"/>
            <a:ext cx="203200" cy="203200"/>
          </a:xfrm>
          <a:prstGeom prst="rect">
            <a:avLst/>
          </a:prstGeom>
        </p:spPr>
      </p:pic>
      <p:pic>
        <p:nvPicPr>
          <p:cNvPr id="58" name="Picture 57">
            <a:extLst>
              <a:ext uri="{FF2B5EF4-FFF2-40B4-BE49-F238E27FC236}">
                <a16:creationId xmlns:a16="http://schemas.microsoft.com/office/drawing/2014/main" id="{7697CD47-0E3D-F43A-DF7B-4F621C7F4406}"/>
              </a:ext>
            </a:extLst>
          </p:cNvPr>
          <p:cNvPicPr>
            <a:picLocks noChangeAspect="1"/>
          </p:cNvPicPr>
          <p:nvPr/>
        </p:nvPicPr>
        <p:blipFill>
          <a:blip r:embed="rId8"/>
          <a:stretch>
            <a:fillRect/>
          </a:stretch>
        </p:blipFill>
        <p:spPr>
          <a:xfrm>
            <a:off x="8894473" y="5987664"/>
            <a:ext cx="215900" cy="241300"/>
          </a:xfrm>
          <a:prstGeom prst="rect">
            <a:avLst/>
          </a:prstGeom>
        </p:spPr>
      </p:pic>
    </p:spTree>
    <p:extLst>
      <p:ext uri="{BB962C8B-B14F-4D97-AF65-F5344CB8AC3E}">
        <p14:creationId xmlns:p14="http://schemas.microsoft.com/office/powerpoint/2010/main" val="1551937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D23F621F-783E-37FC-D0A1-1AC7C4749990}"/>
              </a:ext>
            </a:extLst>
          </p:cNvPr>
          <p:cNvGraphicFramePr>
            <a:graphicFrameLocks noGrp="1"/>
          </p:cNvGraphicFramePr>
          <p:nvPr>
            <p:extLst>
              <p:ext uri="{D42A27DB-BD31-4B8C-83A1-F6EECF244321}">
                <p14:modId xmlns:p14="http://schemas.microsoft.com/office/powerpoint/2010/main" val="2521945217"/>
              </p:ext>
            </p:extLst>
          </p:nvPr>
        </p:nvGraphicFramePr>
        <p:xfrm>
          <a:off x="7379607" y="1739883"/>
          <a:ext cx="4224565" cy="4275150"/>
        </p:xfrm>
        <a:graphic>
          <a:graphicData uri="http://schemas.openxmlformats.org/drawingml/2006/table">
            <a:tbl>
              <a:tblPr firstRow="1" bandRow="1">
                <a:tableStyleId>{DA9C0B7B-4BF3-4A31-9099-A2245D6C73B7}</a:tableStyleId>
              </a:tblPr>
              <a:tblGrid>
                <a:gridCol w="1045989">
                  <a:extLst>
                    <a:ext uri="{9D8B030D-6E8A-4147-A177-3AD203B41FA5}">
                      <a16:colId xmlns:a16="http://schemas.microsoft.com/office/drawing/2014/main" val="1557259596"/>
                    </a:ext>
                  </a:extLst>
                </a:gridCol>
                <a:gridCol w="1045989">
                  <a:extLst>
                    <a:ext uri="{9D8B030D-6E8A-4147-A177-3AD203B41FA5}">
                      <a16:colId xmlns:a16="http://schemas.microsoft.com/office/drawing/2014/main" val="2141204351"/>
                    </a:ext>
                  </a:extLst>
                </a:gridCol>
                <a:gridCol w="2132587">
                  <a:extLst>
                    <a:ext uri="{9D8B030D-6E8A-4147-A177-3AD203B41FA5}">
                      <a16:colId xmlns:a16="http://schemas.microsoft.com/office/drawing/2014/main" val="3344174409"/>
                    </a:ext>
                  </a:extLst>
                </a:gridCol>
              </a:tblGrid>
              <a:tr h="790666">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Current State @ BCBSMA</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Alignment to Use Case Scope</a:t>
                      </a:r>
                    </a:p>
                  </a:txBody>
                  <a:tcPr anchor="ct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dirty="0">
                          <a:solidFill>
                            <a:schemeClr val="bg1"/>
                          </a:solidFill>
                          <a:latin typeface="Arial Narrow" panose="020B0604020202020204" pitchFamily="34" charset="0"/>
                          <a:ea typeface="Apple Symbols" panose="02000000000000000000" pitchFamily="2" charset="-79"/>
                          <a:cs typeface="AL BAYAN PLAIN" pitchFamily="2" charset="-78"/>
                          <a:sym typeface="Arial"/>
                        </a:rPr>
                        <a:t>Business Owners (Functions)</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304552">
                <a:tc>
                  <a:txBody>
                    <a:bodyPr/>
                    <a:lstStyle/>
                    <a:p>
                      <a:pPr marR="0" algn="l" rtl="0">
                        <a:lnSpc>
                          <a:spcPct val="100000"/>
                        </a:lnSpc>
                        <a:spcBef>
                          <a:spcPts val="0"/>
                        </a:spcBef>
                        <a:spcAft>
                          <a:spcPts val="0"/>
                        </a:spcAft>
                        <a:buClr>
                          <a:srgbClr val="000000"/>
                        </a:buClr>
                        <a:buFont typeface="Arial"/>
                      </a:pPr>
                      <a:endParaRPr lang="en-US" sz="1200" b="0" i="0" u="none" strike="noStrike" cap="none" dirty="0">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endParaRPr lang="en-US" sz="1200" b="0" i="0" u="none" strike="noStrike" cap="none" dirty="0">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rgbClr val="000000"/>
                          </a:solidFill>
                          <a:latin typeface="Arial"/>
                          <a:cs typeface="Arial"/>
                          <a:sym typeface="Arial"/>
                        </a:rPr>
                        <a:t>PFH, HMM (Care Mgmt.)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845332155"/>
                  </a:ext>
                </a:extLst>
              </a:tr>
              <a:tr h="336669">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Operations (Pymt. Integrity)</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174840831"/>
                  </a:ext>
                </a:extLst>
              </a:tr>
              <a:tr h="277007">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dirty="0"/>
                        <a:t>PFH, Ops (MAPS, Digital)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35067919"/>
                  </a:ext>
                </a:extLst>
              </a:tr>
              <a:tr h="543755">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HMM (Clinical)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82595577"/>
                  </a:ext>
                </a:extLst>
              </a:tr>
              <a:tr h="419980">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dirty="0"/>
                        <a:t>Finance (Underwriting)</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6845343"/>
                  </a:ext>
                </a:extLst>
              </a:tr>
              <a:tr h="372139">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PFH, Digital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633790"/>
                  </a:ext>
                </a:extLst>
              </a:tr>
              <a:tr h="277007">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dirty="0"/>
                        <a:t>Operations (MAPS)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011243268"/>
                  </a:ext>
                </a:extLst>
              </a:tr>
              <a:tr h="287267">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dirty="0"/>
                        <a:t>PFH, </a:t>
                      </a:r>
                      <a:r>
                        <a:rPr lang="en-US" sz="1200" b="0" i="0" u="none" strike="noStrike" cap="none" dirty="0">
                          <a:solidFill>
                            <a:srgbClr val="000000"/>
                          </a:solidFill>
                          <a:latin typeface="Arial"/>
                          <a:cs typeface="Arial"/>
                          <a:sym typeface="Arial"/>
                        </a:rPr>
                        <a:t>HMM (Care Mgmt.)</a:t>
                      </a:r>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46509637"/>
                  </a:ext>
                </a:extLst>
              </a:tr>
              <a:tr h="282137">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dirty="0"/>
                        <a:t>Product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72043888"/>
                  </a:ext>
                </a:extLst>
              </a:tr>
              <a:tr h="383971">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dirty="0"/>
                        <a:t>Product, Sales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424694"/>
                  </a:ext>
                </a:extLst>
              </a:tr>
            </a:tbl>
          </a:graphicData>
        </a:graphic>
      </p:graphicFrame>
      <p:cxnSp>
        <p:nvCxnSpPr>
          <p:cNvPr id="6" name="Straight Connector 5">
            <a:extLst>
              <a:ext uri="{FF2B5EF4-FFF2-40B4-BE49-F238E27FC236}">
                <a16:creationId xmlns:a16="http://schemas.microsoft.com/office/drawing/2014/main" id="{2928742E-BD7E-D129-254B-7C657575CF23}"/>
              </a:ext>
            </a:extLst>
          </p:cNvPr>
          <p:cNvCxnSpPr>
            <a:cxnSpLocks/>
          </p:cNvCxnSpPr>
          <p:nvPr/>
        </p:nvCxnSpPr>
        <p:spPr>
          <a:xfrm flipV="1">
            <a:off x="7417707" y="1670666"/>
            <a:ext cx="2024997" cy="573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C7754DF-C205-B0AE-0583-2E66711754E0}"/>
              </a:ext>
            </a:extLst>
          </p:cNvPr>
          <p:cNvCxnSpPr>
            <a:cxnSpLocks/>
          </p:cNvCxnSpPr>
          <p:nvPr/>
        </p:nvCxnSpPr>
        <p:spPr>
          <a:xfrm>
            <a:off x="9505506" y="1670666"/>
            <a:ext cx="2077399" cy="573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76EF678-A605-EC2C-DBCE-3CC00760B9A9}"/>
              </a:ext>
            </a:extLst>
          </p:cNvPr>
          <p:cNvSpPr txBox="1"/>
          <p:nvPr/>
        </p:nvSpPr>
        <p:spPr>
          <a:xfrm>
            <a:off x="9947728" y="1393667"/>
            <a:ext cx="1099458" cy="276999"/>
          </a:xfrm>
          <a:prstGeom prst="rect">
            <a:avLst/>
          </a:prstGeom>
          <a:noFill/>
        </p:spPr>
        <p:txBody>
          <a:bodyPr wrap="square" rtlCol="0">
            <a:spAutoFit/>
          </a:bodyPr>
          <a:lstStyle/>
          <a:p>
            <a:pPr algn="ctr"/>
            <a:r>
              <a:rPr lang="en-US" sz="1200" b="1" dirty="0"/>
              <a:t>Owners</a:t>
            </a:r>
          </a:p>
        </p:txBody>
      </p:sp>
      <p:sp>
        <p:nvSpPr>
          <p:cNvPr id="17" name="Text Placeholder 2">
            <a:extLst>
              <a:ext uri="{FF2B5EF4-FFF2-40B4-BE49-F238E27FC236}">
                <a16:creationId xmlns:a16="http://schemas.microsoft.com/office/drawing/2014/main" id="{303CD3FA-58FF-59BA-356E-65E128E3187D}"/>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accent4"/>
              </a:buClr>
              <a:buSzPts val="2000"/>
            </a:pPr>
            <a:r>
              <a:rPr lang="en-US" sz="2000" dirty="0">
                <a:solidFill>
                  <a:schemeClr val="accent4"/>
                </a:solidFill>
                <a:latin typeface="Bebas Neue"/>
                <a:sym typeface="Bebas Neue"/>
              </a:rPr>
              <a:t>Use Cases (2 of 2)</a:t>
            </a:r>
          </a:p>
        </p:txBody>
      </p:sp>
      <p:sp>
        <p:nvSpPr>
          <p:cNvPr id="18" name="Text Placeholder 3">
            <a:extLst>
              <a:ext uri="{FF2B5EF4-FFF2-40B4-BE49-F238E27FC236}">
                <a16:creationId xmlns:a16="http://schemas.microsoft.com/office/drawing/2014/main" id="{80786613-CE4E-AFDF-246E-0E02B2EEE25C}"/>
              </a:ext>
            </a:extLst>
          </p:cNvPr>
          <p:cNvSpPr txBox="1">
            <a:spLocks/>
          </p:cNvSpPr>
          <p:nvPr/>
        </p:nvSpPr>
        <p:spPr>
          <a:xfrm>
            <a:off x="603503" y="761999"/>
            <a:ext cx="9879439" cy="5606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36538"/>
            <a:r>
              <a:rPr lang="en-US" dirty="0">
                <a:solidFill>
                  <a:schemeClr val="tx1"/>
                </a:solidFill>
              </a:rPr>
              <a:t>We are leveraging a framework from Gartner that identifies the most impactful AI use cases across healthcare payer functions and scores each based on their respective business value and feasibility. </a:t>
            </a:r>
          </a:p>
          <a:p>
            <a:endParaRPr lang="en-US" i="1" dirty="0"/>
          </a:p>
        </p:txBody>
      </p:sp>
      <p:grpSp>
        <p:nvGrpSpPr>
          <p:cNvPr id="25" name="Group 24">
            <a:extLst>
              <a:ext uri="{FF2B5EF4-FFF2-40B4-BE49-F238E27FC236}">
                <a16:creationId xmlns:a16="http://schemas.microsoft.com/office/drawing/2014/main" id="{E74F4743-DE92-2439-A5B8-C696A3C8DDD9}"/>
              </a:ext>
            </a:extLst>
          </p:cNvPr>
          <p:cNvGrpSpPr/>
          <p:nvPr/>
        </p:nvGrpSpPr>
        <p:grpSpPr>
          <a:xfrm>
            <a:off x="603503" y="6473952"/>
            <a:ext cx="3934279" cy="209550"/>
            <a:chOff x="3245757" y="6473952"/>
            <a:chExt cx="3934279" cy="209550"/>
          </a:xfrm>
        </p:grpSpPr>
        <p:pic>
          <p:nvPicPr>
            <p:cNvPr id="20" name="Picture 19">
              <a:extLst>
                <a:ext uri="{FF2B5EF4-FFF2-40B4-BE49-F238E27FC236}">
                  <a16:creationId xmlns:a16="http://schemas.microsoft.com/office/drawing/2014/main" id="{94D00AC8-7BA8-74BF-1DBC-BA2FDEAA7325}"/>
                </a:ext>
              </a:extLst>
            </p:cNvPr>
            <p:cNvPicPr>
              <a:picLocks noChangeAspect="1"/>
            </p:cNvPicPr>
            <p:nvPr/>
          </p:nvPicPr>
          <p:blipFill>
            <a:blip r:embed="rId2"/>
            <a:stretch>
              <a:fillRect/>
            </a:stretch>
          </p:blipFill>
          <p:spPr>
            <a:xfrm>
              <a:off x="3245757" y="6473952"/>
              <a:ext cx="596900" cy="203200"/>
            </a:xfrm>
            <a:prstGeom prst="rect">
              <a:avLst/>
            </a:prstGeom>
          </p:spPr>
        </p:pic>
        <p:pic>
          <p:nvPicPr>
            <p:cNvPr id="21" name="Picture 20">
              <a:extLst>
                <a:ext uri="{FF2B5EF4-FFF2-40B4-BE49-F238E27FC236}">
                  <a16:creationId xmlns:a16="http://schemas.microsoft.com/office/drawing/2014/main" id="{18C74401-D18B-F4E6-C815-E3D1627C7D8D}"/>
                </a:ext>
              </a:extLst>
            </p:cNvPr>
            <p:cNvPicPr>
              <a:picLocks noChangeAspect="1"/>
            </p:cNvPicPr>
            <p:nvPr/>
          </p:nvPicPr>
          <p:blipFill>
            <a:blip r:embed="rId3"/>
            <a:stretch>
              <a:fillRect/>
            </a:stretch>
          </p:blipFill>
          <p:spPr>
            <a:xfrm>
              <a:off x="4042002" y="6499352"/>
              <a:ext cx="546100" cy="177800"/>
            </a:xfrm>
            <a:prstGeom prst="rect">
              <a:avLst/>
            </a:prstGeom>
          </p:spPr>
        </p:pic>
        <p:pic>
          <p:nvPicPr>
            <p:cNvPr id="22" name="Picture 21">
              <a:extLst>
                <a:ext uri="{FF2B5EF4-FFF2-40B4-BE49-F238E27FC236}">
                  <a16:creationId xmlns:a16="http://schemas.microsoft.com/office/drawing/2014/main" id="{30BC20CA-CC49-B316-37F4-55AC3FC96ACC}"/>
                </a:ext>
              </a:extLst>
            </p:cNvPr>
            <p:cNvPicPr>
              <a:picLocks noChangeAspect="1"/>
            </p:cNvPicPr>
            <p:nvPr/>
          </p:nvPicPr>
          <p:blipFill>
            <a:blip r:embed="rId4"/>
            <a:stretch>
              <a:fillRect/>
            </a:stretch>
          </p:blipFill>
          <p:spPr>
            <a:xfrm>
              <a:off x="4787447" y="6493002"/>
              <a:ext cx="660400" cy="190500"/>
            </a:xfrm>
            <a:prstGeom prst="rect">
              <a:avLst/>
            </a:prstGeom>
          </p:spPr>
        </p:pic>
        <p:pic>
          <p:nvPicPr>
            <p:cNvPr id="23" name="Picture 22">
              <a:extLst>
                <a:ext uri="{FF2B5EF4-FFF2-40B4-BE49-F238E27FC236}">
                  <a16:creationId xmlns:a16="http://schemas.microsoft.com/office/drawing/2014/main" id="{00AEE6A5-8DD3-DF3C-4392-42A290E03BC7}"/>
                </a:ext>
              </a:extLst>
            </p:cNvPr>
            <p:cNvPicPr>
              <a:picLocks noChangeAspect="1"/>
            </p:cNvPicPr>
            <p:nvPr/>
          </p:nvPicPr>
          <p:blipFill>
            <a:blip r:embed="rId5"/>
            <a:stretch>
              <a:fillRect/>
            </a:stretch>
          </p:blipFill>
          <p:spPr>
            <a:xfrm>
              <a:off x="5647192" y="6473952"/>
              <a:ext cx="571500" cy="203200"/>
            </a:xfrm>
            <a:prstGeom prst="rect">
              <a:avLst/>
            </a:prstGeom>
          </p:spPr>
        </p:pic>
        <p:pic>
          <p:nvPicPr>
            <p:cNvPr id="24" name="Picture 23">
              <a:extLst>
                <a:ext uri="{FF2B5EF4-FFF2-40B4-BE49-F238E27FC236}">
                  <a16:creationId xmlns:a16="http://schemas.microsoft.com/office/drawing/2014/main" id="{159A851A-D464-F6B8-9318-4246F5BB8DF3}"/>
                </a:ext>
              </a:extLst>
            </p:cNvPr>
            <p:cNvPicPr>
              <a:picLocks noChangeAspect="1"/>
            </p:cNvPicPr>
            <p:nvPr/>
          </p:nvPicPr>
          <p:blipFill>
            <a:blip r:embed="rId6"/>
            <a:stretch>
              <a:fillRect/>
            </a:stretch>
          </p:blipFill>
          <p:spPr>
            <a:xfrm>
              <a:off x="6418036" y="6473952"/>
              <a:ext cx="762000" cy="203200"/>
            </a:xfrm>
            <a:prstGeom prst="rect">
              <a:avLst/>
            </a:prstGeom>
          </p:spPr>
        </p:pic>
      </p:grpSp>
      <p:pic>
        <p:nvPicPr>
          <p:cNvPr id="2" name="Picture 1">
            <a:extLst>
              <a:ext uri="{FF2B5EF4-FFF2-40B4-BE49-F238E27FC236}">
                <a16:creationId xmlns:a16="http://schemas.microsoft.com/office/drawing/2014/main" id="{4A22A458-09B7-199F-E8DD-E28EC1201A90}"/>
              </a:ext>
            </a:extLst>
          </p:cNvPr>
          <p:cNvPicPr>
            <a:picLocks noChangeAspect="1"/>
          </p:cNvPicPr>
          <p:nvPr/>
        </p:nvPicPr>
        <p:blipFill>
          <a:blip r:embed="rId7"/>
          <a:stretch>
            <a:fillRect/>
          </a:stretch>
        </p:blipFill>
        <p:spPr>
          <a:xfrm>
            <a:off x="1623785" y="1431767"/>
            <a:ext cx="5753100" cy="1143000"/>
          </a:xfrm>
          <a:prstGeom prst="rect">
            <a:avLst/>
          </a:prstGeom>
        </p:spPr>
      </p:pic>
      <p:pic>
        <p:nvPicPr>
          <p:cNvPr id="5" name="Picture 4">
            <a:extLst>
              <a:ext uri="{FF2B5EF4-FFF2-40B4-BE49-F238E27FC236}">
                <a16:creationId xmlns:a16="http://schemas.microsoft.com/office/drawing/2014/main" id="{B8D629FA-5C16-3276-322E-199BA8F4ED4B}"/>
              </a:ext>
            </a:extLst>
          </p:cNvPr>
          <p:cNvPicPr>
            <a:picLocks noChangeAspect="1"/>
          </p:cNvPicPr>
          <p:nvPr/>
        </p:nvPicPr>
        <p:blipFill>
          <a:blip r:embed="rId8"/>
          <a:stretch>
            <a:fillRect/>
          </a:stretch>
        </p:blipFill>
        <p:spPr>
          <a:xfrm>
            <a:off x="429985" y="2556034"/>
            <a:ext cx="6934200" cy="3454400"/>
          </a:xfrm>
          <a:prstGeom prst="rect">
            <a:avLst/>
          </a:prstGeom>
        </p:spPr>
      </p:pic>
      <p:cxnSp>
        <p:nvCxnSpPr>
          <p:cNvPr id="9" name="Straight Connector 8">
            <a:extLst>
              <a:ext uri="{FF2B5EF4-FFF2-40B4-BE49-F238E27FC236}">
                <a16:creationId xmlns:a16="http://schemas.microsoft.com/office/drawing/2014/main" id="{4097E5DE-A21B-ACEA-FF0A-71476C52BF12}"/>
              </a:ext>
            </a:extLst>
          </p:cNvPr>
          <p:cNvCxnSpPr/>
          <p:nvPr/>
        </p:nvCxnSpPr>
        <p:spPr>
          <a:xfrm flipH="1">
            <a:off x="1623785" y="6010434"/>
            <a:ext cx="57404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91EF829-FD08-3D71-1D93-32BF4758D7C6}"/>
              </a:ext>
            </a:extLst>
          </p:cNvPr>
          <p:cNvSpPr txBox="1"/>
          <p:nvPr/>
        </p:nvSpPr>
        <p:spPr>
          <a:xfrm>
            <a:off x="7428792" y="1401538"/>
            <a:ext cx="2013912" cy="276999"/>
          </a:xfrm>
          <a:prstGeom prst="rect">
            <a:avLst/>
          </a:prstGeom>
          <a:noFill/>
        </p:spPr>
        <p:txBody>
          <a:bodyPr wrap="square" rtlCol="0">
            <a:spAutoFit/>
          </a:bodyPr>
          <a:lstStyle/>
          <a:p>
            <a:pPr algn="ctr"/>
            <a:r>
              <a:rPr lang="en-US" sz="1200" b="1" dirty="0"/>
              <a:t>BCBSMA Assessment</a:t>
            </a:r>
          </a:p>
        </p:txBody>
      </p:sp>
      <p:pic>
        <p:nvPicPr>
          <p:cNvPr id="29" name="Picture 28">
            <a:extLst>
              <a:ext uri="{FF2B5EF4-FFF2-40B4-BE49-F238E27FC236}">
                <a16:creationId xmlns:a16="http://schemas.microsoft.com/office/drawing/2014/main" id="{02553EF1-E979-21B8-B3E5-CAE28E53E024}"/>
              </a:ext>
            </a:extLst>
          </p:cNvPr>
          <p:cNvPicPr>
            <a:picLocks noChangeAspect="1"/>
          </p:cNvPicPr>
          <p:nvPr/>
        </p:nvPicPr>
        <p:blipFill>
          <a:blip r:embed="rId9"/>
          <a:stretch>
            <a:fillRect/>
          </a:stretch>
        </p:blipFill>
        <p:spPr>
          <a:xfrm>
            <a:off x="7828499" y="2556034"/>
            <a:ext cx="215900" cy="203200"/>
          </a:xfrm>
          <a:prstGeom prst="rect">
            <a:avLst/>
          </a:prstGeom>
        </p:spPr>
      </p:pic>
      <p:pic>
        <p:nvPicPr>
          <p:cNvPr id="30" name="Picture 29">
            <a:extLst>
              <a:ext uri="{FF2B5EF4-FFF2-40B4-BE49-F238E27FC236}">
                <a16:creationId xmlns:a16="http://schemas.microsoft.com/office/drawing/2014/main" id="{A8ABBB47-E288-6984-661D-E90ADA2F0F34}"/>
              </a:ext>
            </a:extLst>
          </p:cNvPr>
          <p:cNvPicPr>
            <a:picLocks noChangeAspect="1"/>
          </p:cNvPicPr>
          <p:nvPr/>
        </p:nvPicPr>
        <p:blipFill>
          <a:blip r:embed="rId10"/>
          <a:stretch>
            <a:fillRect/>
          </a:stretch>
        </p:blipFill>
        <p:spPr>
          <a:xfrm>
            <a:off x="8849556" y="2556034"/>
            <a:ext cx="215900" cy="241300"/>
          </a:xfrm>
          <a:prstGeom prst="rect">
            <a:avLst/>
          </a:prstGeom>
        </p:spPr>
      </p:pic>
      <p:pic>
        <p:nvPicPr>
          <p:cNvPr id="31" name="Picture 30">
            <a:extLst>
              <a:ext uri="{FF2B5EF4-FFF2-40B4-BE49-F238E27FC236}">
                <a16:creationId xmlns:a16="http://schemas.microsoft.com/office/drawing/2014/main" id="{312ECF02-F9C5-5315-3CEB-6923CF8C4DA4}"/>
              </a:ext>
            </a:extLst>
          </p:cNvPr>
          <p:cNvPicPr>
            <a:picLocks noChangeAspect="1"/>
          </p:cNvPicPr>
          <p:nvPr/>
        </p:nvPicPr>
        <p:blipFill>
          <a:blip r:embed="rId11"/>
          <a:stretch>
            <a:fillRect/>
          </a:stretch>
        </p:blipFill>
        <p:spPr>
          <a:xfrm>
            <a:off x="7834849" y="2868184"/>
            <a:ext cx="203200" cy="203200"/>
          </a:xfrm>
          <a:prstGeom prst="rect">
            <a:avLst/>
          </a:prstGeom>
        </p:spPr>
      </p:pic>
      <p:pic>
        <p:nvPicPr>
          <p:cNvPr id="32" name="Picture 31">
            <a:extLst>
              <a:ext uri="{FF2B5EF4-FFF2-40B4-BE49-F238E27FC236}">
                <a16:creationId xmlns:a16="http://schemas.microsoft.com/office/drawing/2014/main" id="{264E5996-B13A-256D-0117-3EFBDE96C87A}"/>
              </a:ext>
            </a:extLst>
          </p:cNvPr>
          <p:cNvPicPr>
            <a:picLocks noChangeAspect="1"/>
          </p:cNvPicPr>
          <p:nvPr/>
        </p:nvPicPr>
        <p:blipFill>
          <a:blip r:embed="rId9"/>
          <a:stretch>
            <a:fillRect/>
          </a:stretch>
        </p:blipFill>
        <p:spPr>
          <a:xfrm>
            <a:off x="8849556" y="2869218"/>
            <a:ext cx="215900" cy="203200"/>
          </a:xfrm>
          <a:prstGeom prst="rect">
            <a:avLst/>
          </a:prstGeom>
        </p:spPr>
      </p:pic>
      <p:pic>
        <p:nvPicPr>
          <p:cNvPr id="33" name="Picture 32">
            <a:extLst>
              <a:ext uri="{FF2B5EF4-FFF2-40B4-BE49-F238E27FC236}">
                <a16:creationId xmlns:a16="http://schemas.microsoft.com/office/drawing/2014/main" id="{785F271E-C408-6F74-3E79-3C9C922222AF}"/>
              </a:ext>
            </a:extLst>
          </p:cNvPr>
          <p:cNvPicPr>
            <a:picLocks noChangeAspect="1"/>
          </p:cNvPicPr>
          <p:nvPr/>
        </p:nvPicPr>
        <p:blipFill>
          <a:blip r:embed="rId9"/>
          <a:stretch>
            <a:fillRect/>
          </a:stretch>
        </p:blipFill>
        <p:spPr>
          <a:xfrm>
            <a:off x="7828499" y="3204202"/>
            <a:ext cx="215900" cy="203200"/>
          </a:xfrm>
          <a:prstGeom prst="rect">
            <a:avLst/>
          </a:prstGeom>
        </p:spPr>
      </p:pic>
      <p:pic>
        <p:nvPicPr>
          <p:cNvPr id="34" name="Picture 33">
            <a:extLst>
              <a:ext uri="{FF2B5EF4-FFF2-40B4-BE49-F238E27FC236}">
                <a16:creationId xmlns:a16="http://schemas.microsoft.com/office/drawing/2014/main" id="{605C277D-4EC9-181A-366C-356994FAC6F9}"/>
              </a:ext>
            </a:extLst>
          </p:cNvPr>
          <p:cNvPicPr>
            <a:picLocks noChangeAspect="1"/>
          </p:cNvPicPr>
          <p:nvPr/>
        </p:nvPicPr>
        <p:blipFill>
          <a:blip r:embed="rId9"/>
          <a:stretch>
            <a:fillRect/>
          </a:stretch>
        </p:blipFill>
        <p:spPr>
          <a:xfrm>
            <a:off x="8849556" y="3201361"/>
            <a:ext cx="215900" cy="203200"/>
          </a:xfrm>
          <a:prstGeom prst="rect">
            <a:avLst/>
          </a:prstGeom>
        </p:spPr>
      </p:pic>
      <p:pic>
        <p:nvPicPr>
          <p:cNvPr id="35" name="Picture 34">
            <a:extLst>
              <a:ext uri="{FF2B5EF4-FFF2-40B4-BE49-F238E27FC236}">
                <a16:creationId xmlns:a16="http://schemas.microsoft.com/office/drawing/2014/main" id="{13E3EAB9-A32B-B733-9D59-7C21EF6E3858}"/>
              </a:ext>
            </a:extLst>
          </p:cNvPr>
          <p:cNvPicPr>
            <a:picLocks noChangeAspect="1"/>
          </p:cNvPicPr>
          <p:nvPr/>
        </p:nvPicPr>
        <p:blipFill>
          <a:blip r:embed="rId12"/>
          <a:stretch>
            <a:fillRect/>
          </a:stretch>
        </p:blipFill>
        <p:spPr>
          <a:xfrm>
            <a:off x="7822149" y="3570164"/>
            <a:ext cx="228600" cy="254000"/>
          </a:xfrm>
          <a:prstGeom prst="rect">
            <a:avLst/>
          </a:prstGeom>
        </p:spPr>
      </p:pic>
      <p:pic>
        <p:nvPicPr>
          <p:cNvPr id="36" name="Picture 35">
            <a:extLst>
              <a:ext uri="{FF2B5EF4-FFF2-40B4-BE49-F238E27FC236}">
                <a16:creationId xmlns:a16="http://schemas.microsoft.com/office/drawing/2014/main" id="{F9EB9FEB-CBD8-F7D5-309B-1947138A9C6A}"/>
              </a:ext>
            </a:extLst>
          </p:cNvPr>
          <p:cNvPicPr>
            <a:picLocks noChangeAspect="1"/>
          </p:cNvPicPr>
          <p:nvPr/>
        </p:nvPicPr>
        <p:blipFill>
          <a:blip r:embed="rId12"/>
          <a:stretch>
            <a:fillRect/>
          </a:stretch>
        </p:blipFill>
        <p:spPr>
          <a:xfrm>
            <a:off x="8843206" y="3567832"/>
            <a:ext cx="228600" cy="254000"/>
          </a:xfrm>
          <a:prstGeom prst="rect">
            <a:avLst/>
          </a:prstGeom>
        </p:spPr>
      </p:pic>
      <p:pic>
        <p:nvPicPr>
          <p:cNvPr id="37" name="Picture 36">
            <a:extLst>
              <a:ext uri="{FF2B5EF4-FFF2-40B4-BE49-F238E27FC236}">
                <a16:creationId xmlns:a16="http://schemas.microsoft.com/office/drawing/2014/main" id="{6699C9EF-626B-EF6D-74E9-117F13E440AD}"/>
              </a:ext>
            </a:extLst>
          </p:cNvPr>
          <p:cNvPicPr>
            <a:picLocks noChangeAspect="1"/>
          </p:cNvPicPr>
          <p:nvPr/>
        </p:nvPicPr>
        <p:blipFill>
          <a:blip r:embed="rId12"/>
          <a:stretch>
            <a:fillRect/>
          </a:stretch>
        </p:blipFill>
        <p:spPr>
          <a:xfrm>
            <a:off x="7822149" y="4048059"/>
            <a:ext cx="228600" cy="254000"/>
          </a:xfrm>
          <a:prstGeom prst="rect">
            <a:avLst/>
          </a:prstGeom>
        </p:spPr>
      </p:pic>
      <p:pic>
        <p:nvPicPr>
          <p:cNvPr id="38" name="Picture 37">
            <a:extLst>
              <a:ext uri="{FF2B5EF4-FFF2-40B4-BE49-F238E27FC236}">
                <a16:creationId xmlns:a16="http://schemas.microsoft.com/office/drawing/2014/main" id="{A9AB83AC-72AA-2E30-E8D4-081FC9955D3C}"/>
              </a:ext>
            </a:extLst>
          </p:cNvPr>
          <p:cNvPicPr>
            <a:picLocks noChangeAspect="1"/>
          </p:cNvPicPr>
          <p:nvPr/>
        </p:nvPicPr>
        <p:blipFill>
          <a:blip r:embed="rId12"/>
          <a:stretch>
            <a:fillRect/>
          </a:stretch>
        </p:blipFill>
        <p:spPr>
          <a:xfrm>
            <a:off x="8843206" y="4045727"/>
            <a:ext cx="228600" cy="254000"/>
          </a:xfrm>
          <a:prstGeom prst="rect">
            <a:avLst/>
          </a:prstGeom>
        </p:spPr>
      </p:pic>
      <p:pic>
        <p:nvPicPr>
          <p:cNvPr id="39" name="Picture 38">
            <a:extLst>
              <a:ext uri="{FF2B5EF4-FFF2-40B4-BE49-F238E27FC236}">
                <a16:creationId xmlns:a16="http://schemas.microsoft.com/office/drawing/2014/main" id="{5D559874-F520-0AD7-7162-20D13E713A00}"/>
              </a:ext>
            </a:extLst>
          </p:cNvPr>
          <p:cNvPicPr>
            <a:picLocks noChangeAspect="1"/>
          </p:cNvPicPr>
          <p:nvPr/>
        </p:nvPicPr>
        <p:blipFill>
          <a:blip r:embed="rId9"/>
          <a:stretch>
            <a:fillRect/>
          </a:stretch>
        </p:blipFill>
        <p:spPr>
          <a:xfrm>
            <a:off x="8849556" y="4476285"/>
            <a:ext cx="215900" cy="203200"/>
          </a:xfrm>
          <a:prstGeom prst="rect">
            <a:avLst/>
          </a:prstGeom>
        </p:spPr>
      </p:pic>
      <p:pic>
        <p:nvPicPr>
          <p:cNvPr id="40" name="Picture 39">
            <a:extLst>
              <a:ext uri="{FF2B5EF4-FFF2-40B4-BE49-F238E27FC236}">
                <a16:creationId xmlns:a16="http://schemas.microsoft.com/office/drawing/2014/main" id="{EB490A90-5448-55F1-81A2-25A92FAF24AA}"/>
              </a:ext>
            </a:extLst>
          </p:cNvPr>
          <p:cNvPicPr>
            <a:picLocks noChangeAspect="1"/>
          </p:cNvPicPr>
          <p:nvPr/>
        </p:nvPicPr>
        <p:blipFill>
          <a:blip r:embed="rId10"/>
          <a:stretch>
            <a:fillRect/>
          </a:stretch>
        </p:blipFill>
        <p:spPr>
          <a:xfrm>
            <a:off x="7828499" y="4461605"/>
            <a:ext cx="215900" cy="241300"/>
          </a:xfrm>
          <a:prstGeom prst="rect">
            <a:avLst/>
          </a:prstGeom>
        </p:spPr>
      </p:pic>
      <p:pic>
        <p:nvPicPr>
          <p:cNvPr id="41" name="Picture 40">
            <a:extLst>
              <a:ext uri="{FF2B5EF4-FFF2-40B4-BE49-F238E27FC236}">
                <a16:creationId xmlns:a16="http://schemas.microsoft.com/office/drawing/2014/main" id="{339B1050-C9FD-5306-AF6A-219886B4E611}"/>
              </a:ext>
            </a:extLst>
          </p:cNvPr>
          <p:cNvPicPr>
            <a:picLocks noChangeAspect="1"/>
          </p:cNvPicPr>
          <p:nvPr/>
        </p:nvPicPr>
        <p:blipFill>
          <a:blip r:embed="rId12"/>
          <a:stretch>
            <a:fillRect/>
          </a:stretch>
        </p:blipFill>
        <p:spPr>
          <a:xfrm>
            <a:off x="7822149" y="4789812"/>
            <a:ext cx="228600" cy="254000"/>
          </a:xfrm>
          <a:prstGeom prst="rect">
            <a:avLst/>
          </a:prstGeom>
        </p:spPr>
      </p:pic>
      <p:pic>
        <p:nvPicPr>
          <p:cNvPr id="42" name="Picture 41">
            <a:extLst>
              <a:ext uri="{FF2B5EF4-FFF2-40B4-BE49-F238E27FC236}">
                <a16:creationId xmlns:a16="http://schemas.microsoft.com/office/drawing/2014/main" id="{F0BC61B3-2D10-4FFC-C502-78AA6A24BA2B}"/>
              </a:ext>
            </a:extLst>
          </p:cNvPr>
          <p:cNvPicPr>
            <a:picLocks noChangeAspect="1"/>
          </p:cNvPicPr>
          <p:nvPr/>
        </p:nvPicPr>
        <p:blipFill>
          <a:blip r:embed="rId12"/>
          <a:stretch>
            <a:fillRect/>
          </a:stretch>
        </p:blipFill>
        <p:spPr>
          <a:xfrm>
            <a:off x="8843206" y="4787480"/>
            <a:ext cx="228600" cy="254000"/>
          </a:xfrm>
          <a:prstGeom prst="rect">
            <a:avLst/>
          </a:prstGeom>
        </p:spPr>
      </p:pic>
      <p:pic>
        <p:nvPicPr>
          <p:cNvPr id="43" name="Picture 42">
            <a:extLst>
              <a:ext uri="{FF2B5EF4-FFF2-40B4-BE49-F238E27FC236}">
                <a16:creationId xmlns:a16="http://schemas.microsoft.com/office/drawing/2014/main" id="{0AEDF85B-6261-B45A-C713-ECB7EFE9C49C}"/>
              </a:ext>
            </a:extLst>
          </p:cNvPr>
          <p:cNvPicPr>
            <a:picLocks noChangeAspect="1"/>
          </p:cNvPicPr>
          <p:nvPr/>
        </p:nvPicPr>
        <p:blipFill>
          <a:blip r:embed="rId9"/>
          <a:stretch>
            <a:fillRect/>
          </a:stretch>
        </p:blipFill>
        <p:spPr>
          <a:xfrm>
            <a:off x="7828499" y="5120176"/>
            <a:ext cx="215900" cy="203200"/>
          </a:xfrm>
          <a:prstGeom prst="rect">
            <a:avLst/>
          </a:prstGeom>
        </p:spPr>
      </p:pic>
      <p:pic>
        <p:nvPicPr>
          <p:cNvPr id="44" name="Picture 43">
            <a:extLst>
              <a:ext uri="{FF2B5EF4-FFF2-40B4-BE49-F238E27FC236}">
                <a16:creationId xmlns:a16="http://schemas.microsoft.com/office/drawing/2014/main" id="{6642434E-CAAD-6C07-05CD-AF5666DB835D}"/>
              </a:ext>
            </a:extLst>
          </p:cNvPr>
          <p:cNvPicPr>
            <a:picLocks noChangeAspect="1"/>
          </p:cNvPicPr>
          <p:nvPr/>
        </p:nvPicPr>
        <p:blipFill>
          <a:blip r:embed="rId9"/>
          <a:stretch>
            <a:fillRect/>
          </a:stretch>
        </p:blipFill>
        <p:spPr>
          <a:xfrm>
            <a:off x="8849556" y="5117335"/>
            <a:ext cx="215900" cy="203200"/>
          </a:xfrm>
          <a:prstGeom prst="rect">
            <a:avLst/>
          </a:prstGeom>
        </p:spPr>
      </p:pic>
      <p:pic>
        <p:nvPicPr>
          <p:cNvPr id="45" name="Picture 44">
            <a:extLst>
              <a:ext uri="{FF2B5EF4-FFF2-40B4-BE49-F238E27FC236}">
                <a16:creationId xmlns:a16="http://schemas.microsoft.com/office/drawing/2014/main" id="{C7D09A77-9867-3DE9-12B7-176C5C727496}"/>
              </a:ext>
            </a:extLst>
          </p:cNvPr>
          <p:cNvPicPr>
            <a:picLocks noChangeAspect="1"/>
          </p:cNvPicPr>
          <p:nvPr/>
        </p:nvPicPr>
        <p:blipFill>
          <a:blip r:embed="rId12"/>
          <a:stretch>
            <a:fillRect/>
          </a:stretch>
        </p:blipFill>
        <p:spPr>
          <a:xfrm>
            <a:off x="7822149" y="5358239"/>
            <a:ext cx="228600" cy="254000"/>
          </a:xfrm>
          <a:prstGeom prst="rect">
            <a:avLst/>
          </a:prstGeom>
        </p:spPr>
      </p:pic>
      <p:pic>
        <p:nvPicPr>
          <p:cNvPr id="46" name="Picture 45">
            <a:extLst>
              <a:ext uri="{FF2B5EF4-FFF2-40B4-BE49-F238E27FC236}">
                <a16:creationId xmlns:a16="http://schemas.microsoft.com/office/drawing/2014/main" id="{36349AD5-4DAA-3E25-D53F-348519E1AAEB}"/>
              </a:ext>
            </a:extLst>
          </p:cNvPr>
          <p:cNvPicPr>
            <a:picLocks noChangeAspect="1"/>
          </p:cNvPicPr>
          <p:nvPr/>
        </p:nvPicPr>
        <p:blipFill>
          <a:blip r:embed="rId12"/>
          <a:stretch>
            <a:fillRect/>
          </a:stretch>
        </p:blipFill>
        <p:spPr>
          <a:xfrm>
            <a:off x="8843206" y="5355907"/>
            <a:ext cx="228600" cy="254000"/>
          </a:xfrm>
          <a:prstGeom prst="rect">
            <a:avLst/>
          </a:prstGeom>
        </p:spPr>
      </p:pic>
      <p:pic>
        <p:nvPicPr>
          <p:cNvPr id="47" name="Picture 46">
            <a:extLst>
              <a:ext uri="{FF2B5EF4-FFF2-40B4-BE49-F238E27FC236}">
                <a16:creationId xmlns:a16="http://schemas.microsoft.com/office/drawing/2014/main" id="{A0348C28-D7E0-2978-E04D-8295FA61265D}"/>
              </a:ext>
            </a:extLst>
          </p:cNvPr>
          <p:cNvPicPr>
            <a:picLocks noChangeAspect="1"/>
          </p:cNvPicPr>
          <p:nvPr/>
        </p:nvPicPr>
        <p:blipFill>
          <a:blip r:embed="rId9"/>
          <a:stretch>
            <a:fillRect/>
          </a:stretch>
        </p:blipFill>
        <p:spPr>
          <a:xfrm>
            <a:off x="7828499" y="5748504"/>
            <a:ext cx="215900" cy="203200"/>
          </a:xfrm>
          <a:prstGeom prst="rect">
            <a:avLst/>
          </a:prstGeom>
        </p:spPr>
      </p:pic>
      <p:pic>
        <p:nvPicPr>
          <p:cNvPr id="48" name="Picture 47">
            <a:extLst>
              <a:ext uri="{FF2B5EF4-FFF2-40B4-BE49-F238E27FC236}">
                <a16:creationId xmlns:a16="http://schemas.microsoft.com/office/drawing/2014/main" id="{78E4D861-31C2-9334-EC37-82F17FC2D8E4}"/>
              </a:ext>
            </a:extLst>
          </p:cNvPr>
          <p:cNvPicPr>
            <a:picLocks noChangeAspect="1"/>
          </p:cNvPicPr>
          <p:nvPr/>
        </p:nvPicPr>
        <p:blipFill>
          <a:blip r:embed="rId9"/>
          <a:stretch>
            <a:fillRect/>
          </a:stretch>
        </p:blipFill>
        <p:spPr>
          <a:xfrm>
            <a:off x="8849556" y="5745663"/>
            <a:ext cx="215900" cy="203200"/>
          </a:xfrm>
          <a:prstGeom prst="rect">
            <a:avLst/>
          </a:prstGeom>
        </p:spPr>
      </p:pic>
    </p:spTree>
    <p:extLst>
      <p:ext uri="{BB962C8B-B14F-4D97-AF65-F5344CB8AC3E}">
        <p14:creationId xmlns:p14="http://schemas.microsoft.com/office/powerpoint/2010/main" val="1521094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dirty="0"/>
              <a:t>Talent and Skills</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870860"/>
            <a:ext cx="9448800" cy="381000"/>
          </a:xfrm>
        </p:spPr>
        <p:txBody>
          <a:bodyPr/>
          <a:lstStyle/>
          <a:p>
            <a:pPr marL="236538" marR="0" lvl="0" indent="0">
              <a:spcBef>
                <a:spcPts val="0"/>
              </a:spcBef>
              <a:spcAft>
                <a:spcPts val="0"/>
              </a:spcAft>
              <a:tabLst>
                <a:tab pos="457200" algn="l"/>
              </a:tabLst>
            </a:pPr>
            <a:r>
              <a:rPr lang="en-US" sz="1400" i="1" dirty="0">
                <a:solidFill>
                  <a:schemeClr val="tx1"/>
                </a:solidFill>
              </a:rPr>
              <a:t>A plan for acquiring, developing, and retaining the talent and skills necessary to build, deploy, and maintain AI-powered systems</a:t>
            </a:r>
          </a:p>
          <a:p>
            <a:pPr marL="236538" indent="0"/>
            <a:r>
              <a:rPr lang="en-US" sz="1400" i="1" dirty="0">
                <a:solidFill>
                  <a:schemeClr val="tx1"/>
                </a:solidFill>
              </a:rPr>
              <a:t> </a:t>
            </a:r>
          </a:p>
          <a:p>
            <a:endParaRPr lang="en-US" sz="1400" i="1" dirty="0"/>
          </a:p>
        </p:txBody>
      </p:sp>
      <p:sp>
        <p:nvSpPr>
          <p:cNvPr id="5" name="Google Shape;903;p7">
            <a:extLst>
              <a:ext uri="{FF2B5EF4-FFF2-40B4-BE49-F238E27FC236}">
                <a16:creationId xmlns:a16="http://schemas.microsoft.com/office/drawing/2014/main" id="{0E79DBA9-F65D-2CDE-6BEB-213D101C27E8}"/>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chemeClr val="bg1"/>
                </a:solidFill>
                <a:latin typeface="Arial"/>
                <a:ea typeface="Arial"/>
                <a:cs typeface="Arial"/>
                <a:sym typeface="Arial"/>
              </a:rPr>
              <a:t>Talent and Skills</a:t>
            </a:r>
            <a:endParaRPr sz="1600" b="1" i="0" u="none" strike="noStrike" cap="none" dirty="0">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7ECE16D8-961D-7974-A13C-69F769C722F7}"/>
              </a:ext>
            </a:extLst>
          </p:cNvPr>
          <p:cNvGrpSpPr/>
          <p:nvPr/>
        </p:nvGrpSpPr>
        <p:grpSpPr>
          <a:xfrm>
            <a:off x="252729" y="2590748"/>
            <a:ext cx="2745559" cy="1926823"/>
            <a:chOff x="579300" y="4091838"/>
            <a:chExt cx="3754800" cy="2460222"/>
          </a:xfrm>
        </p:grpSpPr>
        <p:sp>
          <p:nvSpPr>
            <p:cNvPr id="7" name="Google Shape;900;p7">
              <a:extLst>
                <a:ext uri="{FF2B5EF4-FFF2-40B4-BE49-F238E27FC236}">
                  <a16:creationId xmlns:a16="http://schemas.microsoft.com/office/drawing/2014/main" id="{ECFD3FB3-1A88-9CE1-D2FC-25116987C3C1}"/>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dirty="0">
                  <a:solidFill>
                    <a:schemeClr val="tx1"/>
                  </a:solidFill>
                </a:rPr>
                <a:t>Identify specific skills, competencies and proficiency required for AI roles, such as data science, machine learning, natural language processing, and programming. </a:t>
              </a:r>
            </a:p>
            <a:p>
              <a:pPr>
                <a:buSzPts val="1000"/>
                <a:tabLst>
                  <a:tab pos="457200" algn="l"/>
                </a:tabLst>
              </a:pPr>
              <a:r>
                <a:rPr lang="en-US" sz="1200" dirty="0">
                  <a:solidFill>
                    <a:schemeClr val="tx1"/>
                  </a:solidFill>
                </a:rPr>
                <a:t>Assess the current skills of your workforce to identify gaps and areas for development.</a:t>
              </a:r>
              <a:endParaRPr sz="1200" dirty="0">
                <a:solidFill>
                  <a:schemeClr val="tx1"/>
                </a:solidFill>
              </a:endParaRPr>
            </a:p>
          </p:txBody>
        </p:sp>
        <p:sp>
          <p:nvSpPr>
            <p:cNvPr id="8" name="Google Shape;900;p7">
              <a:extLst>
                <a:ext uri="{FF2B5EF4-FFF2-40B4-BE49-F238E27FC236}">
                  <a16:creationId xmlns:a16="http://schemas.microsoft.com/office/drawing/2014/main" id="{D620FC5B-477C-E25B-7987-99A7C8C45CD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Define &amp; Assess Skills</a:t>
              </a:r>
              <a:endParaRPr sz="1400" b="0" i="0" u="none" strike="noStrike" cap="none" dirty="0">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5F5B42D9-BA3E-5102-1F35-54EE3E275311}"/>
              </a:ext>
            </a:extLst>
          </p:cNvPr>
          <p:cNvGrpSpPr/>
          <p:nvPr/>
        </p:nvGrpSpPr>
        <p:grpSpPr>
          <a:xfrm>
            <a:off x="3277139" y="2590748"/>
            <a:ext cx="2745559" cy="1926823"/>
            <a:chOff x="579300" y="4091838"/>
            <a:chExt cx="3754800" cy="2460222"/>
          </a:xfrm>
        </p:grpSpPr>
        <p:sp>
          <p:nvSpPr>
            <p:cNvPr id="10" name="Google Shape;900;p7">
              <a:extLst>
                <a:ext uri="{FF2B5EF4-FFF2-40B4-BE49-F238E27FC236}">
                  <a16:creationId xmlns:a16="http://schemas.microsoft.com/office/drawing/2014/main" id="{F291CE52-FE91-9E14-3179-4DF52CB0C113}"/>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dirty="0">
                  <a:solidFill>
                    <a:schemeClr val="tx1"/>
                  </a:solidFill>
                </a:rPr>
                <a:t>Develop strategies to attract and hire top AI talent. </a:t>
              </a:r>
            </a:p>
            <a:p>
              <a:pPr algn="l"/>
              <a:r>
                <a:rPr lang="en-US" sz="1200" dirty="0">
                  <a:solidFill>
                    <a:schemeClr val="tx1"/>
                  </a:solidFill>
                </a:rPr>
                <a:t>Develop strategies to retain and develop top AI talent. </a:t>
              </a:r>
            </a:p>
          </p:txBody>
        </p:sp>
        <p:sp>
          <p:nvSpPr>
            <p:cNvPr id="11" name="Google Shape;900;p7">
              <a:extLst>
                <a:ext uri="{FF2B5EF4-FFF2-40B4-BE49-F238E27FC236}">
                  <a16:creationId xmlns:a16="http://schemas.microsoft.com/office/drawing/2014/main" id="{404354D9-97E3-9872-B786-FEB2A912339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Hiring &amp; Retention</a:t>
              </a:r>
              <a:endParaRPr sz="1400" b="0" i="0" u="none" strike="noStrike" cap="none" dirty="0">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7AB8BE8A-FFBD-DE7B-2415-65D696E0C5D2}"/>
              </a:ext>
            </a:extLst>
          </p:cNvPr>
          <p:cNvGrpSpPr/>
          <p:nvPr/>
        </p:nvGrpSpPr>
        <p:grpSpPr>
          <a:xfrm>
            <a:off x="6301549" y="2590748"/>
            <a:ext cx="2745559" cy="1926823"/>
            <a:chOff x="579300" y="4091838"/>
            <a:chExt cx="3754800" cy="2460222"/>
          </a:xfrm>
        </p:grpSpPr>
        <p:sp>
          <p:nvSpPr>
            <p:cNvPr id="13" name="Google Shape;900;p7">
              <a:extLst>
                <a:ext uri="{FF2B5EF4-FFF2-40B4-BE49-F238E27FC236}">
                  <a16:creationId xmlns:a16="http://schemas.microsoft.com/office/drawing/2014/main" id="{EB7FBC91-2D0A-F7E1-23B0-ED95CDC2A07A}"/>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Training and development plans to upskill and reskill employees to meet the required skill levels for AI roles. Use a combination of internal training programs, external courses and certifications, and on-the-job training to develop the required skills.</a:t>
              </a:r>
            </a:p>
          </p:txBody>
        </p:sp>
        <p:sp>
          <p:nvSpPr>
            <p:cNvPr id="14" name="Google Shape;900;p7">
              <a:extLst>
                <a:ext uri="{FF2B5EF4-FFF2-40B4-BE49-F238E27FC236}">
                  <a16:creationId xmlns:a16="http://schemas.microsoft.com/office/drawing/2014/main" id="{1C9FDFBB-C1E5-8E92-BAC4-3BE2110DD7F0}"/>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Training &amp; Development</a:t>
              </a:r>
              <a:endParaRPr b="0" i="0" u="none" strike="noStrike" cap="none" dirty="0">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528B771D-8510-C17C-46DE-6C669F1CB154}"/>
              </a:ext>
            </a:extLst>
          </p:cNvPr>
          <p:cNvGrpSpPr/>
          <p:nvPr/>
        </p:nvGrpSpPr>
        <p:grpSpPr>
          <a:xfrm>
            <a:off x="9325958" y="2593058"/>
            <a:ext cx="2745559" cy="1925014"/>
            <a:chOff x="579300" y="4091838"/>
            <a:chExt cx="3754800" cy="2457912"/>
          </a:xfrm>
        </p:grpSpPr>
        <p:sp>
          <p:nvSpPr>
            <p:cNvPr id="16" name="Google Shape;900;p7">
              <a:extLst>
                <a:ext uri="{FF2B5EF4-FFF2-40B4-BE49-F238E27FC236}">
                  <a16:creationId xmlns:a16="http://schemas.microsoft.com/office/drawing/2014/main" id="{EBA0ED81-2930-3605-6BFC-4B79D9334641}"/>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Establish a culture of innovation that encourages experimentation, risk-taking, and continuous learning. Encourage employees to share ideas and collaborate on AI projects to drive innovation and creativity.</a:t>
              </a:r>
            </a:p>
          </p:txBody>
        </p:sp>
        <p:sp>
          <p:nvSpPr>
            <p:cNvPr id="17" name="Google Shape;900;p7">
              <a:extLst>
                <a:ext uri="{FF2B5EF4-FFF2-40B4-BE49-F238E27FC236}">
                  <a16:creationId xmlns:a16="http://schemas.microsoft.com/office/drawing/2014/main" id="{BC0B5FA0-F9AD-C27A-E5D6-3261E668BF6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Culture of Innovation</a:t>
              </a:r>
            </a:p>
          </p:txBody>
        </p:sp>
      </p:grpSp>
      <p:cxnSp>
        <p:nvCxnSpPr>
          <p:cNvPr id="18" name="Elbow Connector 17">
            <a:extLst>
              <a:ext uri="{FF2B5EF4-FFF2-40B4-BE49-F238E27FC236}">
                <a16:creationId xmlns:a16="http://schemas.microsoft.com/office/drawing/2014/main" id="{5DA21CCC-26CC-709D-F834-A8B3D31A5D6C}"/>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87764111-91A2-6CDC-9677-C382C64DBF82}"/>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205FAFA1-5961-7CB1-E507-64A7D9040C01}"/>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2B458CE7-8957-437C-11D1-7B9F158489A0}"/>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Group of people with solid fill">
            <a:extLst>
              <a:ext uri="{FF2B5EF4-FFF2-40B4-BE49-F238E27FC236}">
                <a16:creationId xmlns:a16="http://schemas.microsoft.com/office/drawing/2014/main" id="{6FF804FF-059F-0E04-ABB9-FF74DF3A41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50963" y="1465306"/>
            <a:ext cx="362329" cy="362329"/>
          </a:xfrm>
          <a:prstGeom prst="rect">
            <a:avLst/>
          </a:prstGeom>
        </p:spPr>
      </p:pic>
      <p:pic>
        <p:nvPicPr>
          <p:cNvPr id="24" name="Picture 23">
            <a:extLst>
              <a:ext uri="{FF2B5EF4-FFF2-40B4-BE49-F238E27FC236}">
                <a16:creationId xmlns:a16="http://schemas.microsoft.com/office/drawing/2014/main" id="{8F948AF0-4586-CC0E-1ED8-F533AE582898}"/>
              </a:ext>
            </a:extLst>
          </p:cNvPr>
          <p:cNvPicPr>
            <a:picLocks noChangeAspect="1"/>
          </p:cNvPicPr>
          <p:nvPr/>
        </p:nvPicPr>
        <p:blipFill>
          <a:blip r:embed="rId4"/>
          <a:stretch>
            <a:fillRect/>
          </a:stretch>
        </p:blipFill>
        <p:spPr>
          <a:xfrm>
            <a:off x="250722" y="5050970"/>
            <a:ext cx="2745559" cy="1544377"/>
          </a:xfrm>
          <a:prstGeom prst="rect">
            <a:avLst/>
          </a:prstGeom>
          <a:ln>
            <a:solidFill>
              <a:schemeClr val="tx1"/>
            </a:solidFill>
          </a:ln>
        </p:spPr>
      </p:pic>
      <p:pic>
        <p:nvPicPr>
          <p:cNvPr id="25" name="Picture 24">
            <a:extLst>
              <a:ext uri="{FF2B5EF4-FFF2-40B4-BE49-F238E27FC236}">
                <a16:creationId xmlns:a16="http://schemas.microsoft.com/office/drawing/2014/main" id="{A9D1ABCA-D09D-CC32-926C-EB738DBE9D77}"/>
              </a:ext>
            </a:extLst>
          </p:cNvPr>
          <p:cNvPicPr>
            <a:picLocks noChangeAspect="1"/>
          </p:cNvPicPr>
          <p:nvPr/>
        </p:nvPicPr>
        <p:blipFill>
          <a:blip r:embed="rId5"/>
          <a:stretch>
            <a:fillRect/>
          </a:stretch>
        </p:blipFill>
        <p:spPr>
          <a:xfrm>
            <a:off x="6301549" y="5050969"/>
            <a:ext cx="2745559" cy="1544377"/>
          </a:xfrm>
          <a:prstGeom prst="rect">
            <a:avLst/>
          </a:prstGeom>
          <a:ln>
            <a:solidFill>
              <a:schemeClr val="tx1"/>
            </a:solidFill>
          </a:ln>
        </p:spPr>
      </p:pic>
      <p:pic>
        <p:nvPicPr>
          <p:cNvPr id="26" name="Picture 25">
            <a:extLst>
              <a:ext uri="{FF2B5EF4-FFF2-40B4-BE49-F238E27FC236}">
                <a16:creationId xmlns:a16="http://schemas.microsoft.com/office/drawing/2014/main" id="{E1451226-E3AE-CCA7-3840-D573CBC52D16}"/>
              </a:ext>
            </a:extLst>
          </p:cNvPr>
          <p:cNvPicPr>
            <a:picLocks noChangeAspect="1"/>
          </p:cNvPicPr>
          <p:nvPr/>
        </p:nvPicPr>
        <p:blipFill>
          <a:blip r:embed="rId6"/>
          <a:stretch>
            <a:fillRect/>
          </a:stretch>
        </p:blipFill>
        <p:spPr>
          <a:xfrm>
            <a:off x="9590662" y="5652272"/>
            <a:ext cx="2216150" cy="334868"/>
          </a:xfrm>
          <a:prstGeom prst="rect">
            <a:avLst/>
          </a:prstGeom>
        </p:spPr>
      </p:pic>
      <p:pic>
        <p:nvPicPr>
          <p:cNvPr id="28" name="Picture 27">
            <a:extLst>
              <a:ext uri="{FF2B5EF4-FFF2-40B4-BE49-F238E27FC236}">
                <a16:creationId xmlns:a16="http://schemas.microsoft.com/office/drawing/2014/main" id="{7DD010A9-CD35-30C1-0422-72624D819B0B}"/>
              </a:ext>
            </a:extLst>
          </p:cNvPr>
          <p:cNvPicPr>
            <a:picLocks noChangeAspect="1"/>
          </p:cNvPicPr>
          <p:nvPr/>
        </p:nvPicPr>
        <p:blipFill>
          <a:blip r:embed="rId7"/>
          <a:stretch>
            <a:fillRect/>
          </a:stretch>
        </p:blipFill>
        <p:spPr>
          <a:xfrm>
            <a:off x="3277139" y="5056835"/>
            <a:ext cx="2745559" cy="1538511"/>
          </a:xfrm>
          <a:prstGeom prst="rect">
            <a:avLst/>
          </a:prstGeom>
          <a:ln>
            <a:solidFill>
              <a:schemeClr val="tx1"/>
            </a:solidFill>
          </a:ln>
        </p:spPr>
      </p:pic>
      <p:cxnSp>
        <p:nvCxnSpPr>
          <p:cNvPr id="29" name="Straight Connector 28">
            <a:extLst>
              <a:ext uri="{FF2B5EF4-FFF2-40B4-BE49-F238E27FC236}">
                <a16:creationId xmlns:a16="http://schemas.microsoft.com/office/drawing/2014/main" id="{C330D997-C103-3A88-2F91-722AAFD4C2F4}"/>
              </a:ext>
            </a:extLst>
          </p:cNvPr>
          <p:cNvCxnSpPr>
            <a:cxnSpLocks/>
            <a:stCxn id="31" idx="1"/>
            <a:endCxn id="32" idx="3"/>
          </p:cNvCxnSpPr>
          <p:nvPr/>
        </p:nvCxnSpPr>
        <p:spPr>
          <a:xfrm>
            <a:off x="127002" y="41104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55AFB99-48B7-3FCA-C601-89F2B921F1F9}"/>
              </a:ext>
            </a:extLst>
          </p:cNvPr>
          <p:cNvCxnSpPr>
            <a:cxnSpLocks/>
          </p:cNvCxnSpPr>
          <p:nvPr/>
        </p:nvCxnSpPr>
        <p:spPr>
          <a:xfrm flipH="1">
            <a:off x="127001" y="47625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997BB5D-FF27-BF64-649C-3F5B7BE4F1DA}"/>
              </a:ext>
            </a:extLst>
          </p:cNvPr>
          <p:cNvSpPr txBox="1"/>
          <p:nvPr/>
        </p:nvSpPr>
        <p:spPr>
          <a:xfrm rot="16200000">
            <a:off x="-336548" y="3493006"/>
            <a:ext cx="927099"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What</a:t>
            </a:r>
            <a:r>
              <a:rPr lang="en-US" b="1" dirty="0">
                <a:latin typeface="Arial Narrow" panose="020B0604020202020204" pitchFamily="34" charset="0"/>
                <a:cs typeface="Arial Narrow" panose="020B0604020202020204" pitchFamily="34" charset="0"/>
              </a:rPr>
              <a:t> is it</a:t>
            </a:r>
          </a:p>
        </p:txBody>
      </p:sp>
      <p:sp>
        <p:nvSpPr>
          <p:cNvPr id="32" name="TextBox 31">
            <a:extLst>
              <a:ext uri="{FF2B5EF4-FFF2-40B4-BE49-F238E27FC236}">
                <a16:creationId xmlns:a16="http://schemas.microsoft.com/office/drawing/2014/main" id="{DA76778C-39F4-47CC-5711-2958D2170C90}"/>
              </a:ext>
            </a:extLst>
          </p:cNvPr>
          <p:cNvSpPr txBox="1"/>
          <p:nvPr/>
        </p:nvSpPr>
        <p:spPr>
          <a:xfrm rot="16200000">
            <a:off x="-625616" y="5598054"/>
            <a:ext cx="1505236"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How @ BCBSMA</a:t>
            </a:r>
            <a:endParaRPr lang="en-US" b="1"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27417960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dirty="0"/>
              <a:t>Governance and risk Management</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i="1" dirty="0">
                <a:solidFill>
                  <a:schemeClr val="tx1"/>
                </a:solidFill>
              </a:rPr>
              <a:t>A framework for managing the ethical, legal, and regulatory risks associated with AI development and deployment, including data privacy, security, and bias </a:t>
            </a:r>
          </a:p>
          <a:p>
            <a:endParaRPr lang="en-US" sz="1400" i="1" dirty="0"/>
          </a:p>
        </p:txBody>
      </p:sp>
      <p:sp>
        <p:nvSpPr>
          <p:cNvPr id="5" name="Google Shape;903;p7">
            <a:extLst>
              <a:ext uri="{FF2B5EF4-FFF2-40B4-BE49-F238E27FC236}">
                <a16:creationId xmlns:a16="http://schemas.microsoft.com/office/drawing/2014/main" id="{D3F85ABE-E29E-214F-5126-6680658035F7}"/>
              </a:ext>
            </a:extLst>
          </p:cNvPr>
          <p:cNvSpPr/>
          <p:nvPr/>
        </p:nvSpPr>
        <p:spPr>
          <a:xfrm>
            <a:off x="4093029" y="1461876"/>
            <a:ext cx="4114800"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chemeClr val="bg1"/>
                </a:solidFill>
                <a:latin typeface="Arial"/>
                <a:ea typeface="Arial"/>
                <a:cs typeface="Arial"/>
                <a:sym typeface="Arial"/>
              </a:rPr>
              <a:t>Governance &amp; Risk Management </a:t>
            </a:r>
            <a:endParaRPr sz="1600" b="1" i="0" u="none" strike="noStrike" cap="none" dirty="0">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294CDB46-66FE-FAA5-B4BE-CF81ACC1BCC4}"/>
              </a:ext>
            </a:extLst>
          </p:cNvPr>
          <p:cNvGrpSpPr/>
          <p:nvPr/>
        </p:nvGrpSpPr>
        <p:grpSpPr>
          <a:xfrm>
            <a:off x="252729" y="2590748"/>
            <a:ext cx="2745559" cy="2460222"/>
            <a:chOff x="579300" y="4091838"/>
            <a:chExt cx="3754800" cy="2460222"/>
          </a:xfrm>
        </p:grpSpPr>
        <p:sp>
          <p:nvSpPr>
            <p:cNvPr id="7" name="Google Shape;900;p7">
              <a:extLst>
                <a:ext uri="{FF2B5EF4-FFF2-40B4-BE49-F238E27FC236}">
                  <a16:creationId xmlns:a16="http://schemas.microsoft.com/office/drawing/2014/main" id="{D6FCCF0F-073F-C53F-DA9F-1136D77D8D3F}"/>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dirty="0">
                  <a:solidFill>
                    <a:schemeClr val="tx1"/>
                  </a:solidFill>
                </a:rPr>
                <a:t>Roles, responsibilities, and processes required for effective AI governance. Establish a governance framework that ensures transparency, accountability, and compliance with relevant regulations and guidelines.</a:t>
              </a:r>
              <a:endParaRPr sz="1200" dirty="0">
                <a:solidFill>
                  <a:schemeClr val="tx1"/>
                </a:solidFill>
              </a:endParaRPr>
            </a:p>
          </p:txBody>
        </p:sp>
        <p:sp>
          <p:nvSpPr>
            <p:cNvPr id="8" name="Google Shape;900;p7">
              <a:extLst>
                <a:ext uri="{FF2B5EF4-FFF2-40B4-BE49-F238E27FC236}">
                  <a16:creationId xmlns:a16="http://schemas.microsoft.com/office/drawing/2014/main" id="{A8DB9D96-DD4D-A120-3B94-05F1883670A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Governance Framework</a:t>
              </a:r>
              <a:endParaRPr sz="1400" b="0" i="0" u="none" strike="noStrike" cap="none" dirty="0">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30675416-A362-F2A2-5857-F201568FA12B}"/>
              </a:ext>
            </a:extLst>
          </p:cNvPr>
          <p:cNvGrpSpPr/>
          <p:nvPr/>
        </p:nvGrpSpPr>
        <p:grpSpPr>
          <a:xfrm>
            <a:off x="3277139" y="2590748"/>
            <a:ext cx="2745559" cy="2460222"/>
            <a:chOff x="579300" y="4091838"/>
            <a:chExt cx="3754800" cy="2460222"/>
          </a:xfrm>
        </p:grpSpPr>
        <p:sp>
          <p:nvSpPr>
            <p:cNvPr id="10" name="Google Shape;900;p7">
              <a:extLst>
                <a:ext uri="{FF2B5EF4-FFF2-40B4-BE49-F238E27FC236}">
                  <a16:creationId xmlns:a16="http://schemas.microsoft.com/office/drawing/2014/main" id="{232152AA-ADC2-DAD4-49D0-454AE9847654}"/>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indent="-9525">
                <a:tabLst>
                  <a:tab pos="457200" algn="l"/>
                </a:tabLst>
              </a:pPr>
              <a:r>
                <a:rPr lang="en-US" sz="1200" dirty="0">
                  <a:solidFill>
                    <a:schemeClr val="tx1"/>
                  </a:solidFill>
                </a:rPr>
                <a:t>Develop ethical guidelines that provide clear guidance on the ethical use of AI. Consider issues such as fairness, transparency, accountability, and privacy. </a:t>
              </a:r>
            </a:p>
            <a:p>
              <a:pPr marL="9525" indent="-9525">
                <a:tabLst>
                  <a:tab pos="457200" algn="l"/>
                </a:tabLst>
              </a:pPr>
              <a:r>
                <a:rPr lang="en-US" sz="1200" dirty="0">
                  <a:solidFill>
                    <a:schemeClr val="tx1"/>
                  </a:solidFill>
                </a:rPr>
                <a:t>Provide training and awareness programs to ensure that employees and stakeholders understand the ethical and responsible use of AI. Consider issues such as bias, privacy, and security.</a:t>
              </a:r>
            </a:p>
          </p:txBody>
        </p:sp>
        <p:sp>
          <p:nvSpPr>
            <p:cNvPr id="11" name="Google Shape;900;p7">
              <a:extLst>
                <a:ext uri="{FF2B5EF4-FFF2-40B4-BE49-F238E27FC236}">
                  <a16:creationId xmlns:a16="http://schemas.microsoft.com/office/drawing/2014/main" id="{D9EFA59C-B282-29CB-64D2-96F3CA3DCC73}"/>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Ethics and Training</a:t>
              </a:r>
              <a:endParaRPr sz="1400" b="0" i="0" u="none" strike="noStrike" cap="none" dirty="0">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5B5DE3D6-86AF-EBD7-99C9-DD72E2F84D9C}"/>
              </a:ext>
            </a:extLst>
          </p:cNvPr>
          <p:cNvGrpSpPr/>
          <p:nvPr/>
        </p:nvGrpSpPr>
        <p:grpSpPr>
          <a:xfrm>
            <a:off x="6301549" y="2590748"/>
            <a:ext cx="2745559" cy="2460222"/>
            <a:chOff x="579300" y="4091838"/>
            <a:chExt cx="3754800" cy="2460222"/>
          </a:xfrm>
        </p:grpSpPr>
        <p:sp>
          <p:nvSpPr>
            <p:cNvPr id="13" name="Google Shape;900;p7">
              <a:extLst>
                <a:ext uri="{FF2B5EF4-FFF2-40B4-BE49-F238E27FC236}">
                  <a16:creationId xmlns:a16="http://schemas.microsoft.com/office/drawing/2014/main" id="{4F11C668-FCDB-DA55-2349-6CE7357DD2CF}"/>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Conduct risk assessments to identify and mitigate potential risks associated with AI solutions. Consider issues such as bias, discrimination, data privacy, and security. Develop risk management plans to address identified risks.</a:t>
              </a:r>
            </a:p>
          </p:txBody>
        </p:sp>
        <p:sp>
          <p:nvSpPr>
            <p:cNvPr id="14" name="Google Shape;900;p7">
              <a:extLst>
                <a:ext uri="{FF2B5EF4-FFF2-40B4-BE49-F238E27FC236}">
                  <a16:creationId xmlns:a16="http://schemas.microsoft.com/office/drawing/2014/main" id="{EED2D284-1D83-4710-6D1C-2CE1938E828A}"/>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Risk Assessment</a:t>
              </a:r>
              <a:endParaRPr b="0" i="0" u="none" strike="noStrike" cap="none" dirty="0">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BABC958B-9B3A-3589-1448-6695B3815E16}"/>
              </a:ext>
            </a:extLst>
          </p:cNvPr>
          <p:cNvGrpSpPr/>
          <p:nvPr/>
        </p:nvGrpSpPr>
        <p:grpSpPr>
          <a:xfrm>
            <a:off x="9325958" y="2593058"/>
            <a:ext cx="2745559" cy="2457912"/>
            <a:chOff x="579300" y="4091838"/>
            <a:chExt cx="3754800" cy="2457912"/>
          </a:xfrm>
        </p:grpSpPr>
        <p:sp>
          <p:nvSpPr>
            <p:cNvPr id="16" name="Google Shape;900;p7">
              <a:extLst>
                <a:ext uri="{FF2B5EF4-FFF2-40B4-BE49-F238E27FC236}">
                  <a16:creationId xmlns:a16="http://schemas.microsoft.com/office/drawing/2014/main" id="{9B0CA69E-1CEA-0B40-CF17-3EE8D928BAC6}"/>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Establish an incident response plan that outlines the steps required to respond to incidents and breaches related to AI solutions. </a:t>
              </a:r>
            </a:p>
          </p:txBody>
        </p:sp>
        <p:sp>
          <p:nvSpPr>
            <p:cNvPr id="17" name="Google Shape;900;p7">
              <a:extLst>
                <a:ext uri="{FF2B5EF4-FFF2-40B4-BE49-F238E27FC236}">
                  <a16:creationId xmlns:a16="http://schemas.microsoft.com/office/drawing/2014/main" id="{5C64CEEA-97A0-4E69-5E30-32C42468FF7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Incident Response Plan</a:t>
              </a:r>
            </a:p>
          </p:txBody>
        </p:sp>
      </p:grpSp>
      <p:cxnSp>
        <p:nvCxnSpPr>
          <p:cNvPr id="18" name="Elbow Connector 17">
            <a:extLst>
              <a:ext uri="{FF2B5EF4-FFF2-40B4-BE49-F238E27FC236}">
                <a16:creationId xmlns:a16="http://schemas.microsoft.com/office/drawing/2014/main" id="{65FD9162-FC13-73D5-0F16-043CD6392491}"/>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563AFDE4-DE2E-CB98-0FFD-16011426374C}"/>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9B733ECA-C8ED-7852-8927-783F463A2382}"/>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C5723F84-034F-CD33-421B-07D92984330C}"/>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Graphic 26" descr="Meeting with solid fill">
            <a:extLst>
              <a:ext uri="{FF2B5EF4-FFF2-40B4-BE49-F238E27FC236}">
                <a16:creationId xmlns:a16="http://schemas.microsoft.com/office/drawing/2014/main" id="{14B5BAC3-6997-1D14-7A9C-C6B7DAC20E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6419" y="1458340"/>
            <a:ext cx="374189" cy="374189"/>
          </a:xfrm>
          <a:prstGeom prst="rect">
            <a:avLst/>
          </a:prstGeom>
        </p:spPr>
      </p:pic>
      <p:sp>
        <p:nvSpPr>
          <p:cNvPr id="28" name="TextBox 27">
            <a:extLst>
              <a:ext uri="{FF2B5EF4-FFF2-40B4-BE49-F238E27FC236}">
                <a16:creationId xmlns:a16="http://schemas.microsoft.com/office/drawing/2014/main" id="{D0054DE8-28FE-FB9E-4BD6-5C759B58B7D5}"/>
              </a:ext>
            </a:extLst>
          </p:cNvPr>
          <p:cNvSpPr txBox="1"/>
          <p:nvPr/>
        </p:nvSpPr>
        <p:spPr>
          <a:xfrm>
            <a:off x="252729" y="5221286"/>
            <a:ext cx="2745559" cy="1492151"/>
          </a:xfrm>
          <a:prstGeom prst="rect">
            <a:avLst/>
          </a:prstGeom>
          <a:noFill/>
          <a:ln>
            <a:solidFill>
              <a:schemeClr val="tx1"/>
            </a:solidFill>
          </a:ln>
        </p:spPr>
        <p:txBody>
          <a:bodyPr wrap="square" rtlCol="0">
            <a:noAutofit/>
          </a:bodyPr>
          <a:lstStyle/>
          <a:p>
            <a:pPr algn="ctr"/>
            <a:r>
              <a:rPr lang="en-US" b="1" dirty="0">
                <a:solidFill>
                  <a:schemeClr val="tx1"/>
                </a:solidFill>
              </a:rPr>
              <a:t>Governance Forums</a:t>
            </a:r>
          </a:p>
          <a:p>
            <a:pPr algn="ctr"/>
            <a:endParaRPr lang="en-US" b="1" dirty="0">
              <a:solidFill>
                <a:schemeClr val="tx1"/>
              </a:solidFill>
            </a:endParaRPr>
          </a:p>
          <a:p>
            <a:pPr marL="285750" indent="-285750">
              <a:buFont typeface="Arial" panose="020B0604020202020204" pitchFamily="34" charset="0"/>
              <a:buChar char="•"/>
            </a:pPr>
            <a:r>
              <a:rPr lang="en-US" sz="1200" b="1" dirty="0">
                <a:solidFill>
                  <a:schemeClr val="tx1"/>
                </a:solidFill>
              </a:rPr>
              <a:t>Enterprise Analytics EOG</a:t>
            </a:r>
          </a:p>
          <a:p>
            <a:pPr marL="285750" indent="-285750">
              <a:buFont typeface="Arial" panose="020B0604020202020204" pitchFamily="34" charset="0"/>
              <a:buChar char="•"/>
            </a:pPr>
            <a:r>
              <a:rPr lang="en-US" sz="1200" b="1" dirty="0">
                <a:solidFill>
                  <a:schemeClr val="tx1"/>
                </a:solidFill>
              </a:rPr>
              <a:t>DAL Steering Committee</a:t>
            </a:r>
          </a:p>
          <a:p>
            <a:pPr marL="285750" indent="-285750">
              <a:buFont typeface="Arial" panose="020B0604020202020204" pitchFamily="34" charset="0"/>
              <a:buChar char="•"/>
            </a:pPr>
            <a:r>
              <a:rPr lang="en-US" sz="1200" b="1" dirty="0">
                <a:solidFill>
                  <a:schemeClr val="tx1"/>
                </a:solidFill>
              </a:rPr>
              <a:t>Data Task Force</a:t>
            </a:r>
          </a:p>
          <a:p>
            <a:pPr marL="285750" indent="-285750">
              <a:buFont typeface="Arial" panose="020B0604020202020204" pitchFamily="34" charset="0"/>
              <a:buChar char="•"/>
            </a:pPr>
            <a:r>
              <a:rPr lang="en-US" sz="1200" b="1" dirty="0">
                <a:solidFill>
                  <a:schemeClr val="tx1"/>
                </a:solidFill>
              </a:rPr>
              <a:t>DAT Talent Committee</a:t>
            </a:r>
          </a:p>
        </p:txBody>
      </p:sp>
      <p:sp>
        <p:nvSpPr>
          <p:cNvPr id="29" name="TextBox 28">
            <a:extLst>
              <a:ext uri="{FF2B5EF4-FFF2-40B4-BE49-F238E27FC236}">
                <a16:creationId xmlns:a16="http://schemas.microsoft.com/office/drawing/2014/main" id="{25D89255-CED5-2AB2-82A1-904C7372BCC6}"/>
              </a:ext>
            </a:extLst>
          </p:cNvPr>
          <p:cNvSpPr txBox="1"/>
          <p:nvPr/>
        </p:nvSpPr>
        <p:spPr>
          <a:xfrm>
            <a:off x="3277138" y="5221285"/>
            <a:ext cx="2745559" cy="1492151"/>
          </a:xfrm>
          <a:prstGeom prst="rect">
            <a:avLst/>
          </a:prstGeom>
          <a:noFill/>
          <a:ln>
            <a:solidFill>
              <a:schemeClr val="tx1"/>
            </a:solidFill>
          </a:ln>
        </p:spPr>
        <p:txBody>
          <a:bodyPr wrap="square" rtlCol="0">
            <a:noAutofit/>
          </a:bodyPr>
          <a:lstStyle/>
          <a:p>
            <a:pPr algn="ctr"/>
            <a:r>
              <a:rPr lang="en-US" b="1" dirty="0">
                <a:solidFill>
                  <a:schemeClr val="tx1"/>
                </a:solidFill>
              </a:rPr>
              <a:t>TBD</a:t>
            </a:r>
            <a:endParaRPr lang="en-US" sz="1200" b="1" dirty="0">
              <a:solidFill>
                <a:schemeClr val="tx1"/>
              </a:solidFill>
            </a:endParaRPr>
          </a:p>
        </p:txBody>
      </p:sp>
      <p:sp>
        <p:nvSpPr>
          <p:cNvPr id="30" name="TextBox 29">
            <a:extLst>
              <a:ext uri="{FF2B5EF4-FFF2-40B4-BE49-F238E27FC236}">
                <a16:creationId xmlns:a16="http://schemas.microsoft.com/office/drawing/2014/main" id="{DF7B096F-88F3-8B2D-A5F4-BFBA095206ED}"/>
              </a:ext>
            </a:extLst>
          </p:cNvPr>
          <p:cNvSpPr txBox="1"/>
          <p:nvPr/>
        </p:nvSpPr>
        <p:spPr>
          <a:xfrm>
            <a:off x="6301549" y="5244082"/>
            <a:ext cx="2745559" cy="1492151"/>
          </a:xfrm>
          <a:prstGeom prst="rect">
            <a:avLst/>
          </a:prstGeom>
          <a:noFill/>
          <a:ln>
            <a:solidFill>
              <a:schemeClr val="tx1"/>
            </a:solidFill>
          </a:ln>
        </p:spPr>
        <p:txBody>
          <a:bodyPr wrap="square" rtlCol="0">
            <a:noAutofit/>
          </a:bodyPr>
          <a:lstStyle/>
          <a:p>
            <a:pPr algn="ctr"/>
            <a:r>
              <a:rPr lang="en-US" b="1" dirty="0">
                <a:solidFill>
                  <a:schemeClr val="tx1"/>
                </a:solidFill>
              </a:rPr>
              <a:t>Enterprise Risk Management Framework</a:t>
            </a:r>
            <a:endParaRPr lang="en-US" sz="1200" b="1" dirty="0">
              <a:solidFill>
                <a:schemeClr val="tx1"/>
              </a:solidFill>
            </a:endParaRPr>
          </a:p>
        </p:txBody>
      </p:sp>
      <p:sp>
        <p:nvSpPr>
          <p:cNvPr id="31" name="TextBox 30">
            <a:extLst>
              <a:ext uri="{FF2B5EF4-FFF2-40B4-BE49-F238E27FC236}">
                <a16:creationId xmlns:a16="http://schemas.microsoft.com/office/drawing/2014/main" id="{BCC20D9A-8828-7F6C-800F-8658C789D014}"/>
              </a:ext>
            </a:extLst>
          </p:cNvPr>
          <p:cNvSpPr txBox="1"/>
          <p:nvPr/>
        </p:nvSpPr>
        <p:spPr>
          <a:xfrm>
            <a:off x="9325958" y="5244082"/>
            <a:ext cx="2745559" cy="1492151"/>
          </a:xfrm>
          <a:prstGeom prst="rect">
            <a:avLst/>
          </a:prstGeom>
          <a:noFill/>
          <a:ln>
            <a:solidFill>
              <a:schemeClr val="tx1"/>
            </a:solidFill>
          </a:ln>
        </p:spPr>
        <p:txBody>
          <a:bodyPr wrap="square" rtlCol="0">
            <a:noAutofit/>
          </a:bodyPr>
          <a:lstStyle/>
          <a:p>
            <a:pPr algn="ctr"/>
            <a:r>
              <a:rPr lang="en-US" b="1" dirty="0">
                <a:solidFill>
                  <a:schemeClr val="tx1"/>
                </a:solidFill>
              </a:rPr>
              <a:t>Enterprise Incident Response Management Framework</a:t>
            </a:r>
            <a:endParaRPr lang="en-US" sz="1200" b="1" dirty="0">
              <a:solidFill>
                <a:schemeClr val="tx1"/>
              </a:solidFill>
            </a:endParaRPr>
          </a:p>
        </p:txBody>
      </p:sp>
      <p:cxnSp>
        <p:nvCxnSpPr>
          <p:cNvPr id="32" name="Straight Connector 31">
            <a:extLst>
              <a:ext uri="{FF2B5EF4-FFF2-40B4-BE49-F238E27FC236}">
                <a16:creationId xmlns:a16="http://schemas.microsoft.com/office/drawing/2014/main" id="{508A224B-A5EE-F36D-CF41-BC3D3B71B59F}"/>
              </a:ext>
            </a:extLst>
          </p:cNvPr>
          <p:cNvCxnSpPr>
            <a:cxnSpLocks/>
            <a:stCxn id="34" idx="1"/>
            <a:endCxn id="35" idx="3"/>
          </p:cNvCxnSpPr>
          <p:nvPr/>
        </p:nvCxnSpPr>
        <p:spPr>
          <a:xfrm>
            <a:off x="127002" y="43136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B84FFA4-FE74-6216-89E7-D116B044E85A}"/>
              </a:ext>
            </a:extLst>
          </p:cNvPr>
          <p:cNvCxnSpPr>
            <a:cxnSpLocks/>
          </p:cNvCxnSpPr>
          <p:nvPr/>
        </p:nvCxnSpPr>
        <p:spPr>
          <a:xfrm flipH="1">
            <a:off x="127001" y="51308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B712B7A-9717-FAE3-6E18-E04DFB147A66}"/>
              </a:ext>
            </a:extLst>
          </p:cNvPr>
          <p:cNvSpPr txBox="1"/>
          <p:nvPr/>
        </p:nvSpPr>
        <p:spPr>
          <a:xfrm rot="16200000">
            <a:off x="-336548" y="3696206"/>
            <a:ext cx="927099"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What</a:t>
            </a:r>
            <a:r>
              <a:rPr lang="en-US" b="1" dirty="0">
                <a:latin typeface="Arial Narrow" panose="020B0604020202020204" pitchFamily="34" charset="0"/>
                <a:cs typeface="Arial Narrow" panose="020B0604020202020204" pitchFamily="34" charset="0"/>
              </a:rPr>
              <a:t> is it</a:t>
            </a:r>
          </a:p>
        </p:txBody>
      </p:sp>
      <p:sp>
        <p:nvSpPr>
          <p:cNvPr id="35" name="TextBox 34">
            <a:extLst>
              <a:ext uri="{FF2B5EF4-FFF2-40B4-BE49-F238E27FC236}">
                <a16:creationId xmlns:a16="http://schemas.microsoft.com/office/drawing/2014/main" id="{7FBC7C13-4362-9A20-1BDA-D6CBB53B1A4E}"/>
              </a:ext>
            </a:extLst>
          </p:cNvPr>
          <p:cNvSpPr txBox="1"/>
          <p:nvPr/>
        </p:nvSpPr>
        <p:spPr>
          <a:xfrm rot="16200000">
            <a:off x="-625616" y="5801254"/>
            <a:ext cx="1505236"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How @ BCBSMA</a:t>
            </a:r>
            <a:endParaRPr lang="en-US" b="1"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2019375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dirty="0"/>
              <a:t>Infrastructure</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849088"/>
            <a:ext cx="9448800" cy="381000"/>
          </a:xfrm>
        </p:spPr>
        <p:txBody>
          <a:bodyPr/>
          <a:lstStyle/>
          <a:p>
            <a:pPr marL="236538" marR="0" lvl="0" indent="0">
              <a:spcBef>
                <a:spcPts val="0"/>
              </a:spcBef>
              <a:spcAft>
                <a:spcPts val="0"/>
              </a:spcAft>
              <a:tabLst>
                <a:tab pos="457200" algn="l"/>
              </a:tabLst>
            </a:pPr>
            <a:r>
              <a:rPr lang="en-US" sz="1400" i="1" dirty="0">
                <a:solidFill>
                  <a:schemeClr val="tx1"/>
                </a:solidFill>
              </a:rPr>
              <a:t>A plan for the hardware and software infrastructure required to support AI workloads, including data storage, computing power, and networking capabilities</a:t>
            </a:r>
          </a:p>
          <a:p>
            <a:pPr marL="236538" indent="0"/>
            <a:r>
              <a:rPr lang="en-US" sz="1400" i="1" dirty="0">
                <a:solidFill>
                  <a:schemeClr val="tx1"/>
                </a:solidFill>
              </a:rPr>
              <a:t> </a:t>
            </a:r>
          </a:p>
          <a:p>
            <a:endParaRPr lang="en-US" sz="1400" i="1" dirty="0"/>
          </a:p>
        </p:txBody>
      </p:sp>
      <p:sp>
        <p:nvSpPr>
          <p:cNvPr id="5" name="Google Shape;903;p7">
            <a:extLst>
              <a:ext uri="{FF2B5EF4-FFF2-40B4-BE49-F238E27FC236}">
                <a16:creationId xmlns:a16="http://schemas.microsoft.com/office/drawing/2014/main" id="{58E08E30-8BA5-42FF-C179-29B0AAA3F061}"/>
              </a:ext>
            </a:extLst>
          </p:cNvPr>
          <p:cNvSpPr/>
          <p:nvPr/>
        </p:nvSpPr>
        <p:spPr>
          <a:xfrm>
            <a:off x="4539343" y="1461876"/>
            <a:ext cx="3233057"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chemeClr val="bg1"/>
                </a:solidFill>
                <a:latin typeface="Arial"/>
                <a:ea typeface="Arial"/>
                <a:cs typeface="Arial"/>
                <a:sym typeface="Arial"/>
              </a:rPr>
              <a:t>Infrastructure</a:t>
            </a:r>
            <a:endParaRPr sz="1600" b="1" i="0" u="none" strike="noStrike" cap="none" dirty="0">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42D8BC7E-548D-E5DC-8764-2C002E5206CE}"/>
              </a:ext>
            </a:extLst>
          </p:cNvPr>
          <p:cNvGrpSpPr/>
          <p:nvPr/>
        </p:nvGrpSpPr>
        <p:grpSpPr>
          <a:xfrm>
            <a:off x="252729" y="2590748"/>
            <a:ext cx="2745559" cy="2460222"/>
            <a:chOff x="579300" y="4091838"/>
            <a:chExt cx="3754800" cy="2460222"/>
          </a:xfrm>
        </p:grpSpPr>
        <p:sp>
          <p:nvSpPr>
            <p:cNvPr id="7" name="Google Shape;900;p7">
              <a:extLst>
                <a:ext uri="{FF2B5EF4-FFF2-40B4-BE49-F238E27FC236}">
                  <a16:creationId xmlns:a16="http://schemas.microsoft.com/office/drawing/2014/main" id="{3E95258D-1DF6-2C01-F8F6-EF7C5A7311ED}"/>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dirty="0">
                  <a:solidFill>
                    <a:schemeClr val="tx1"/>
                  </a:solidFill>
                </a:rPr>
                <a:t>Define the infrastructure requirements for AI solutions, including hardware, software, and data storage. Consider issues such as scalability, performance, and availability.</a:t>
              </a:r>
            </a:p>
            <a:p>
              <a:pPr marL="9525" indent="-9525">
                <a:buSzPts val="1000"/>
                <a:tabLst>
                  <a:tab pos="457200" algn="l"/>
                </a:tabLst>
              </a:pPr>
              <a:r>
                <a:rPr lang="en-US" sz="1200" dirty="0">
                  <a:solidFill>
                    <a:schemeClr val="tx1"/>
                  </a:solidFill>
                </a:rPr>
                <a:t>Evaluate the existing infrastructure to identify gaps and areas for improvement. Consider issues such as compatibility with AI workloads, capacity, and performance.</a:t>
              </a:r>
              <a:endParaRPr sz="1200" dirty="0">
                <a:solidFill>
                  <a:schemeClr val="tx1"/>
                </a:solidFill>
              </a:endParaRPr>
            </a:p>
          </p:txBody>
        </p:sp>
        <p:sp>
          <p:nvSpPr>
            <p:cNvPr id="8" name="Google Shape;900;p7">
              <a:extLst>
                <a:ext uri="{FF2B5EF4-FFF2-40B4-BE49-F238E27FC236}">
                  <a16:creationId xmlns:a16="http://schemas.microsoft.com/office/drawing/2014/main" id="{726C54C9-DFFD-F56C-C594-B6D99F67AEF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91440" tIns="60925" rIns="9144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dirty="0">
                  <a:solidFill>
                    <a:schemeClr val="bg1"/>
                  </a:solidFill>
                  <a:latin typeface="Arial"/>
                  <a:ea typeface="Arial"/>
                  <a:cs typeface="Arial"/>
                  <a:sym typeface="Arial"/>
                </a:rPr>
                <a:t>Requirements Definition &amp; Evaluation</a:t>
              </a:r>
              <a:endParaRPr sz="1200" b="0" i="0" u="none" strike="noStrike" cap="none" dirty="0">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E7C880E8-2F7C-695D-20E5-134F2E0CF391}"/>
              </a:ext>
            </a:extLst>
          </p:cNvPr>
          <p:cNvGrpSpPr/>
          <p:nvPr/>
        </p:nvGrpSpPr>
        <p:grpSpPr>
          <a:xfrm>
            <a:off x="3277139" y="2590748"/>
            <a:ext cx="2745559" cy="2460222"/>
            <a:chOff x="579300" y="4091838"/>
            <a:chExt cx="3754800" cy="2460222"/>
          </a:xfrm>
        </p:grpSpPr>
        <p:sp>
          <p:nvSpPr>
            <p:cNvPr id="10" name="Google Shape;900;p7">
              <a:extLst>
                <a:ext uri="{FF2B5EF4-FFF2-40B4-BE49-F238E27FC236}">
                  <a16:creationId xmlns:a16="http://schemas.microsoft.com/office/drawing/2014/main" id="{47A1BBB6-4C37-6EB6-F19F-EA593CE82F49}"/>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indent="-9525">
                <a:buSzPts val="1000"/>
                <a:tabLst>
                  <a:tab pos="457200" algn="l"/>
                </a:tabLst>
              </a:pPr>
              <a:r>
                <a:rPr lang="en-US" sz="1200" dirty="0">
                  <a:solidFill>
                    <a:schemeClr val="tx1"/>
                  </a:solidFill>
                </a:rPr>
                <a:t>Select appropriate technologies for AI solutions, including hardware such as GPUs and CPUs, software such as AI frameworks and tools, and data storage solutions such as databases and data lakes. Consider issues such as cost, compatibility, and performance.</a:t>
              </a:r>
            </a:p>
          </p:txBody>
        </p:sp>
        <p:sp>
          <p:nvSpPr>
            <p:cNvPr id="11" name="Google Shape;900;p7">
              <a:extLst>
                <a:ext uri="{FF2B5EF4-FFF2-40B4-BE49-F238E27FC236}">
                  <a16:creationId xmlns:a16="http://schemas.microsoft.com/office/drawing/2014/main" id="{569082F1-08AE-63CD-40A4-D4F778D6BB95}"/>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Technology Selection</a:t>
              </a:r>
              <a:endParaRPr sz="1400" b="0" i="0" u="none" strike="noStrike" cap="none" dirty="0">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CDF93CB2-3A28-7900-C467-27D195AB657C}"/>
              </a:ext>
            </a:extLst>
          </p:cNvPr>
          <p:cNvGrpSpPr/>
          <p:nvPr/>
        </p:nvGrpSpPr>
        <p:grpSpPr>
          <a:xfrm>
            <a:off x="6301549" y="2590748"/>
            <a:ext cx="2745559" cy="2460222"/>
            <a:chOff x="579300" y="4091838"/>
            <a:chExt cx="3754800" cy="2460222"/>
          </a:xfrm>
        </p:grpSpPr>
        <p:sp>
          <p:nvSpPr>
            <p:cNvPr id="13" name="Google Shape;900;p7">
              <a:extLst>
                <a:ext uri="{FF2B5EF4-FFF2-40B4-BE49-F238E27FC236}">
                  <a16:creationId xmlns:a16="http://schemas.microsoft.com/office/drawing/2014/main" id="{91522E49-5722-0182-7840-89F666547ADB}"/>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Implement security measures to protect AI infrastructure from cyber threats. Consider issues such as access controls, encryption, and vulnerability management.</a:t>
              </a:r>
            </a:p>
          </p:txBody>
        </p:sp>
        <p:sp>
          <p:nvSpPr>
            <p:cNvPr id="14" name="Google Shape;900;p7">
              <a:extLst>
                <a:ext uri="{FF2B5EF4-FFF2-40B4-BE49-F238E27FC236}">
                  <a16:creationId xmlns:a16="http://schemas.microsoft.com/office/drawing/2014/main" id="{59D72095-24F7-3E6D-1B86-F1A74E3E613E}"/>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Security Measures</a:t>
              </a:r>
              <a:endParaRPr b="0" i="0" u="none" strike="noStrike" cap="none" dirty="0">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E3F5887F-65AB-AAA4-23C5-CC109E4BF456}"/>
              </a:ext>
            </a:extLst>
          </p:cNvPr>
          <p:cNvGrpSpPr/>
          <p:nvPr/>
        </p:nvGrpSpPr>
        <p:grpSpPr>
          <a:xfrm>
            <a:off x="9325958" y="2593058"/>
            <a:ext cx="2745559" cy="2457912"/>
            <a:chOff x="579300" y="4091838"/>
            <a:chExt cx="3754800" cy="2457912"/>
          </a:xfrm>
        </p:grpSpPr>
        <p:sp>
          <p:nvSpPr>
            <p:cNvPr id="16" name="Google Shape;900;p7">
              <a:extLst>
                <a:ext uri="{FF2B5EF4-FFF2-40B4-BE49-F238E27FC236}">
                  <a16:creationId xmlns:a16="http://schemas.microsoft.com/office/drawing/2014/main" id="{6CDFE3C9-1A9A-BCA7-89CA-C068A7E37983}"/>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Implement monitoring and management tools to ensure the optimal performance of AI infrastructure. Consider issues such as real-time monitoring, automated alerting, and incident management.</a:t>
              </a:r>
            </a:p>
          </p:txBody>
        </p:sp>
        <p:sp>
          <p:nvSpPr>
            <p:cNvPr id="17" name="Google Shape;900;p7">
              <a:extLst>
                <a:ext uri="{FF2B5EF4-FFF2-40B4-BE49-F238E27FC236}">
                  <a16:creationId xmlns:a16="http://schemas.microsoft.com/office/drawing/2014/main" id="{DE7CCCA8-2E7E-4806-FFBF-CF9F0B96DBE0}"/>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Monitoring</a:t>
              </a:r>
            </a:p>
          </p:txBody>
        </p:sp>
      </p:grpSp>
      <p:cxnSp>
        <p:nvCxnSpPr>
          <p:cNvPr id="18" name="Elbow Connector 17">
            <a:extLst>
              <a:ext uri="{FF2B5EF4-FFF2-40B4-BE49-F238E27FC236}">
                <a16:creationId xmlns:a16="http://schemas.microsoft.com/office/drawing/2014/main" id="{1F9076BF-6289-BC1C-29CE-250ED84823A9}"/>
              </a:ext>
            </a:extLst>
          </p:cNvPr>
          <p:cNvCxnSpPr>
            <a:cxnSpLocks/>
            <a:stCxn id="5" idx="2"/>
            <a:endCxn id="8" idx="0"/>
          </p:cNvCxnSpPr>
          <p:nvPr/>
        </p:nvCxnSpPr>
        <p:spPr>
          <a:xfrm rot="5400000">
            <a:off x="3502655" y="-62469"/>
            <a:ext cx="776072" cy="45303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D820A4DF-BF57-64A7-F671-DECC3A27CF38}"/>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590B2066-2334-94CF-CA78-1C90A69A732D}"/>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6168EDCE-0CE7-35B0-7605-CE858E6FAF12}"/>
              </a:ext>
            </a:extLst>
          </p:cNvPr>
          <p:cNvCxnSpPr>
            <a:cxnSpLocks/>
            <a:stCxn id="5" idx="2"/>
            <a:endCxn id="11" idx="0"/>
          </p:cNvCxnSpPr>
          <p:nvPr/>
        </p:nvCxnSpPr>
        <p:spPr>
          <a:xfrm rot="5400000">
            <a:off x="5014860" y="1449736"/>
            <a:ext cx="776072" cy="150595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Bridge scene with solid fill">
            <a:extLst>
              <a:ext uri="{FF2B5EF4-FFF2-40B4-BE49-F238E27FC236}">
                <a16:creationId xmlns:a16="http://schemas.microsoft.com/office/drawing/2014/main" id="{B9EFDD9F-2F80-DCC5-2E3A-BAB20217A1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6528" y="1440486"/>
            <a:ext cx="374189" cy="374189"/>
          </a:xfrm>
          <a:prstGeom prst="rect">
            <a:avLst/>
          </a:prstGeom>
        </p:spPr>
      </p:pic>
      <p:sp>
        <p:nvSpPr>
          <p:cNvPr id="29" name="TextBox 28">
            <a:extLst>
              <a:ext uri="{FF2B5EF4-FFF2-40B4-BE49-F238E27FC236}">
                <a16:creationId xmlns:a16="http://schemas.microsoft.com/office/drawing/2014/main" id="{D73DDF73-766F-967E-B299-2A4659730EFB}"/>
              </a:ext>
            </a:extLst>
          </p:cNvPr>
          <p:cNvSpPr txBox="1"/>
          <p:nvPr/>
        </p:nvSpPr>
        <p:spPr>
          <a:xfrm>
            <a:off x="6301549" y="5244082"/>
            <a:ext cx="2745559" cy="1492151"/>
          </a:xfrm>
          <a:prstGeom prst="rect">
            <a:avLst/>
          </a:prstGeom>
          <a:noFill/>
          <a:ln>
            <a:solidFill>
              <a:schemeClr val="tx1"/>
            </a:solidFill>
          </a:ln>
        </p:spPr>
        <p:txBody>
          <a:bodyPr wrap="square" rtlCol="0">
            <a:noAutofit/>
          </a:bodyPr>
          <a:lstStyle/>
          <a:p>
            <a:pPr algn="ctr"/>
            <a:r>
              <a:rPr lang="en-US" b="1" dirty="0">
                <a:solidFill>
                  <a:schemeClr val="tx1"/>
                </a:solidFill>
              </a:rPr>
              <a:t>Enterprise Security Management Framework</a:t>
            </a:r>
            <a:endParaRPr lang="en-US" sz="1200" b="1" dirty="0">
              <a:solidFill>
                <a:schemeClr val="tx1"/>
              </a:solidFill>
            </a:endParaRPr>
          </a:p>
        </p:txBody>
      </p:sp>
      <p:sp>
        <p:nvSpPr>
          <p:cNvPr id="30" name="TextBox 29">
            <a:extLst>
              <a:ext uri="{FF2B5EF4-FFF2-40B4-BE49-F238E27FC236}">
                <a16:creationId xmlns:a16="http://schemas.microsoft.com/office/drawing/2014/main" id="{BFA2701B-7917-0E94-C752-EC571E131765}"/>
              </a:ext>
            </a:extLst>
          </p:cNvPr>
          <p:cNvSpPr txBox="1"/>
          <p:nvPr/>
        </p:nvSpPr>
        <p:spPr>
          <a:xfrm>
            <a:off x="252729" y="5309394"/>
            <a:ext cx="2745559" cy="1492151"/>
          </a:xfrm>
          <a:prstGeom prst="rect">
            <a:avLst/>
          </a:prstGeom>
          <a:noFill/>
          <a:ln>
            <a:solidFill>
              <a:schemeClr val="tx1"/>
            </a:solidFill>
          </a:ln>
        </p:spPr>
        <p:txBody>
          <a:bodyPr wrap="square" rtlCol="0">
            <a:noAutofit/>
          </a:bodyPr>
          <a:lstStyle/>
          <a:p>
            <a:pPr algn="ctr"/>
            <a:r>
              <a:rPr lang="en-US" b="1" dirty="0">
                <a:solidFill>
                  <a:schemeClr val="tx1"/>
                </a:solidFill>
              </a:rPr>
              <a:t>Enterprise Infrastructure Management Framework</a:t>
            </a:r>
            <a:endParaRPr lang="en-US" sz="1200" b="1" dirty="0">
              <a:solidFill>
                <a:schemeClr val="tx1"/>
              </a:solidFill>
            </a:endParaRPr>
          </a:p>
        </p:txBody>
      </p:sp>
      <p:sp>
        <p:nvSpPr>
          <p:cNvPr id="31" name="TextBox 30">
            <a:extLst>
              <a:ext uri="{FF2B5EF4-FFF2-40B4-BE49-F238E27FC236}">
                <a16:creationId xmlns:a16="http://schemas.microsoft.com/office/drawing/2014/main" id="{9994F5E3-A509-77C9-376F-4D3AC2182ABD}"/>
              </a:ext>
            </a:extLst>
          </p:cNvPr>
          <p:cNvSpPr txBox="1"/>
          <p:nvPr/>
        </p:nvSpPr>
        <p:spPr>
          <a:xfrm>
            <a:off x="9325958" y="5262836"/>
            <a:ext cx="2745559" cy="1492151"/>
          </a:xfrm>
          <a:prstGeom prst="rect">
            <a:avLst/>
          </a:prstGeom>
          <a:noFill/>
          <a:ln>
            <a:solidFill>
              <a:schemeClr val="tx1"/>
            </a:solidFill>
          </a:ln>
        </p:spPr>
        <p:txBody>
          <a:bodyPr wrap="square" rtlCol="0">
            <a:noAutofit/>
          </a:bodyPr>
          <a:lstStyle/>
          <a:p>
            <a:pPr algn="ctr"/>
            <a:r>
              <a:rPr lang="en-US" b="1" dirty="0">
                <a:solidFill>
                  <a:schemeClr val="tx1"/>
                </a:solidFill>
              </a:rPr>
              <a:t>Enterprise Infrastructure Management Framework</a:t>
            </a:r>
            <a:endParaRPr lang="en-US" sz="1200" b="1" dirty="0">
              <a:solidFill>
                <a:schemeClr val="tx1"/>
              </a:solidFill>
            </a:endParaRPr>
          </a:p>
        </p:txBody>
      </p:sp>
      <p:sp>
        <p:nvSpPr>
          <p:cNvPr id="32" name="TextBox 31">
            <a:extLst>
              <a:ext uri="{FF2B5EF4-FFF2-40B4-BE49-F238E27FC236}">
                <a16:creationId xmlns:a16="http://schemas.microsoft.com/office/drawing/2014/main" id="{02606D00-E0DC-D5F5-CB0A-582367638612}"/>
              </a:ext>
            </a:extLst>
          </p:cNvPr>
          <p:cNvSpPr txBox="1"/>
          <p:nvPr/>
        </p:nvSpPr>
        <p:spPr>
          <a:xfrm>
            <a:off x="3277139" y="5262836"/>
            <a:ext cx="2745559" cy="1492151"/>
          </a:xfrm>
          <a:prstGeom prst="rect">
            <a:avLst/>
          </a:prstGeom>
          <a:noFill/>
          <a:ln>
            <a:solidFill>
              <a:schemeClr val="tx1"/>
            </a:solidFill>
          </a:ln>
        </p:spPr>
        <p:txBody>
          <a:bodyPr wrap="square" rtlCol="0">
            <a:noAutofit/>
          </a:bodyPr>
          <a:lstStyle/>
          <a:p>
            <a:pPr algn="ctr"/>
            <a:r>
              <a:rPr lang="en-US" b="1" dirty="0">
                <a:solidFill>
                  <a:schemeClr val="tx1"/>
                </a:solidFill>
              </a:rPr>
              <a:t>Enterprise Architecture and Technology Management Framework</a:t>
            </a:r>
            <a:endParaRPr lang="en-US" sz="1200" b="1" dirty="0">
              <a:solidFill>
                <a:schemeClr val="tx1"/>
              </a:solidFill>
            </a:endParaRPr>
          </a:p>
        </p:txBody>
      </p:sp>
      <p:cxnSp>
        <p:nvCxnSpPr>
          <p:cNvPr id="33" name="Straight Connector 32">
            <a:extLst>
              <a:ext uri="{FF2B5EF4-FFF2-40B4-BE49-F238E27FC236}">
                <a16:creationId xmlns:a16="http://schemas.microsoft.com/office/drawing/2014/main" id="{AD70B09F-64D1-2E42-0C7E-F72345583182}"/>
              </a:ext>
            </a:extLst>
          </p:cNvPr>
          <p:cNvCxnSpPr>
            <a:cxnSpLocks/>
            <a:stCxn id="35" idx="1"/>
            <a:endCxn id="36" idx="3"/>
          </p:cNvCxnSpPr>
          <p:nvPr/>
        </p:nvCxnSpPr>
        <p:spPr>
          <a:xfrm>
            <a:off x="127002" y="44025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960E7B4-7CB7-5B6D-BF26-2D33A341BA2F}"/>
              </a:ext>
            </a:extLst>
          </p:cNvPr>
          <p:cNvCxnSpPr>
            <a:cxnSpLocks/>
          </p:cNvCxnSpPr>
          <p:nvPr/>
        </p:nvCxnSpPr>
        <p:spPr>
          <a:xfrm flipH="1">
            <a:off x="127001" y="51689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C9E68BD-BBAF-CFD9-DF8F-2E0D12DD2F42}"/>
              </a:ext>
            </a:extLst>
          </p:cNvPr>
          <p:cNvSpPr txBox="1"/>
          <p:nvPr/>
        </p:nvSpPr>
        <p:spPr>
          <a:xfrm rot="16200000">
            <a:off x="-336548" y="3785106"/>
            <a:ext cx="927099"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What</a:t>
            </a:r>
            <a:r>
              <a:rPr lang="en-US" b="1" dirty="0">
                <a:latin typeface="Arial Narrow" panose="020B0604020202020204" pitchFamily="34" charset="0"/>
                <a:cs typeface="Arial Narrow" panose="020B0604020202020204" pitchFamily="34" charset="0"/>
              </a:rPr>
              <a:t> is it</a:t>
            </a:r>
          </a:p>
        </p:txBody>
      </p:sp>
      <p:sp>
        <p:nvSpPr>
          <p:cNvPr id="36" name="TextBox 35">
            <a:extLst>
              <a:ext uri="{FF2B5EF4-FFF2-40B4-BE49-F238E27FC236}">
                <a16:creationId xmlns:a16="http://schemas.microsoft.com/office/drawing/2014/main" id="{37420F98-1607-E287-5BD9-9065B4F49EBA}"/>
              </a:ext>
            </a:extLst>
          </p:cNvPr>
          <p:cNvSpPr txBox="1"/>
          <p:nvPr/>
        </p:nvSpPr>
        <p:spPr>
          <a:xfrm rot="16200000">
            <a:off x="-625616" y="5890154"/>
            <a:ext cx="1505236"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How @ BCBSMA</a:t>
            </a:r>
            <a:endParaRPr lang="en-US" b="1"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3680176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dirty="0"/>
              <a:t>Partnerships &amp; Ecosystem</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tabLst>
                <a:tab pos="457200" algn="l"/>
              </a:tabLst>
            </a:pPr>
            <a:r>
              <a:rPr lang="en-US" sz="1400" i="1" dirty="0">
                <a:solidFill>
                  <a:schemeClr val="tx1"/>
                </a:solidFill>
              </a:rPr>
              <a:t>A plan for building relationships with AI vendors, startups, research institutions, and other organizations to collaborate, share knowledge, and accelerate innovation</a:t>
            </a:r>
          </a:p>
        </p:txBody>
      </p:sp>
      <p:sp>
        <p:nvSpPr>
          <p:cNvPr id="5" name="Google Shape;903;p7">
            <a:extLst>
              <a:ext uri="{FF2B5EF4-FFF2-40B4-BE49-F238E27FC236}">
                <a16:creationId xmlns:a16="http://schemas.microsoft.com/office/drawing/2014/main" id="{5D02FC9C-010D-004B-52C5-0ADA42A519B5}"/>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chemeClr val="bg1"/>
                </a:solidFill>
                <a:latin typeface="Arial"/>
                <a:ea typeface="Arial"/>
                <a:cs typeface="Arial"/>
                <a:sym typeface="Arial"/>
              </a:rPr>
              <a:t>Partnerships &amp; Ecosystem</a:t>
            </a:r>
            <a:endParaRPr sz="1600" b="1" i="0" u="none" strike="noStrike" cap="none" dirty="0">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57D541DA-A447-4C0A-C4C5-7B65CEFCB5C7}"/>
              </a:ext>
            </a:extLst>
          </p:cNvPr>
          <p:cNvGrpSpPr/>
          <p:nvPr/>
        </p:nvGrpSpPr>
        <p:grpSpPr>
          <a:xfrm>
            <a:off x="252729" y="2590748"/>
            <a:ext cx="2745559" cy="2460222"/>
            <a:chOff x="579300" y="4091838"/>
            <a:chExt cx="3754800" cy="2460222"/>
          </a:xfrm>
        </p:grpSpPr>
        <p:sp>
          <p:nvSpPr>
            <p:cNvPr id="7" name="Google Shape;900;p7">
              <a:extLst>
                <a:ext uri="{FF2B5EF4-FFF2-40B4-BE49-F238E27FC236}">
                  <a16:creationId xmlns:a16="http://schemas.microsoft.com/office/drawing/2014/main" id="{3E788FA0-58B1-9DB3-A760-56F5FDC7309A}"/>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dirty="0">
                  <a:solidFill>
                    <a:schemeClr val="tx1"/>
                  </a:solidFill>
                </a:rPr>
                <a:t>Identify potential partners that can support the AI strategy, such as technology vendors, data providers, and academic institutions. Evaluate potential partners based on their capabilities, experience, and reputation.</a:t>
              </a:r>
              <a:endParaRPr sz="1200" dirty="0">
                <a:solidFill>
                  <a:schemeClr val="tx1"/>
                </a:solidFill>
              </a:endParaRPr>
            </a:p>
          </p:txBody>
        </p:sp>
        <p:sp>
          <p:nvSpPr>
            <p:cNvPr id="8" name="Google Shape;900;p7">
              <a:extLst>
                <a:ext uri="{FF2B5EF4-FFF2-40B4-BE49-F238E27FC236}">
                  <a16:creationId xmlns:a16="http://schemas.microsoft.com/office/drawing/2014/main" id="{F969011C-0983-7D39-0CDC-9DF2827E5103}"/>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Potential Partner Identification</a:t>
              </a:r>
              <a:endParaRPr sz="1400" b="0" i="0" u="none" strike="noStrike" cap="none" dirty="0">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B7EE6807-9329-AD85-7F0E-1CFBD84626FA}"/>
              </a:ext>
            </a:extLst>
          </p:cNvPr>
          <p:cNvGrpSpPr/>
          <p:nvPr/>
        </p:nvGrpSpPr>
        <p:grpSpPr>
          <a:xfrm>
            <a:off x="3277139" y="2590748"/>
            <a:ext cx="2745559" cy="2460222"/>
            <a:chOff x="579300" y="4091838"/>
            <a:chExt cx="3754800" cy="2460222"/>
          </a:xfrm>
        </p:grpSpPr>
        <p:sp>
          <p:nvSpPr>
            <p:cNvPr id="10" name="Google Shape;900;p7">
              <a:extLst>
                <a:ext uri="{FF2B5EF4-FFF2-40B4-BE49-F238E27FC236}">
                  <a16:creationId xmlns:a16="http://schemas.microsoft.com/office/drawing/2014/main" id="{A8A8FF01-D95B-885E-3B66-ABEA631E01E7}"/>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dirty="0">
                  <a:solidFill>
                    <a:schemeClr val="tx1"/>
                  </a:solidFill>
                </a:rPr>
                <a:t>Establish partnerships with selected partners, such as technology vendors, data providers, and academic institutions. Define the terms and conditions of the partnership, including responsibilities, expectations, and benefits.</a:t>
              </a:r>
            </a:p>
            <a:p>
              <a:pPr algn="l"/>
              <a:r>
                <a:rPr lang="en-US" sz="1200" dirty="0">
                  <a:solidFill>
                    <a:schemeClr val="tx1"/>
                  </a:solidFill>
                </a:rPr>
                <a:t>Establish governance and management processes to monitor and evaluate partner performance </a:t>
              </a:r>
            </a:p>
          </p:txBody>
        </p:sp>
        <p:sp>
          <p:nvSpPr>
            <p:cNvPr id="11" name="Google Shape;900;p7">
              <a:extLst>
                <a:ext uri="{FF2B5EF4-FFF2-40B4-BE49-F238E27FC236}">
                  <a16:creationId xmlns:a16="http://schemas.microsoft.com/office/drawing/2014/main" id="{78244E32-E436-9CE8-43A2-0E4FC056D80F}"/>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Partnership Establishment</a:t>
              </a:r>
              <a:endParaRPr sz="1400" b="0" i="0" u="none" strike="noStrike" cap="none" dirty="0">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0589174E-619B-FA8E-01E9-CA139B8D854D}"/>
              </a:ext>
            </a:extLst>
          </p:cNvPr>
          <p:cNvGrpSpPr/>
          <p:nvPr/>
        </p:nvGrpSpPr>
        <p:grpSpPr>
          <a:xfrm>
            <a:off x="6301549" y="2590748"/>
            <a:ext cx="2745559" cy="2460222"/>
            <a:chOff x="579300" y="4091838"/>
            <a:chExt cx="3754800" cy="2460222"/>
          </a:xfrm>
        </p:grpSpPr>
        <p:sp>
          <p:nvSpPr>
            <p:cNvPr id="13" name="Google Shape;900;p7">
              <a:extLst>
                <a:ext uri="{FF2B5EF4-FFF2-40B4-BE49-F238E27FC236}">
                  <a16:creationId xmlns:a16="http://schemas.microsoft.com/office/drawing/2014/main" id="{0721F106-6E65-B75E-7CA4-C80CA36C5702}"/>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Build an ecosystem that supports the development and deployment of AI solutions. Consider issues such as building a developer community, providing training and support, and promoting innovation.</a:t>
              </a:r>
            </a:p>
          </p:txBody>
        </p:sp>
        <p:sp>
          <p:nvSpPr>
            <p:cNvPr id="14" name="Google Shape;900;p7">
              <a:extLst>
                <a:ext uri="{FF2B5EF4-FFF2-40B4-BE49-F238E27FC236}">
                  <a16:creationId xmlns:a16="http://schemas.microsoft.com/office/drawing/2014/main" id="{976FDDB2-E755-EE09-BFDD-D984B06CC334}"/>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Ecosystem Establishment</a:t>
              </a:r>
              <a:endParaRPr b="0" i="0" u="none" strike="noStrike" cap="none" dirty="0">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F1700A49-B68E-5104-263B-FA7AA6ED407C}"/>
              </a:ext>
            </a:extLst>
          </p:cNvPr>
          <p:cNvGrpSpPr/>
          <p:nvPr/>
        </p:nvGrpSpPr>
        <p:grpSpPr>
          <a:xfrm>
            <a:off x="9325958" y="2593058"/>
            <a:ext cx="2745559" cy="2457912"/>
            <a:chOff x="579300" y="4091838"/>
            <a:chExt cx="3754800" cy="2457912"/>
          </a:xfrm>
        </p:grpSpPr>
        <p:sp>
          <p:nvSpPr>
            <p:cNvPr id="16" name="Google Shape;900;p7">
              <a:extLst>
                <a:ext uri="{FF2B5EF4-FFF2-40B4-BE49-F238E27FC236}">
                  <a16:creationId xmlns:a16="http://schemas.microsoft.com/office/drawing/2014/main" id="{8F0364B8-2D9A-E733-F707-B1D1369A819B}"/>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Foster collaboration among partners to ensure the effective development and deployment of AI solutions. Establish communication channels and collaboration platforms to facilitate information sharing and collaboration.</a:t>
              </a:r>
            </a:p>
          </p:txBody>
        </p:sp>
        <p:sp>
          <p:nvSpPr>
            <p:cNvPr id="17" name="Google Shape;900;p7">
              <a:extLst>
                <a:ext uri="{FF2B5EF4-FFF2-40B4-BE49-F238E27FC236}">
                  <a16:creationId xmlns:a16="http://schemas.microsoft.com/office/drawing/2014/main" id="{1DB8D0FD-B65B-C0D1-7064-8A6AFC80AC50}"/>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Collaboration</a:t>
              </a:r>
            </a:p>
          </p:txBody>
        </p:sp>
      </p:grpSp>
      <p:cxnSp>
        <p:nvCxnSpPr>
          <p:cNvPr id="18" name="Elbow Connector 17">
            <a:extLst>
              <a:ext uri="{FF2B5EF4-FFF2-40B4-BE49-F238E27FC236}">
                <a16:creationId xmlns:a16="http://schemas.microsoft.com/office/drawing/2014/main" id="{CBF0FD05-2019-98F0-4E46-CEFCA7825413}"/>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EDC7305F-6C9C-5C19-8964-7C30198FCA1B}"/>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425266EC-D6EA-5828-5E75-9496F0346824}"/>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062F42B8-4391-B1B9-9A59-F9A8F14D77A3}"/>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Sustainability with solid fill">
            <a:extLst>
              <a:ext uri="{FF2B5EF4-FFF2-40B4-BE49-F238E27FC236}">
                <a16:creationId xmlns:a16="http://schemas.microsoft.com/office/drawing/2014/main" id="{45C61276-BD92-F6BC-9BB6-D0EAF753BC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07431" y="1453086"/>
            <a:ext cx="370218" cy="370218"/>
          </a:xfrm>
          <a:prstGeom prst="rect">
            <a:avLst/>
          </a:prstGeom>
        </p:spPr>
      </p:pic>
      <p:sp>
        <p:nvSpPr>
          <p:cNvPr id="24" name="Google Shape;900;p7">
            <a:extLst>
              <a:ext uri="{FF2B5EF4-FFF2-40B4-BE49-F238E27FC236}">
                <a16:creationId xmlns:a16="http://schemas.microsoft.com/office/drawing/2014/main" id="{992E73BE-BC21-59E2-8E71-D9171D294F71}"/>
              </a:ext>
            </a:extLst>
          </p:cNvPr>
          <p:cNvSpPr txBox="1"/>
          <p:nvPr/>
        </p:nvSpPr>
        <p:spPr>
          <a:xfrm>
            <a:off x="252729" y="5225143"/>
            <a:ext cx="11818788" cy="124880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endParaRPr sz="1200" dirty="0">
              <a:solidFill>
                <a:schemeClr val="tx1"/>
              </a:solidFill>
            </a:endParaRPr>
          </a:p>
        </p:txBody>
      </p:sp>
      <p:pic>
        <p:nvPicPr>
          <p:cNvPr id="25" name="Picture 6" descr="Dataiku - Vivanti">
            <a:extLst>
              <a:ext uri="{FF2B5EF4-FFF2-40B4-BE49-F238E27FC236}">
                <a16:creationId xmlns:a16="http://schemas.microsoft.com/office/drawing/2014/main" id="{E672BA26-B9C9-7212-B416-7FD0BFE494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0428" y="5418990"/>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55B89287-72CB-E94C-325C-4B6CF809A25D}"/>
              </a:ext>
            </a:extLst>
          </p:cNvPr>
          <p:cNvPicPr>
            <a:picLocks noChangeAspect="1"/>
          </p:cNvPicPr>
          <p:nvPr/>
        </p:nvPicPr>
        <p:blipFill>
          <a:blip r:embed="rId5"/>
          <a:stretch>
            <a:fillRect/>
          </a:stretch>
        </p:blipFill>
        <p:spPr>
          <a:xfrm>
            <a:off x="3887969" y="5708611"/>
            <a:ext cx="1009650" cy="361950"/>
          </a:xfrm>
          <a:prstGeom prst="rect">
            <a:avLst/>
          </a:prstGeom>
        </p:spPr>
      </p:pic>
      <p:pic>
        <p:nvPicPr>
          <p:cNvPr id="28" name="Picture 27">
            <a:extLst>
              <a:ext uri="{FF2B5EF4-FFF2-40B4-BE49-F238E27FC236}">
                <a16:creationId xmlns:a16="http://schemas.microsoft.com/office/drawing/2014/main" id="{E349127C-97F7-D5F9-E047-D207D4096700}"/>
              </a:ext>
            </a:extLst>
          </p:cNvPr>
          <p:cNvPicPr>
            <a:picLocks noChangeAspect="1"/>
          </p:cNvPicPr>
          <p:nvPr/>
        </p:nvPicPr>
        <p:blipFill>
          <a:blip r:embed="rId6"/>
          <a:stretch>
            <a:fillRect/>
          </a:stretch>
        </p:blipFill>
        <p:spPr>
          <a:xfrm>
            <a:off x="426290" y="5345417"/>
            <a:ext cx="1320800" cy="431800"/>
          </a:xfrm>
          <a:prstGeom prst="rect">
            <a:avLst/>
          </a:prstGeom>
        </p:spPr>
      </p:pic>
      <p:pic>
        <p:nvPicPr>
          <p:cNvPr id="29" name="Picture 28">
            <a:extLst>
              <a:ext uri="{FF2B5EF4-FFF2-40B4-BE49-F238E27FC236}">
                <a16:creationId xmlns:a16="http://schemas.microsoft.com/office/drawing/2014/main" id="{EC73C431-58B7-70F6-6B32-D70125FA93B4}"/>
              </a:ext>
            </a:extLst>
          </p:cNvPr>
          <p:cNvPicPr>
            <a:picLocks noChangeAspect="1"/>
          </p:cNvPicPr>
          <p:nvPr/>
        </p:nvPicPr>
        <p:blipFill>
          <a:blip r:embed="rId7"/>
          <a:stretch>
            <a:fillRect/>
          </a:stretch>
        </p:blipFill>
        <p:spPr>
          <a:xfrm>
            <a:off x="1937158" y="6036774"/>
            <a:ext cx="1445986" cy="335842"/>
          </a:xfrm>
          <a:prstGeom prst="rect">
            <a:avLst/>
          </a:prstGeom>
        </p:spPr>
      </p:pic>
      <p:pic>
        <p:nvPicPr>
          <p:cNvPr id="30" name="Picture 29">
            <a:extLst>
              <a:ext uri="{FF2B5EF4-FFF2-40B4-BE49-F238E27FC236}">
                <a16:creationId xmlns:a16="http://schemas.microsoft.com/office/drawing/2014/main" id="{9A232B06-A9A6-8FF6-7854-319B10458E76}"/>
              </a:ext>
            </a:extLst>
          </p:cNvPr>
          <p:cNvPicPr>
            <a:picLocks noChangeAspect="1"/>
          </p:cNvPicPr>
          <p:nvPr/>
        </p:nvPicPr>
        <p:blipFill>
          <a:blip r:embed="rId8"/>
          <a:stretch>
            <a:fillRect/>
          </a:stretch>
        </p:blipFill>
        <p:spPr>
          <a:xfrm>
            <a:off x="2727507" y="5331241"/>
            <a:ext cx="908050" cy="501650"/>
          </a:xfrm>
          <a:prstGeom prst="rect">
            <a:avLst/>
          </a:prstGeom>
        </p:spPr>
      </p:pic>
      <p:pic>
        <p:nvPicPr>
          <p:cNvPr id="31" name="Picture 30">
            <a:extLst>
              <a:ext uri="{FF2B5EF4-FFF2-40B4-BE49-F238E27FC236}">
                <a16:creationId xmlns:a16="http://schemas.microsoft.com/office/drawing/2014/main" id="{081475D4-8B02-C0AE-82ED-561623389787}"/>
              </a:ext>
            </a:extLst>
          </p:cNvPr>
          <p:cNvPicPr>
            <a:picLocks noChangeAspect="1"/>
          </p:cNvPicPr>
          <p:nvPr/>
        </p:nvPicPr>
        <p:blipFill>
          <a:blip r:embed="rId9"/>
          <a:stretch>
            <a:fillRect/>
          </a:stretch>
        </p:blipFill>
        <p:spPr>
          <a:xfrm>
            <a:off x="7831006" y="5331241"/>
            <a:ext cx="810986" cy="540657"/>
          </a:xfrm>
          <a:prstGeom prst="rect">
            <a:avLst/>
          </a:prstGeom>
        </p:spPr>
      </p:pic>
      <p:pic>
        <p:nvPicPr>
          <p:cNvPr id="32" name="Picture 31">
            <a:extLst>
              <a:ext uri="{FF2B5EF4-FFF2-40B4-BE49-F238E27FC236}">
                <a16:creationId xmlns:a16="http://schemas.microsoft.com/office/drawing/2014/main" id="{C76C36C2-FFE0-E088-08BC-889FB35C3ABB}"/>
              </a:ext>
            </a:extLst>
          </p:cNvPr>
          <p:cNvPicPr>
            <a:picLocks noChangeAspect="1"/>
          </p:cNvPicPr>
          <p:nvPr/>
        </p:nvPicPr>
        <p:blipFill>
          <a:blip r:embed="rId10"/>
          <a:stretch>
            <a:fillRect/>
          </a:stretch>
        </p:blipFill>
        <p:spPr>
          <a:xfrm>
            <a:off x="10293244" y="5325259"/>
            <a:ext cx="810986" cy="552619"/>
          </a:xfrm>
          <a:prstGeom prst="rect">
            <a:avLst/>
          </a:prstGeom>
        </p:spPr>
      </p:pic>
      <p:pic>
        <p:nvPicPr>
          <p:cNvPr id="33" name="Picture 32">
            <a:extLst>
              <a:ext uri="{FF2B5EF4-FFF2-40B4-BE49-F238E27FC236}">
                <a16:creationId xmlns:a16="http://schemas.microsoft.com/office/drawing/2014/main" id="{E4DC8BCC-F2FD-0247-0BCC-5B98DA0C54EB}"/>
              </a:ext>
            </a:extLst>
          </p:cNvPr>
          <p:cNvPicPr>
            <a:picLocks noChangeAspect="1"/>
          </p:cNvPicPr>
          <p:nvPr/>
        </p:nvPicPr>
        <p:blipFill>
          <a:blip r:embed="rId11"/>
          <a:stretch>
            <a:fillRect/>
          </a:stretch>
        </p:blipFill>
        <p:spPr>
          <a:xfrm>
            <a:off x="5327904" y="5907453"/>
            <a:ext cx="618434" cy="377094"/>
          </a:xfrm>
          <a:prstGeom prst="rect">
            <a:avLst/>
          </a:prstGeom>
        </p:spPr>
      </p:pic>
      <p:pic>
        <p:nvPicPr>
          <p:cNvPr id="34" name="Picture 33">
            <a:extLst>
              <a:ext uri="{FF2B5EF4-FFF2-40B4-BE49-F238E27FC236}">
                <a16:creationId xmlns:a16="http://schemas.microsoft.com/office/drawing/2014/main" id="{15F08C7E-37A7-989D-6A82-9ED4E3591931}"/>
              </a:ext>
            </a:extLst>
          </p:cNvPr>
          <p:cNvPicPr>
            <a:picLocks noChangeAspect="1"/>
          </p:cNvPicPr>
          <p:nvPr/>
        </p:nvPicPr>
        <p:blipFill>
          <a:blip r:embed="rId12"/>
          <a:stretch>
            <a:fillRect/>
          </a:stretch>
        </p:blipFill>
        <p:spPr>
          <a:xfrm>
            <a:off x="8532859" y="6029716"/>
            <a:ext cx="1511300" cy="342900"/>
          </a:xfrm>
          <a:prstGeom prst="rect">
            <a:avLst/>
          </a:prstGeom>
        </p:spPr>
      </p:pic>
      <p:cxnSp>
        <p:nvCxnSpPr>
          <p:cNvPr id="35" name="Straight Connector 34">
            <a:extLst>
              <a:ext uri="{FF2B5EF4-FFF2-40B4-BE49-F238E27FC236}">
                <a16:creationId xmlns:a16="http://schemas.microsoft.com/office/drawing/2014/main" id="{06A78345-110B-AB06-FE42-5CA6DEBE686D}"/>
              </a:ext>
            </a:extLst>
          </p:cNvPr>
          <p:cNvCxnSpPr>
            <a:cxnSpLocks/>
            <a:stCxn id="37" idx="1"/>
            <a:endCxn id="38" idx="3"/>
          </p:cNvCxnSpPr>
          <p:nvPr/>
        </p:nvCxnSpPr>
        <p:spPr>
          <a:xfrm>
            <a:off x="127002" y="4478744"/>
            <a:ext cx="0" cy="761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33C6951-704C-071B-31A9-C2D6B339F96B}"/>
              </a:ext>
            </a:extLst>
          </p:cNvPr>
          <p:cNvCxnSpPr>
            <a:cxnSpLocks/>
          </p:cNvCxnSpPr>
          <p:nvPr/>
        </p:nvCxnSpPr>
        <p:spPr>
          <a:xfrm flipH="1">
            <a:off x="127001" y="51308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966085B-30AB-DFBD-07F1-A71E7D138F28}"/>
              </a:ext>
            </a:extLst>
          </p:cNvPr>
          <p:cNvSpPr txBox="1"/>
          <p:nvPr/>
        </p:nvSpPr>
        <p:spPr>
          <a:xfrm rot="16200000">
            <a:off x="-336548" y="3861306"/>
            <a:ext cx="927099"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What</a:t>
            </a:r>
            <a:r>
              <a:rPr lang="en-US" b="1" dirty="0">
                <a:latin typeface="Arial Narrow" panose="020B0604020202020204" pitchFamily="34" charset="0"/>
                <a:cs typeface="Arial Narrow" panose="020B0604020202020204" pitchFamily="34" charset="0"/>
              </a:rPr>
              <a:t> is it</a:t>
            </a:r>
          </a:p>
        </p:txBody>
      </p:sp>
      <p:sp>
        <p:nvSpPr>
          <p:cNvPr id="38" name="TextBox 37">
            <a:extLst>
              <a:ext uri="{FF2B5EF4-FFF2-40B4-BE49-F238E27FC236}">
                <a16:creationId xmlns:a16="http://schemas.microsoft.com/office/drawing/2014/main" id="{8D79019F-C927-3897-11D1-4F75C2B28037}"/>
              </a:ext>
            </a:extLst>
          </p:cNvPr>
          <p:cNvSpPr txBox="1"/>
          <p:nvPr/>
        </p:nvSpPr>
        <p:spPr>
          <a:xfrm rot="16200000">
            <a:off x="-625616" y="5839354"/>
            <a:ext cx="1505236"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How @ BCBSMA</a:t>
            </a:r>
            <a:endParaRPr lang="en-US" b="1"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1891254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dirty="0"/>
              <a:t>Continuous learning</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i="1" dirty="0">
                <a:solidFill>
                  <a:schemeClr val="tx1"/>
                </a:solidFill>
              </a:rPr>
              <a:t>A commitment to continuously learning and improving AI capabilities through experimentation, feedback, and adaptation </a:t>
            </a:r>
          </a:p>
          <a:p>
            <a:endParaRPr lang="en-US" sz="1400" i="1" dirty="0"/>
          </a:p>
        </p:txBody>
      </p:sp>
      <p:sp>
        <p:nvSpPr>
          <p:cNvPr id="6" name="Google Shape;903;p7">
            <a:extLst>
              <a:ext uri="{FF2B5EF4-FFF2-40B4-BE49-F238E27FC236}">
                <a16:creationId xmlns:a16="http://schemas.microsoft.com/office/drawing/2014/main" id="{15254486-55F2-7A20-668F-EEF06DFF6485}"/>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dirty="0">
                <a:solidFill>
                  <a:schemeClr val="bg1"/>
                </a:solidFill>
                <a:latin typeface="Arial"/>
                <a:ea typeface="Arial"/>
                <a:cs typeface="Arial"/>
                <a:sym typeface="Arial"/>
              </a:rPr>
              <a:t>Continuous Learning</a:t>
            </a:r>
            <a:endParaRPr sz="1600" b="1" i="0" u="none" strike="noStrike" cap="none" dirty="0">
              <a:solidFill>
                <a:schemeClr val="bg1"/>
              </a:solidFill>
              <a:latin typeface="Arial"/>
              <a:ea typeface="Arial"/>
              <a:cs typeface="Arial"/>
              <a:sym typeface="Arial"/>
            </a:endParaRPr>
          </a:p>
        </p:txBody>
      </p:sp>
      <p:grpSp>
        <p:nvGrpSpPr>
          <p:cNvPr id="7" name="Group 6">
            <a:extLst>
              <a:ext uri="{FF2B5EF4-FFF2-40B4-BE49-F238E27FC236}">
                <a16:creationId xmlns:a16="http://schemas.microsoft.com/office/drawing/2014/main" id="{196531A4-BC58-B6CC-3FAF-3937B1933D11}"/>
              </a:ext>
            </a:extLst>
          </p:cNvPr>
          <p:cNvGrpSpPr/>
          <p:nvPr/>
        </p:nvGrpSpPr>
        <p:grpSpPr>
          <a:xfrm>
            <a:off x="252729" y="2590748"/>
            <a:ext cx="2745559" cy="2460222"/>
            <a:chOff x="579300" y="4091838"/>
            <a:chExt cx="3754800" cy="2460222"/>
          </a:xfrm>
        </p:grpSpPr>
        <p:sp>
          <p:nvSpPr>
            <p:cNvPr id="8" name="Google Shape;900;p7">
              <a:extLst>
                <a:ext uri="{FF2B5EF4-FFF2-40B4-BE49-F238E27FC236}">
                  <a16:creationId xmlns:a16="http://schemas.microsoft.com/office/drawing/2014/main" id="{B7858B30-BFFB-4C53-93BB-693B4876BAFC}"/>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dirty="0">
                  <a:solidFill>
                    <a:schemeClr val="tx1"/>
                  </a:solidFill>
                </a:rPr>
                <a:t>Define the learning objectives for the AI solution, including improving accuracy, reducing errors, and enhancing performance. </a:t>
              </a:r>
            </a:p>
            <a:p>
              <a:pPr>
                <a:buSzPts val="1000"/>
                <a:tabLst>
                  <a:tab pos="457200" algn="l"/>
                </a:tabLst>
              </a:pPr>
              <a:r>
                <a:rPr lang="en-US" sz="1200" dirty="0">
                  <a:solidFill>
                    <a:schemeClr val="tx1"/>
                  </a:solidFill>
                </a:rPr>
                <a:t>Use transfer learning, reinforcement learning, and unsupervised learning.</a:t>
              </a:r>
            </a:p>
            <a:p>
              <a:pPr>
                <a:buSzPts val="1000"/>
                <a:tabLst>
                  <a:tab pos="457200" algn="l"/>
                </a:tabLst>
              </a:pPr>
              <a:r>
                <a:rPr lang="en-US" sz="1200" dirty="0">
                  <a:solidFill>
                    <a:schemeClr val="tx1"/>
                  </a:solidFill>
                </a:rPr>
                <a:t>Collect and analyze data to evaluate the performance of the AI solution. Use this data to identify areas for improvement and to generate feedback for the system. </a:t>
              </a:r>
              <a:endParaRPr sz="1200" dirty="0">
                <a:solidFill>
                  <a:schemeClr val="tx1"/>
                </a:solidFill>
              </a:endParaRPr>
            </a:p>
          </p:txBody>
        </p:sp>
        <p:sp>
          <p:nvSpPr>
            <p:cNvPr id="9" name="Google Shape;900;p7">
              <a:extLst>
                <a:ext uri="{FF2B5EF4-FFF2-40B4-BE49-F238E27FC236}">
                  <a16:creationId xmlns:a16="http://schemas.microsoft.com/office/drawing/2014/main" id="{FE22768C-A6D4-7A79-D8E0-299D63B2212D}"/>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Learning Objectives</a:t>
              </a:r>
              <a:endParaRPr sz="1400" b="0" i="0" u="none" strike="noStrike" cap="none" dirty="0">
                <a:solidFill>
                  <a:schemeClr val="bg1"/>
                </a:solidFill>
                <a:latin typeface="Arial"/>
                <a:ea typeface="Arial"/>
                <a:cs typeface="Arial"/>
                <a:sym typeface="Arial"/>
              </a:endParaRPr>
            </a:p>
          </p:txBody>
        </p:sp>
      </p:grpSp>
      <p:grpSp>
        <p:nvGrpSpPr>
          <p:cNvPr id="10" name="Group 9">
            <a:extLst>
              <a:ext uri="{FF2B5EF4-FFF2-40B4-BE49-F238E27FC236}">
                <a16:creationId xmlns:a16="http://schemas.microsoft.com/office/drawing/2014/main" id="{196FF520-D617-E411-882B-C67337E1F563}"/>
              </a:ext>
            </a:extLst>
          </p:cNvPr>
          <p:cNvGrpSpPr/>
          <p:nvPr/>
        </p:nvGrpSpPr>
        <p:grpSpPr>
          <a:xfrm>
            <a:off x="3277139" y="2590748"/>
            <a:ext cx="2745559" cy="2460222"/>
            <a:chOff x="579300" y="4091838"/>
            <a:chExt cx="3754800" cy="2460222"/>
          </a:xfrm>
        </p:grpSpPr>
        <p:sp>
          <p:nvSpPr>
            <p:cNvPr id="11" name="Google Shape;900;p7">
              <a:extLst>
                <a:ext uri="{FF2B5EF4-FFF2-40B4-BE49-F238E27FC236}">
                  <a16:creationId xmlns:a16="http://schemas.microsoft.com/office/drawing/2014/main" id="{EA78468E-FD19-5CC8-F361-830786BD02AB}"/>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dirty="0">
                  <a:solidFill>
                    <a:schemeClr val="tx1"/>
                  </a:solidFill>
                </a:rPr>
                <a:t>Implement feedback mechanisms that enable the AI solution to learn from user interactions and to adapt to changing circumstances. Use techniques such as active learning, online learning, and semi-supervised learning.</a:t>
              </a:r>
            </a:p>
          </p:txBody>
        </p:sp>
        <p:sp>
          <p:nvSpPr>
            <p:cNvPr id="12" name="Google Shape;900;p7">
              <a:extLst>
                <a:ext uri="{FF2B5EF4-FFF2-40B4-BE49-F238E27FC236}">
                  <a16:creationId xmlns:a16="http://schemas.microsoft.com/office/drawing/2014/main" id="{581DC815-1B8E-0BCD-3EEC-78023D061D22}"/>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Feedback Mechanisms</a:t>
              </a:r>
              <a:endParaRPr sz="1400" b="0" i="0" u="none" strike="noStrike" cap="none" dirty="0">
                <a:solidFill>
                  <a:schemeClr val="bg1"/>
                </a:solidFill>
                <a:latin typeface="Arial"/>
                <a:ea typeface="Arial"/>
                <a:cs typeface="Arial"/>
                <a:sym typeface="Arial"/>
              </a:endParaRPr>
            </a:p>
          </p:txBody>
        </p:sp>
      </p:grpSp>
      <p:grpSp>
        <p:nvGrpSpPr>
          <p:cNvPr id="13" name="Group 12">
            <a:extLst>
              <a:ext uri="{FF2B5EF4-FFF2-40B4-BE49-F238E27FC236}">
                <a16:creationId xmlns:a16="http://schemas.microsoft.com/office/drawing/2014/main" id="{01163134-5255-0395-78C0-FB34456D72BB}"/>
              </a:ext>
            </a:extLst>
          </p:cNvPr>
          <p:cNvGrpSpPr/>
          <p:nvPr/>
        </p:nvGrpSpPr>
        <p:grpSpPr>
          <a:xfrm>
            <a:off x="6301549" y="2590748"/>
            <a:ext cx="2745559" cy="2460222"/>
            <a:chOff x="579300" y="4091838"/>
            <a:chExt cx="3754800" cy="2460222"/>
          </a:xfrm>
        </p:grpSpPr>
        <p:sp>
          <p:nvSpPr>
            <p:cNvPr id="14" name="Google Shape;900;p7">
              <a:extLst>
                <a:ext uri="{FF2B5EF4-FFF2-40B4-BE49-F238E27FC236}">
                  <a16:creationId xmlns:a16="http://schemas.microsoft.com/office/drawing/2014/main" id="{3485B36A-F8E4-1E8E-95A3-F7DD14A13BB9}"/>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Refine the AI solution based on the results of the monitoring and evaluation. Use techniques such as model tuning, feature engineering, and hyperparameter optimization.</a:t>
              </a:r>
            </a:p>
          </p:txBody>
        </p:sp>
        <p:sp>
          <p:nvSpPr>
            <p:cNvPr id="15" name="Google Shape;900;p7">
              <a:extLst>
                <a:ext uri="{FF2B5EF4-FFF2-40B4-BE49-F238E27FC236}">
                  <a16:creationId xmlns:a16="http://schemas.microsoft.com/office/drawing/2014/main" id="{26FE8B42-6AD5-4B2D-FA86-1EF5B596887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dirty="0">
                  <a:solidFill>
                    <a:schemeClr val="bg1"/>
                  </a:solidFill>
                </a:rPr>
                <a:t>Evaluation and Refinement</a:t>
              </a:r>
              <a:endParaRPr b="0" i="0" u="none" strike="noStrike" cap="none" dirty="0">
                <a:solidFill>
                  <a:schemeClr val="bg1"/>
                </a:solidFill>
                <a:latin typeface="Arial"/>
                <a:ea typeface="Arial"/>
                <a:cs typeface="Arial"/>
                <a:sym typeface="Arial"/>
              </a:endParaRPr>
            </a:p>
          </p:txBody>
        </p:sp>
      </p:grpSp>
      <p:grpSp>
        <p:nvGrpSpPr>
          <p:cNvPr id="16" name="Group 15">
            <a:extLst>
              <a:ext uri="{FF2B5EF4-FFF2-40B4-BE49-F238E27FC236}">
                <a16:creationId xmlns:a16="http://schemas.microsoft.com/office/drawing/2014/main" id="{1313A686-4E2C-C48B-0E35-D209516A53E9}"/>
              </a:ext>
            </a:extLst>
          </p:cNvPr>
          <p:cNvGrpSpPr/>
          <p:nvPr/>
        </p:nvGrpSpPr>
        <p:grpSpPr>
          <a:xfrm>
            <a:off x="9325958" y="2593058"/>
            <a:ext cx="2745559" cy="2457912"/>
            <a:chOff x="579300" y="4091838"/>
            <a:chExt cx="3754800" cy="2457912"/>
          </a:xfrm>
        </p:grpSpPr>
        <p:sp>
          <p:nvSpPr>
            <p:cNvPr id="17" name="Google Shape;900;p7">
              <a:extLst>
                <a:ext uri="{FF2B5EF4-FFF2-40B4-BE49-F238E27FC236}">
                  <a16:creationId xmlns:a16="http://schemas.microsoft.com/office/drawing/2014/main" id="{1A9EFA64-9564-B18A-85A6-EDAE31B26773}"/>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dirty="0">
                  <a:solidFill>
                    <a:schemeClr val="tx1"/>
                  </a:solidFill>
                </a:rPr>
                <a:t>Establish a culture of continuous learning within the organization. Encourage experimentation, collaboration, and knowledge sharing to foster a learning mindset.</a:t>
              </a:r>
            </a:p>
          </p:txBody>
        </p:sp>
        <p:sp>
          <p:nvSpPr>
            <p:cNvPr id="18" name="Google Shape;900;p7">
              <a:extLst>
                <a:ext uri="{FF2B5EF4-FFF2-40B4-BE49-F238E27FC236}">
                  <a16:creationId xmlns:a16="http://schemas.microsoft.com/office/drawing/2014/main" id="{3D233010-647A-2B13-EC14-21B4AEA2EE4E}"/>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dirty="0">
                  <a:solidFill>
                    <a:schemeClr val="bg1"/>
                  </a:solidFill>
                  <a:latin typeface="Arial"/>
                  <a:ea typeface="Arial"/>
                  <a:cs typeface="Arial"/>
                  <a:sym typeface="Arial"/>
                </a:rPr>
                <a:t>Culture</a:t>
              </a:r>
            </a:p>
          </p:txBody>
        </p:sp>
      </p:grpSp>
      <p:cxnSp>
        <p:nvCxnSpPr>
          <p:cNvPr id="19" name="Elbow Connector 18">
            <a:extLst>
              <a:ext uri="{FF2B5EF4-FFF2-40B4-BE49-F238E27FC236}">
                <a16:creationId xmlns:a16="http://schemas.microsoft.com/office/drawing/2014/main" id="{9E5C506C-B000-4588-37ED-70C5B37F0A3E}"/>
              </a:ext>
            </a:extLst>
          </p:cNvPr>
          <p:cNvCxnSpPr>
            <a:cxnSpLocks/>
            <a:stCxn id="6" idx="2"/>
            <a:endCxn id="9"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957BF751-B960-8072-2EFA-AF6F1B37DA8F}"/>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D1F20813-3173-13BA-6B2F-3A005BCC5A2A}"/>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6E7A3DF3-9AF8-2458-43EF-BE2028300AD3}"/>
              </a:ext>
            </a:extLst>
          </p:cNvPr>
          <p:cNvCxnSpPr>
            <a:cxnSpLocks/>
            <a:stCxn id="6" idx="2"/>
            <a:endCxn id="12"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Graphic 4" descr="Idea with solid fill">
            <a:extLst>
              <a:ext uri="{FF2B5EF4-FFF2-40B4-BE49-F238E27FC236}">
                <a16:creationId xmlns:a16="http://schemas.microsoft.com/office/drawing/2014/main" id="{507185DE-FD86-9A7F-1DD1-344D9D38FB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58046" y="1469034"/>
            <a:ext cx="338484" cy="338484"/>
          </a:xfrm>
          <a:prstGeom prst="rect">
            <a:avLst/>
          </a:prstGeom>
        </p:spPr>
      </p:pic>
      <p:cxnSp>
        <p:nvCxnSpPr>
          <p:cNvPr id="24" name="Straight Connector 23">
            <a:extLst>
              <a:ext uri="{FF2B5EF4-FFF2-40B4-BE49-F238E27FC236}">
                <a16:creationId xmlns:a16="http://schemas.microsoft.com/office/drawing/2014/main" id="{5A9A3D59-988F-4D56-901D-BDE15136EF94}"/>
              </a:ext>
            </a:extLst>
          </p:cNvPr>
          <p:cNvCxnSpPr>
            <a:cxnSpLocks/>
            <a:stCxn id="26" idx="1"/>
            <a:endCxn id="27" idx="3"/>
          </p:cNvCxnSpPr>
          <p:nvPr/>
        </p:nvCxnSpPr>
        <p:spPr>
          <a:xfrm>
            <a:off x="127002" y="44660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FA5EE93-03BA-A2B3-E4DA-51CE4BE5E9B8}"/>
              </a:ext>
            </a:extLst>
          </p:cNvPr>
          <p:cNvCxnSpPr>
            <a:cxnSpLocks/>
          </p:cNvCxnSpPr>
          <p:nvPr/>
        </p:nvCxnSpPr>
        <p:spPr>
          <a:xfrm flipH="1">
            <a:off x="127001" y="51181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38147F5-A289-6625-43A4-51FD85F02189}"/>
              </a:ext>
            </a:extLst>
          </p:cNvPr>
          <p:cNvSpPr txBox="1"/>
          <p:nvPr/>
        </p:nvSpPr>
        <p:spPr>
          <a:xfrm rot="16200000">
            <a:off x="-336548" y="3848606"/>
            <a:ext cx="927099"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What</a:t>
            </a:r>
            <a:r>
              <a:rPr lang="en-US" b="1" dirty="0">
                <a:latin typeface="Arial Narrow" panose="020B0604020202020204" pitchFamily="34" charset="0"/>
                <a:cs typeface="Arial Narrow" panose="020B0604020202020204" pitchFamily="34" charset="0"/>
              </a:rPr>
              <a:t> is it</a:t>
            </a:r>
          </a:p>
        </p:txBody>
      </p:sp>
      <p:sp>
        <p:nvSpPr>
          <p:cNvPr id="27" name="TextBox 26">
            <a:extLst>
              <a:ext uri="{FF2B5EF4-FFF2-40B4-BE49-F238E27FC236}">
                <a16:creationId xmlns:a16="http://schemas.microsoft.com/office/drawing/2014/main" id="{B962438E-C616-5BDB-1B2E-D053BB3C9D04}"/>
              </a:ext>
            </a:extLst>
          </p:cNvPr>
          <p:cNvSpPr txBox="1"/>
          <p:nvPr/>
        </p:nvSpPr>
        <p:spPr>
          <a:xfrm rot="16200000">
            <a:off x="-625616" y="5953654"/>
            <a:ext cx="1505236" cy="307777"/>
          </a:xfrm>
          <a:prstGeom prst="rect">
            <a:avLst/>
          </a:prstGeom>
          <a:noFill/>
        </p:spPr>
        <p:txBody>
          <a:bodyPr wrap="square" rtlCol="0">
            <a:spAutoFit/>
          </a:bodyPr>
          <a:lstStyle/>
          <a:p>
            <a:r>
              <a:rPr lang="en-US" b="1" dirty="0">
                <a:solidFill>
                  <a:schemeClr val="tx1"/>
                </a:solidFill>
                <a:latin typeface="Arial Narrow" panose="020B0604020202020204" pitchFamily="34" charset="0"/>
                <a:cs typeface="Arial Narrow" panose="020B0604020202020204" pitchFamily="34" charset="0"/>
              </a:rPr>
              <a:t>How @ BCBSMA</a:t>
            </a:r>
            <a:endParaRPr lang="en-US" b="1" dirty="0">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235412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41CDAA-FDA6-60EC-0942-43F6ACA1CFD1}"/>
              </a:ext>
            </a:extLst>
          </p:cNvPr>
          <p:cNvSpPr>
            <a:spLocks noGrp="1"/>
          </p:cNvSpPr>
          <p:nvPr>
            <p:ph type="body" idx="2"/>
          </p:nvPr>
        </p:nvSpPr>
        <p:spPr/>
        <p:txBody>
          <a:bodyPr/>
          <a:lstStyle/>
          <a:p>
            <a:r>
              <a:rPr lang="en-US" dirty="0"/>
              <a:t>AI Roadmap – what's next (1 of 2)</a:t>
            </a:r>
          </a:p>
        </p:txBody>
      </p:sp>
      <p:sp>
        <p:nvSpPr>
          <p:cNvPr id="4" name="Text Placeholder 3">
            <a:extLst>
              <a:ext uri="{FF2B5EF4-FFF2-40B4-BE49-F238E27FC236}">
                <a16:creationId xmlns:a16="http://schemas.microsoft.com/office/drawing/2014/main" id="{1F74E4C1-E30D-055A-3EE6-374632E9C458}"/>
              </a:ext>
            </a:extLst>
          </p:cNvPr>
          <p:cNvSpPr>
            <a:spLocks noGrp="1"/>
          </p:cNvSpPr>
          <p:nvPr>
            <p:ph type="body" idx="3"/>
          </p:nvPr>
        </p:nvSpPr>
        <p:spPr/>
        <p:txBody>
          <a:bodyPr/>
          <a:lstStyle/>
          <a:p>
            <a:r>
              <a:rPr lang="en-US" dirty="0"/>
              <a:t>Current status and plan against the 32 focus areas for AI</a:t>
            </a:r>
          </a:p>
        </p:txBody>
      </p:sp>
      <p:graphicFrame>
        <p:nvGraphicFramePr>
          <p:cNvPr id="5" name="Table 5">
            <a:extLst>
              <a:ext uri="{FF2B5EF4-FFF2-40B4-BE49-F238E27FC236}">
                <a16:creationId xmlns:a16="http://schemas.microsoft.com/office/drawing/2014/main" id="{DECB4ACC-AF0E-0013-EA01-1A93D08D2523}"/>
              </a:ext>
            </a:extLst>
          </p:cNvPr>
          <p:cNvGraphicFramePr>
            <a:graphicFrameLocks noGrp="1"/>
          </p:cNvGraphicFramePr>
          <p:nvPr>
            <p:extLst>
              <p:ext uri="{D42A27DB-BD31-4B8C-83A1-F6EECF244321}">
                <p14:modId xmlns:p14="http://schemas.microsoft.com/office/powerpoint/2010/main" val="1676251040"/>
              </p:ext>
            </p:extLst>
          </p:nvPr>
        </p:nvGraphicFramePr>
        <p:xfrm>
          <a:off x="603503" y="1405465"/>
          <a:ext cx="11109522" cy="5181600"/>
        </p:xfrm>
        <a:graphic>
          <a:graphicData uri="http://schemas.openxmlformats.org/drawingml/2006/table">
            <a:tbl>
              <a:tblPr firstRow="1" bandRow="1">
                <a:tableStyleId>{33ACF42D-4C02-4D95-A088-8F3FDBF59C8B}</a:tableStyleId>
              </a:tblPr>
              <a:tblGrid>
                <a:gridCol w="1187197">
                  <a:extLst>
                    <a:ext uri="{9D8B030D-6E8A-4147-A177-3AD203B41FA5}">
                      <a16:colId xmlns:a16="http://schemas.microsoft.com/office/drawing/2014/main" val="3727042666"/>
                    </a:ext>
                  </a:extLst>
                </a:gridCol>
                <a:gridCol w="3784600">
                  <a:extLst>
                    <a:ext uri="{9D8B030D-6E8A-4147-A177-3AD203B41FA5}">
                      <a16:colId xmlns:a16="http://schemas.microsoft.com/office/drawing/2014/main" val="466115981"/>
                    </a:ext>
                  </a:extLst>
                </a:gridCol>
                <a:gridCol w="1587500">
                  <a:extLst>
                    <a:ext uri="{9D8B030D-6E8A-4147-A177-3AD203B41FA5}">
                      <a16:colId xmlns:a16="http://schemas.microsoft.com/office/drawing/2014/main" val="3805094855"/>
                    </a:ext>
                  </a:extLst>
                </a:gridCol>
                <a:gridCol w="1511300">
                  <a:extLst>
                    <a:ext uri="{9D8B030D-6E8A-4147-A177-3AD203B41FA5}">
                      <a16:colId xmlns:a16="http://schemas.microsoft.com/office/drawing/2014/main" val="75859873"/>
                    </a:ext>
                  </a:extLst>
                </a:gridCol>
                <a:gridCol w="1363415">
                  <a:extLst>
                    <a:ext uri="{9D8B030D-6E8A-4147-A177-3AD203B41FA5}">
                      <a16:colId xmlns:a16="http://schemas.microsoft.com/office/drawing/2014/main" val="3025992820"/>
                    </a:ext>
                  </a:extLst>
                </a:gridCol>
                <a:gridCol w="1675510">
                  <a:extLst>
                    <a:ext uri="{9D8B030D-6E8A-4147-A177-3AD203B41FA5}">
                      <a16:colId xmlns:a16="http://schemas.microsoft.com/office/drawing/2014/main" val="885292365"/>
                    </a:ext>
                  </a:extLst>
                </a:gridCol>
              </a:tblGrid>
              <a:tr h="280396">
                <a:tc>
                  <a:txBody>
                    <a:bodyPr/>
                    <a:lstStyle/>
                    <a:p>
                      <a:pPr algn="ctr"/>
                      <a:endParaRPr lang="en-US" dirty="0"/>
                    </a:p>
                  </a:txBody>
                  <a:tcPr/>
                </a:tc>
                <a:tc>
                  <a:txBody>
                    <a:bodyPr/>
                    <a:lstStyle/>
                    <a:p>
                      <a:pPr algn="ctr"/>
                      <a:r>
                        <a:rPr lang="en-US" dirty="0"/>
                        <a:t>Artificial Intelligence Focus Area</a:t>
                      </a:r>
                    </a:p>
                  </a:txBody>
                  <a:tcPr/>
                </a:tc>
                <a:tc>
                  <a:txBody>
                    <a:bodyPr/>
                    <a:lstStyle/>
                    <a:p>
                      <a:pPr algn="ctr"/>
                      <a:r>
                        <a:rPr lang="en-US" i="0" dirty="0"/>
                        <a:t>Initiate</a:t>
                      </a:r>
                    </a:p>
                  </a:txBody>
                  <a:tcPr/>
                </a:tc>
                <a:tc>
                  <a:txBody>
                    <a:bodyPr/>
                    <a:lstStyle/>
                    <a:p>
                      <a:pPr algn="ctr"/>
                      <a:r>
                        <a:rPr lang="en-US" i="0" dirty="0"/>
                        <a:t>Grow</a:t>
                      </a:r>
                    </a:p>
                  </a:txBody>
                  <a:tcPr/>
                </a:tc>
                <a:tc>
                  <a:txBody>
                    <a:bodyPr/>
                    <a:lstStyle/>
                    <a:p>
                      <a:pPr algn="ctr"/>
                      <a:r>
                        <a:rPr lang="en-US" i="0" dirty="0"/>
                        <a:t>Sustain</a:t>
                      </a:r>
                    </a:p>
                  </a:txBody>
                  <a:tcPr/>
                </a:tc>
                <a:tc>
                  <a:txBody>
                    <a:bodyPr/>
                    <a:lstStyle/>
                    <a:p>
                      <a:pPr algn="ctr"/>
                      <a:r>
                        <a:rPr lang="en-US" i="0" dirty="0"/>
                        <a:t>Collaborators*</a:t>
                      </a:r>
                    </a:p>
                  </a:txBody>
                  <a:tcPr/>
                </a:tc>
                <a:extLst>
                  <a:ext uri="{0D108BD9-81ED-4DB2-BD59-A6C34878D82A}">
                    <a16:rowId xmlns:a16="http://schemas.microsoft.com/office/drawing/2014/main" val="3660082184"/>
                  </a:ext>
                </a:extLst>
              </a:tr>
              <a:tr h="280396">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i="1" u="none" strike="noStrike" cap="none" dirty="0">
                          <a:solidFill>
                            <a:schemeClr val="tx1"/>
                          </a:solidFill>
                          <a:latin typeface="Arial"/>
                          <a:cs typeface="Arial"/>
                          <a:sym typeface="Arial"/>
                        </a:rPr>
                        <a:t>Data Strategy</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Data Acquisition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935384858"/>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Data Preparation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0170604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Data Storage</a:t>
                      </a:r>
                      <a:endParaRPr lang="en-US" sz="1200" b="0" i="0" u="none" strike="noStrike" cap="none" dirty="0">
                        <a:solidFill>
                          <a:schemeClr val="tx1"/>
                        </a:solidFill>
                        <a:latin typeface="Arial"/>
                        <a:ea typeface="Arial"/>
                        <a:cs typeface="Arial"/>
                        <a:sym typeface="Arial"/>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5594564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Data Governance</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28505090"/>
                  </a:ext>
                </a:extLst>
              </a:tr>
              <a:tr h="280396">
                <a:tc rowSpan="4">
                  <a:txBody>
                    <a:bodyPr/>
                    <a:lstStyle/>
                    <a:p>
                      <a:pPr algn="ctr"/>
                      <a:r>
                        <a:rPr lang="en-US" sz="1400" b="1" i="1" u="none" strike="noStrike" cap="none" dirty="0">
                          <a:solidFill>
                            <a:schemeClr val="tx1"/>
                          </a:solidFill>
                          <a:latin typeface="Arial"/>
                          <a:cs typeface="Arial"/>
                          <a:sym typeface="Arial"/>
                        </a:rPr>
                        <a:t>Machine Learning Strategy</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Algorithm Selection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1766359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Model Development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57538957"/>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Model Deployment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2357693"/>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Model Ethics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10958376"/>
                  </a:ext>
                </a:extLst>
              </a:tr>
              <a:tr h="280396">
                <a:tc rowSpan="4">
                  <a:txBody>
                    <a:bodyPr/>
                    <a:lstStyle/>
                    <a:p>
                      <a:pPr algn="ctr"/>
                      <a:r>
                        <a:rPr lang="en-US" sz="1400" b="1" i="1" u="none" strike="noStrike" cap="none" dirty="0">
                          <a:solidFill>
                            <a:schemeClr val="tx1"/>
                          </a:solidFill>
                          <a:latin typeface="Arial"/>
                          <a:cs typeface="Arial"/>
                          <a:sym typeface="Arial"/>
                        </a:rPr>
                        <a:t>Solutions Roadmap</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Use Cases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9929010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AI Technologies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067264416"/>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Model Development and Integration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067601718"/>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Success Metrics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38545082"/>
                  </a:ext>
                </a:extLst>
              </a:tr>
              <a:tr h="280396">
                <a:tc rowSpan="4">
                  <a:txBody>
                    <a:bodyPr/>
                    <a:lstStyle/>
                    <a:p>
                      <a:pPr algn="ctr"/>
                      <a:r>
                        <a:rPr lang="en-US" sz="1400" b="1" i="1" u="none" strike="noStrike" cap="none" dirty="0">
                          <a:solidFill>
                            <a:schemeClr val="tx1"/>
                          </a:solidFill>
                          <a:latin typeface="Arial"/>
                          <a:cs typeface="Arial"/>
                          <a:sym typeface="Arial"/>
                        </a:rPr>
                        <a:t>Talent and Skills</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Define and Assess Skills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735285"/>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Hiring and Retention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0762211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Training and Development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89848704"/>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Culture of Innovation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43255420"/>
                  </a:ext>
                </a:extLst>
              </a:tr>
            </a:tbl>
          </a:graphicData>
        </a:graphic>
      </p:graphicFrame>
      <p:pic>
        <p:nvPicPr>
          <p:cNvPr id="6" name="Graphic 5" descr="Database with solid fill">
            <a:extLst>
              <a:ext uri="{FF2B5EF4-FFF2-40B4-BE49-F238E27FC236}">
                <a16:creationId xmlns:a16="http://schemas.microsoft.com/office/drawing/2014/main" id="{9665E07B-1648-586F-E3BA-78FFA6C4AB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7315" y="1753730"/>
            <a:ext cx="351779" cy="351779"/>
          </a:xfrm>
          <a:prstGeom prst="rect">
            <a:avLst/>
          </a:prstGeom>
        </p:spPr>
      </p:pic>
      <p:pic>
        <p:nvPicPr>
          <p:cNvPr id="7" name="Graphic 6" descr="Robot with solid fill">
            <a:extLst>
              <a:ext uri="{FF2B5EF4-FFF2-40B4-BE49-F238E27FC236}">
                <a16:creationId xmlns:a16="http://schemas.microsoft.com/office/drawing/2014/main" id="{727C88CF-6584-7EC5-9A0F-87AFA19854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7315" y="2895550"/>
            <a:ext cx="360667" cy="360667"/>
          </a:xfrm>
          <a:prstGeom prst="rect">
            <a:avLst/>
          </a:prstGeom>
        </p:spPr>
      </p:pic>
      <p:pic>
        <p:nvPicPr>
          <p:cNvPr id="8" name="Graphic 7" descr="Road with solid fill">
            <a:extLst>
              <a:ext uri="{FF2B5EF4-FFF2-40B4-BE49-F238E27FC236}">
                <a16:creationId xmlns:a16="http://schemas.microsoft.com/office/drawing/2014/main" id="{8B606514-3E27-9B9F-7AF2-24420BA923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7315" y="4165550"/>
            <a:ext cx="374189" cy="374189"/>
          </a:xfrm>
          <a:prstGeom prst="rect">
            <a:avLst/>
          </a:prstGeom>
        </p:spPr>
      </p:pic>
      <p:pic>
        <p:nvPicPr>
          <p:cNvPr id="9" name="Graphic 8" descr="Group of people with solid fill">
            <a:extLst>
              <a:ext uri="{FF2B5EF4-FFF2-40B4-BE49-F238E27FC236}">
                <a16:creationId xmlns:a16="http://schemas.microsoft.com/office/drawing/2014/main" id="{FE783D2E-E2D8-DB68-B4EC-61F17D4A41A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7315" y="5372020"/>
            <a:ext cx="362329" cy="362329"/>
          </a:xfrm>
          <a:prstGeom prst="rect">
            <a:avLst/>
          </a:prstGeom>
        </p:spPr>
      </p:pic>
    </p:spTree>
    <p:extLst>
      <p:ext uri="{BB962C8B-B14F-4D97-AF65-F5344CB8AC3E}">
        <p14:creationId xmlns:p14="http://schemas.microsoft.com/office/powerpoint/2010/main" val="1408460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41CDAA-FDA6-60EC-0942-43F6ACA1CFD1}"/>
              </a:ext>
            </a:extLst>
          </p:cNvPr>
          <p:cNvSpPr>
            <a:spLocks noGrp="1"/>
          </p:cNvSpPr>
          <p:nvPr>
            <p:ph type="body" idx="2"/>
          </p:nvPr>
        </p:nvSpPr>
        <p:spPr/>
        <p:txBody>
          <a:bodyPr/>
          <a:lstStyle/>
          <a:p>
            <a:r>
              <a:rPr lang="en-US" dirty="0"/>
              <a:t>AI Roadmap – what's next (2 of 2)</a:t>
            </a:r>
          </a:p>
        </p:txBody>
      </p:sp>
      <p:graphicFrame>
        <p:nvGraphicFramePr>
          <p:cNvPr id="5" name="Table 5">
            <a:extLst>
              <a:ext uri="{FF2B5EF4-FFF2-40B4-BE49-F238E27FC236}">
                <a16:creationId xmlns:a16="http://schemas.microsoft.com/office/drawing/2014/main" id="{DECB4ACC-AF0E-0013-EA01-1A93D08D2523}"/>
              </a:ext>
            </a:extLst>
          </p:cNvPr>
          <p:cNvGraphicFramePr>
            <a:graphicFrameLocks noGrp="1"/>
          </p:cNvGraphicFramePr>
          <p:nvPr>
            <p:extLst>
              <p:ext uri="{D42A27DB-BD31-4B8C-83A1-F6EECF244321}">
                <p14:modId xmlns:p14="http://schemas.microsoft.com/office/powerpoint/2010/main" val="1530239336"/>
              </p:ext>
            </p:extLst>
          </p:nvPr>
        </p:nvGraphicFramePr>
        <p:xfrm>
          <a:off x="603503" y="1405465"/>
          <a:ext cx="11109522" cy="5181600"/>
        </p:xfrm>
        <a:graphic>
          <a:graphicData uri="http://schemas.openxmlformats.org/drawingml/2006/table">
            <a:tbl>
              <a:tblPr firstRow="1" bandRow="1">
                <a:tableStyleId>{33ACF42D-4C02-4D95-A088-8F3FDBF59C8B}</a:tableStyleId>
              </a:tblPr>
              <a:tblGrid>
                <a:gridCol w="1123697">
                  <a:extLst>
                    <a:ext uri="{9D8B030D-6E8A-4147-A177-3AD203B41FA5}">
                      <a16:colId xmlns:a16="http://schemas.microsoft.com/office/drawing/2014/main" val="3727042666"/>
                    </a:ext>
                  </a:extLst>
                </a:gridCol>
                <a:gridCol w="3848100">
                  <a:extLst>
                    <a:ext uri="{9D8B030D-6E8A-4147-A177-3AD203B41FA5}">
                      <a16:colId xmlns:a16="http://schemas.microsoft.com/office/drawing/2014/main" val="466115981"/>
                    </a:ext>
                  </a:extLst>
                </a:gridCol>
                <a:gridCol w="1587500">
                  <a:extLst>
                    <a:ext uri="{9D8B030D-6E8A-4147-A177-3AD203B41FA5}">
                      <a16:colId xmlns:a16="http://schemas.microsoft.com/office/drawing/2014/main" val="3805094855"/>
                    </a:ext>
                  </a:extLst>
                </a:gridCol>
                <a:gridCol w="1473200">
                  <a:extLst>
                    <a:ext uri="{9D8B030D-6E8A-4147-A177-3AD203B41FA5}">
                      <a16:colId xmlns:a16="http://schemas.microsoft.com/office/drawing/2014/main" val="75859873"/>
                    </a:ext>
                  </a:extLst>
                </a:gridCol>
                <a:gridCol w="1401515">
                  <a:extLst>
                    <a:ext uri="{9D8B030D-6E8A-4147-A177-3AD203B41FA5}">
                      <a16:colId xmlns:a16="http://schemas.microsoft.com/office/drawing/2014/main" val="3025992820"/>
                    </a:ext>
                  </a:extLst>
                </a:gridCol>
                <a:gridCol w="1675510">
                  <a:extLst>
                    <a:ext uri="{9D8B030D-6E8A-4147-A177-3AD203B41FA5}">
                      <a16:colId xmlns:a16="http://schemas.microsoft.com/office/drawing/2014/main" val="885292365"/>
                    </a:ext>
                  </a:extLst>
                </a:gridCol>
              </a:tblGrid>
              <a:tr h="280396">
                <a:tc>
                  <a:txBody>
                    <a:bodyPr/>
                    <a:lstStyle/>
                    <a:p>
                      <a:pPr algn="ctr"/>
                      <a:endParaRPr lang="en-US" dirty="0"/>
                    </a:p>
                  </a:txBody>
                  <a:tcPr/>
                </a:tc>
                <a:tc>
                  <a:txBody>
                    <a:bodyPr/>
                    <a:lstStyle/>
                    <a:p>
                      <a:pPr algn="ctr"/>
                      <a:r>
                        <a:rPr lang="en-US" dirty="0"/>
                        <a:t>Artificial Intelligence Focus Area</a:t>
                      </a:r>
                    </a:p>
                  </a:txBody>
                  <a:tcPr/>
                </a:tc>
                <a:tc>
                  <a:txBody>
                    <a:bodyPr/>
                    <a:lstStyle/>
                    <a:p>
                      <a:pPr algn="ctr"/>
                      <a:r>
                        <a:rPr lang="en-US" i="0" dirty="0"/>
                        <a:t>Initiate</a:t>
                      </a:r>
                    </a:p>
                  </a:txBody>
                  <a:tcPr/>
                </a:tc>
                <a:tc>
                  <a:txBody>
                    <a:bodyPr/>
                    <a:lstStyle/>
                    <a:p>
                      <a:pPr algn="ctr"/>
                      <a:r>
                        <a:rPr lang="en-US" i="0" dirty="0"/>
                        <a:t>Grow</a:t>
                      </a:r>
                    </a:p>
                  </a:txBody>
                  <a:tcPr/>
                </a:tc>
                <a:tc>
                  <a:txBody>
                    <a:bodyPr/>
                    <a:lstStyle/>
                    <a:p>
                      <a:pPr algn="ctr"/>
                      <a:r>
                        <a:rPr lang="en-US" i="0" dirty="0"/>
                        <a:t>Sustain</a:t>
                      </a:r>
                    </a:p>
                  </a:txBody>
                  <a:tcPr/>
                </a:tc>
                <a:tc>
                  <a:txBody>
                    <a:bodyPr/>
                    <a:lstStyle/>
                    <a:p>
                      <a:pPr algn="ctr"/>
                      <a:r>
                        <a:rPr lang="en-US" i="0" dirty="0"/>
                        <a:t>Collaborators*</a:t>
                      </a:r>
                    </a:p>
                  </a:txBody>
                  <a:tcPr/>
                </a:tc>
                <a:extLst>
                  <a:ext uri="{0D108BD9-81ED-4DB2-BD59-A6C34878D82A}">
                    <a16:rowId xmlns:a16="http://schemas.microsoft.com/office/drawing/2014/main" val="3660082184"/>
                  </a:ext>
                </a:extLst>
              </a:tr>
              <a:tr h="280396">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i="1" u="none" strike="noStrike" cap="none" dirty="0">
                          <a:solidFill>
                            <a:schemeClr val="tx1"/>
                          </a:solidFill>
                          <a:latin typeface="Arial"/>
                          <a:cs typeface="Arial"/>
                          <a:sym typeface="Arial"/>
                        </a:rPr>
                        <a:t>Governance and Risk Management</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Governance Framework</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935384858"/>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Ethics and Training</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0170604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Risk Assessment</a:t>
                      </a:r>
                      <a:endParaRPr lang="en-US" sz="1200" b="0" i="0" u="none" strike="noStrike" cap="none" dirty="0">
                        <a:solidFill>
                          <a:schemeClr val="tx1"/>
                        </a:solidFill>
                        <a:latin typeface="Arial"/>
                        <a:ea typeface="Arial"/>
                        <a:cs typeface="Arial"/>
                        <a:sym typeface="Arial"/>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5594564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Incident Response Plan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28505090"/>
                  </a:ext>
                </a:extLst>
              </a:tr>
              <a:tr h="280396">
                <a:tc rowSpan="4">
                  <a:txBody>
                    <a:bodyPr/>
                    <a:lstStyle/>
                    <a:p>
                      <a:pPr algn="ctr"/>
                      <a:r>
                        <a:rPr lang="en-US" sz="1360" b="1" i="1" u="none" strike="noStrike" cap="none" dirty="0">
                          <a:solidFill>
                            <a:schemeClr val="tx1"/>
                          </a:solidFill>
                          <a:latin typeface="Arial"/>
                          <a:cs typeface="Arial"/>
                          <a:sym typeface="Arial"/>
                        </a:rPr>
                        <a:t>Infrastructure</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Requirements Definition and Evaluation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61766359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Technology Selection</a:t>
                      </a:r>
                      <a:endParaRPr lang="en-US" sz="1200" b="0" i="0" u="none" strike="noStrike" cap="none" dirty="0">
                        <a:solidFill>
                          <a:schemeClr val="tx1"/>
                        </a:solidFill>
                        <a:latin typeface="Arial"/>
                        <a:ea typeface="Arial"/>
                        <a:cs typeface="Arial"/>
                        <a:sym typeface="Arial"/>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557538957"/>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Security Measures</a:t>
                      </a:r>
                      <a:endParaRPr lang="en-US" sz="1200" b="0" i="0" u="none" strike="noStrike" cap="none" dirty="0">
                        <a:solidFill>
                          <a:schemeClr val="tx1"/>
                        </a:solidFill>
                        <a:latin typeface="Arial"/>
                        <a:ea typeface="Arial"/>
                        <a:cs typeface="Arial"/>
                        <a:sym typeface="Arial"/>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32357693"/>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Monitoring</a:t>
                      </a:r>
                      <a:endParaRPr lang="en-US" sz="1200" b="0" i="0" u="none" strike="noStrike" cap="none" dirty="0">
                        <a:solidFill>
                          <a:schemeClr val="tx1"/>
                        </a:solidFill>
                        <a:latin typeface="Arial"/>
                        <a:cs typeface="Arial"/>
                        <a:sym typeface="Arial"/>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10958376"/>
                  </a:ext>
                </a:extLst>
              </a:tr>
              <a:tr h="280396">
                <a:tc rowSpan="4">
                  <a:txBody>
                    <a:bodyPr/>
                    <a:lstStyle/>
                    <a:p>
                      <a:pPr algn="ctr"/>
                      <a:r>
                        <a:rPr lang="en-US" sz="1400" b="1" i="1" u="none" strike="noStrike" cap="none" dirty="0">
                          <a:solidFill>
                            <a:schemeClr val="tx1"/>
                          </a:solidFill>
                          <a:latin typeface="Arial"/>
                          <a:cs typeface="Arial"/>
                          <a:sym typeface="Arial"/>
                        </a:rPr>
                        <a:t>Partnerships and Ecosystem</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Potential Partner Identification</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9929010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Partnership Establishment</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067264416"/>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Ecosystem Establishment</a:t>
                      </a:r>
                      <a:endParaRPr lang="en-US" sz="1200" b="0" i="0" u="none" strike="noStrike" cap="none" dirty="0">
                        <a:solidFill>
                          <a:schemeClr val="tx1"/>
                        </a:solidFill>
                        <a:latin typeface="Arial"/>
                        <a:ea typeface="Arial"/>
                        <a:cs typeface="Arial"/>
                        <a:sym typeface="Arial"/>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067601718"/>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Collaboration</a:t>
                      </a:r>
                      <a:endParaRPr lang="en-US" sz="1200" b="0" i="0" u="none" strike="noStrike" cap="none" dirty="0">
                        <a:solidFill>
                          <a:schemeClr val="tx1"/>
                        </a:solidFill>
                        <a:latin typeface="Arial"/>
                        <a:cs typeface="Arial"/>
                        <a:sym typeface="Arial"/>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38545082"/>
                  </a:ext>
                </a:extLst>
              </a:tr>
              <a:tr h="280396">
                <a:tc rowSpan="4">
                  <a:txBody>
                    <a:bodyPr/>
                    <a:lstStyle/>
                    <a:p>
                      <a:pPr algn="ctr"/>
                      <a:r>
                        <a:rPr lang="en-US" sz="1400" b="1" i="1" u="none" strike="noStrike" cap="none" dirty="0">
                          <a:solidFill>
                            <a:schemeClr val="tx1"/>
                          </a:solidFill>
                          <a:latin typeface="Arial"/>
                          <a:cs typeface="Arial"/>
                          <a:sym typeface="Arial"/>
                        </a:rPr>
                        <a:t>Continuous Learning</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Learning Objectives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735285"/>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ea typeface="Arial"/>
                          <a:cs typeface="Arial"/>
                          <a:sym typeface="Arial"/>
                        </a:rPr>
                        <a:t>Feedback Mechanisms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80762211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Evaluation and Refinement</a:t>
                      </a:r>
                      <a:endParaRPr lang="en-US" sz="1200" b="0" i="0" u="none" strike="noStrike" cap="none" dirty="0">
                        <a:solidFill>
                          <a:schemeClr val="tx1"/>
                        </a:solidFill>
                        <a:latin typeface="Arial"/>
                        <a:ea typeface="Arial"/>
                        <a:cs typeface="Arial"/>
                        <a:sym typeface="Arial"/>
                      </a:endParaRP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89848704"/>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Arial"/>
                          <a:cs typeface="Arial"/>
                          <a:sym typeface="Arial"/>
                        </a:rPr>
                        <a:t>Culture</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43255420"/>
                  </a:ext>
                </a:extLst>
              </a:tr>
            </a:tbl>
          </a:graphicData>
        </a:graphic>
      </p:graphicFrame>
      <p:pic>
        <p:nvPicPr>
          <p:cNvPr id="2" name="Graphic 1" descr="Meeting with solid fill">
            <a:extLst>
              <a:ext uri="{FF2B5EF4-FFF2-40B4-BE49-F238E27FC236}">
                <a16:creationId xmlns:a16="http://schemas.microsoft.com/office/drawing/2014/main" id="{95973096-EBC8-58F4-B2AB-9A51367FEC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8903" y="1689000"/>
            <a:ext cx="374189" cy="374189"/>
          </a:xfrm>
          <a:prstGeom prst="rect">
            <a:avLst/>
          </a:prstGeom>
        </p:spPr>
      </p:pic>
      <p:pic>
        <p:nvPicPr>
          <p:cNvPr id="10" name="Graphic 9" descr="Bridge scene with solid fill">
            <a:extLst>
              <a:ext uri="{FF2B5EF4-FFF2-40B4-BE49-F238E27FC236}">
                <a16:creationId xmlns:a16="http://schemas.microsoft.com/office/drawing/2014/main" id="{20D1A8D1-8846-265C-2B92-C5842F0599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903" y="2927275"/>
            <a:ext cx="374189" cy="374189"/>
          </a:xfrm>
          <a:prstGeom prst="rect">
            <a:avLst/>
          </a:prstGeom>
        </p:spPr>
      </p:pic>
      <p:pic>
        <p:nvPicPr>
          <p:cNvPr id="11" name="Graphic 10" descr="Sustainability with solid fill">
            <a:extLst>
              <a:ext uri="{FF2B5EF4-FFF2-40B4-BE49-F238E27FC236}">
                <a16:creationId xmlns:a16="http://schemas.microsoft.com/office/drawing/2014/main" id="{5993A565-9954-8E4A-EDF1-4E6AD85558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3503" y="4151633"/>
            <a:ext cx="370218" cy="370218"/>
          </a:xfrm>
          <a:prstGeom prst="rect">
            <a:avLst/>
          </a:prstGeom>
        </p:spPr>
      </p:pic>
      <p:pic>
        <p:nvPicPr>
          <p:cNvPr id="12" name="Graphic 11" descr="Idea with solid fill">
            <a:extLst>
              <a:ext uri="{FF2B5EF4-FFF2-40B4-BE49-F238E27FC236}">
                <a16:creationId xmlns:a16="http://schemas.microsoft.com/office/drawing/2014/main" id="{A87AC2D3-B4E9-815B-B051-66A716A54C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4055" y="5397916"/>
            <a:ext cx="338484" cy="338484"/>
          </a:xfrm>
          <a:prstGeom prst="rect">
            <a:avLst/>
          </a:prstGeom>
        </p:spPr>
      </p:pic>
      <p:sp>
        <p:nvSpPr>
          <p:cNvPr id="13" name="Text Placeholder 3">
            <a:extLst>
              <a:ext uri="{FF2B5EF4-FFF2-40B4-BE49-F238E27FC236}">
                <a16:creationId xmlns:a16="http://schemas.microsoft.com/office/drawing/2014/main" id="{E921F4C9-545F-DA5F-0385-FABA175E593C}"/>
              </a:ext>
            </a:extLst>
          </p:cNvPr>
          <p:cNvSpPr txBox="1">
            <a:spLocks/>
          </p:cNvSpPr>
          <p:nvPr/>
        </p:nvSpPr>
        <p:spPr>
          <a:xfrm>
            <a:off x="603504" y="762000"/>
            <a:ext cx="8824210" cy="381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dirty="0"/>
              <a:t>Current status and plan against the 32 focus areas for AI</a:t>
            </a:r>
          </a:p>
        </p:txBody>
      </p:sp>
    </p:spTree>
    <p:extLst>
      <p:ext uri="{BB962C8B-B14F-4D97-AF65-F5344CB8AC3E}">
        <p14:creationId xmlns:p14="http://schemas.microsoft.com/office/powerpoint/2010/main" val="39207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91788C-FA48-3CBA-A4AB-0630D8D75DC3}"/>
              </a:ext>
            </a:extLst>
          </p:cNvPr>
          <p:cNvSpPr>
            <a:spLocks noGrp="1"/>
          </p:cNvSpPr>
          <p:nvPr>
            <p:ph type="body" idx="2"/>
          </p:nvPr>
        </p:nvSpPr>
        <p:spPr/>
        <p:txBody>
          <a:bodyPr/>
          <a:lstStyle/>
          <a:p>
            <a:r>
              <a:rPr lang="en-US" dirty="0"/>
              <a:t>The ‘Ask’</a:t>
            </a:r>
          </a:p>
        </p:txBody>
      </p:sp>
      <p:sp>
        <p:nvSpPr>
          <p:cNvPr id="4" name="Text Placeholder 3">
            <a:extLst>
              <a:ext uri="{FF2B5EF4-FFF2-40B4-BE49-F238E27FC236}">
                <a16:creationId xmlns:a16="http://schemas.microsoft.com/office/drawing/2014/main" id="{8215774F-5946-3E1C-6A79-EBDC13E91774}"/>
              </a:ext>
            </a:extLst>
          </p:cNvPr>
          <p:cNvSpPr>
            <a:spLocks noGrp="1"/>
          </p:cNvSpPr>
          <p:nvPr>
            <p:ph type="body" idx="3"/>
          </p:nvPr>
        </p:nvSpPr>
        <p:spPr/>
        <p:txBody>
          <a:bodyPr/>
          <a:lstStyle/>
          <a:p>
            <a:pPr marL="228600" indent="0"/>
            <a:r>
              <a:rPr lang="en-US" dirty="0"/>
              <a:t>Bellow are key areas where senior leadership support would go a long way is advancing our AI Strategy</a:t>
            </a:r>
          </a:p>
        </p:txBody>
      </p:sp>
      <p:graphicFrame>
        <p:nvGraphicFramePr>
          <p:cNvPr id="5" name="Google Shape;852;p2">
            <a:extLst>
              <a:ext uri="{FF2B5EF4-FFF2-40B4-BE49-F238E27FC236}">
                <a16:creationId xmlns:a16="http://schemas.microsoft.com/office/drawing/2014/main" id="{BE467D7C-E67A-1E6A-1DED-5A52ACE09AB8}"/>
              </a:ext>
            </a:extLst>
          </p:cNvPr>
          <p:cNvGraphicFramePr/>
          <p:nvPr>
            <p:extLst>
              <p:ext uri="{D42A27DB-BD31-4B8C-83A1-F6EECF244321}">
                <p14:modId xmlns:p14="http://schemas.microsoft.com/office/powerpoint/2010/main" val="1397407360"/>
              </p:ext>
            </p:extLst>
          </p:nvPr>
        </p:nvGraphicFramePr>
        <p:xfrm>
          <a:off x="1022600" y="1573262"/>
          <a:ext cx="10039100" cy="3209446"/>
        </p:xfrm>
        <a:graphic>
          <a:graphicData uri="http://schemas.openxmlformats.org/drawingml/2006/table">
            <a:tbl>
              <a:tblPr>
                <a:noFill/>
                <a:tableStyleId>{DA9C0B7B-4BF3-4A31-9099-A2245D6C73B7}</a:tableStyleId>
              </a:tblPr>
              <a:tblGrid>
                <a:gridCol w="5352800">
                  <a:extLst>
                    <a:ext uri="{9D8B030D-6E8A-4147-A177-3AD203B41FA5}">
                      <a16:colId xmlns:a16="http://schemas.microsoft.com/office/drawing/2014/main" val="20000"/>
                    </a:ext>
                  </a:extLst>
                </a:gridCol>
                <a:gridCol w="4686300">
                  <a:extLst>
                    <a:ext uri="{9D8B030D-6E8A-4147-A177-3AD203B41FA5}">
                      <a16:colId xmlns:a16="http://schemas.microsoft.com/office/drawing/2014/main" val="367720803"/>
                    </a:ext>
                  </a:extLst>
                </a:gridCol>
              </a:tblGrid>
              <a:tr h="666451">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dirty="0"/>
                        <a:t>Focus Area</a:t>
                      </a:r>
                      <a:endParaRPr sz="1800" b="1" u="none" strike="noStrike" cap="none" dirty="0"/>
                    </a:p>
                  </a:txBody>
                  <a:tcPr marL="24000" marR="24000" marT="14400" marB="14400" anchor="ctr">
                    <a:lnL w="9525" cap="flat" cmpd="sng">
                      <a:solidFill>
                        <a:srgbClr val="9E9E9E">
                          <a:alpha val="0"/>
                        </a:srgbClr>
                      </a:solidFill>
                      <a:prstDash val="solid"/>
                      <a:round/>
                      <a:headEnd type="none" w="sm" len="sm"/>
                      <a:tailEnd type="none" w="sm" len="sm"/>
                    </a:lnL>
                    <a:lnR w="19050" cap="flat" cmpd="sng" algn="ctr">
                      <a:solidFill>
                        <a:schemeClr val="bg1">
                          <a:lumMod val="65000"/>
                        </a:schemeClr>
                      </a:solidFill>
                      <a:prstDash val="solid"/>
                      <a:round/>
                      <a:headEnd type="none" w="med" len="med"/>
                      <a:tailEnd type="none" w="med" len="med"/>
                    </a:lnR>
                    <a:lnT w="19050" cap="flat" cmpd="sng">
                      <a:solidFill>
                        <a:schemeClr val="accent2"/>
                      </a:solidFill>
                      <a:prstDash val="solid"/>
                      <a:round/>
                      <a:headEnd type="none" w="sm" len="sm"/>
                      <a:tailEnd type="none" w="sm" len="sm"/>
                    </a:lnT>
                    <a:lnB w="9525" cap="flat" cmpd="sng">
                      <a:solidFill>
                        <a:srgbClr val="CCCCCC"/>
                      </a:solidFill>
                      <a:prstDash val="solid"/>
                      <a:round/>
                      <a:headEnd type="none" w="sm" len="sm"/>
                      <a:tailEnd type="none" w="sm" len="sm"/>
                    </a:lnB>
                    <a:solidFill>
                      <a:schemeClr val="bg1">
                        <a:lumMod val="75000"/>
                      </a:schemeClr>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dirty="0"/>
                        <a:t>Benefit to AI strategy</a:t>
                      </a:r>
                      <a:endParaRPr sz="1800" b="1" u="none" strike="noStrike" cap="none" dirty="0"/>
                    </a:p>
                  </a:txBody>
                  <a:tcPr marL="24000" marR="24000" marT="14400" marB="14400" anchor="ctr">
                    <a:lnL w="19050" cap="flat" cmpd="sng" algn="ctr">
                      <a:solidFill>
                        <a:schemeClr val="bg1">
                          <a:lumMod val="65000"/>
                        </a:schemeClr>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66451">
                <a:tc>
                  <a:txBody>
                    <a:bodyPr/>
                    <a:lstStyle/>
                    <a:p>
                      <a:pPr marL="0" marR="0" lvl="0" indent="165100" algn="l" rtl="0">
                        <a:lnSpc>
                          <a:spcPct val="100000"/>
                        </a:lnSpc>
                        <a:spcBef>
                          <a:spcPts val="0"/>
                        </a:spcBef>
                        <a:spcAft>
                          <a:spcPts val="0"/>
                        </a:spcAft>
                        <a:buClr>
                          <a:srgbClr val="000000"/>
                        </a:buClr>
                        <a:buSzPts val="1800"/>
                        <a:buFont typeface="Arial"/>
                        <a:buNone/>
                        <a:tabLst/>
                      </a:pPr>
                      <a:r>
                        <a:rPr lang="en-US" sz="1800" u="none" strike="noStrike" cap="none" dirty="0"/>
                        <a:t>Strategic Funding</a:t>
                      </a:r>
                      <a:endParaRPr sz="1800" u="none" strike="noStrike" cap="none" dirty="0"/>
                    </a:p>
                  </a:txBody>
                  <a:tcPr marL="24000" marR="24000" marT="14400" marB="14400" anchor="ctr">
                    <a:lnL w="9525" cap="flat" cmpd="sng">
                      <a:solidFill>
                        <a:srgbClr val="9E9E9E">
                          <a:alpha val="0"/>
                        </a:srgbClr>
                      </a:solidFill>
                      <a:prstDash val="solid"/>
                      <a:round/>
                      <a:headEnd type="none" w="sm" len="sm"/>
                      <a:tailEnd type="none" w="sm" len="sm"/>
                    </a:lnL>
                    <a:lnR w="19050" cap="flat" cmpd="sng" algn="ctr">
                      <a:solidFill>
                        <a:schemeClr val="bg1">
                          <a:lumMod val="65000"/>
                        </a:schemeClr>
                      </a:solidFill>
                      <a:prstDash val="solid"/>
                      <a:round/>
                      <a:headEnd type="none" w="med" len="med"/>
                      <a:tailEnd type="none" w="med" len="med"/>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dirty="0"/>
                        <a:t>Accelerating Partnerships</a:t>
                      </a:r>
                    </a:p>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dirty="0"/>
                        <a:t>Removing initial build funding impediment for business teams</a:t>
                      </a:r>
                    </a:p>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dirty="0"/>
                        <a:t>Faster time to market</a:t>
                      </a:r>
                    </a:p>
                  </a:txBody>
                  <a:tcPr marL="24000" marR="24000" marT="14400" marB="14400" anchor="ctr">
                    <a:lnL w="19050" cap="flat" cmpd="sng" algn="ctr">
                      <a:solidFill>
                        <a:schemeClr val="bg1">
                          <a:lumMod val="65000"/>
                        </a:schemeClr>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19050" cap="flat" cmpd="sng" algn="ctr">
                      <a:solidFill>
                        <a:schemeClr val="accent6">
                          <a:lumMod val="40000"/>
                          <a:lumOff val="60000"/>
                        </a:schemeClr>
                      </a:solidFill>
                      <a:prstDash val="solid"/>
                      <a:round/>
                      <a:headEnd type="none" w="med" len="med"/>
                      <a:tailEnd type="none" w="med" len="med"/>
                    </a:lnT>
                    <a:lnB w="19050" cap="flat" cmpd="sng" algn="ctr">
                      <a:solidFill>
                        <a:schemeClr val="accent6">
                          <a:lumMod val="40000"/>
                          <a:lumOff val="60000"/>
                        </a:schemeClr>
                      </a:solidFill>
                      <a:prstDash val="solid"/>
                      <a:round/>
                      <a:headEnd type="none" w="med" len="med"/>
                      <a:tailEnd type="none" w="med" len="med"/>
                    </a:lnB>
                  </a:tcPr>
                </a:tc>
                <a:extLst>
                  <a:ext uri="{0D108BD9-81ED-4DB2-BD59-A6C34878D82A}">
                    <a16:rowId xmlns:a16="http://schemas.microsoft.com/office/drawing/2014/main" val="10001"/>
                  </a:ext>
                </a:extLst>
              </a:tr>
              <a:tr h="666451">
                <a:tc>
                  <a:txBody>
                    <a:bodyPr/>
                    <a:lstStyle/>
                    <a:p>
                      <a:pPr marL="0" marR="0" lvl="0" indent="165100" algn="l" rtl="0">
                        <a:lnSpc>
                          <a:spcPct val="100000"/>
                        </a:lnSpc>
                        <a:spcBef>
                          <a:spcPts val="0"/>
                        </a:spcBef>
                        <a:spcAft>
                          <a:spcPts val="0"/>
                        </a:spcAft>
                        <a:buClr>
                          <a:srgbClr val="000000"/>
                        </a:buClr>
                        <a:buSzPts val="1800"/>
                        <a:buFont typeface="Arial"/>
                        <a:buNone/>
                        <a:tabLst/>
                      </a:pPr>
                      <a:r>
                        <a:rPr lang="en-US" sz="1800" u="none" strike="noStrike" cap="none" dirty="0"/>
                        <a:t>Dedicated AI-focused headcount and hiring</a:t>
                      </a:r>
                      <a:endParaRPr sz="1800" u="none" strike="noStrike" cap="none" dirty="0"/>
                    </a:p>
                  </a:txBody>
                  <a:tcPr marL="24000" marR="24000" marT="14400" marB="14400" anchor="ctr">
                    <a:lnL w="9525" cap="flat" cmpd="sng">
                      <a:solidFill>
                        <a:srgbClr val="9E9E9E">
                          <a:alpha val="0"/>
                        </a:srgbClr>
                      </a:solidFill>
                      <a:prstDash val="solid"/>
                      <a:round/>
                      <a:headEnd type="none" w="sm" len="sm"/>
                      <a:tailEnd type="none" w="sm" len="sm"/>
                    </a:lnL>
                    <a:lnR w="19050" cap="flat" cmpd="sng" algn="ctr">
                      <a:solidFill>
                        <a:schemeClr val="bg1">
                          <a:lumMod val="65000"/>
                        </a:schemeClr>
                      </a:solidFill>
                      <a:prstDash val="solid"/>
                      <a:round/>
                      <a:headEnd type="none" w="med" len="med"/>
                      <a:tailEnd type="none" w="med" len="med"/>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dirty="0"/>
                        <a:t>Create option for ’early draft pick’</a:t>
                      </a:r>
                    </a:p>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dirty="0"/>
                        <a:t>Get the best talent in emerging space</a:t>
                      </a:r>
                    </a:p>
                  </a:txBody>
                  <a:tcPr marL="24000" marR="24000" marT="14400" marB="14400" anchor="ctr">
                    <a:lnL w="19050" cap="flat" cmpd="sng" algn="ctr">
                      <a:solidFill>
                        <a:schemeClr val="bg1">
                          <a:lumMod val="65000"/>
                        </a:schemeClr>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19050" cap="flat" cmpd="sng" algn="ctr">
                      <a:solidFill>
                        <a:schemeClr val="accent6">
                          <a:lumMod val="40000"/>
                          <a:lumOff val="60000"/>
                        </a:schemeClr>
                      </a:solidFill>
                      <a:prstDash val="solid"/>
                      <a:round/>
                      <a:headEnd type="none" w="med" len="med"/>
                      <a:tailEnd type="none" w="med" len="med"/>
                    </a:lnT>
                    <a:lnB w="19050" cap="flat" cmpd="sng" algn="ctr">
                      <a:solidFill>
                        <a:schemeClr val="accent6">
                          <a:lumMod val="40000"/>
                          <a:lumOff val="60000"/>
                        </a:schemeClr>
                      </a:solidFill>
                      <a:prstDash val="solid"/>
                      <a:round/>
                      <a:headEnd type="none" w="med" len="med"/>
                      <a:tailEnd type="none" w="med" len="med"/>
                    </a:lnB>
                  </a:tcPr>
                </a:tc>
                <a:extLst>
                  <a:ext uri="{0D108BD9-81ED-4DB2-BD59-A6C34878D82A}">
                    <a16:rowId xmlns:a16="http://schemas.microsoft.com/office/drawing/2014/main" val="10002"/>
                  </a:ext>
                </a:extLst>
              </a:tr>
              <a:tr h="872384">
                <a:tc>
                  <a:txBody>
                    <a:bodyPr/>
                    <a:lstStyle/>
                    <a:p>
                      <a:pPr marL="514350" lvl="6" indent="-349250" algn="l" rtl="0">
                        <a:spcBef>
                          <a:spcPts val="0"/>
                        </a:spcBef>
                        <a:spcAft>
                          <a:spcPts val="0"/>
                        </a:spcAft>
                        <a:buClr>
                          <a:schemeClr val="dk2"/>
                        </a:buClr>
                        <a:buSzPts val="1800"/>
                        <a:buFont typeface="Arial" panose="020B0604020202020204" pitchFamily="34" charset="0"/>
                        <a:buNone/>
                        <a:tabLst/>
                      </a:pPr>
                      <a:r>
                        <a:rPr lang="en-US" sz="1800" b="0" i="0" u="none" strike="noStrike" cap="none" dirty="0">
                          <a:solidFill>
                            <a:srgbClr val="000000"/>
                          </a:solidFill>
                          <a:latin typeface="Arial"/>
                          <a:cs typeface="Arial"/>
                          <a:sym typeface="Arial"/>
                        </a:rPr>
                        <a:t>Inclusion of AI adoption in key corporate metrics</a:t>
                      </a:r>
                      <a:endParaRPr sz="1800" b="0" i="0" u="none" strike="noStrike" cap="none" dirty="0">
                        <a:solidFill>
                          <a:srgbClr val="000000"/>
                        </a:solidFill>
                        <a:latin typeface="Arial"/>
                        <a:cs typeface="Arial"/>
                        <a:sym typeface="Arial"/>
                      </a:endParaRPr>
                    </a:p>
                  </a:txBody>
                  <a:tcPr marL="24000" marR="24000" marT="14400" marB="14400" anchor="ctr">
                    <a:lnL w="9525" cap="flat" cmpd="sng">
                      <a:solidFill>
                        <a:srgbClr val="9E9E9E">
                          <a:alpha val="0"/>
                        </a:srgbClr>
                      </a:solidFill>
                      <a:prstDash val="solid"/>
                      <a:round/>
                      <a:headEnd type="none" w="sm" len="sm"/>
                      <a:tailEnd type="none" w="sm" len="sm"/>
                    </a:lnL>
                    <a:lnR w="19050" cap="flat" cmpd="sng" algn="ctr">
                      <a:solidFill>
                        <a:schemeClr val="bg1">
                          <a:lumMod val="65000"/>
                        </a:schemeClr>
                      </a:solidFill>
                      <a:prstDash val="solid"/>
                      <a:round/>
                      <a:headEnd type="none" w="med" len="med"/>
                      <a:tailEnd type="none" w="med" len="med"/>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dirty="0"/>
                        <a:t>Accelerate adoption of AI capabilities</a:t>
                      </a:r>
                    </a:p>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dirty="0"/>
                        <a:t>Outcomes orientation towards AI</a:t>
                      </a:r>
                      <a:endParaRPr sz="1600" u="none" strike="noStrike" cap="none" dirty="0"/>
                    </a:p>
                  </a:txBody>
                  <a:tcPr marL="24000" marR="24000" marT="14400" marB="14400" anchor="ctr">
                    <a:lnL w="19050" cap="flat" cmpd="sng" algn="ctr">
                      <a:solidFill>
                        <a:schemeClr val="bg1">
                          <a:lumMod val="65000"/>
                        </a:schemeClr>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19050" cap="flat" cmpd="sng" algn="ctr">
                      <a:solidFill>
                        <a:schemeClr val="accent6">
                          <a:lumMod val="40000"/>
                          <a:lumOff val="60000"/>
                        </a:schemeClr>
                      </a:solidFill>
                      <a:prstDash val="solid"/>
                      <a:round/>
                      <a:headEnd type="none" w="med" len="med"/>
                      <a:tailEnd type="none" w="med" len="med"/>
                    </a:lnT>
                    <a:lnB w="19050" cap="flat" cmpd="sng" algn="ctr">
                      <a:solidFill>
                        <a:schemeClr val="accent6">
                          <a:lumMod val="40000"/>
                          <a:lumOff val="60000"/>
                        </a:schemeClr>
                      </a:solidFill>
                      <a:prstDash val="solid"/>
                      <a:round/>
                      <a:headEnd type="none" w="med" len="med"/>
                      <a:tailEnd type="none" w="med" len="med"/>
                    </a:lnB>
                  </a:tcPr>
                </a:tc>
                <a:extLst>
                  <a:ext uri="{0D108BD9-81ED-4DB2-BD59-A6C34878D82A}">
                    <a16:rowId xmlns:a16="http://schemas.microsoft.com/office/drawing/2014/main" val="4288956568"/>
                  </a:ext>
                </a:extLst>
              </a:tr>
            </a:tbl>
          </a:graphicData>
        </a:graphic>
      </p:graphicFrame>
    </p:spTree>
    <p:extLst>
      <p:ext uri="{BB962C8B-B14F-4D97-AF65-F5344CB8AC3E}">
        <p14:creationId xmlns:p14="http://schemas.microsoft.com/office/powerpoint/2010/main" val="38571762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6F472F-ED57-D6BC-8E01-5A00C7D756E3}"/>
              </a:ext>
            </a:extLst>
          </p:cNvPr>
          <p:cNvSpPr>
            <a:spLocks noGrp="1"/>
          </p:cNvSpPr>
          <p:nvPr>
            <p:ph type="body" idx="2"/>
          </p:nvPr>
        </p:nvSpPr>
        <p:spPr>
          <a:xfrm>
            <a:off x="1606804" y="3255431"/>
            <a:ext cx="8839200" cy="347137"/>
          </a:xfrm>
        </p:spPr>
        <p:txBody>
          <a:bodyPr/>
          <a:lstStyle/>
          <a:p>
            <a:pPr algn="ctr"/>
            <a:r>
              <a:rPr lang="en-US" sz="4000" dirty="0"/>
              <a:t>APPENDIX</a:t>
            </a:r>
          </a:p>
        </p:txBody>
      </p:sp>
    </p:spTree>
    <p:extLst>
      <p:ext uri="{BB962C8B-B14F-4D97-AF65-F5344CB8AC3E}">
        <p14:creationId xmlns:p14="http://schemas.microsoft.com/office/powerpoint/2010/main" val="2918324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7453EC-7762-C624-BEE3-A14B4A1B1EE2}"/>
              </a:ext>
            </a:extLst>
          </p:cNvPr>
          <p:cNvSpPr>
            <a:spLocks noGrp="1"/>
          </p:cNvSpPr>
          <p:nvPr>
            <p:ph type="body" idx="2"/>
          </p:nvPr>
        </p:nvSpPr>
        <p:spPr/>
        <p:txBody>
          <a:bodyPr/>
          <a:lstStyle/>
          <a:p>
            <a:r>
              <a:rPr lang="en-US" dirty="0"/>
              <a:t>Use cases - Descriptions</a:t>
            </a:r>
          </a:p>
        </p:txBody>
      </p:sp>
      <p:graphicFrame>
        <p:nvGraphicFramePr>
          <p:cNvPr id="5" name="Table 4">
            <a:extLst>
              <a:ext uri="{FF2B5EF4-FFF2-40B4-BE49-F238E27FC236}">
                <a16:creationId xmlns:a16="http://schemas.microsoft.com/office/drawing/2014/main" id="{4E826868-953F-15D5-8317-32EC72449008}"/>
              </a:ext>
            </a:extLst>
          </p:cNvPr>
          <p:cNvGraphicFramePr>
            <a:graphicFrameLocks noGrp="1"/>
          </p:cNvGraphicFramePr>
          <p:nvPr>
            <p:extLst>
              <p:ext uri="{D42A27DB-BD31-4B8C-83A1-F6EECF244321}">
                <p14:modId xmlns:p14="http://schemas.microsoft.com/office/powerpoint/2010/main" val="2818090442"/>
              </p:ext>
            </p:extLst>
          </p:nvPr>
        </p:nvGraphicFramePr>
        <p:xfrm>
          <a:off x="603504" y="1244583"/>
          <a:ext cx="11245596" cy="5212097"/>
        </p:xfrm>
        <a:graphic>
          <a:graphicData uri="http://schemas.openxmlformats.org/drawingml/2006/table">
            <a:tbl>
              <a:tblPr firstRow="1" bandRow="1">
                <a:tableStyleId>{DA9C0B7B-4BF3-4A31-9099-A2245D6C73B7}</a:tableStyleId>
              </a:tblPr>
              <a:tblGrid>
                <a:gridCol w="387096">
                  <a:extLst>
                    <a:ext uri="{9D8B030D-6E8A-4147-A177-3AD203B41FA5}">
                      <a16:colId xmlns:a16="http://schemas.microsoft.com/office/drawing/2014/main" val="3486058128"/>
                    </a:ext>
                  </a:extLst>
                </a:gridCol>
                <a:gridCol w="1638300">
                  <a:extLst>
                    <a:ext uri="{9D8B030D-6E8A-4147-A177-3AD203B41FA5}">
                      <a16:colId xmlns:a16="http://schemas.microsoft.com/office/drawing/2014/main" val="1557259596"/>
                    </a:ext>
                  </a:extLst>
                </a:gridCol>
                <a:gridCol w="9220200">
                  <a:extLst>
                    <a:ext uri="{9D8B030D-6E8A-4147-A177-3AD203B41FA5}">
                      <a16:colId xmlns:a16="http://schemas.microsoft.com/office/drawing/2014/main" val="3344174409"/>
                    </a:ext>
                  </a:extLst>
                </a:gridCol>
              </a:tblGrid>
              <a:tr h="304817">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a:t>
                      </a:r>
                    </a:p>
                  </a:txBody>
                  <a:tcPr anchor="ctr">
                    <a:lnL w="19050" cap="flat" cmpd="sng" algn="ctr">
                      <a:solidFill>
                        <a:schemeClr val="accent6">
                          <a:lumMod val="40000"/>
                          <a:lumOff val="60000"/>
                        </a:schemeClr>
                      </a:solidFill>
                      <a:prstDash val="solid"/>
                      <a:round/>
                      <a:headEnd type="none" w="med" len="med"/>
                      <a:tailEnd type="none" w="med" len="med"/>
                    </a:lnL>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Use Case</a:t>
                      </a:r>
                    </a:p>
                  </a:txBody>
                  <a:tcPr anchor="ctr">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dirty="0">
                          <a:solidFill>
                            <a:schemeClr val="bg1"/>
                          </a:solidFill>
                          <a:latin typeface="Arial Narrow" panose="020B0604020202020204" pitchFamily="34" charset="0"/>
                          <a:ea typeface="Apple Symbols" panose="02000000000000000000" pitchFamily="2" charset="-79"/>
                          <a:cs typeface="AL BAYAN PLAIN" pitchFamily="2" charset="-78"/>
                          <a:sym typeface="Arial"/>
                        </a:rPr>
                        <a:t>Description</a:t>
                      </a:r>
                    </a:p>
                  </a:txBody>
                  <a:tcPr anchor="ctr">
                    <a:lnR w="1905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0">
                <a:tc>
                  <a:txBody>
                    <a:bodyPr/>
                    <a:lstStyle/>
                    <a:p>
                      <a:pPr marR="0" algn="l" rtl="0">
                        <a:lnSpc>
                          <a:spcPct val="100000"/>
                        </a:lnSpc>
                        <a:spcBef>
                          <a:spcPts val="0"/>
                        </a:spcBef>
                        <a:spcAft>
                          <a:spcPts val="0"/>
                        </a:spcAft>
                        <a:buClr>
                          <a:srgbClr val="000000"/>
                        </a:buClr>
                        <a:buFont typeface="Arial"/>
                      </a:pPr>
                      <a:r>
                        <a:rPr lang="en-US" sz="1200" b="0" i="1" u="none" strike="noStrike" cap="none" dirty="0">
                          <a:solidFill>
                            <a:srgbClr val="000000"/>
                          </a:solidFill>
                          <a:latin typeface="Arial"/>
                          <a:cs typeface="Arial"/>
                          <a:sym typeface="Arial"/>
                        </a:rPr>
                        <a:t>1</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dirty="0">
                          <a:solidFill>
                            <a:srgbClr val="000000"/>
                          </a:solidFill>
                          <a:effectLst/>
                          <a:latin typeface="Arial"/>
                          <a:ea typeface="Arial"/>
                          <a:cs typeface="Arial"/>
                          <a:sym typeface="Arial"/>
                        </a:rPr>
                        <a:t>Chronic Condition Decision Support</a:t>
                      </a:r>
                      <a:endParaRPr lang="en-US" sz="1200" b="1" i="0" u="none" strike="noStrike" cap="none" dirty="0">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analysis of member data, plus IoT and event streams, focused on supporting daily decision making in living with a chronic disease.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845332155"/>
                  </a:ext>
                </a:extLst>
              </a:tr>
              <a:tr h="391886">
                <a:tc>
                  <a:txBody>
                    <a:bodyPr/>
                    <a:lstStyle/>
                    <a:p>
                      <a:r>
                        <a:rPr lang="en-US" sz="1200" i="1" dirty="0"/>
                        <a:t>2</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dirty="0">
                          <a:solidFill>
                            <a:srgbClr val="000000"/>
                          </a:solidFill>
                          <a:effectLst/>
                          <a:latin typeface="Arial"/>
                          <a:ea typeface="Arial"/>
                          <a:cs typeface="Arial"/>
                          <a:sym typeface="Arial"/>
                        </a:rPr>
                        <a:t>Authorization - Case Abstraction</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medical concept abstraction algorithm that reviews several sources that together represent everything available to the payer about the merits of an authorization request for a certain medical service. These sources may include structured fields in the submission workflow, as well as unstructured data in the form of PDF medical charts, lab reports, or correspondence.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174840831"/>
                  </a:ext>
                </a:extLst>
              </a:tr>
              <a:tr h="250371">
                <a:tc>
                  <a:txBody>
                    <a:bodyPr/>
                    <a:lstStyle/>
                    <a:p>
                      <a:r>
                        <a:rPr lang="en-US" sz="1200" i="1" dirty="0"/>
                        <a:t>3</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dirty="0">
                          <a:solidFill>
                            <a:srgbClr val="000000"/>
                          </a:solidFill>
                          <a:effectLst/>
                          <a:latin typeface="Arial"/>
                          <a:ea typeface="Arial"/>
                          <a:cs typeface="Arial"/>
                          <a:sym typeface="Arial"/>
                        </a:rPr>
                        <a:t>Service Chat - Web or App</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natural language interpretation and generation via a digital chat experience (web, app-based) to accomplish typical payer customer service needs (e.g., questions about a bill, requesting an ID Card, finding a doctor).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35067919"/>
                  </a:ext>
                </a:extLst>
              </a:tr>
              <a:tr h="389708">
                <a:tc>
                  <a:txBody>
                    <a:bodyPr/>
                    <a:lstStyle/>
                    <a:p>
                      <a:r>
                        <a:rPr lang="en-US" sz="1200" i="1" dirty="0"/>
                        <a:t>4</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dirty="0">
                          <a:solidFill>
                            <a:srgbClr val="000000"/>
                          </a:solidFill>
                          <a:effectLst/>
                          <a:latin typeface="Arial"/>
                          <a:ea typeface="Arial"/>
                          <a:cs typeface="Arial"/>
                          <a:sym typeface="Arial"/>
                        </a:rPr>
                        <a:t>Automated Data Management: </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automated analysis of data feeds from internal and external sources to ensure consistency and fidelity of payer enterprise data.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82595577"/>
                  </a:ext>
                </a:extLst>
              </a:tr>
              <a:tr h="284434">
                <a:tc>
                  <a:txBody>
                    <a:bodyPr/>
                    <a:lstStyle/>
                    <a:p>
                      <a:r>
                        <a:rPr lang="en-US" sz="1200" i="1" dirty="0"/>
                        <a:t>5</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dirty="0">
                          <a:solidFill>
                            <a:srgbClr val="000000"/>
                          </a:solidFill>
                          <a:effectLst/>
                          <a:latin typeface="Arial"/>
                          <a:ea typeface="Arial"/>
                          <a:cs typeface="Arial"/>
                          <a:sym typeface="Arial"/>
                        </a:rPr>
                        <a:t>Payment Integrity - Prepayment: </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analysis of a claim, prior to payment, to evaluate the likelihood that the claim is fraudulent. The output is a risk score that can be used to trigger an automated “pend” of a claim prior to payment.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6845343"/>
                  </a:ext>
                </a:extLst>
              </a:tr>
              <a:tr h="357824">
                <a:tc>
                  <a:txBody>
                    <a:bodyPr/>
                    <a:lstStyle/>
                    <a:p>
                      <a:r>
                        <a:rPr lang="en-US" sz="1200" i="1" dirty="0"/>
                        <a:t>6</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dirty="0">
                          <a:solidFill>
                            <a:srgbClr val="000000"/>
                          </a:solidFill>
                          <a:effectLst/>
                          <a:latin typeface="Arial"/>
                          <a:ea typeface="Arial"/>
                          <a:cs typeface="Arial"/>
                          <a:sym typeface="Arial"/>
                        </a:rPr>
                        <a:t>Member Early Identification</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medical concept abstraction from non-conventional payer data sources (such as consumer, wearable, unstructured clinical) with the aim of identifying intervention opportunities earlier than conventional sources would allow. Time-sensitive medical episodes like preference-sensitive procedures, high-risk maternity, and oncology can especially benefit from early identification.</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633790"/>
                  </a:ext>
                </a:extLst>
              </a:tr>
              <a:tr h="250371">
                <a:tc>
                  <a:txBody>
                    <a:bodyPr/>
                    <a:lstStyle/>
                    <a:p>
                      <a:r>
                        <a:rPr lang="en-US" sz="1200" i="1" dirty="0"/>
                        <a:t>7</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dirty="0"/>
                        <a:t>Home Health Monitoring</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analysis of member data, plus IoT and event streams, collected in the member home. Sources include wearables on the body, motion detectors in living spaces; and mechanical sensors for key activities like mattress compression, toilet utilization and refrigerator access. These signals are combined and analyzed to raise alerts that action should be taken to prevent or ameliorate adverse events.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011243268"/>
                  </a:ext>
                </a:extLst>
              </a:tr>
            </a:tbl>
          </a:graphicData>
        </a:graphic>
      </p:graphicFrame>
    </p:spTree>
    <p:extLst>
      <p:ext uri="{BB962C8B-B14F-4D97-AF65-F5344CB8AC3E}">
        <p14:creationId xmlns:p14="http://schemas.microsoft.com/office/powerpoint/2010/main" val="750261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7453EC-7762-C624-BEE3-A14B4A1B1EE2}"/>
              </a:ext>
            </a:extLst>
          </p:cNvPr>
          <p:cNvSpPr>
            <a:spLocks noGrp="1"/>
          </p:cNvSpPr>
          <p:nvPr>
            <p:ph type="body" idx="2"/>
          </p:nvPr>
        </p:nvSpPr>
        <p:spPr/>
        <p:txBody>
          <a:bodyPr/>
          <a:lstStyle/>
          <a:p>
            <a:r>
              <a:rPr lang="en-US" dirty="0"/>
              <a:t>Use cases - Descriptions</a:t>
            </a:r>
          </a:p>
        </p:txBody>
      </p:sp>
      <p:graphicFrame>
        <p:nvGraphicFramePr>
          <p:cNvPr id="5" name="Table 4">
            <a:extLst>
              <a:ext uri="{FF2B5EF4-FFF2-40B4-BE49-F238E27FC236}">
                <a16:creationId xmlns:a16="http://schemas.microsoft.com/office/drawing/2014/main" id="{4E826868-953F-15D5-8317-32EC72449008}"/>
              </a:ext>
            </a:extLst>
          </p:cNvPr>
          <p:cNvGraphicFramePr>
            <a:graphicFrameLocks noGrp="1"/>
          </p:cNvGraphicFramePr>
          <p:nvPr>
            <p:extLst>
              <p:ext uri="{D42A27DB-BD31-4B8C-83A1-F6EECF244321}">
                <p14:modId xmlns:p14="http://schemas.microsoft.com/office/powerpoint/2010/main" val="3640662754"/>
              </p:ext>
            </p:extLst>
          </p:nvPr>
        </p:nvGraphicFramePr>
        <p:xfrm>
          <a:off x="603504" y="1244583"/>
          <a:ext cx="11245596" cy="4998737"/>
        </p:xfrm>
        <a:graphic>
          <a:graphicData uri="http://schemas.openxmlformats.org/drawingml/2006/table">
            <a:tbl>
              <a:tblPr firstRow="1" bandRow="1">
                <a:tableStyleId>{DA9C0B7B-4BF3-4A31-9099-A2245D6C73B7}</a:tableStyleId>
              </a:tblPr>
              <a:tblGrid>
                <a:gridCol w="387096">
                  <a:extLst>
                    <a:ext uri="{9D8B030D-6E8A-4147-A177-3AD203B41FA5}">
                      <a16:colId xmlns:a16="http://schemas.microsoft.com/office/drawing/2014/main" val="3486058128"/>
                    </a:ext>
                  </a:extLst>
                </a:gridCol>
                <a:gridCol w="1663700">
                  <a:extLst>
                    <a:ext uri="{9D8B030D-6E8A-4147-A177-3AD203B41FA5}">
                      <a16:colId xmlns:a16="http://schemas.microsoft.com/office/drawing/2014/main" val="1557259596"/>
                    </a:ext>
                  </a:extLst>
                </a:gridCol>
                <a:gridCol w="9194800">
                  <a:extLst>
                    <a:ext uri="{9D8B030D-6E8A-4147-A177-3AD203B41FA5}">
                      <a16:colId xmlns:a16="http://schemas.microsoft.com/office/drawing/2014/main" val="3344174409"/>
                    </a:ext>
                  </a:extLst>
                </a:gridCol>
              </a:tblGrid>
              <a:tr h="304817">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a:t>
                      </a:r>
                    </a:p>
                  </a:txBody>
                  <a:tcPr anchor="ctr">
                    <a:lnL w="19050" cap="flat" cmpd="sng" algn="ctr">
                      <a:solidFill>
                        <a:schemeClr val="accent6">
                          <a:lumMod val="40000"/>
                          <a:lumOff val="60000"/>
                        </a:schemeClr>
                      </a:solidFill>
                      <a:prstDash val="solid"/>
                      <a:round/>
                      <a:headEnd type="none" w="med" len="med"/>
                      <a:tailEnd type="none" w="med" len="med"/>
                    </a:lnL>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Use Case</a:t>
                      </a:r>
                    </a:p>
                  </a:txBody>
                  <a:tcPr anchor="ctr">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dirty="0">
                          <a:solidFill>
                            <a:schemeClr val="bg1"/>
                          </a:solidFill>
                          <a:latin typeface="Arial Narrow" panose="020B0604020202020204" pitchFamily="34" charset="0"/>
                          <a:ea typeface="Apple Symbols" panose="02000000000000000000" pitchFamily="2" charset="-79"/>
                          <a:cs typeface="AL BAYAN PLAIN" pitchFamily="2" charset="-78"/>
                          <a:sym typeface="Arial"/>
                        </a:rPr>
                        <a:t>Description</a:t>
                      </a:r>
                    </a:p>
                  </a:txBody>
                  <a:tcPr anchor="ctr">
                    <a:lnR w="1905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313508">
                <a:tc>
                  <a:txBody>
                    <a:bodyPr/>
                    <a:lstStyle/>
                    <a:p>
                      <a:r>
                        <a:rPr lang="en-US" sz="1200" i="1" dirty="0"/>
                        <a:t>8</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dirty="0">
                          <a:solidFill>
                            <a:srgbClr val="000000"/>
                          </a:solidFill>
                          <a:effectLst/>
                          <a:latin typeface="Arial"/>
                          <a:ea typeface="Arial"/>
                          <a:cs typeface="Arial"/>
                          <a:sym typeface="Arial"/>
                        </a:rPr>
                        <a:t>Claims Editing</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automated data cleansing algorithm that runs after provider claims submission, but prior to payer adjudication of the claim. The algorithm is focused on ensuring a claim is ready for successful adjudication. The outputs are automated or suggested edits to the claim.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22015196"/>
                  </a:ext>
                </a:extLst>
              </a:tr>
              <a:tr h="0">
                <a:tc>
                  <a:txBody>
                    <a:bodyPr/>
                    <a:lstStyle/>
                    <a:p>
                      <a:r>
                        <a:rPr lang="en-US" sz="1200" i="1" dirty="0"/>
                        <a:t>9</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dirty="0">
                          <a:solidFill>
                            <a:srgbClr val="000000"/>
                          </a:solidFill>
                          <a:effectLst/>
                          <a:latin typeface="Arial"/>
                          <a:ea typeface="Arial"/>
                          <a:cs typeface="Arial"/>
                          <a:sym typeface="Arial"/>
                        </a:rPr>
                        <a:t>Member Self-Triage</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predictive algorithm that analyzes presenting member information from a self-assessment, as well as existing medical and administrative data, to score various next steps in diagnosis, treatment or recovery (e.g., go to the emergency room versus using over-the-counter medication and monitoring).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7217189"/>
                  </a:ext>
                </a:extLst>
              </a:tr>
              <a:tr h="284434">
                <a:tc>
                  <a:txBody>
                    <a:bodyPr/>
                    <a:lstStyle/>
                    <a:p>
                      <a:r>
                        <a:rPr lang="en-US" sz="1200" i="1" dirty="0"/>
                        <a:t>10</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dirty="0">
                          <a:solidFill>
                            <a:srgbClr val="000000"/>
                          </a:solidFill>
                          <a:effectLst/>
                          <a:latin typeface="Arial"/>
                          <a:ea typeface="Arial"/>
                          <a:cs typeface="Arial"/>
                          <a:sym typeface="Arial"/>
                        </a:rPr>
                        <a:t>Provider Network Analysis</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analysis, sometimes using Graph, of the relationships between providers with regard to affiliations, facilities, referral patterns, cost, quality and experience measures to identify actions to optimize network performance.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46509637"/>
                  </a:ext>
                </a:extLst>
              </a:tr>
              <a:tr h="206920">
                <a:tc>
                  <a:txBody>
                    <a:bodyPr/>
                    <a:lstStyle/>
                    <a:p>
                      <a:r>
                        <a:rPr lang="en-US" sz="1200" i="1" dirty="0"/>
                        <a:t>11</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dirty="0">
                          <a:solidFill>
                            <a:srgbClr val="000000"/>
                          </a:solidFill>
                          <a:effectLst/>
                          <a:latin typeface="Arial"/>
                          <a:ea typeface="Arial"/>
                          <a:cs typeface="Arial"/>
                          <a:sym typeface="Arial"/>
                        </a:rPr>
                        <a:t>Claims Processing</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exception-based analysis of claims that are flagged for manual processing against how they are ultimately resolved. The output is analysis of claims processing exceptions that might be avoidable with changes in business logic or workflow.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864178748"/>
                  </a:ext>
                </a:extLst>
              </a:tr>
              <a:tr h="206920">
                <a:tc>
                  <a:txBody>
                    <a:bodyPr/>
                    <a:lstStyle/>
                    <a:p>
                      <a:r>
                        <a:rPr lang="en-US" sz="1200" i="1" dirty="0"/>
                        <a:t>12</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r>
                        <a:rPr lang="en-US" sz="1200" b="1" i="0" u="none" strike="noStrike" cap="none" dirty="0">
                          <a:solidFill>
                            <a:srgbClr val="000000"/>
                          </a:solidFill>
                          <a:effectLst/>
                          <a:latin typeface="Arial"/>
                          <a:ea typeface="Arial"/>
                          <a:cs typeface="Arial"/>
                          <a:sym typeface="Arial"/>
                        </a:rPr>
                        <a:t>Security</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automated monitoring technology infrastructure for identification of perimeter vulnerabilities or active security threats.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30759065"/>
                  </a:ext>
                </a:extLst>
              </a:tr>
              <a:tr h="206920">
                <a:tc>
                  <a:txBody>
                    <a:bodyPr/>
                    <a:lstStyle/>
                    <a:p>
                      <a:r>
                        <a:rPr lang="en-US" sz="1200" i="1" dirty="0"/>
                        <a:t>13</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dirty="0">
                          <a:solidFill>
                            <a:srgbClr val="000000"/>
                          </a:solidFill>
                          <a:effectLst/>
                          <a:latin typeface="Arial"/>
                          <a:ea typeface="Arial"/>
                          <a:cs typeface="Arial"/>
                          <a:sym typeface="Arial"/>
                        </a:rPr>
                        <a:t>Member Treatment Decision Support</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matching algorithm that analyzes member information and preferences against available treatment pathways for a given health scenario. Studies have shown that providing members with evidence-based treatment options can improve health, financial and experiential outcomes.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72043888"/>
                  </a:ext>
                </a:extLst>
              </a:tr>
              <a:tr h="284434">
                <a:tc>
                  <a:txBody>
                    <a:bodyPr/>
                    <a:lstStyle/>
                    <a:p>
                      <a:r>
                        <a:rPr lang="en-US" sz="1200" i="1" dirty="0"/>
                        <a:t>14</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i="0" u="none" strike="noStrike" cap="none" dirty="0">
                          <a:solidFill>
                            <a:srgbClr val="000000"/>
                          </a:solidFill>
                          <a:effectLst/>
                          <a:latin typeface="Arial"/>
                          <a:ea typeface="Arial"/>
                          <a:cs typeface="Arial"/>
                          <a:sym typeface="Arial"/>
                        </a:rPr>
                        <a:t>Payment Integrity - Post Payment</a:t>
                      </a:r>
                      <a:endParaRPr lang="en-US" sz="1200" b="1" dirty="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analysis of a claim, after payment, to evaluate the likelihood that the claim is fraudulent. The output is a risk score that can be used by an investigations group to prioritize potential fraud cases. Recovering payments already made is uncertain and resource intensive.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424694"/>
                  </a:ext>
                </a:extLst>
              </a:tr>
            </a:tbl>
          </a:graphicData>
        </a:graphic>
      </p:graphicFrame>
    </p:spTree>
    <p:extLst>
      <p:ext uri="{BB962C8B-B14F-4D97-AF65-F5344CB8AC3E}">
        <p14:creationId xmlns:p14="http://schemas.microsoft.com/office/powerpoint/2010/main" val="3285606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7453EC-7762-C624-BEE3-A14B4A1B1EE2}"/>
              </a:ext>
            </a:extLst>
          </p:cNvPr>
          <p:cNvSpPr>
            <a:spLocks noGrp="1"/>
          </p:cNvSpPr>
          <p:nvPr>
            <p:ph type="body" idx="2"/>
          </p:nvPr>
        </p:nvSpPr>
        <p:spPr/>
        <p:txBody>
          <a:bodyPr/>
          <a:lstStyle/>
          <a:p>
            <a:r>
              <a:rPr lang="en-US" dirty="0"/>
              <a:t>Use cases - Descriptions</a:t>
            </a:r>
          </a:p>
        </p:txBody>
      </p:sp>
      <p:graphicFrame>
        <p:nvGraphicFramePr>
          <p:cNvPr id="5" name="Table 4">
            <a:extLst>
              <a:ext uri="{FF2B5EF4-FFF2-40B4-BE49-F238E27FC236}">
                <a16:creationId xmlns:a16="http://schemas.microsoft.com/office/drawing/2014/main" id="{4E826868-953F-15D5-8317-32EC72449008}"/>
              </a:ext>
            </a:extLst>
          </p:cNvPr>
          <p:cNvGraphicFramePr>
            <a:graphicFrameLocks noGrp="1"/>
          </p:cNvGraphicFramePr>
          <p:nvPr>
            <p:extLst>
              <p:ext uri="{D42A27DB-BD31-4B8C-83A1-F6EECF244321}">
                <p14:modId xmlns:p14="http://schemas.microsoft.com/office/powerpoint/2010/main" val="431948036"/>
              </p:ext>
            </p:extLst>
          </p:nvPr>
        </p:nvGraphicFramePr>
        <p:xfrm>
          <a:off x="603504" y="914383"/>
          <a:ext cx="11245596" cy="5730257"/>
        </p:xfrm>
        <a:graphic>
          <a:graphicData uri="http://schemas.openxmlformats.org/drawingml/2006/table">
            <a:tbl>
              <a:tblPr firstRow="1" bandRow="1">
                <a:tableStyleId>{DA9C0B7B-4BF3-4A31-9099-A2245D6C73B7}</a:tableStyleId>
              </a:tblPr>
              <a:tblGrid>
                <a:gridCol w="387096">
                  <a:extLst>
                    <a:ext uri="{9D8B030D-6E8A-4147-A177-3AD203B41FA5}">
                      <a16:colId xmlns:a16="http://schemas.microsoft.com/office/drawing/2014/main" val="3486058128"/>
                    </a:ext>
                  </a:extLst>
                </a:gridCol>
                <a:gridCol w="1549400">
                  <a:extLst>
                    <a:ext uri="{9D8B030D-6E8A-4147-A177-3AD203B41FA5}">
                      <a16:colId xmlns:a16="http://schemas.microsoft.com/office/drawing/2014/main" val="1557259596"/>
                    </a:ext>
                  </a:extLst>
                </a:gridCol>
                <a:gridCol w="9309100">
                  <a:extLst>
                    <a:ext uri="{9D8B030D-6E8A-4147-A177-3AD203B41FA5}">
                      <a16:colId xmlns:a16="http://schemas.microsoft.com/office/drawing/2014/main" val="3344174409"/>
                    </a:ext>
                  </a:extLst>
                </a:gridCol>
              </a:tblGrid>
              <a:tr h="304817">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a:t>
                      </a:r>
                    </a:p>
                  </a:txBody>
                  <a:tcPr anchor="ctr">
                    <a:lnL w="12700" cap="flat" cmpd="sng" algn="ctr">
                      <a:solidFill>
                        <a:schemeClr val="bg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100" b="1" i="0" dirty="0">
                          <a:solidFill>
                            <a:schemeClr val="bg1"/>
                          </a:solidFill>
                          <a:latin typeface="Arial Narrow" panose="020B0604020202020204" pitchFamily="34" charset="0"/>
                          <a:ea typeface="Apple Symbols" panose="02000000000000000000" pitchFamily="2" charset="-79"/>
                          <a:cs typeface="Al Bayan" pitchFamily="2" charset="-78"/>
                        </a:rPr>
                        <a:t>Use Case</a:t>
                      </a: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dirty="0">
                          <a:solidFill>
                            <a:schemeClr val="bg1"/>
                          </a:solidFill>
                          <a:latin typeface="Arial Narrow" panose="020B0604020202020204" pitchFamily="34" charset="0"/>
                          <a:ea typeface="Apple Symbols" panose="02000000000000000000" pitchFamily="2" charset="-79"/>
                          <a:cs typeface="AL BAYAN PLAIN" pitchFamily="2" charset="-78"/>
                          <a:sym typeface="Arial"/>
                        </a:rPr>
                        <a:t>Description</a:t>
                      </a:r>
                    </a:p>
                  </a:txBody>
                  <a:tcPr anchor="ctr">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313508">
                <a:tc>
                  <a:txBody>
                    <a:bodyPr/>
                    <a:lstStyle/>
                    <a:p>
                      <a:r>
                        <a:rPr lang="en-US" sz="1200" i="1" dirty="0"/>
                        <a:t>15</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1" i="0" u="none" strike="noStrike" cap="none" dirty="0">
                          <a:solidFill>
                            <a:srgbClr val="000000"/>
                          </a:solidFill>
                          <a:effectLst/>
                          <a:latin typeface="Arial"/>
                          <a:ea typeface="Arial"/>
                          <a:cs typeface="Arial"/>
                          <a:sym typeface="Arial"/>
                        </a:rPr>
                        <a:t>Enterprise Next Best Action</a:t>
                      </a:r>
                      <a:endParaRPr lang="en-US" sz="1200" b="1" i="0" u="none" strike="noStrike" cap="none" dirty="0">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ranking algorithm that looks across all possible goals for a payer in relation to a member and scores them according to the predicted value of taking an action toward that goal. These goals may be administrative (e.g., policy renewal), clinical (e.g., engage in a care management program) or educational (e.g., learn to use the payer’s digital tools).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22015196"/>
                  </a:ext>
                </a:extLst>
              </a:tr>
              <a:tr h="284434">
                <a:tc>
                  <a:txBody>
                    <a:bodyPr/>
                    <a:lstStyle/>
                    <a:p>
                      <a:r>
                        <a:rPr lang="en-US" sz="1200" i="1" dirty="0"/>
                        <a:t>16</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dirty="0">
                          <a:solidFill>
                            <a:srgbClr val="000000"/>
                          </a:solidFill>
                          <a:effectLst/>
                          <a:latin typeface="Arial"/>
                          <a:ea typeface="Arial"/>
                          <a:cs typeface="Arial"/>
                          <a:sym typeface="Arial"/>
                        </a:rPr>
                        <a:t>Authorization - Medical Policy Abstraction</a:t>
                      </a:r>
                      <a:endParaRPr lang="en-US" sz="1200" b="1" i="0" u="none" strike="noStrike" cap="none" dirty="0">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analysis of sources, structured and unstructured, that collectively define the criteria used by the payer to determine whether a medical service will be authorized. This logic is often contained in structure branching logic described in internal PDF policy documents or licensed from third-party medical necessity content providers.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7217189"/>
                  </a:ext>
                </a:extLst>
              </a:tr>
              <a:tr h="284434">
                <a:tc>
                  <a:txBody>
                    <a:bodyPr/>
                    <a:lstStyle/>
                    <a:p>
                      <a:r>
                        <a:rPr lang="en-US" sz="1200" i="1" dirty="0"/>
                        <a:t>17</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1" i="0" u="none" strike="noStrike" cap="none" dirty="0">
                          <a:solidFill>
                            <a:srgbClr val="000000"/>
                          </a:solidFill>
                          <a:effectLst/>
                          <a:latin typeface="Arial"/>
                          <a:ea typeface="Arial"/>
                          <a:cs typeface="Arial"/>
                          <a:sym typeface="Arial"/>
                        </a:rPr>
                        <a:t>Advanced Underwriting and Actuarial</a:t>
                      </a:r>
                      <a:endParaRPr lang="en-US" sz="1200" b="1" i="0" u="none" strike="noStrike" cap="none" dirty="0">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predictive model that anticipates aggregate medical costs across a line of business or other enumerated population for the purposes of business strategy, rate setting, or medical management strategy. AI techniques are often used in components (like natural language processing [NLP] of unstructured sources) and ensembled with more conventional actuarial models. </a:t>
                      </a:r>
                      <a:endParaRPr lang="en-US" sz="1200" dirty="0">
                        <a:effectLst/>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46509637"/>
                  </a:ext>
                </a:extLst>
              </a:tr>
              <a:tr h="206920">
                <a:tc>
                  <a:txBody>
                    <a:bodyPr/>
                    <a:lstStyle/>
                    <a:p>
                      <a:r>
                        <a:rPr lang="en-US" sz="1200" i="1" dirty="0"/>
                        <a:t>18</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dirty="0">
                          <a:solidFill>
                            <a:srgbClr val="000000"/>
                          </a:solidFill>
                          <a:effectLst/>
                          <a:latin typeface="Arial"/>
                          <a:ea typeface="Arial"/>
                          <a:cs typeface="Arial"/>
                          <a:sym typeface="Arial"/>
                        </a:rPr>
                        <a:t>Medical Shopping and Navigation</a:t>
                      </a:r>
                      <a:endParaRPr lang="en-US" sz="1200" b="1" i="0" u="none" strike="noStrike" cap="none" dirty="0">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matching algorithm that considers member needs and preferences for care (setting, convenience, timeliness, provider characteristics) against available medical service providers.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864178748"/>
                  </a:ext>
                </a:extLst>
              </a:tr>
              <a:tr h="206920">
                <a:tc>
                  <a:txBody>
                    <a:bodyPr/>
                    <a:lstStyle/>
                    <a:p>
                      <a:r>
                        <a:rPr lang="en-US" sz="1200" i="1" dirty="0"/>
                        <a:t>19</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R="0" algn="l" rtl="0">
                        <a:lnSpc>
                          <a:spcPct val="100000"/>
                        </a:lnSpc>
                        <a:spcBef>
                          <a:spcPts val="0"/>
                        </a:spcBef>
                        <a:spcAft>
                          <a:spcPts val="0"/>
                        </a:spcAft>
                        <a:buClr>
                          <a:srgbClr val="000000"/>
                        </a:buClr>
                        <a:buFont typeface="Arial"/>
                      </a:pPr>
                      <a:r>
                        <a:rPr lang="en-US" sz="1200" b="1" i="0" u="none" strike="noStrike" cap="none" dirty="0">
                          <a:solidFill>
                            <a:srgbClr val="000000"/>
                          </a:solidFill>
                          <a:effectLst/>
                          <a:latin typeface="Arial"/>
                          <a:ea typeface="Arial"/>
                          <a:cs typeface="Arial"/>
                          <a:sym typeface="Arial"/>
                        </a:rPr>
                        <a:t>Service Chat - Interactive Voice</a:t>
                      </a:r>
                      <a:endParaRPr lang="en-US" sz="1200" b="1" i="0" u="none" strike="noStrike" cap="none" dirty="0">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natural language interpretation and generation via a digital chat experience (voice; e.g., Alexa, Siri, Home) to accomplish typical payer customer service needs (e.g., questions about a bill, requesting an ID Card, finding a doctor).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30759065"/>
                  </a:ext>
                </a:extLst>
              </a:tr>
              <a:tr h="206920">
                <a:tc>
                  <a:txBody>
                    <a:bodyPr/>
                    <a:lstStyle/>
                    <a:p>
                      <a:r>
                        <a:rPr lang="en-US" sz="1200" i="1" dirty="0"/>
                        <a:t>20</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dirty="0">
                          <a:solidFill>
                            <a:srgbClr val="000000"/>
                          </a:solidFill>
                          <a:effectLst/>
                          <a:latin typeface="Arial"/>
                          <a:ea typeface="Arial"/>
                          <a:cs typeface="Arial"/>
                          <a:sym typeface="Arial"/>
                        </a:rPr>
                        <a:t>Lifestyle Coaching</a:t>
                      </a:r>
                      <a:endParaRPr lang="en-US" sz="1200" b="1" i="0" u="none" strike="noStrike" cap="none" dirty="0">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analysis of member data to determine and automate lifestyle related “nudges” toward better health behavior, especially as it relates to diet, physical activity and stress management.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72043888"/>
                  </a:ext>
                </a:extLst>
              </a:tr>
              <a:tr h="284434">
                <a:tc>
                  <a:txBody>
                    <a:bodyPr/>
                    <a:lstStyle/>
                    <a:p>
                      <a:r>
                        <a:rPr lang="en-US" sz="1200" i="1" dirty="0"/>
                        <a:t>21</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1" i="0" u="none" strike="noStrike" cap="none" dirty="0">
                          <a:solidFill>
                            <a:srgbClr val="000000"/>
                          </a:solidFill>
                          <a:effectLst/>
                          <a:latin typeface="Arial"/>
                          <a:ea typeface="Arial"/>
                          <a:cs typeface="Arial"/>
                          <a:sym typeface="Arial"/>
                        </a:rPr>
                        <a:t>Product Configuration</a:t>
                      </a:r>
                      <a:endParaRPr lang="en-US" sz="1200" b="1" i="0" u="none" strike="noStrike" cap="none" dirty="0">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An analysis to optimize the configuration of products, services, partnerships, programs and incentives for the purposes of aligning value between the payer and the purchaser (individual or employer).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424694"/>
                  </a:ext>
                </a:extLst>
              </a:tr>
              <a:tr h="284434">
                <a:tc>
                  <a:txBody>
                    <a:bodyPr/>
                    <a:lstStyle/>
                    <a:p>
                      <a:r>
                        <a:rPr lang="en-US" sz="1200" i="1" dirty="0"/>
                        <a:t>22</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a:solidFill>
                            <a:srgbClr val="000000"/>
                          </a:solidFill>
                          <a:effectLst/>
                          <a:latin typeface="Arial"/>
                          <a:ea typeface="Arial"/>
                          <a:cs typeface="Arial"/>
                          <a:sym typeface="Arial"/>
                        </a:rPr>
                        <a:t>Plan Selection Decision Support</a:t>
                      </a:r>
                      <a:endParaRPr lang="en-US" sz="1200" b="1" i="0" u="none" strike="noStrike" cap="none" dirty="0">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rgbClr val="000000"/>
                          </a:solidFill>
                          <a:effectLst/>
                          <a:latin typeface="Arial"/>
                          <a:ea typeface="Arial"/>
                          <a:cs typeface="Arial"/>
                          <a:sym typeface="Arial"/>
                        </a:rPr>
                        <a:t>A matching algorithm that considers member preferences (like risk tolerance), medical risk, past utilization in ranking available health plan products.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7363371"/>
                  </a:ext>
                </a:extLst>
              </a:tr>
            </a:tbl>
          </a:graphicData>
        </a:graphic>
      </p:graphicFrame>
    </p:spTree>
    <p:extLst>
      <p:ext uri="{BB962C8B-B14F-4D97-AF65-F5344CB8AC3E}">
        <p14:creationId xmlns:p14="http://schemas.microsoft.com/office/powerpoint/2010/main" val="37365670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graphicFrame>
        <p:nvGraphicFramePr>
          <p:cNvPr id="983" name="Google Shape;983;p9"/>
          <p:cNvGraphicFramePr/>
          <p:nvPr>
            <p:extLst>
              <p:ext uri="{D42A27DB-BD31-4B8C-83A1-F6EECF244321}">
                <p14:modId xmlns:p14="http://schemas.microsoft.com/office/powerpoint/2010/main" val="902198981"/>
              </p:ext>
            </p:extLst>
          </p:nvPr>
        </p:nvGraphicFramePr>
        <p:xfrm>
          <a:off x="509408" y="936779"/>
          <a:ext cx="11074675" cy="5718441"/>
        </p:xfrm>
        <a:graphic>
          <a:graphicData uri="http://schemas.openxmlformats.org/drawingml/2006/table">
            <a:tbl>
              <a:tblPr>
                <a:noFill/>
                <a:tableStyleId>{7CFCEF89-A36C-4653-BAA2-19591CFBE364}</a:tableStyleId>
              </a:tblPr>
              <a:tblGrid>
                <a:gridCol w="922875">
                  <a:extLst>
                    <a:ext uri="{9D8B030D-6E8A-4147-A177-3AD203B41FA5}">
                      <a16:colId xmlns:a16="http://schemas.microsoft.com/office/drawing/2014/main" val="20000"/>
                    </a:ext>
                  </a:extLst>
                </a:gridCol>
                <a:gridCol w="1105500">
                  <a:extLst>
                    <a:ext uri="{9D8B030D-6E8A-4147-A177-3AD203B41FA5}">
                      <a16:colId xmlns:a16="http://schemas.microsoft.com/office/drawing/2014/main" val="20001"/>
                    </a:ext>
                  </a:extLst>
                </a:gridCol>
                <a:gridCol w="1083025">
                  <a:extLst>
                    <a:ext uri="{9D8B030D-6E8A-4147-A177-3AD203B41FA5}">
                      <a16:colId xmlns:a16="http://schemas.microsoft.com/office/drawing/2014/main" val="20002"/>
                    </a:ext>
                  </a:extLst>
                </a:gridCol>
                <a:gridCol w="2068325">
                  <a:extLst>
                    <a:ext uri="{9D8B030D-6E8A-4147-A177-3AD203B41FA5}">
                      <a16:colId xmlns:a16="http://schemas.microsoft.com/office/drawing/2014/main" val="20003"/>
                    </a:ext>
                  </a:extLst>
                </a:gridCol>
                <a:gridCol w="5894950">
                  <a:extLst>
                    <a:ext uri="{9D8B030D-6E8A-4147-A177-3AD203B41FA5}">
                      <a16:colId xmlns:a16="http://schemas.microsoft.com/office/drawing/2014/main" val="20004"/>
                    </a:ext>
                  </a:extLst>
                </a:gridCol>
              </a:tblGrid>
              <a:tr h="256425">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solidFill>
                            <a:schemeClr val="accent2"/>
                          </a:solidFill>
                        </a:rPr>
                        <a:t>End-Use</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solidFill>
                            <a:schemeClr val="accent2"/>
                          </a:solidFill>
                        </a:rPr>
                        <a:t>Organization</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solidFill>
                            <a:schemeClr val="accent2"/>
                          </a:solidFill>
                        </a:rPr>
                        <a:t>Offering Type</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solidFill>
                            <a:schemeClr val="accent2"/>
                          </a:solidFill>
                        </a:rPr>
                        <a:t> Offering</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solidFill>
                            <a:schemeClr val="accent2"/>
                          </a:solidFill>
                        </a:rPr>
                        <a:t>Definition</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51800">
                <a:tc rowSpan="14">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t>Data as a Service</a:t>
                      </a:r>
                      <a:endParaRPr sz="1100" b="1" u="none" strike="noStrike" cap="none" dirty="0"/>
                    </a:p>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t>(DaaS)</a:t>
                      </a:r>
                      <a:endParaRPr sz="1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0D4877">
                        <a:alpha val="33725"/>
                      </a:srgbClr>
                    </a:solidFill>
                  </a:tcPr>
                </a:tc>
                <a:tc rowSpan="7">
                  <a:txBody>
                    <a:bodyPr/>
                    <a:lstStyle/>
                    <a:p>
                      <a:pPr marL="0" marR="0" lvl="0" indent="0" algn="ctr" rtl="0">
                        <a:lnSpc>
                          <a:spcPct val="115000"/>
                        </a:lnSpc>
                        <a:spcBef>
                          <a:spcPts val="0"/>
                        </a:spcBef>
                        <a:spcAft>
                          <a:spcPts val="0"/>
                        </a:spcAft>
                        <a:buClr>
                          <a:schemeClr val="dk1"/>
                        </a:buClr>
                        <a:buSzPts val="1500"/>
                        <a:buFont typeface="Arial"/>
                        <a:buNone/>
                      </a:pPr>
                      <a:r>
                        <a:rPr lang="en-US" sz="1100" b="1" u="none" strike="noStrike" cap="none" dirty="0"/>
                        <a:t>Data Solutions</a:t>
                      </a:r>
                      <a:endParaRPr sz="1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0D4877">
                        <a:alpha val="12549"/>
                      </a:srgbClr>
                    </a:solidFill>
                  </a:tcPr>
                </a:tc>
                <a:tc rowSpan="4">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Service</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consultation / strategy</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Helping end-users define how to organize and manage their data (e.g., Mental Health quality metrics)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ingestion</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Ingesting / Extract Load Transform (ELT) new sources of data (internal / external) into consumable data sources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aggregation</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Compiling data sources and organi</a:t>
                      </a:r>
                      <a:r>
                        <a:rPr lang="en-US" sz="900" dirty="0"/>
                        <a:t>z</a:t>
                      </a:r>
                      <a:r>
                        <a:rPr lang="en-US" sz="900" u="none" strike="noStrike" cap="none" dirty="0"/>
                        <a:t>ing into consumable format</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extraction</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Retrieving data from data sources for further processing or storage</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51800">
                <a:tc vMerge="1">
                  <a:txBody>
                    <a:bodyPr/>
                    <a:lstStyle/>
                    <a:p>
                      <a:endParaRPr lang="en-US"/>
                    </a:p>
                  </a:txBody>
                  <a:tcPr/>
                </a:tc>
                <a:tc vMerge="1">
                  <a:txBody>
                    <a:bodyPr/>
                    <a:lstStyle/>
                    <a:p>
                      <a:endParaRPr lang="en-US"/>
                    </a:p>
                  </a:txBody>
                  <a:tcPr/>
                </a:tc>
                <a:tc rowSpan="3">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Product</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Raw data</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Data gathered from the source that has not been processed</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Curated data</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Organi</a:t>
                      </a:r>
                      <a:r>
                        <a:rPr lang="en-US" sz="900" dirty="0"/>
                        <a:t>z</a:t>
                      </a:r>
                      <a:r>
                        <a:rPr lang="en-US" sz="900" u="none" strike="noStrike" cap="none" dirty="0"/>
                        <a:t>ed and integrated data collected from various sources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Analytic engineering</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Data modeled to provide clean, accurate datasets to end users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51800">
                <a:tc vMerge="1">
                  <a:txBody>
                    <a:bodyPr/>
                    <a:lstStyle/>
                    <a:p>
                      <a:endParaRPr lang="en-US"/>
                    </a:p>
                  </a:txBody>
                  <a:tcPr/>
                </a:tc>
                <a:tc rowSpan="3">
                  <a:txBody>
                    <a:bodyPr/>
                    <a:lstStyle/>
                    <a:p>
                      <a:pPr marL="0" marR="0" lvl="0" indent="0" algn="ctr" rtl="0">
                        <a:lnSpc>
                          <a:spcPct val="115000"/>
                        </a:lnSpc>
                        <a:spcBef>
                          <a:spcPts val="0"/>
                        </a:spcBef>
                        <a:spcAft>
                          <a:spcPts val="0"/>
                        </a:spcAft>
                        <a:buClr>
                          <a:schemeClr val="dk1"/>
                        </a:buClr>
                        <a:buSzPts val="1500"/>
                        <a:buFont typeface="Arial"/>
                        <a:buNone/>
                      </a:pPr>
                      <a:r>
                        <a:rPr lang="en-US" sz="1100" b="1" u="none" strike="noStrike" cap="none" dirty="0"/>
                        <a:t>Data Management</a:t>
                      </a:r>
                      <a:endParaRPr sz="1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0D4877">
                        <a:alpha val="12549"/>
                      </a:srgbClr>
                    </a:solidFill>
                  </a:tcPr>
                </a:tc>
                <a:tc>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Service</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profiling</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Examining, analy</a:t>
                      </a:r>
                      <a:r>
                        <a:rPr lang="en-US" sz="900" dirty="0"/>
                        <a:t>z</a:t>
                      </a:r>
                      <a:r>
                        <a:rPr lang="en-US" sz="900" u="none" strike="noStrike" cap="none" dirty="0"/>
                        <a:t>ing and creating useful summaries of data</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51800">
                <a:tc vMerge="1">
                  <a:txBody>
                    <a:bodyPr/>
                    <a:lstStyle/>
                    <a:p>
                      <a:endParaRPr lang="en-US"/>
                    </a:p>
                  </a:txBody>
                  <a:tcPr/>
                </a:tc>
                <a:tc vMerge="1">
                  <a:txBody>
                    <a:bodyPr/>
                    <a:lstStyle/>
                    <a:p>
                      <a:endParaRPr lang="en-US"/>
                    </a:p>
                  </a:txBody>
                  <a:tcPr/>
                </a:tc>
                <a:tc rowSpan="2">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Product</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models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Models that help organi</a:t>
                      </a:r>
                      <a:r>
                        <a:rPr lang="en-US" sz="900" dirty="0"/>
                        <a:t>z</a:t>
                      </a:r>
                      <a:r>
                        <a:rPr lang="en-US" sz="900" u="none" strike="noStrike" cap="none" dirty="0"/>
                        <a:t>e data and represent the connections between various data elements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catalogs / lineage</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Catalogs that show calculation logic and source of information feeding data attributes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51800">
                <a:tc vMerge="1">
                  <a:txBody>
                    <a:bodyPr/>
                    <a:lstStyle/>
                    <a:p>
                      <a:endParaRPr lang="en-US"/>
                    </a:p>
                  </a:txBody>
                  <a:tcPr/>
                </a:tc>
                <a:tc rowSpan="4">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Data Governance</a:t>
                      </a:r>
                      <a:endParaRPr sz="11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0D4877">
                        <a:alpha val="12549"/>
                      </a:srgbClr>
                    </a:solidFill>
                  </a:tcPr>
                </a:tc>
                <a:tc rowSpan="4">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Service</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Master data management</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Repository of all data leveraged to create catalogs, CRUD processes, and bolster data-driven decision-making</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quality</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Cleansing, monitoring, profiling, matching, verifying, and enriching data quality for metrics</a:t>
                      </a:r>
                      <a:r>
                        <a:rPr lang="en-US" sz="900" dirty="0"/>
                        <a:t>/</a:t>
                      </a:r>
                      <a:r>
                        <a:rPr lang="en-US" sz="900" u="none" strike="noStrike" cap="none" dirty="0"/>
                        <a:t>reporting (e.g., Provider)</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Reference data</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Controlled method to align patient data across the enterprise to a common frame of understanding</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Meta data</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Structured information that describes, explains, or locates data, making it easier to retrieve, use, or manage </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51800">
                <a:tc rowSpan="14">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Insights as a Service</a:t>
                      </a:r>
                      <a:endParaRPr sz="1100" b="1" u="none" strike="noStrike" cap="none" dirty="0"/>
                    </a:p>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(IaaS)</a:t>
                      </a:r>
                      <a:endParaRPr sz="11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2474BB">
                        <a:alpha val="21568"/>
                      </a:srgbClr>
                    </a:solidFill>
                  </a:tcPr>
                </a:tc>
                <a:tc rowSpan="8">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Visualization Solutions</a:t>
                      </a:r>
                      <a:endParaRPr sz="11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2700" cap="flat" cmpd="sng">
                      <a:solidFill>
                        <a:srgbClr val="A5A5A5"/>
                      </a:solidFill>
                      <a:prstDash val="solid"/>
                      <a:round/>
                      <a:headEnd type="none" w="sm" len="sm"/>
                      <a:tailEnd type="none" w="sm" len="sm"/>
                    </a:lnB>
                    <a:solidFill>
                      <a:srgbClr val="2474BB">
                        <a:alpha val="9019"/>
                      </a:srgbClr>
                    </a:solidFill>
                  </a:tcPr>
                </a:tc>
                <a:tc rowSpan="5">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Service</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2700" cap="flat" cmpd="sng">
                      <a:solidFill>
                        <a:srgbClr val="A5A5A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Visualization consultation</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Helping end-users decide how to consume data</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mining / insights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Mining the data for insights that can help end-users with business decisions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Report development</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Capturing requirements and developing reports and visualizations for end-users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Report maintenance</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Helping maintain reports / visualizations (e.g., monitoring / preventing breaks, addressing fixes)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Visualization tool training</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Training end-users to consume information (e.</a:t>
                      </a:r>
                      <a:r>
                        <a:rPr lang="en-US" sz="900" dirty="0"/>
                        <a:t>g., Enterprise Training)</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76825">
                <a:tc vMerge="1">
                  <a:txBody>
                    <a:bodyPr/>
                    <a:lstStyle/>
                    <a:p>
                      <a:endParaRPr lang="en-US"/>
                    </a:p>
                  </a:txBody>
                  <a:tcPr/>
                </a:tc>
                <a:tc vMerge="1">
                  <a:txBody>
                    <a:bodyPr/>
                    <a:lstStyle/>
                    <a:p>
                      <a:endParaRPr lang="en-US"/>
                    </a:p>
                  </a:txBody>
                  <a:tcPr/>
                </a:tc>
                <a:tc rowSpan="3">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Product</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Reports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Consumable and organized information for specific consumption use cases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Visualizations / dashboards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Interactive views of information for specific consumption use cases (e.g., Mental Health dashboard)</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Diagnostic / descriptive reports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Analytical models that use diagnostic / descriptive techniques to recommend outcomes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76825">
                <a:tc vMerge="1">
                  <a:txBody>
                    <a:bodyPr/>
                    <a:lstStyle/>
                    <a:p>
                      <a:endParaRPr lang="en-US"/>
                    </a:p>
                  </a:txBody>
                  <a:tcPr/>
                </a:tc>
                <a:tc rowSpan="6">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AI / ML Solutions</a:t>
                      </a:r>
                      <a:endParaRPr sz="11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2700" cap="flat" cmpd="sng">
                      <a:solidFill>
                        <a:srgbClr val="A5A5A5"/>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2474BB">
                        <a:alpha val="9019"/>
                      </a:srgbClr>
                    </a:solidFill>
                  </a:tcPr>
                </a:tc>
                <a:tc rowSpan="5">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Service</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AI / ML consultation</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Helping end-users decide how to leverage advanced analytics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Model development / engineering</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Capturing requirements and developing models for end-user consumption (e.g., FWA Scheme Detector)</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Model maintenance</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Productionalizing and maintaining models once they have been developed </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5"/>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Model integrations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Integrating models / model outputs with other applications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6"/>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AI / ML training</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solidFill>
                            <a:schemeClr val="dk2"/>
                          </a:solidFill>
                        </a:rPr>
                        <a:t>Training end-users to leverage AI / ML tools and capabilities (e.</a:t>
                      </a:r>
                      <a:r>
                        <a:rPr lang="en-US" sz="900" dirty="0">
                          <a:solidFill>
                            <a:schemeClr val="dk2"/>
                          </a:solidFill>
                        </a:rPr>
                        <a:t>g., Enterprise Training)</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7"/>
                  </a:ext>
                </a:extLst>
              </a:tr>
              <a:tr h="176825">
                <a:tc vMerge="1">
                  <a:txBody>
                    <a:bodyPr/>
                    <a:lstStyle/>
                    <a:p>
                      <a:endParaRPr lang="en-US"/>
                    </a:p>
                  </a:txBody>
                  <a:tcPr/>
                </a:tc>
                <a:tc vMerge="1">
                  <a:txBody>
                    <a:bodyPr/>
                    <a:lstStyle/>
                    <a:p>
                      <a:endParaRPr lang="en-US"/>
                    </a:p>
                  </a:txBody>
                  <a:tcPr/>
                </a:tc>
                <a:tc>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Product</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2700" cap="flat" cmpd="sng">
                      <a:solidFill>
                        <a:srgbClr val="BFBFBF"/>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Predictive/prescriptive models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Analytical models that use historical and current data to help predict future outcomes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28"/>
                  </a:ext>
                </a:extLst>
              </a:tr>
            </a:tbl>
          </a:graphicData>
        </a:graphic>
      </p:graphicFrame>
      <p:sp>
        <p:nvSpPr>
          <p:cNvPr id="984" name="Google Shape;984;p9"/>
          <p:cNvSpPr/>
          <p:nvPr/>
        </p:nvSpPr>
        <p:spPr>
          <a:xfrm>
            <a:off x="12006983" y="970999"/>
            <a:ext cx="122100" cy="1221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dirty="0">
              <a:solidFill>
                <a:schemeClr val="dk2"/>
              </a:solidFill>
              <a:latin typeface="Arial"/>
              <a:ea typeface="Arial"/>
              <a:cs typeface="Arial"/>
              <a:sym typeface="Arial"/>
            </a:endParaRPr>
          </a:p>
        </p:txBody>
      </p:sp>
      <p:sp>
        <p:nvSpPr>
          <p:cNvPr id="985" name="Google Shape;985;p9"/>
          <p:cNvSpPr txBox="1"/>
          <p:nvPr/>
        </p:nvSpPr>
        <p:spPr>
          <a:xfrm>
            <a:off x="603500" y="384050"/>
            <a:ext cx="9985200" cy="347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2000"/>
              <a:buFont typeface="Arial"/>
              <a:buNone/>
            </a:pPr>
            <a:r>
              <a:rPr lang="en-US" sz="2000" b="1" i="0" u="none" strike="noStrike" cap="none" dirty="0">
                <a:solidFill>
                  <a:schemeClr val="accent2"/>
                </a:solidFill>
                <a:latin typeface="Arial"/>
                <a:ea typeface="Arial"/>
                <a:cs typeface="Arial"/>
                <a:sym typeface="Arial"/>
              </a:rPr>
              <a:t>Product and services offered by the EA and ET teams </a:t>
            </a:r>
            <a:r>
              <a:rPr lang="en-US" sz="2000" b="1" dirty="0">
                <a:solidFill>
                  <a:schemeClr val="accent2"/>
                </a:solidFill>
              </a:rPr>
              <a:t>to advance our AI strategy</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25262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graphicFrame>
        <p:nvGraphicFramePr>
          <p:cNvPr id="991" name="Google Shape;991;p10"/>
          <p:cNvGraphicFramePr/>
          <p:nvPr>
            <p:extLst>
              <p:ext uri="{D42A27DB-BD31-4B8C-83A1-F6EECF244321}">
                <p14:modId xmlns:p14="http://schemas.microsoft.com/office/powerpoint/2010/main" val="845353536"/>
              </p:ext>
            </p:extLst>
          </p:nvPr>
        </p:nvGraphicFramePr>
        <p:xfrm>
          <a:off x="512064" y="932688"/>
          <a:ext cx="11073375" cy="3159955"/>
        </p:xfrm>
        <a:graphic>
          <a:graphicData uri="http://schemas.openxmlformats.org/drawingml/2006/table">
            <a:tbl>
              <a:tblPr>
                <a:noFill/>
                <a:tableStyleId>{7CFCEF89-A36C-4653-BAA2-19591CFBE364}</a:tableStyleId>
              </a:tblPr>
              <a:tblGrid>
                <a:gridCol w="922775">
                  <a:extLst>
                    <a:ext uri="{9D8B030D-6E8A-4147-A177-3AD203B41FA5}">
                      <a16:colId xmlns:a16="http://schemas.microsoft.com/office/drawing/2014/main" val="20000"/>
                    </a:ext>
                  </a:extLst>
                </a:gridCol>
                <a:gridCol w="1105350">
                  <a:extLst>
                    <a:ext uri="{9D8B030D-6E8A-4147-A177-3AD203B41FA5}">
                      <a16:colId xmlns:a16="http://schemas.microsoft.com/office/drawing/2014/main" val="20001"/>
                    </a:ext>
                  </a:extLst>
                </a:gridCol>
                <a:gridCol w="1082925">
                  <a:extLst>
                    <a:ext uri="{9D8B030D-6E8A-4147-A177-3AD203B41FA5}">
                      <a16:colId xmlns:a16="http://schemas.microsoft.com/office/drawing/2014/main" val="20002"/>
                    </a:ext>
                  </a:extLst>
                </a:gridCol>
                <a:gridCol w="2068075">
                  <a:extLst>
                    <a:ext uri="{9D8B030D-6E8A-4147-A177-3AD203B41FA5}">
                      <a16:colId xmlns:a16="http://schemas.microsoft.com/office/drawing/2014/main" val="20003"/>
                    </a:ext>
                  </a:extLst>
                </a:gridCol>
                <a:gridCol w="5894250">
                  <a:extLst>
                    <a:ext uri="{9D8B030D-6E8A-4147-A177-3AD203B41FA5}">
                      <a16:colId xmlns:a16="http://schemas.microsoft.com/office/drawing/2014/main" val="20004"/>
                    </a:ext>
                  </a:extLst>
                </a:gridCol>
              </a:tblGrid>
              <a:tr h="189950">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solidFill>
                            <a:schemeClr val="accent2"/>
                          </a:solidFill>
                        </a:rPr>
                        <a:t>End-Use Type</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solidFill>
                            <a:schemeClr val="accent2"/>
                          </a:solidFill>
                        </a:rPr>
                        <a:t>Organization</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solidFill>
                            <a:schemeClr val="accent2"/>
                          </a:solidFill>
                        </a:rPr>
                        <a:t>Offering Type</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solidFill>
                            <a:schemeClr val="accent2"/>
                          </a:solidFill>
                        </a:rPr>
                        <a:t> Offering</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solidFill>
                            <a:schemeClr val="accent2"/>
                          </a:solidFill>
                        </a:rPr>
                        <a:t>Definition</a:t>
                      </a:r>
                      <a:endParaRPr sz="1100" b="1" u="none" strike="noStrike" cap="none" dirty="0">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3375">
                <a:tc rowSpan="6">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Insights as a Service</a:t>
                      </a:r>
                      <a:endParaRPr sz="1400" u="none" strike="noStrike" cap="none" dirty="0"/>
                    </a:p>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(IaaS)</a:t>
                      </a:r>
                      <a:endParaRPr sz="1400" u="none" strike="noStrike" cap="none" dirty="0"/>
                    </a:p>
                    <a:p>
                      <a:pPr marL="0" marR="0" lvl="0" indent="0" algn="ctr" rtl="0">
                        <a:lnSpc>
                          <a:spcPct val="115000"/>
                        </a:lnSpc>
                        <a:spcBef>
                          <a:spcPts val="0"/>
                        </a:spcBef>
                        <a:spcAft>
                          <a:spcPts val="0"/>
                        </a:spcAft>
                        <a:buClr>
                          <a:srgbClr val="000000"/>
                        </a:buClr>
                        <a:buSzPts val="1100"/>
                        <a:buFont typeface="Arial"/>
                        <a:buNone/>
                      </a:pPr>
                      <a:endParaRPr sz="11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CDDFF0"/>
                    </a:solidFill>
                  </a:tcPr>
                </a:tc>
                <a:tc rowSpan="4">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Function-</a:t>
                      </a:r>
                      <a:endParaRPr sz="1100" b="1" u="none" strike="noStrike" cap="none" dirty="0"/>
                    </a:p>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Specific Analytics</a:t>
                      </a:r>
                      <a:endParaRPr sz="11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2700" cap="flat" cmpd="sng">
                      <a:solidFill>
                        <a:srgbClr val="A5A5A5"/>
                      </a:solidFill>
                      <a:prstDash val="solid"/>
                      <a:round/>
                      <a:headEnd type="none" w="sm" len="sm"/>
                      <a:tailEnd type="none" w="sm" len="sm"/>
                    </a:lnB>
                    <a:solidFill>
                      <a:srgbClr val="E9F1F8"/>
                    </a:solidFill>
                  </a:tcPr>
                </a:tc>
                <a:tc rowSpan="4">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Service</a:t>
                      </a:r>
                      <a:endParaRPr sz="9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Financial Analytics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Ad hoc analysis to answer specific business questions and forecast possible financial scenarios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Operational Analytics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Ad hoc analysis to answer specific business questions and enable operational insights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Call Center Analytics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Ad hoc analysis to answer specific business questions and enable call center insights</a:t>
                      </a:r>
                      <a:endParaRPr sz="14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chemeClr val="dk1"/>
                        </a:buClr>
                        <a:buSzPts val="1500"/>
                        <a:buFont typeface="Arial"/>
                        <a:buNone/>
                      </a:pPr>
                      <a:r>
                        <a:rPr lang="en-US" sz="900" b="1" u="none" strike="noStrike" cap="none" dirty="0"/>
                        <a:t>Human Resources Analytics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Ad hoc analysis to answer specific business questions and enable human resource insights</a:t>
                      </a:r>
                      <a:endParaRPr sz="14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375">
                <a:tc vMerge="1">
                  <a:txBody>
                    <a:bodyPr/>
                    <a:lstStyle/>
                    <a:p>
                      <a:endParaRPr lang="en-US"/>
                    </a:p>
                  </a:txBody>
                  <a:tcPr/>
                </a:tc>
                <a:tc rowSpan="2">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t>Statistical Analysis</a:t>
                      </a:r>
                      <a:endParaRPr sz="1400" u="none" strike="noStrike" cap="none" dirty="0"/>
                    </a:p>
                  </a:txBody>
                  <a:tcPr marL="91450" marR="91450" marT="45725" marB="45725" anchor="ctr">
                    <a:lnL w="19050"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A5A5A5"/>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E9F1F8"/>
                    </a:solidFill>
                  </a:tcPr>
                </a:tc>
                <a:tc rowSpan="2">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Service</a:t>
                      </a:r>
                      <a:endParaRPr sz="900" b="1" u="none" strike="noStrike" cap="none" dirty="0"/>
                    </a:p>
                  </a:txBody>
                  <a:tcPr marL="38100" marR="38100" marT="25400" marB="25400" anchor="ctr">
                    <a:lnL w="9525" cap="flat" cmpd="sng">
                      <a:solidFill>
                        <a:srgbClr val="000000">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Financial Analysis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Process of evaluating financial information to reach business decisions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Actuarial Analysis</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Process of evaluating the likelihood of risk based on statistical data</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375">
                <a:tc rowSpan="7">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Platform as a Service</a:t>
                      </a:r>
                      <a:endParaRPr sz="1100" b="1" u="none" strike="noStrike" cap="none" dirty="0"/>
                    </a:p>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(PaaS)</a:t>
                      </a:r>
                      <a:endParaRPr sz="1100" b="1"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CDDFF0"/>
                    </a:solidFill>
                  </a:tcPr>
                </a:tc>
                <a:tc rowSpan="7">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dirty="0"/>
                        <a:t>Platform Solutions</a:t>
                      </a:r>
                      <a:endParaRPr sz="1100" b="1" u="none" strike="noStrike" cap="none" dirty="0"/>
                    </a:p>
                  </a:txBody>
                  <a:tcPr marL="38100" marR="381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E9F1F8"/>
                    </a:solidFill>
                  </a:tcPr>
                </a:tc>
                <a:tc rowSpan="5">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Service</a:t>
                      </a:r>
                      <a:endParaRPr sz="900" b="1" u="none" strike="noStrike" cap="none" dirty="0"/>
                    </a:p>
                  </a:txBody>
                  <a:tcPr marL="38100" marR="38100" marT="25400" marB="25400" anchor="ctr">
                    <a:lnL w="9525" cap="flat" cmpd="sng">
                      <a:solidFill>
                        <a:srgbClr val="000000">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platform management</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Governing end user's integrated system that meets their end-to-end data needs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Visualization platform management</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Helping end users maintain their unified solution that improves decision making based on data and analytics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AI / ML platform management</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Curate and maintain the platform that helps accelerates AI / ML model development and deployment</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Cloud platform management</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Maintaining end user's cloud platform</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chemeClr val="dk1"/>
                        </a:buClr>
                        <a:buSzPts val="1500"/>
                        <a:buFont typeface="Arial"/>
                        <a:buNone/>
                      </a:pPr>
                      <a:r>
                        <a:rPr lang="en-US" sz="900" b="1" u="none" strike="noStrike" cap="none" dirty="0"/>
                        <a:t>Sandbox management</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Provisioning and managing (e.g., security, access) sandbox environment</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13375">
                <a:tc vMerge="1">
                  <a:txBody>
                    <a:bodyPr/>
                    <a:lstStyle/>
                    <a:p>
                      <a:endParaRPr lang="en-US"/>
                    </a:p>
                  </a:txBody>
                  <a:tcPr/>
                </a:tc>
                <a:tc vMerge="1">
                  <a:txBody>
                    <a:bodyPr/>
                    <a:lstStyle/>
                    <a:p>
                      <a:endParaRPr lang="en-US"/>
                    </a:p>
                  </a:txBody>
                  <a:tcPr/>
                </a:tc>
                <a:tc rowSpan="2">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dirty="0"/>
                        <a:t>Product</a:t>
                      </a:r>
                      <a:endParaRPr sz="900" b="1" u="none" strike="noStrike" cap="none" dirty="0"/>
                    </a:p>
                  </a:txBody>
                  <a:tcPr marL="38100" marR="38100" marT="25400" marB="25400" anchor="ctr">
                    <a:lnL w="9525" cap="flat" cmpd="sng">
                      <a:solidFill>
                        <a:srgbClr val="000000">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D&amp;A platform</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Design and build an integrated platform across people, technology systems and information</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dirty="0"/>
                        <a:t>Data sandbox</a:t>
                      </a:r>
                      <a:endParaRPr sz="900" b="1" u="none" strike="noStrike" cap="none" dirty="0"/>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dirty="0"/>
                        <a:t>An environment for end-users to “play” with data and get quick insights to inform business ops.</a:t>
                      </a:r>
                      <a:endParaRPr sz="900" u="none" strike="noStrike" cap="none" dirty="0"/>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bl>
          </a:graphicData>
        </a:graphic>
      </p:graphicFrame>
      <p:sp>
        <p:nvSpPr>
          <p:cNvPr id="2" name="Google Shape;985;p9">
            <a:extLst>
              <a:ext uri="{FF2B5EF4-FFF2-40B4-BE49-F238E27FC236}">
                <a16:creationId xmlns:a16="http://schemas.microsoft.com/office/drawing/2014/main" id="{78288609-C755-5141-E489-D698407D96C5}"/>
              </a:ext>
            </a:extLst>
          </p:cNvPr>
          <p:cNvSpPr txBox="1"/>
          <p:nvPr/>
        </p:nvSpPr>
        <p:spPr>
          <a:xfrm>
            <a:off x="603500" y="384050"/>
            <a:ext cx="9985200" cy="347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2000"/>
              <a:buFont typeface="Arial"/>
              <a:buNone/>
            </a:pPr>
            <a:r>
              <a:rPr lang="en-US" sz="2000" b="1" i="0" u="none" strike="noStrike" cap="none" dirty="0">
                <a:solidFill>
                  <a:schemeClr val="accent2"/>
                </a:solidFill>
                <a:latin typeface="Arial"/>
                <a:ea typeface="Arial"/>
                <a:cs typeface="Arial"/>
                <a:sym typeface="Arial"/>
              </a:rPr>
              <a:t>Product and services offered by the EA and ET teams </a:t>
            </a:r>
            <a:r>
              <a:rPr lang="en-US" sz="2000" b="1" dirty="0">
                <a:solidFill>
                  <a:schemeClr val="accent2"/>
                </a:solidFill>
              </a:rPr>
              <a:t>to advance our AI strategy</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1435941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LASTSLIDEVIEWED" val="268,13,Slide1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2">
      <a:dk1>
        <a:srgbClr val="0D4877"/>
      </a:dk1>
      <a:lt1>
        <a:srgbClr val="FFFFFF"/>
      </a:lt1>
      <a:dk2>
        <a:srgbClr val="000000"/>
      </a:dk2>
      <a:lt2>
        <a:srgbClr val="E7E6E6"/>
      </a:lt2>
      <a:accent1>
        <a:srgbClr val="0D4877"/>
      </a:accent1>
      <a:accent2>
        <a:srgbClr val="2474BB"/>
      </a:accent2>
      <a:accent3>
        <a:srgbClr val="02C3FE"/>
      </a:accent3>
      <a:accent4>
        <a:srgbClr val="FD5D3B"/>
      </a:accent4>
      <a:accent5>
        <a:srgbClr val="DDDDDD"/>
      </a:accent5>
      <a:accent6>
        <a:srgbClr val="A3A3A3"/>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2">
      <a:dk1>
        <a:srgbClr val="0D4877"/>
      </a:dk1>
      <a:lt1>
        <a:srgbClr val="FFFFFF"/>
      </a:lt1>
      <a:dk2>
        <a:srgbClr val="000000"/>
      </a:dk2>
      <a:lt2>
        <a:srgbClr val="E7E6E6"/>
      </a:lt2>
      <a:accent1>
        <a:srgbClr val="0D4877"/>
      </a:accent1>
      <a:accent2>
        <a:srgbClr val="2474BB"/>
      </a:accent2>
      <a:accent3>
        <a:srgbClr val="02C3FE"/>
      </a:accent3>
      <a:accent4>
        <a:srgbClr val="FD5D3B"/>
      </a:accent4>
      <a:accent5>
        <a:srgbClr val="DDDDDD"/>
      </a:accent5>
      <a:accent6>
        <a:srgbClr val="A3A3A3"/>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3E9172D96F9FE45AC29174293285FBA" ma:contentTypeVersion="0" ma:contentTypeDescription="Create a new document." ma:contentTypeScope="" ma:versionID="52da8d920a077c78a42638088ab94c05">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C41CD79-4D88-43B0-92F6-C5B8DE2A0122}"/>
</file>

<file path=customXml/itemProps2.xml><?xml version="1.0" encoding="utf-8"?>
<ds:datastoreItem xmlns:ds="http://schemas.openxmlformats.org/officeDocument/2006/customXml" ds:itemID="{24D9FFE8-61DA-46EF-A7D3-A7D5E7AC543C}">
  <ds:schemaRefs>
    <ds:schemaRef ds:uri="http://schemas.microsoft.com/sharepoint/v3/contenttype/forms"/>
  </ds:schemaRefs>
</ds:datastoreItem>
</file>

<file path=customXml/itemProps3.xml><?xml version="1.0" encoding="utf-8"?>
<ds:datastoreItem xmlns:ds="http://schemas.openxmlformats.org/officeDocument/2006/customXml" ds:itemID="{E57F3274-E00A-4876-A551-6AC009E5F4FB}">
  <ds:schemaRefs>
    <ds:schemaRef ds:uri="28908500-976f-4e25-ad31-764d294f3e02"/>
    <ds:schemaRef ds:uri="http://schemas.microsoft.com/office/2006/documentManagement/types"/>
    <ds:schemaRef ds:uri="http://schemas.microsoft.com/office/2006/metadata/properties"/>
    <ds:schemaRef ds:uri="http://schemas.openxmlformats.org/package/2006/metadata/core-properties"/>
    <ds:schemaRef ds:uri="http://purl.org/dc/terms/"/>
    <ds:schemaRef ds:uri="84eb3cb4-9014-4f44-b2b6-3a1d6137ffd6"/>
    <ds:schemaRef ds:uri="http://schemas.microsoft.com/office/infopath/2007/PartnerControls"/>
    <ds:schemaRef ds:uri="http://www.w3.org/XML/1998/namespace"/>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6846</Words>
  <Application>Microsoft Office PowerPoint</Application>
  <PresentationFormat>Widescreen</PresentationFormat>
  <Paragraphs>816</Paragraphs>
  <Slides>43</Slides>
  <Notes>22</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43</vt:i4>
      </vt:variant>
    </vt:vector>
  </HeadingPairs>
  <TitlesOfParts>
    <vt:vector size="60" baseType="lpstr">
      <vt:lpstr>Calibri</vt:lpstr>
      <vt:lpstr>Avenir</vt:lpstr>
      <vt:lpstr>-apple-system</vt:lpstr>
      <vt:lpstr>Wingdings</vt:lpstr>
      <vt:lpstr>Söhne</vt:lpstr>
      <vt:lpstr>Georgia</vt:lpstr>
      <vt:lpstr>Courier New</vt:lpstr>
      <vt:lpstr>Arial Narrow</vt:lpstr>
      <vt:lpstr>DM Sans Medium</vt:lpstr>
      <vt:lpstr>Arial Black</vt:lpstr>
      <vt:lpstr>Arial</vt:lpstr>
      <vt:lpstr>DM Sans</vt:lpstr>
      <vt:lpstr>Bebas Neue</vt:lpstr>
      <vt:lpstr>Roboto</vt:lpstr>
      <vt:lpstr>Office Theme</vt:lpstr>
      <vt:lpstr>1_Office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Detailed Slides</vt:lpstr>
      <vt:lpstr>PowerPoint Presentation</vt:lpstr>
      <vt:lpstr>PowerPoint Presentation</vt:lpstr>
      <vt:lpstr>PowerPoint Presentation</vt:lpstr>
      <vt:lpstr>PowerPoint Presentation</vt:lpstr>
      <vt:lpstr>PowerPoint Presentation</vt:lpstr>
      <vt:lpstr>PowerPoint Presentation</vt:lpstr>
      <vt:lpstr>AI Prism – Healthcare Payers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Mangini, Michael</dc:creator>
  <cp:lastModifiedBy>Prerna Sharma</cp:lastModifiedBy>
  <cp:revision>2</cp:revision>
  <dcterms:modified xsi:type="dcterms:W3CDTF">2023-05-16T16:02:15Z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0x01010013E9172D96F9FE45AC29174293285FBA</vt:lpwstr>
  </property>
</Properties>
</file>